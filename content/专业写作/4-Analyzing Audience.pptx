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2" r:id="rId7"/>
    <p:sldId id="263" r:id="rId8"/>
    <p:sldId id="264" r:id="rId9"/>
    <p:sldId id="283" r:id="rId10"/>
    <p:sldId id="284" r:id="rId11"/>
    <p:sldId id="285" r:id="rId12"/>
    <p:sldId id="265" r:id="rId13"/>
    <p:sldId id="266" r:id="rId14"/>
    <p:sldId id="282" r:id="rId15"/>
    <p:sldId id="268" r:id="rId16"/>
    <p:sldId id="280" r:id="rId17"/>
    <p:sldId id="273" r:id="rId18"/>
    <p:sldId id="274" r:id="rId19"/>
    <p:sldId id="279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1" d="100"/>
          <a:sy n="71" d="100"/>
        </p:scale>
        <p:origin x="67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3932" y="1032459"/>
            <a:ext cx="972413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BEBEB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EBEBEB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BEBEB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BEBEB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3932" y="755091"/>
            <a:ext cx="693293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EBEBEB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0132" y="1711909"/>
            <a:ext cx="6994525" cy="4055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EBEBEB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12894" y="1905000"/>
            <a:ext cx="71259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spc="-15" dirty="0" smtClean="0"/>
              <a:t>Anal</a:t>
            </a:r>
            <a:r>
              <a:rPr sz="5400" spc="-40" dirty="0" smtClean="0"/>
              <a:t>y</a:t>
            </a:r>
            <a:r>
              <a:rPr sz="5400" spc="-200" dirty="0" smtClean="0"/>
              <a:t>zing</a:t>
            </a:r>
            <a:r>
              <a:rPr sz="5400" spc="-400" dirty="0" smtClean="0"/>
              <a:t> </a:t>
            </a:r>
            <a:r>
              <a:rPr sz="5400" spc="135" dirty="0"/>
              <a:t>Audien</a:t>
            </a:r>
            <a:r>
              <a:rPr sz="5400" spc="110" dirty="0"/>
              <a:t>c</a:t>
            </a:r>
            <a:r>
              <a:rPr sz="5400" spc="290" dirty="0"/>
              <a:t>e</a:t>
            </a:r>
            <a:r>
              <a:rPr sz="5400" spc="-409" dirty="0"/>
              <a:t> </a:t>
            </a:r>
            <a:endParaRPr sz="5400" dirty="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2286000" y="2895600"/>
            <a:ext cx="69945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pc="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3851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Defi</a:t>
            </a:r>
            <a:r>
              <a:rPr spc="-110" dirty="0"/>
              <a:t>n</a:t>
            </a:r>
            <a:r>
              <a:rPr spc="-120" dirty="0"/>
              <a:t>itio</a:t>
            </a:r>
            <a:r>
              <a:rPr spc="-190" dirty="0"/>
              <a:t>n</a:t>
            </a:r>
            <a:r>
              <a:rPr spc="-250" dirty="0"/>
              <a:t> </a:t>
            </a:r>
            <a:r>
              <a:rPr spc="15" dirty="0"/>
              <a:t>of</a:t>
            </a:r>
            <a:r>
              <a:rPr spc="-270" dirty="0"/>
              <a:t> Term</a:t>
            </a:r>
            <a:endParaRPr spc="-270" dirty="0"/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8528050" cy="165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-19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</a:t>
            </a:r>
            <a:r>
              <a:rPr sz="1800" spc="-15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6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Professional</a:t>
            </a:r>
            <a:r>
              <a:rPr sz="1800" spc="-1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0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Writing,</a:t>
            </a:r>
            <a:r>
              <a:rPr sz="1800" spc="-10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3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audience</a:t>
            </a:r>
            <a:r>
              <a:rPr sz="1800" spc="-4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refers</a:t>
            </a:r>
            <a:r>
              <a:rPr sz="1800" spc="-4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6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READERS</a:t>
            </a:r>
            <a:r>
              <a:rPr sz="1800" spc="-1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who</a:t>
            </a:r>
            <a:r>
              <a:rPr sz="1800" spc="-4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will</a:t>
            </a:r>
            <a:r>
              <a:rPr sz="1800" spc="-1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be</a:t>
            </a:r>
            <a:r>
              <a:rPr sz="1800" spc="-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reading</a:t>
            </a:r>
            <a:r>
              <a:rPr sz="1800" spc="-4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7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the </a:t>
            </a:r>
            <a:r>
              <a:rPr sz="1800" spc="-509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documents</a:t>
            </a:r>
            <a:r>
              <a:rPr sz="1800" spc="-6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1800" spc="-2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prepare.</a:t>
            </a:r>
            <a:endParaRPr sz="1800" dirty="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2200" dirty="0">
              <a:latin typeface="Tahoma" panose="020B0604030504040204"/>
              <a:cs typeface="Tahoma" panose="020B0604030504040204"/>
            </a:endParaRPr>
          </a:p>
          <a:p>
            <a:pPr marL="355600" marR="1387475" indent="-342900">
              <a:lnSpc>
                <a:spcPct val="100000"/>
              </a:lnSpc>
              <a:spcBef>
                <a:spcPts val="1495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-1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E.g. </a:t>
            </a:r>
            <a:r>
              <a:rPr sz="1800" spc="-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boss,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clients,</a:t>
            </a:r>
            <a:r>
              <a:rPr sz="1800"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supervisors,</a:t>
            </a:r>
            <a:r>
              <a:rPr sz="1800" spc="-1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colleagues,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staff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from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other </a:t>
            </a:r>
            <a:r>
              <a:rPr sz="1800" spc="-6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departments,</a:t>
            </a:r>
            <a:r>
              <a:rPr sz="1800" spc="-9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government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officials,</a:t>
            </a:r>
            <a:r>
              <a:rPr sz="1800" spc="-1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media</a:t>
            </a:r>
            <a:r>
              <a:rPr sz="1800" spc="-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lang="en-US" spc="5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and</a:t>
            </a:r>
            <a:r>
              <a:rPr sz="1800" spc="-12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etc.</a:t>
            </a:r>
            <a:endParaRPr sz="1800" dirty="0">
              <a:latin typeface="Verdana" panose="020B0804030504040204"/>
              <a:cs typeface="Verdana" panose="020B08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41107" y="4407408"/>
            <a:ext cx="3906011" cy="2136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5590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Unders</a:t>
            </a:r>
            <a:r>
              <a:rPr spc="10" dirty="0"/>
              <a:t>tanding</a:t>
            </a:r>
            <a:r>
              <a:rPr spc="-235" dirty="0"/>
              <a:t> </a:t>
            </a:r>
            <a:r>
              <a:rPr spc="105" dirty="0"/>
              <a:t>Audience</a:t>
            </a:r>
            <a:endParaRPr spc="105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590800"/>
            <a:ext cx="8459470" cy="255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lang="en-US" sz="2400" spc="-10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Your content/documents are deemed </a:t>
            </a:r>
            <a:r>
              <a:rPr lang="en-US" sz="2400" spc="8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comprehensive</a:t>
            </a:r>
            <a:r>
              <a:rPr sz="2400" spc="8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68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only</a:t>
            </a:r>
            <a:r>
              <a:rPr sz="2400" spc="-3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8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2400" spc="-22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f</a:t>
            </a:r>
            <a:r>
              <a:rPr sz="2400" spc="-3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6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400" spc="-3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</a:t>
            </a:r>
            <a:r>
              <a:rPr sz="2400" spc="11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2400" spc="-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composed </a:t>
            </a:r>
            <a:r>
              <a:rPr sz="2400" spc="4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base</a:t>
            </a:r>
            <a:r>
              <a:rPr sz="2400" spc="4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d</a:t>
            </a:r>
            <a:r>
              <a:rPr sz="2400" spc="-3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o</a:t>
            </a:r>
            <a:r>
              <a:rPr sz="2400" spc="-2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lang="en-US" sz="2400" spc="-2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: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4050" dirty="0">
              <a:latin typeface="Tahoma" panose="020B0604030504040204"/>
              <a:cs typeface="Tahoma" panose="020B0604030504040204"/>
            </a:endParaRPr>
          </a:p>
          <a:p>
            <a:pPr marL="469900">
              <a:lnSpc>
                <a:spcPct val="100000"/>
              </a:lnSpc>
            </a:pPr>
            <a:r>
              <a:rPr sz="1600" spc="-16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600" spc="10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lang="en-US" sz="2000" spc="1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accurate</a:t>
            </a:r>
            <a:r>
              <a:rPr sz="2000" spc="-4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understanding</a:t>
            </a:r>
            <a:r>
              <a:rPr sz="2000" spc="-2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needs</a:t>
            </a:r>
            <a:r>
              <a:rPr sz="2000" spc="-3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2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2000" spc="-12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audiences</a:t>
            </a:r>
            <a:endParaRPr sz="2000" dirty="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2400" dirty="0">
              <a:latin typeface="Tahoma" panose="020B0604030504040204"/>
              <a:cs typeface="Tahoma" panose="020B0604030504040204"/>
            </a:endParaRPr>
          </a:p>
          <a:p>
            <a:pPr marL="469900">
              <a:lnSpc>
                <a:spcPct val="100000"/>
              </a:lnSpc>
              <a:spcBef>
                <a:spcPts val="1510"/>
              </a:spcBef>
            </a:pPr>
            <a:r>
              <a:rPr sz="1600" spc="-16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600" spc="-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z="200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clear</a:t>
            </a:r>
            <a:r>
              <a:rPr lang="en-US" sz="200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content (including 4Cs)</a:t>
            </a:r>
            <a:r>
              <a:rPr sz="2000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4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focused</a:t>
            </a:r>
            <a:r>
              <a:rPr sz="2000" spc="-7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3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purpose</a:t>
            </a:r>
            <a:r>
              <a:rPr lang="en-US" sz="2000" spc="-35" dirty="0" smtClean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  </a:t>
            </a:r>
            <a:endParaRPr sz="20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05800" y="4693024"/>
            <a:ext cx="3803903" cy="213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27241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 smtClean="0"/>
              <a:t>Audience</a:t>
            </a:r>
            <a:endParaRPr spc="105" dirty="0"/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84963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Writers</a:t>
            </a:r>
            <a:r>
              <a:rPr sz="1800" spc="-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at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times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classify</a:t>
            </a:r>
            <a:r>
              <a:rPr sz="1800" spc="-1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readers</a:t>
            </a:r>
            <a:r>
              <a:rPr sz="1800" spc="-10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into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categories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that</a:t>
            </a:r>
            <a:r>
              <a:rPr sz="1800" spc="-1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identify</a:t>
            </a:r>
            <a:r>
              <a:rPr sz="1800" spc="-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each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reader’s </a:t>
            </a:r>
            <a:r>
              <a:rPr sz="1800" spc="-6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1800" spc="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2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1800" spc="-1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</a:t>
            </a:r>
            <a:r>
              <a:rPr lang="en-US" sz="1800" spc="-1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lang="en-US"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ce </a:t>
            </a:r>
            <a:r>
              <a:rPr sz="1800" spc="-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fr</a:t>
            </a:r>
            <a:r>
              <a:rPr sz="1800" spc="-10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</a:t>
            </a:r>
            <a:r>
              <a:rPr sz="1800" spc="-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</a:t>
            </a:r>
            <a:r>
              <a:rPr sz="1800"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</a:t>
            </a:r>
            <a:r>
              <a:rPr sz="1800" spc="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</a:t>
            </a:r>
            <a:r>
              <a:rPr sz="1800" spc="-2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</a:t>
            </a:r>
            <a:r>
              <a:rPr sz="1800" spc="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-229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</a:t>
            </a:r>
            <a:endParaRPr sz="1800">
              <a:latin typeface="Verdana" panose="020B0804030504040204"/>
              <a:cs typeface="Verdana" panose="020B08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91712" y="3167379"/>
            <a:ext cx="2105378" cy="37009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66334" y="3833876"/>
            <a:ext cx="660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14" dirty="0">
                <a:latin typeface="Verdana" panose="020B0804030504040204"/>
                <a:cs typeface="Verdana" panose="020B0804030504040204"/>
              </a:rPr>
              <a:t>P</a:t>
            </a:r>
            <a:r>
              <a:rPr sz="1400" spc="-90" dirty="0">
                <a:latin typeface="Verdana" panose="020B0804030504040204"/>
                <a:cs typeface="Verdana" panose="020B0804030504040204"/>
              </a:rPr>
              <a:t>ri</a:t>
            </a:r>
            <a:r>
              <a:rPr sz="1400" spc="-45" dirty="0">
                <a:latin typeface="Verdana" panose="020B0804030504040204"/>
                <a:cs typeface="Verdana" panose="020B0804030504040204"/>
              </a:rPr>
              <a:t>mary</a:t>
            </a:r>
            <a:endParaRPr sz="1400">
              <a:latin typeface="Verdana" panose="020B0804030504040204"/>
              <a:cs typeface="Verdana" panose="020B08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6822" y="4893945"/>
            <a:ext cx="964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Verdana" panose="020B0804030504040204"/>
                <a:cs typeface="Verdana" panose="020B0804030504040204"/>
              </a:rPr>
              <a:t>Secondary</a:t>
            </a:r>
            <a:endParaRPr sz="1400">
              <a:latin typeface="Verdana" panose="020B0804030504040204"/>
              <a:cs typeface="Verdana" panose="020B08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9541" y="5955588"/>
            <a:ext cx="639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90" dirty="0">
                <a:latin typeface="Verdana" panose="020B0804030504040204"/>
                <a:cs typeface="Verdana" panose="020B0804030504040204"/>
              </a:rPr>
              <a:t>Tertiary</a:t>
            </a:r>
            <a:endParaRPr sz="140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3968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Prima</a:t>
            </a:r>
            <a:r>
              <a:rPr spc="-150" dirty="0"/>
              <a:t>r</a:t>
            </a:r>
            <a:r>
              <a:rPr spc="-200" dirty="0"/>
              <a:t>y</a:t>
            </a:r>
            <a:r>
              <a:rPr spc="-265" dirty="0"/>
              <a:t> </a:t>
            </a:r>
            <a:r>
              <a:rPr spc="105" dirty="0"/>
              <a:t>Audience</a:t>
            </a:r>
            <a:endParaRPr spc="105" dirty="0"/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8458835" cy="354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lang="en-US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Your </a:t>
            </a:r>
            <a:r>
              <a:rPr lang="en-US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primary audience is your intended audience; it is the person or group that you have in mind when you decide to communicate </a:t>
            </a:r>
            <a:r>
              <a:rPr lang="en-US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something</a:t>
            </a:r>
            <a:endParaRPr lang="en-US" dirty="0" smtClean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635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pc="-150" dirty="0" smtClean="0">
              <a:solidFill>
                <a:srgbClr val="B31166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pc="35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People</a:t>
            </a:r>
            <a:r>
              <a:rPr spc="-140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1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whom</a:t>
            </a:r>
            <a:r>
              <a:rPr spc="-9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1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communication</a:t>
            </a:r>
            <a:r>
              <a:rPr spc="-16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18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is</a:t>
            </a:r>
            <a:r>
              <a:rPr spc="-16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directed-</a:t>
            </a:r>
            <a:r>
              <a:rPr spc="-11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3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People</a:t>
            </a:r>
            <a:r>
              <a:rPr spc="-14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7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within</a:t>
            </a:r>
            <a:r>
              <a:rPr spc="-114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2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the</a:t>
            </a:r>
            <a:r>
              <a:rPr spc="-114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2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organization </a:t>
            </a:r>
            <a:r>
              <a:rPr spc="-61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7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or</a:t>
            </a:r>
            <a:r>
              <a:rPr spc="-14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2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o</a:t>
            </a:r>
            <a:r>
              <a:rPr spc="1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u</a:t>
            </a:r>
            <a:r>
              <a:rPr spc="-114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t</a:t>
            </a:r>
            <a:r>
              <a:rPr spc="-25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s</a:t>
            </a:r>
            <a:r>
              <a:rPr spc="-114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i</a:t>
            </a:r>
            <a:r>
              <a:rPr spc="10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de</a:t>
            </a:r>
            <a:r>
              <a:rPr spc="-12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114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t</a:t>
            </a:r>
            <a:r>
              <a:rPr spc="-5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h</a:t>
            </a:r>
            <a:r>
              <a:rPr spc="9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e</a:t>
            </a:r>
            <a:r>
              <a:rPr spc="-10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r>
              <a:rPr spc="-1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w</a:t>
            </a:r>
            <a:r>
              <a:rPr spc="-22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r</a:t>
            </a:r>
            <a:r>
              <a:rPr spc="-12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i</a:t>
            </a:r>
            <a:r>
              <a:rPr spc="-114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t</a:t>
            </a:r>
            <a:r>
              <a:rPr spc="85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e</a:t>
            </a:r>
            <a:r>
              <a:rPr spc="-110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r’s </a:t>
            </a:r>
            <a:r>
              <a:rPr spc="20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org</a:t>
            </a:r>
            <a:r>
              <a:rPr spc="15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a</a:t>
            </a:r>
            <a:r>
              <a:rPr spc="-55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n</a:t>
            </a:r>
            <a:r>
              <a:rPr spc="-114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i</a:t>
            </a:r>
            <a:r>
              <a:rPr spc="-50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zat</a:t>
            </a:r>
            <a:r>
              <a:rPr spc="-114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i</a:t>
            </a:r>
            <a:r>
              <a:rPr spc="20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on</a:t>
            </a:r>
            <a:endParaRPr lang="en-US" spc="20" dirty="0" smtClean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endParaRPr lang="en-US" spc="20" dirty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lang="en-US" spc="20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The most important group to the writer</a:t>
            </a:r>
            <a:endParaRPr lang="en-US" spc="20" dirty="0" smtClean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635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pc="20" dirty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endParaRPr dirty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  <a:tabLst>
                <a:tab pos="756285" algn="l"/>
              </a:tabLst>
            </a:pPr>
            <a:endParaRPr dirty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355600" marR="5080" indent="-342900">
              <a:lnSpc>
                <a:spcPct val="100000"/>
              </a:lnSpc>
              <a:tabLst>
                <a:tab pos="354965" algn="l"/>
              </a:tabLst>
            </a:pPr>
            <a:endParaRPr dirty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122407" y="2711195"/>
            <a:ext cx="1956816" cy="3118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4751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Sec</a:t>
            </a:r>
            <a:r>
              <a:rPr spc="20" dirty="0"/>
              <a:t>o</a:t>
            </a:r>
            <a:r>
              <a:rPr spc="-45" dirty="0"/>
              <a:t>ndary</a:t>
            </a:r>
            <a:r>
              <a:rPr spc="-270" dirty="0"/>
              <a:t> </a:t>
            </a:r>
            <a:r>
              <a:rPr spc="105" dirty="0"/>
              <a:t>Audience</a:t>
            </a:r>
            <a:endParaRPr spc="105" dirty="0"/>
          </a:p>
        </p:txBody>
      </p:sp>
      <p:sp>
        <p:nvSpPr>
          <p:cNvPr id="3" name="object 3"/>
          <p:cNvSpPr txBox="1"/>
          <p:nvPr/>
        </p:nvSpPr>
        <p:spPr>
          <a:xfrm>
            <a:off x="1233932" y="2606801"/>
            <a:ext cx="8592185" cy="208390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312420" indent="-342900">
              <a:lnSpc>
                <a:spcPts val="1840"/>
              </a:lnSpc>
              <a:spcBef>
                <a:spcPts val="33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pc="-8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Consists </a:t>
            </a:r>
            <a:r>
              <a:rPr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of </a:t>
            </a:r>
            <a:r>
              <a:rPr spc="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people </a:t>
            </a:r>
            <a:r>
              <a:rPr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more </a:t>
            </a:r>
            <a:r>
              <a:rPr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distant </a:t>
            </a:r>
            <a:r>
              <a:rPr spc="-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from </a:t>
            </a:r>
            <a:r>
              <a:rPr lang="en-US" spc="-6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 </a:t>
            </a:r>
            <a:r>
              <a:rPr spc="-9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writer </a:t>
            </a:r>
            <a:r>
              <a:rPr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who </a:t>
            </a:r>
            <a:r>
              <a:rPr spc="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need </a:t>
            </a:r>
            <a:r>
              <a:rPr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to </a:t>
            </a:r>
            <a:r>
              <a:rPr spc="-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stay </a:t>
            </a:r>
            <a:r>
              <a:rPr spc="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aware </a:t>
            </a:r>
            <a:r>
              <a:rPr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of </a:t>
            </a:r>
            <a:r>
              <a:rPr lang="en-US" spc="1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 message</a:t>
            </a:r>
            <a:r>
              <a:rPr lang="en-US" spc="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/</a:t>
            </a:r>
            <a:r>
              <a:rPr spc="-1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developments</a:t>
            </a:r>
            <a:r>
              <a:rPr spc="-1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</a:t>
            </a:r>
            <a:r>
              <a:rPr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organization</a:t>
            </a:r>
            <a:r>
              <a:rPr spc="-1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but</a:t>
            </a:r>
            <a:r>
              <a:rPr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who</a:t>
            </a:r>
            <a:r>
              <a:rPr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9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will</a:t>
            </a:r>
            <a:r>
              <a:rPr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not</a:t>
            </a:r>
            <a:r>
              <a:rPr spc="-17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directly</a:t>
            </a:r>
            <a:r>
              <a:rPr spc="-1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act</a:t>
            </a:r>
            <a:r>
              <a:rPr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or</a:t>
            </a:r>
            <a:r>
              <a:rPr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respond</a:t>
            </a:r>
            <a:r>
              <a:rPr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to </a:t>
            </a:r>
            <a:r>
              <a:rPr spc="-5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document</a:t>
            </a:r>
            <a:r>
              <a:rPr spc="1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.</a:t>
            </a:r>
            <a:endParaRPr dirty="0">
              <a:latin typeface="Verdana" panose="020B0804030504040204"/>
              <a:cs typeface="Verdana" panose="020B0804030504040204"/>
            </a:endParaRPr>
          </a:p>
          <a:p>
            <a:pPr marL="469900">
              <a:lnSpc>
                <a:spcPct val="100000"/>
              </a:lnSpc>
              <a:spcBef>
                <a:spcPts val="820"/>
              </a:spcBef>
              <a:tabLst>
                <a:tab pos="756285" algn="l"/>
              </a:tabLst>
            </a:pPr>
            <a:endParaRPr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dirty="0">
              <a:latin typeface="Verdana" panose="020B0804030504040204"/>
              <a:cs typeface="Verdana" panose="020B0804030504040204"/>
            </a:endParaRPr>
          </a:p>
          <a:p>
            <a:pPr marL="355600" marR="5080" indent="-342900" algn="just">
              <a:lnSpc>
                <a:spcPts val="1840"/>
              </a:lnSpc>
              <a:buFont typeface="Wingdings" panose="05000000000000000000" pitchFamily="2" charset="2"/>
              <a:buChar char="Ø"/>
            </a:pPr>
            <a:r>
              <a:rPr lang="en-US" spc="-8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Secondary </a:t>
            </a:r>
            <a:r>
              <a:rPr spc="5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audience</a:t>
            </a:r>
            <a:r>
              <a:rPr spc="-1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might</a:t>
            </a:r>
            <a:r>
              <a:rPr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include</a:t>
            </a:r>
            <a:r>
              <a:rPr spc="-1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readers</a:t>
            </a:r>
            <a:r>
              <a:rPr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1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of</a:t>
            </a:r>
            <a:r>
              <a:rPr lang="en-US" spc="1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7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pc="-12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lang="en-US" spc="-3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document </a:t>
            </a:r>
            <a:r>
              <a:rPr spc="2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who</a:t>
            </a:r>
            <a:r>
              <a:rPr spc="-13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lang="en-US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might be </a:t>
            </a:r>
            <a:r>
              <a:rPr spc="-13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interested</a:t>
            </a:r>
            <a:r>
              <a:rPr lang="en-US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/</a:t>
            </a:r>
            <a:r>
              <a:rPr lang="en-US" spc="-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not interested</a:t>
            </a:r>
            <a:r>
              <a:rPr spc="-1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</a:t>
            </a:r>
            <a:r>
              <a:rPr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buying</a:t>
            </a:r>
            <a:r>
              <a:rPr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-7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pc="1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product</a:t>
            </a:r>
            <a:r>
              <a:rPr lang="en-US" spc="1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. </a:t>
            </a:r>
            <a:r>
              <a:rPr lang="en-US" spc="-13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They need to stay aware of what’s happening.</a:t>
            </a:r>
            <a:endParaRPr dirty="0">
              <a:latin typeface="Verdana" panose="020B0804030504040204"/>
              <a:cs typeface="Verdana" panose="020B08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53011" y="2362200"/>
            <a:ext cx="1914144" cy="1904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39198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Tertiary</a:t>
            </a:r>
            <a:r>
              <a:rPr spc="-254" dirty="0"/>
              <a:t> </a:t>
            </a:r>
            <a:r>
              <a:rPr spc="105" dirty="0"/>
              <a:t>Audience</a:t>
            </a:r>
            <a:endParaRPr spc="105" dirty="0"/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8121015" cy="2546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1800" spc="-90" dirty="0" smtClean="0">
                <a:latin typeface="Verdana" panose="020B0804030504040204"/>
                <a:cs typeface="Verdana" panose="020B0804030504040204"/>
              </a:rPr>
              <a:t>Consists</a:t>
            </a:r>
            <a:r>
              <a:rPr sz="1800" spc="-135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800" spc="5" dirty="0">
                <a:latin typeface="Verdana" panose="020B0804030504040204"/>
                <a:cs typeface="Verdana" panose="020B0804030504040204"/>
              </a:rPr>
              <a:t>of</a:t>
            </a:r>
            <a:r>
              <a:rPr sz="1800" spc="365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55" dirty="0">
                <a:latin typeface="Verdana" panose="020B0804030504040204"/>
                <a:cs typeface="Verdana" panose="020B0804030504040204"/>
              </a:rPr>
              <a:t>people</a:t>
            </a:r>
            <a:r>
              <a:rPr sz="1800" spc="-125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95" dirty="0">
                <a:latin typeface="Verdana" panose="020B0804030504040204"/>
                <a:cs typeface="Verdana" panose="020B0804030504040204"/>
              </a:rPr>
              <a:t>further</a:t>
            </a:r>
            <a:r>
              <a:rPr sz="1800" spc="-10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5" dirty="0">
                <a:latin typeface="Verdana" panose="020B0804030504040204"/>
                <a:cs typeface="Verdana" panose="020B0804030504040204"/>
              </a:rPr>
              <a:t>removed</a:t>
            </a:r>
            <a:r>
              <a:rPr sz="1800" spc="-13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75" dirty="0">
                <a:latin typeface="Verdana" panose="020B0804030504040204"/>
                <a:cs typeface="Verdana" panose="020B0804030504040204"/>
              </a:rPr>
              <a:t>from</a:t>
            </a:r>
            <a:r>
              <a:rPr sz="1800" spc="-14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latin typeface="Verdana" panose="020B0804030504040204"/>
                <a:cs typeface="Verdana" panose="020B0804030504040204"/>
              </a:rPr>
              <a:t>the</a:t>
            </a:r>
            <a:r>
              <a:rPr sz="1800" spc="-114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105" dirty="0">
                <a:latin typeface="Verdana" panose="020B0804030504040204"/>
                <a:cs typeface="Verdana" panose="020B0804030504040204"/>
              </a:rPr>
              <a:t>writer</a:t>
            </a:r>
            <a:r>
              <a:rPr sz="1800" spc="-10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5" dirty="0">
                <a:latin typeface="Verdana" panose="020B0804030504040204"/>
                <a:cs typeface="Verdana" panose="020B0804030504040204"/>
              </a:rPr>
              <a:t>who</a:t>
            </a:r>
            <a:r>
              <a:rPr sz="1800" spc="-95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50" dirty="0">
                <a:latin typeface="Verdana" panose="020B0804030504040204"/>
                <a:cs typeface="Verdana" panose="020B0804030504040204"/>
              </a:rPr>
              <a:t>might</a:t>
            </a:r>
            <a:r>
              <a:rPr sz="1800" spc="-155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10" dirty="0">
                <a:latin typeface="Verdana" panose="020B0804030504040204"/>
                <a:cs typeface="Verdana" panose="020B0804030504040204"/>
              </a:rPr>
              <a:t>take</a:t>
            </a:r>
            <a:r>
              <a:rPr sz="1800" spc="-12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45" dirty="0">
                <a:latin typeface="Verdana" panose="020B0804030504040204"/>
                <a:cs typeface="Verdana" panose="020B0804030504040204"/>
              </a:rPr>
              <a:t>an </a:t>
            </a:r>
            <a:r>
              <a:rPr sz="1800" spc="-62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latin typeface="Verdana" panose="020B0804030504040204"/>
                <a:cs typeface="Verdana" panose="020B0804030504040204"/>
              </a:rPr>
              <a:t>i</a:t>
            </a:r>
            <a:r>
              <a:rPr sz="1800" spc="-55" dirty="0">
                <a:latin typeface="Verdana" panose="020B0804030504040204"/>
                <a:cs typeface="Verdana" panose="020B0804030504040204"/>
              </a:rPr>
              <a:t>n</a:t>
            </a:r>
            <a:r>
              <a:rPr sz="1800" spc="-114" dirty="0">
                <a:latin typeface="Verdana" panose="020B0804030504040204"/>
                <a:cs typeface="Verdana" panose="020B0804030504040204"/>
              </a:rPr>
              <a:t>t</a:t>
            </a:r>
            <a:r>
              <a:rPr sz="1800" spc="85" dirty="0">
                <a:latin typeface="Verdana" panose="020B0804030504040204"/>
                <a:cs typeface="Verdana" panose="020B0804030504040204"/>
              </a:rPr>
              <a:t>e</a:t>
            </a:r>
            <a:r>
              <a:rPr sz="1800" spc="-55" dirty="0">
                <a:latin typeface="Verdana" panose="020B0804030504040204"/>
                <a:cs typeface="Verdana" panose="020B0804030504040204"/>
              </a:rPr>
              <a:t>r</a:t>
            </a:r>
            <a:r>
              <a:rPr sz="1800" spc="-90" dirty="0">
                <a:latin typeface="Verdana" panose="020B0804030504040204"/>
                <a:cs typeface="Verdana" panose="020B0804030504040204"/>
              </a:rPr>
              <a:t>e</a:t>
            </a:r>
            <a:r>
              <a:rPr sz="1800" spc="-200" dirty="0">
                <a:latin typeface="Verdana" panose="020B0804030504040204"/>
                <a:cs typeface="Verdana" panose="020B0804030504040204"/>
              </a:rPr>
              <a:t>s</a:t>
            </a:r>
            <a:r>
              <a:rPr sz="1800" spc="-150" dirty="0">
                <a:latin typeface="Verdana" panose="020B0804030504040204"/>
                <a:cs typeface="Verdana" panose="020B0804030504040204"/>
              </a:rPr>
              <a:t>t</a:t>
            </a:r>
            <a:r>
              <a:rPr sz="1800" spc="-11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latin typeface="Verdana" panose="020B0804030504040204"/>
                <a:cs typeface="Verdana" panose="020B0804030504040204"/>
              </a:rPr>
              <a:t>i</a:t>
            </a:r>
            <a:r>
              <a:rPr sz="1800" spc="-45" dirty="0">
                <a:latin typeface="Verdana" panose="020B0804030504040204"/>
                <a:cs typeface="Verdana" panose="020B0804030504040204"/>
              </a:rPr>
              <a:t>n</a:t>
            </a:r>
            <a:r>
              <a:rPr sz="1800" spc="-160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latin typeface="Verdana" panose="020B0804030504040204"/>
                <a:cs typeface="Verdana" panose="020B0804030504040204"/>
              </a:rPr>
              <a:t>t</a:t>
            </a:r>
            <a:r>
              <a:rPr sz="1800" spc="-55" dirty="0">
                <a:latin typeface="Verdana" panose="020B0804030504040204"/>
                <a:cs typeface="Verdana" panose="020B0804030504040204"/>
              </a:rPr>
              <a:t>h</a:t>
            </a:r>
            <a:r>
              <a:rPr sz="1800" spc="95" dirty="0">
                <a:latin typeface="Verdana" panose="020B0804030504040204"/>
                <a:cs typeface="Verdana" panose="020B0804030504040204"/>
              </a:rPr>
              <a:t>e</a:t>
            </a:r>
            <a:r>
              <a:rPr sz="1800" spc="-114" dirty="0">
                <a:latin typeface="Verdana" panose="020B0804030504040204"/>
                <a:cs typeface="Verdana" panose="020B0804030504040204"/>
              </a:rPr>
              <a:t> </a:t>
            </a:r>
            <a:r>
              <a:rPr sz="1800" spc="-65" dirty="0" smtClean="0">
                <a:latin typeface="Verdana" panose="020B0804030504040204"/>
                <a:cs typeface="Verdana" panose="020B0804030504040204"/>
              </a:rPr>
              <a:t>su</a:t>
            </a:r>
            <a:r>
              <a:rPr sz="1800" spc="-75" dirty="0" smtClean="0">
                <a:latin typeface="Verdana" panose="020B0804030504040204"/>
                <a:cs typeface="Verdana" panose="020B0804030504040204"/>
              </a:rPr>
              <a:t>b</a:t>
            </a:r>
            <a:r>
              <a:rPr sz="1800" spc="-250" dirty="0" smtClean="0">
                <a:latin typeface="Verdana" panose="020B0804030504040204"/>
                <a:cs typeface="Verdana" panose="020B0804030504040204"/>
              </a:rPr>
              <a:t>j</a:t>
            </a:r>
            <a:r>
              <a:rPr sz="1800" spc="85" dirty="0" smtClean="0">
                <a:latin typeface="Verdana" panose="020B0804030504040204"/>
                <a:cs typeface="Verdana" panose="020B0804030504040204"/>
              </a:rPr>
              <a:t>e</a:t>
            </a:r>
            <a:r>
              <a:rPr sz="1800" spc="60" dirty="0" smtClean="0">
                <a:latin typeface="Verdana" panose="020B0804030504040204"/>
                <a:cs typeface="Verdana" panose="020B0804030504040204"/>
              </a:rPr>
              <a:t>ct</a:t>
            </a:r>
            <a:r>
              <a:rPr lang="en-US" spc="-120" dirty="0" smtClean="0">
                <a:latin typeface="Verdana" panose="020B0804030504040204"/>
                <a:cs typeface="Verdana" panose="020B0804030504040204"/>
              </a:rPr>
              <a:t>/message</a:t>
            </a:r>
            <a:endParaRPr lang="en-US" sz="1800" spc="-160" dirty="0" smtClean="0">
              <a:latin typeface="Verdana" panose="020B0804030504040204"/>
              <a:cs typeface="Verdana" panose="020B0804030504040204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z="1800" spc="-160" dirty="0" smtClean="0">
              <a:latin typeface="Verdana" panose="020B0804030504040204"/>
              <a:cs typeface="Verdana" panose="020B0804030504040204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lang="en-US" dirty="0" smtClean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Tertiary </a:t>
            </a:r>
            <a:r>
              <a:rPr lang="en-US" dirty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audiences are those who have a general interest or stake in your information, such as competitors, media, or public.</a:t>
            </a:r>
            <a:endParaRPr sz="1800" dirty="0"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  <a:tabLst>
                <a:tab pos="756285" algn="l"/>
              </a:tabLst>
            </a:pPr>
            <a:r>
              <a:rPr sz="1250" spc="-100" dirty="0">
                <a:latin typeface="Lucida Sans Unicode"/>
                <a:cs typeface="Lucida Sans Unicode"/>
              </a:rPr>
              <a:t>▶	</a:t>
            </a:r>
            <a:r>
              <a:rPr lang="en-US" sz="1600" spc="-100" dirty="0" smtClean="0">
                <a:latin typeface="Verdana" panose="020B0804030504040204"/>
                <a:cs typeface="Verdana" panose="020B0804030504040204"/>
              </a:rPr>
              <a:t>Media</a:t>
            </a:r>
            <a:endParaRPr lang="en-US" sz="1600" spc="-100" dirty="0" smtClean="0">
              <a:latin typeface="Verdana" panose="020B0804030504040204"/>
              <a:cs typeface="Verdana" panose="020B0804030504040204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  <a:tabLst>
                <a:tab pos="756285" algn="l"/>
              </a:tabLst>
            </a:pPr>
            <a:r>
              <a:rPr sz="1250" spc="-100" dirty="0" smtClean="0">
                <a:latin typeface="Lucida Sans Unicode"/>
                <a:cs typeface="Lucida Sans Unicode"/>
              </a:rPr>
              <a:t>▶	</a:t>
            </a:r>
            <a:r>
              <a:rPr sz="1600" spc="-160" dirty="0" smtClean="0">
                <a:latin typeface="Verdana" panose="020B0804030504040204"/>
                <a:cs typeface="Verdana" panose="020B0804030504040204"/>
              </a:rPr>
              <a:t>L</a:t>
            </a:r>
            <a:r>
              <a:rPr sz="1600" spc="80" dirty="0" smtClean="0">
                <a:latin typeface="Verdana" panose="020B0804030504040204"/>
                <a:cs typeface="Verdana" panose="020B0804030504040204"/>
              </a:rPr>
              <a:t>oca</a:t>
            </a:r>
            <a:r>
              <a:rPr sz="1600" spc="45" dirty="0" smtClean="0">
                <a:latin typeface="Verdana" panose="020B0804030504040204"/>
                <a:cs typeface="Verdana" panose="020B0804030504040204"/>
              </a:rPr>
              <a:t>l</a:t>
            </a:r>
            <a:r>
              <a:rPr sz="1600" spc="-145" dirty="0" smtClean="0">
                <a:latin typeface="Verdana" panose="020B0804030504040204"/>
                <a:cs typeface="Verdana" panose="020B0804030504040204"/>
              </a:rPr>
              <a:t>,</a:t>
            </a:r>
            <a:r>
              <a:rPr sz="1600" spc="-130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600" spc="-215" dirty="0" smtClean="0">
                <a:latin typeface="Verdana" panose="020B0804030504040204"/>
                <a:cs typeface="Verdana" panose="020B0804030504040204"/>
              </a:rPr>
              <a:t>s</a:t>
            </a:r>
            <a:r>
              <a:rPr sz="1600" spc="-105" dirty="0" smtClean="0">
                <a:latin typeface="Verdana" panose="020B0804030504040204"/>
                <a:cs typeface="Verdana" panose="020B0804030504040204"/>
              </a:rPr>
              <a:t>t</a:t>
            </a:r>
            <a:r>
              <a:rPr sz="1600" spc="15" dirty="0" smtClean="0">
                <a:latin typeface="Verdana" panose="020B0804030504040204"/>
                <a:cs typeface="Verdana" panose="020B0804030504040204"/>
              </a:rPr>
              <a:t>a</a:t>
            </a:r>
            <a:r>
              <a:rPr sz="1600" dirty="0" smtClean="0">
                <a:latin typeface="Verdana" panose="020B0804030504040204"/>
                <a:cs typeface="Verdana" panose="020B0804030504040204"/>
              </a:rPr>
              <a:t>t</a:t>
            </a:r>
            <a:r>
              <a:rPr sz="1600" spc="80" dirty="0" smtClean="0">
                <a:latin typeface="Verdana" panose="020B0804030504040204"/>
                <a:cs typeface="Verdana" panose="020B0804030504040204"/>
              </a:rPr>
              <a:t>e</a:t>
            </a:r>
            <a:r>
              <a:rPr sz="1600" spc="-114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600" spc="55" dirty="0" smtClean="0">
                <a:latin typeface="Verdana" panose="020B0804030504040204"/>
                <a:cs typeface="Verdana" panose="020B0804030504040204"/>
              </a:rPr>
              <a:t>an</a:t>
            </a:r>
            <a:r>
              <a:rPr sz="1600" spc="60" dirty="0" smtClean="0">
                <a:latin typeface="Verdana" panose="020B0804030504040204"/>
                <a:cs typeface="Verdana" panose="020B0804030504040204"/>
              </a:rPr>
              <a:t>d</a:t>
            </a:r>
            <a:r>
              <a:rPr sz="1600" spc="-125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600" spc="45" dirty="0" smtClean="0">
                <a:latin typeface="Verdana" panose="020B0804030504040204"/>
                <a:cs typeface="Verdana" panose="020B0804030504040204"/>
              </a:rPr>
              <a:t>fede</a:t>
            </a:r>
            <a:r>
              <a:rPr sz="1600" spc="-65" dirty="0" smtClean="0">
                <a:latin typeface="Verdana" panose="020B0804030504040204"/>
                <a:cs typeface="Verdana" panose="020B0804030504040204"/>
              </a:rPr>
              <a:t>ral</a:t>
            </a:r>
            <a:r>
              <a:rPr sz="1600" spc="-105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600" spc="75" dirty="0" smtClean="0">
                <a:latin typeface="Verdana" panose="020B0804030504040204"/>
                <a:cs typeface="Verdana" panose="020B0804030504040204"/>
              </a:rPr>
              <a:t>g</a:t>
            </a:r>
            <a:r>
              <a:rPr sz="1600" spc="65" dirty="0" smtClean="0">
                <a:latin typeface="Verdana" panose="020B0804030504040204"/>
                <a:cs typeface="Verdana" panose="020B0804030504040204"/>
              </a:rPr>
              <a:t>o</a:t>
            </a:r>
            <a:r>
              <a:rPr sz="1600" spc="-40" dirty="0" smtClean="0">
                <a:latin typeface="Verdana" panose="020B0804030504040204"/>
                <a:cs typeface="Verdana" panose="020B0804030504040204"/>
              </a:rPr>
              <a:t>v</a:t>
            </a:r>
            <a:r>
              <a:rPr sz="1600" spc="75" dirty="0" smtClean="0">
                <a:latin typeface="Verdana" panose="020B0804030504040204"/>
                <a:cs typeface="Verdana" panose="020B0804030504040204"/>
              </a:rPr>
              <a:t>e</a:t>
            </a:r>
            <a:r>
              <a:rPr sz="1600" spc="-55" dirty="0" smtClean="0">
                <a:latin typeface="Verdana" panose="020B0804030504040204"/>
                <a:cs typeface="Verdana" panose="020B0804030504040204"/>
              </a:rPr>
              <a:t>rnme</a:t>
            </a:r>
            <a:r>
              <a:rPr sz="1600" spc="-60" dirty="0" smtClean="0">
                <a:latin typeface="Verdana" panose="020B0804030504040204"/>
                <a:cs typeface="Verdana" panose="020B0804030504040204"/>
              </a:rPr>
              <a:t>n</a:t>
            </a:r>
            <a:r>
              <a:rPr sz="1600" spc="-90" dirty="0" smtClean="0">
                <a:latin typeface="Verdana" panose="020B0804030504040204"/>
                <a:cs typeface="Verdana" panose="020B0804030504040204"/>
              </a:rPr>
              <a:t>t</a:t>
            </a:r>
            <a:r>
              <a:rPr sz="1600" spc="-110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600" spc="90" dirty="0" smtClean="0">
                <a:latin typeface="Verdana" panose="020B0804030504040204"/>
                <a:cs typeface="Verdana" panose="020B0804030504040204"/>
              </a:rPr>
              <a:t>ag</a:t>
            </a:r>
            <a:r>
              <a:rPr sz="1600" spc="85" dirty="0" smtClean="0">
                <a:latin typeface="Verdana" panose="020B0804030504040204"/>
                <a:cs typeface="Verdana" panose="020B0804030504040204"/>
              </a:rPr>
              <a:t>e</a:t>
            </a:r>
            <a:r>
              <a:rPr sz="1600" spc="-20" dirty="0" smtClean="0">
                <a:latin typeface="Verdana" panose="020B0804030504040204"/>
                <a:cs typeface="Verdana" panose="020B0804030504040204"/>
              </a:rPr>
              <a:t>ncies</a:t>
            </a:r>
            <a:endParaRPr sz="1600" dirty="0" smtClean="0">
              <a:latin typeface="Verdana" panose="020B0804030504040204"/>
              <a:cs typeface="Verdana" panose="020B0804030504040204"/>
            </a:endParaRPr>
          </a:p>
          <a:p>
            <a:pPr marL="469900">
              <a:lnSpc>
                <a:spcPct val="100000"/>
              </a:lnSpc>
              <a:spcBef>
                <a:spcPts val="995"/>
              </a:spcBef>
              <a:tabLst>
                <a:tab pos="756285" algn="l"/>
              </a:tabLst>
            </a:pPr>
            <a:r>
              <a:rPr sz="1250" spc="-100" dirty="0" smtClean="0">
                <a:latin typeface="Lucida Sans Unicode"/>
                <a:cs typeface="Lucida Sans Unicode"/>
              </a:rPr>
              <a:t>▶</a:t>
            </a:r>
            <a:r>
              <a:rPr sz="1250" spc="-100" dirty="0">
                <a:latin typeface="Lucida Sans Unicode"/>
                <a:cs typeface="Lucida Sans Unicode"/>
              </a:rPr>
              <a:t>	</a:t>
            </a:r>
            <a:r>
              <a:rPr sz="1600" spc="110" dirty="0">
                <a:latin typeface="Verdana" panose="020B0804030504040204"/>
                <a:cs typeface="Verdana" panose="020B0804030504040204"/>
              </a:rPr>
              <a:t>Ge</a:t>
            </a:r>
            <a:r>
              <a:rPr sz="1600" spc="20" dirty="0">
                <a:latin typeface="Verdana" panose="020B0804030504040204"/>
                <a:cs typeface="Verdana" panose="020B0804030504040204"/>
              </a:rPr>
              <a:t>n</a:t>
            </a:r>
            <a:r>
              <a:rPr sz="1600" spc="10" dirty="0">
                <a:latin typeface="Verdana" panose="020B0804030504040204"/>
                <a:cs typeface="Verdana" panose="020B0804030504040204"/>
              </a:rPr>
              <a:t>e</a:t>
            </a:r>
            <a:r>
              <a:rPr sz="1600" spc="-65" dirty="0">
                <a:latin typeface="Verdana" panose="020B0804030504040204"/>
                <a:cs typeface="Verdana" panose="020B0804030504040204"/>
              </a:rPr>
              <a:t>ral</a:t>
            </a:r>
            <a:r>
              <a:rPr sz="1600" spc="-95" dirty="0">
                <a:latin typeface="Verdana" panose="020B0804030504040204"/>
                <a:cs typeface="Verdana" panose="020B0804030504040204"/>
              </a:rPr>
              <a:t> </a:t>
            </a:r>
            <a:r>
              <a:rPr sz="1600" spc="15" dirty="0">
                <a:latin typeface="Verdana" panose="020B0804030504040204"/>
                <a:cs typeface="Verdana" panose="020B0804030504040204"/>
              </a:rPr>
              <a:t>p</a:t>
            </a:r>
            <a:r>
              <a:rPr sz="1600" spc="25" dirty="0">
                <a:latin typeface="Verdana" panose="020B0804030504040204"/>
                <a:cs typeface="Verdana" panose="020B0804030504040204"/>
              </a:rPr>
              <a:t>u</a:t>
            </a:r>
            <a:r>
              <a:rPr sz="1600" spc="-25" dirty="0">
                <a:latin typeface="Verdana" panose="020B0804030504040204"/>
                <a:cs typeface="Verdana" panose="020B0804030504040204"/>
              </a:rPr>
              <a:t>b</a:t>
            </a:r>
            <a:r>
              <a:rPr sz="1600" spc="5" dirty="0">
                <a:latin typeface="Verdana" panose="020B0804030504040204"/>
                <a:cs typeface="Verdana" panose="020B0804030504040204"/>
              </a:rPr>
              <a:t>l</a:t>
            </a:r>
            <a:r>
              <a:rPr sz="1600" spc="-120" dirty="0">
                <a:latin typeface="Verdana" panose="020B0804030504040204"/>
                <a:cs typeface="Verdana" panose="020B0804030504040204"/>
              </a:rPr>
              <a:t>i</a:t>
            </a:r>
            <a:r>
              <a:rPr sz="1600" spc="195" dirty="0">
                <a:latin typeface="Verdana" panose="020B0804030504040204"/>
                <a:cs typeface="Verdana" panose="020B0804030504040204"/>
              </a:rPr>
              <a:t>c</a:t>
            </a:r>
            <a:r>
              <a:rPr sz="1600" spc="-145" dirty="0">
                <a:latin typeface="Verdana" panose="020B0804030504040204"/>
                <a:cs typeface="Verdana" panose="020B0804030504040204"/>
              </a:rPr>
              <a:t> </a:t>
            </a:r>
            <a:r>
              <a:rPr sz="1600" spc="-140" dirty="0">
                <a:latin typeface="Verdana" panose="020B0804030504040204"/>
                <a:cs typeface="Verdana" panose="020B0804030504040204"/>
              </a:rPr>
              <a:t>(</a:t>
            </a:r>
            <a:r>
              <a:rPr sz="1600" spc="-125" dirty="0">
                <a:latin typeface="Verdana" panose="020B0804030504040204"/>
                <a:cs typeface="Verdana" panose="020B0804030504040204"/>
              </a:rPr>
              <a:t> </a:t>
            </a:r>
            <a:r>
              <a:rPr sz="1600" spc="-120" dirty="0">
                <a:latin typeface="Verdana" panose="020B0804030504040204"/>
                <a:cs typeface="Verdana" panose="020B0804030504040204"/>
              </a:rPr>
              <a:t>i</a:t>
            </a:r>
            <a:r>
              <a:rPr sz="1600" spc="-65" dirty="0">
                <a:latin typeface="Verdana" panose="020B0804030504040204"/>
                <a:cs typeface="Verdana" panose="020B0804030504040204"/>
              </a:rPr>
              <a:t>f</a:t>
            </a:r>
            <a:r>
              <a:rPr sz="1600" spc="-130" dirty="0">
                <a:latin typeface="Verdana" panose="020B0804030504040204"/>
                <a:cs typeface="Verdana" panose="020B0804030504040204"/>
              </a:rPr>
              <a:t> </a:t>
            </a:r>
            <a:r>
              <a:rPr sz="1600" spc="-105" dirty="0">
                <a:latin typeface="Verdana" panose="020B0804030504040204"/>
                <a:cs typeface="Verdana" panose="020B0804030504040204"/>
              </a:rPr>
              <a:t>t</a:t>
            </a:r>
            <a:r>
              <a:rPr sz="1600" spc="20" dirty="0">
                <a:latin typeface="Verdana" panose="020B0804030504040204"/>
                <a:cs typeface="Verdana" panose="020B0804030504040204"/>
              </a:rPr>
              <a:t>he</a:t>
            </a:r>
            <a:r>
              <a:rPr sz="1600" spc="-114" dirty="0">
                <a:latin typeface="Verdana" panose="020B0804030504040204"/>
                <a:cs typeface="Verdana" panose="020B0804030504040204"/>
              </a:rPr>
              <a:t> </a:t>
            </a:r>
            <a:r>
              <a:rPr lang="en-US" sz="1600" spc="-50" dirty="0" smtClean="0">
                <a:latin typeface="Verdana" panose="020B0804030504040204"/>
                <a:cs typeface="Verdana" panose="020B0804030504040204"/>
              </a:rPr>
              <a:t>message</a:t>
            </a:r>
            <a:r>
              <a:rPr sz="1600" spc="-110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z="1600" spc="-120" dirty="0">
                <a:latin typeface="Verdana" panose="020B0804030504040204"/>
                <a:cs typeface="Verdana" panose="020B0804030504040204"/>
              </a:rPr>
              <a:t>i</a:t>
            </a:r>
            <a:r>
              <a:rPr sz="1600" spc="-215" dirty="0">
                <a:latin typeface="Verdana" panose="020B0804030504040204"/>
                <a:cs typeface="Verdana" panose="020B0804030504040204"/>
              </a:rPr>
              <a:t>s</a:t>
            </a:r>
            <a:r>
              <a:rPr sz="1600" spc="-120" dirty="0">
                <a:latin typeface="Verdana" panose="020B0804030504040204"/>
                <a:cs typeface="Verdana" panose="020B0804030504040204"/>
              </a:rPr>
              <a:t> </a:t>
            </a:r>
            <a:r>
              <a:rPr sz="1600" spc="35" dirty="0">
                <a:latin typeface="Verdana" panose="020B0804030504040204"/>
                <a:cs typeface="Verdana" panose="020B0804030504040204"/>
              </a:rPr>
              <a:t>ma</a:t>
            </a:r>
            <a:r>
              <a:rPr sz="1600" spc="85" dirty="0">
                <a:latin typeface="Verdana" panose="020B0804030504040204"/>
                <a:cs typeface="Verdana" panose="020B0804030504040204"/>
              </a:rPr>
              <a:t>de</a:t>
            </a:r>
            <a:r>
              <a:rPr sz="1600" spc="-130" dirty="0">
                <a:latin typeface="Verdana" panose="020B0804030504040204"/>
                <a:cs typeface="Verdana" panose="020B0804030504040204"/>
              </a:rPr>
              <a:t> </a:t>
            </a:r>
            <a:r>
              <a:rPr sz="1600" spc="90" dirty="0">
                <a:latin typeface="Verdana" panose="020B0804030504040204"/>
                <a:cs typeface="Verdana" panose="020B0804030504040204"/>
              </a:rPr>
              <a:t>p</a:t>
            </a:r>
            <a:r>
              <a:rPr sz="1600" spc="20" dirty="0">
                <a:latin typeface="Verdana" panose="020B0804030504040204"/>
                <a:cs typeface="Verdana" panose="020B0804030504040204"/>
              </a:rPr>
              <a:t>ub</a:t>
            </a:r>
            <a:r>
              <a:rPr sz="1600" spc="-105" dirty="0">
                <a:latin typeface="Verdana" panose="020B0804030504040204"/>
                <a:cs typeface="Verdana" panose="020B0804030504040204"/>
              </a:rPr>
              <a:t>l</a:t>
            </a:r>
            <a:r>
              <a:rPr sz="1600" spc="-120" dirty="0">
                <a:latin typeface="Verdana" panose="020B0804030504040204"/>
                <a:cs typeface="Verdana" panose="020B0804030504040204"/>
              </a:rPr>
              <a:t>i</a:t>
            </a:r>
            <a:r>
              <a:rPr sz="1600" spc="30" dirty="0">
                <a:latin typeface="Verdana" panose="020B0804030504040204"/>
                <a:cs typeface="Verdana" panose="020B0804030504040204"/>
              </a:rPr>
              <a:t>c)</a:t>
            </a:r>
            <a:endParaRPr sz="1600" dirty="0">
              <a:latin typeface="Verdana" panose="020B0804030504040204"/>
              <a:cs typeface="Verdana" panose="020B08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67800" y="4419600"/>
            <a:ext cx="2981832" cy="220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932" y="755091"/>
            <a:ext cx="8748268" cy="1107996"/>
          </a:xfrm>
        </p:spPr>
        <p:txBody>
          <a:bodyPr/>
          <a:lstStyle/>
          <a:p>
            <a:r>
              <a:rPr lang="en-US" dirty="0" smtClean="0"/>
              <a:t>INTERNAL VS EXTERNAL AUDIENCE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14600"/>
            <a:ext cx="10134600" cy="4210383"/>
          </a:xfrm>
        </p:spPr>
        <p:txBody>
          <a:bodyPr/>
          <a:lstStyle/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sz="1800" kern="120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Internal: people in the same organization</a:t>
            </a:r>
            <a:endParaRPr lang="en-US" altLang="en-US" sz="1800" kern="120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kern="1200" dirty="0">
                <a:solidFill>
                  <a:srgbClr val="660033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Subordinates</a:t>
            </a:r>
            <a:endParaRPr lang="en-US" altLang="en-US" kern="1200" dirty="0">
              <a:solidFill>
                <a:srgbClr val="660033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kern="1200" dirty="0">
                <a:solidFill>
                  <a:srgbClr val="660033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Supervisors</a:t>
            </a:r>
            <a:endParaRPr lang="en-US" altLang="en-US" kern="1200" dirty="0">
              <a:solidFill>
                <a:srgbClr val="660033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kern="1200" dirty="0">
                <a:solidFill>
                  <a:srgbClr val="660033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Peers</a:t>
            </a:r>
            <a:r>
              <a:rPr lang="en-US" altLang="en-US" kern="1200" dirty="0">
                <a:solidFill>
                  <a:srgbClr val="000099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endParaRPr lang="en-US" altLang="en-US" kern="1200" dirty="0" smtClean="0">
              <a:solidFill>
                <a:srgbClr val="000099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R="0" lvl="1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defRPr/>
            </a:pPr>
            <a:endParaRPr lang="en-US" altLang="en-US" kern="1200" dirty="0">
              <a:solidFill>
                <a:srgbClr val="000099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sz="1800" kern="120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External: people outside the organization</a:t>
            </a:r>
            <a:endParaRPr lang="en-US" altLang="en-US" sz="1800" kern="120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kern="1200" dirty="0">
                <a:solidFill>
                  <a:srgbClr val="660033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Customers/Suppliers/Stockholders</a:t>
            </a:r>
            <a:endParaRPr lang="en-US" altLang="en-US" kern="1200" dirty="0">
              <a:solidFill>
                <a:srgbClr val="660033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kern="1200" dirty="0">
                <a:solidFill>
                  <a:srgbClr val="660033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Unions/Government Agencies</a:t>
            </a:r>
            <a:endParaRPr lang="en-US" altLang="en-US" kern="1200" dirty="0">
              <a:solidFill>
                <a:srgbClr val="660033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 panose="020B0604020202090204"/>
              <a:buChar char="•"/>
              <a:defRPr/>
            </a:pPr>
            <a:r>
              <a:rPr lang="en-US" altLang="en-US" kern="1200" dirty="0">
                <a:solidFill>
                  <a:srgbClr val="660033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Press/General Public</a:t>
            </a:r>
            <a:endParaRPr lang="en-US" altLang="en-US" kern="1200" dirty="0">
              <a:solidFill>
                <a:srgbClr val="660033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658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9476" y="9144"/>
              <a:ext cx="1600200" cy="1600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502142" y="1519047"/>
              <a:ext cx="3288029" cy="768350"/>
            </a:xfrm>
            <a:custGeom>
              <a:avLst/>
              <a:gdLst/>
              <a:ahLst/>
              <a:cxnLst/>
              <a:rect l="l" t="t" r="r" b="b"/>
              <a:pathLst>
                <a:path w="3288029" h="768350">
                  <a:moveTo>
                    <a:pt x="3226307" y="0"/>
                  </a:moveTo>
                  <a:lnTo>
                    <a:pt x="2909951" y="104775"/>
                  </a:lnTo>
                  <a:lnTo>
                    <a:pt x="2591054" y="200660"/>
                  </a:lnTo>
                  <a:lnTo>
                    <a:pt x="2485643" y="229997"/>
                  </a:lnTo>
                  <a:lnTo>
                    <a:pt x="2271522" y="287274"/>
                  </a:lnTo>
                  <a:lnTo>
                    <a:pt x="2059812" y="340487"/>
                  </a:lnTo>
                  <a:lnTo>
                    <a:pt x="1954656" y="365760"/>
                  </a:lnTo>
                  <a:lnTo>
                    <a:pt x="1639697" y="436244"/>
                  </a:lnTo>
                  <a:lnTo>
                    <a:pt x="1330071" y="498855"/>
                  </a:lnTo>
                  <a:lnTo>
                    <a:pt x="1127378" y="536828"/>
                  </a:lnTo>
                  <a:lnTo>
                    <a:pt x="829309" y="588517"/>
                  </a:lnTo>
                  <a:lnTo>
                    <a:pt x="447928" y="646811"/>
                  </a:lnTo>
                  <a:lnTo>
                    <a:pt x="174751" y="683894"/>
                  </a:lnTo>
                  <a:lnTo>
                    <a:pt x="0" y="705103"/>
                  </a:lnTo>
                  <a:lnTo>
                    <a:pt x="9701" y="720494"/>
                  </a:lnTo>
                  <a:lnTo>
                    <a:pt x="29342" y="751181"/>
                  </a:lnTo>
                  <a:lnTo>
                    <a:pt x="39115" y="766572"/>
                  </a:lnTo>
                  <a:lnTo>
                    <a:pt x="66166" y="767349"/>
                  </a:lnTo>
                  <a:lnTo>
                    <a:pt x="95131" y="767793"/>
                  </a:lnTo>
                  <a:lnTo>
                    <a:pt x="125954" y="767911"/>
                  </a:lnTo>
                  <a:lnTo>
                    <a:pt x="192949" y="767195"/>
                  </a:lnTo>
                  <a:lnTo>
                    <a:pt x="305973" y="763849"/>
                  </a:lnTo>
                  <a:lnTo>
                    <a:pt x="477701" y="755441"/>
                  </a:lnTo>
                  <a:lnTo>
                    <a:pt x="773052" y="735284"/>
                  </a:lnTo>
                  <a:lnTo>
                    <a:pt x="1336019" y="685315"/>
                  </a:lnTo>
                  <a:lnTo>
                    <a:pt x="2059023" y="606988"/>
                  </a:lnTo>
                  <a:lnTo>
                    <a:pt x="2689041" y="527362"/>
                  </a:lnTo>
                  <a:lnTo>
                    <a:pt x="3038251" y="477217"/>
                  </a:lnTo>
                  <a:lnTo>
                    <a:pt x="3250138" y="443265"/>
                  </a:lnTo>
                  <a:lnTo>
                    <a:pt x="3288029" y="436752"/>
                  </a:lnTo>
                  <a:lnTo>
                    <a:pt x="3280235" y="379771"/>
                  </a:lnTo>
                  <a:lnTo>
                    <a:pt x="3273959" y="334487"/>
                  </a:lnTo>
                  <a:lnTo>
                    <a:pt x="3264862" y="270500"/>
                  </a:lnTo>
                  <a:lnTo>
                    <a:pt x="3252759" y="189298"/>
                  </a:lnTo>
                  <a:lnTo>
                    <a:pt x="3249394" y="166333"/>
                  </a:lnTo>
                  <a:lnTo>
                    <a:pt x="3245343" y="138048"/>
                  </a:lnTo>
                  <a:lnTo>
                    <a:pt x="3240328" y="102315"/>
                  </a:lnTo>
                  <a:lnTo>
                    <a:pt x="3234075" y="57008"/>
                  </a:lnTo>
                  <a:lnTo>
                    <a:pt x="322630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1871421"/>
                  </a:lnTo>
                  <a:lnTo>
                    <a:pt x="10971022" y="1981454"/>
                  </a:lnTo>
                  <a:lnTo>
                    <a:pt x="10201148" y="2075180"/>
                  </a:lnTo>
                  <a:lnTo>
                    <a:pt x="9947148" y="2100580"/>
                  </a:lnTo>
                  <a:lnTo>
                    <a:pt x="9434322" y="2146554"/>
                  </a:lnTo>
                  <a:lnTo>
                    <a:pt x="8927973" y="2184654"/>
                  </a:lnTo>
                  <a:lnTo>
                    <a:pt x="8675497" y="2200529"/>
                  </a:lnTo>
                  <a:lnTo>
                    <a:pt x="7926197" y="2237105"/>
                  </a:lnTo>
                  <a:lnTo>
                    <a:pt x="7191248" y="2257679"/>
                  </a:lnTo>
                  <a:lnTo>
                    <a:pt x="6473698" y="2265680"/>
                  </a:lnTo>
                  <a:lnTo>
                    <a:pt x="6006973" y="2264029"/>
                  </a:lnTo>
                  <a:lnTo>
                    <a:pt x="5108448" y="2246630"/>
                  </a:lnTo>
                  <a:lnTo>
                    <a:pt x="4467098" y="2222754"/>
                  </a:lnTo>
                  <a:lnTo>
                    <a:pt x="3665347" y="2179955"/>
                  </a:lnTo>
                  <a:lnTo>
                    <a:pt x="2931922" y="2130679"/>
                  </a:lnTo>
                  <a:lnTo>
                    <a:pt x="2592197" y="2103755"/>
                  </a:lnTo>
                  <a:lnTo>
                    <a:pt x="1979422" y="2046605"/>
                  </a:lnTo>
                  <a:lnTo>
                    <a:pt x="1233360" y="1965579"/>
                  </a:lnTo>
                  <a:lnTo>
                    <a:pt x="863473" y="1921129"/>
                  </a:lnTo>
                  <a:lnTo>
                    <a:pt x="476377" y="1867852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84014" y="0"/>
              <a:ext cx="6440170" cy="3489325"/>
            </a:xfrm>
            <a:custGeom>
              <a:avLst/>
              <a:gdLst/>
              <a:ahLst/>
              <a:cxnLst/>
              <a:rect l="l" t="t" r="r" b="b"/>
              <a:pathLst>
                <a:path w="6440170" h="3489325">
                  <a:moveTo>
                    <a:pt x="1769364" y="2693670"/>
                  </a:moveTo>
                  <a:lnTo>
                    <a:pt x="1762404" y="2659291"/>
                  </a:lnTo>
                  <a:lnTo>
                    <a:pt x="1743443" y="2631186"/>
                  </a:lnTo>
                  <a:lnTo>
                    <a:pt x="1715350" y="2612237"/>
                  </a:lnTo>
                  <a:lnTo>
                    <a:pt x="1680972" y="2605278"/>
                  </a:lnTo>
                  <a:lnTo>
                    <a:pt x="88392" y="2605278"/>
                  </a:lnTo>
                  <a:lnTo>
                    <a:pt x="54000" y="2612237"/>
                  </a:lnTo>
                  <a:lnTo>
                    <a:pt x="25908" y="2631186"/>
                  </a:lnTo>
                  <a:lnTo>
                    <a:pt x="6946" y="2659291"/>
                  </a:lnTo>
                  <a:lnTo>
                    <a:pt x="0" y="2693670"/>
                  </a:lnTo>
                  <a:lnTo>
                    <a:pt x="0" y="3400806"/>
                  </a:lnTo>
                  <a:lnTo>
                    <a:pt x="6946" y="3435197"/>
                  </a:lnTo>
                  <a:lnTo>
                    <a:pt x="25908" y="3463290"/>
                  </a:lnTo>
                  <a:lnTo>
                    <a:pt x="54000" y="3482251"/>
                  </a:lnTo>
                  <a:lnTo>
                    <a:pt x="88392" y="3489198"/>
                  </a:lnTo>
                  <a:lnTo>
                    <a:pt x="1680972" y="3489198"/>
                  </a:lnTo>
                  <a:lnTo>
                    <a:pt x="1715350" y="3482251"/>
                  </a:lnTo>
                  <a:lnTo>
                    <a:pt x="1743443" y="3463302"/>
                  </a:lnTo>
                  <a:lnTo>
                    <a:pt x="1762404" y="3435197"/>
                  </a:lnTo>
                  <a:lnTo>
                    <a:pt x="1769364" y="3400806"/>
                  </a:lnTo>
                  <a:lnTo>
                    <a:pt x="1769364" y="2693670"/>
                  </a:lnTo>
                  <a:close/>
                </a:path>
                <a:path w="6440170" h="3489325">
                  <a:moveTo>
                    <a:pt x="6439662" y="0"/>
                  </a:moveTo>
                  <a:lnTo>
                    <a:pt x="5753862" y="0"/>
                  </a:lnTo>
                  <a:lnTo>
                    <a:pt x="5753862" y="1143000"/>
                  </a:lnTo>
                  <a:lnTo>
                    <a:pt x="6439662" y="1143000"/>
                  </a:lnTo>
                  <a:lnTo>
                    <a:pt x="6439662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84014" y="2605277"/>
              <a:ext cx="1769745" cy="883919"/>
            </a:xfrm>
            <a:custGeom>
              <a:avLst/>
              <a:gdLst/>
              <a:ahLst/>
              <a:cxnLst/>
              <a:rect l="l" t="t" r="r" b="b"/>
              <a:pathLst>
                <a:path w="1769745" h="883920">
                  <a:moveTo>
                    <a:pt x="0" y="88392"/>
                  </a:moveTo>
                  <a:lnTo>
                    <a:pt x="6953" y="54006"/>
                  </a:lnTo>
                  <a:lnTo>
                    <a:pt x="25908" y="25907"/>
                  </a:lnTo>
                  <a:lnTo>
                    <a:pt x="54006" y="6953"/>
                  </a:lnTo>
                  <a:lnTo>
                    <a:pt x="88391" y="0"/>
                  </a:lnTo>
                  <a:lnTo>
                    <a:pt x="1680972" y="0"/>
                  </a:lnTo>
                  <a:lnTo>
                    <a:pt x="1715357" y="6953"/>
                  </a:lnTo>
                  <a:lnTo>
                    <a:pt x="1743455" y="25908"/>
                  </a:lnTo>
                  <a:lnTo>
                    <a:pt x="1762410" y="54006"/>
                  </a:lnTo>
                  <a:lnTo>
                    <a:pt x="1769364" y="88392"/>
                  </a:lnTo>
                  <a:lnTo>
                    <a:pt x="1769364" y="795527"/>
                  </a:lnTo>
                  <a:lnTo>
                    <a:pt x="1762410" y="829913"/>
                  </a:lnTo>
                  <a:lnTo>
                    <a:pt x="1743455" y="858012"/>
                  </a:lnTo>
                  <a:lnTo>
                    <a:pt x="1715357" y="876966"/>
                  </a:lnTo>
                  <a:lnTo>
                    <a:pt x="1680972" y="883920"/>
                  </a:lnTo>
                  <a:lnTo>
                    <a:pt x="88391" y="883920"/>
                  </a:lnTo>
                  <a:lnTo>
                    <a:pt x="54006" y="876966"/>
                  </a:lnTo>
                  <a:lnTo>
                    <a:pt x="25908" y="858012"/>
                  </a:lnTo>
                  <a:lnTo>
                    <a:pt x="6953" y="829913"/>
                  </a:lnTo>
                  <a:lnTo>
                    <a:pt x="0" y="795527"/>
                  </a:lnTo>
                  <a:lnTo>
                    <a:pt x="0" y="88392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405637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Audience</a:t>
            </a:r>
            <a:r>
              <a:rPr spc="-280" dirty="0"/>
              <a:t> </a:t>
            </a:r>
            <a:r>
              <a:rPr spc="-125" dirty="0"/>
              <a:t>Analys</a:t>
            </a:r>
            <a:r>
              <a:rPr spc="-75" dirty="0"/>
              <a:t>i</a:t>
            </a:r>
            <a:r>
              <a:rPr spc="-480" dirty="0"/>
              <a:t>s</a:t>
            </a:r>
            <a:endParaRPr spc="-480" dirty="0"/>
          </a:p>
        </p:txBody>
      </p:sp>
      <p:sp>
        <p:nvSpPr>
          <p:cNvPr id="14" name="object 14"/>
          <p:cNvSpPr txBox="1"/>
          <p:nvPr/>
        </p:nvSpPr>
        <p:spPr>
          <a:xfrm>
            <a:off x="4830826" y="2770758"/>
            <a:ext cx="1475105" cy="5232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12420" marR="5080" indent="-300355">
              <a:lnSpc>
                <a:spcPts val="1870"/>
              </a:lnSpc>
              <a:spcBef>
                <a:spcPts val="305"/>
              </a:spcBef>
            </a:pPr>
            <a:r>
              <a:rPr sz="1700" b="1" spc="-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1700" b="1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</a:t>
            </a:r>
            <a:r>
              <a:rPr sz="1700" b="1" spc="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ogra</a:t>
            </a:r>
            <a:r>
              <a:rPr sz="1700" b="1" spc="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</a:t>
            </a:r>
            <a:r>
              <a:rPr sz="1700" b="1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hic  </a:t>
            </a:r>
            <a:r>
              <a:rPr sz="1700" b="1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Analysis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11290" y="3912489"/>
            <a:ext cx="1912620" cy="2117090"/>
            <a:chOff x="6011290" y="3912489"/>
            <a:chExt cx="1912620" cy="2117090"/>
          </a:xfrm>
        </p:grpSpPr>
        <p:sp>
          <p:nvSpPr>
            <p:cNvPr id="16" name="object 16"/>
            <p:cNvSpPr/>
            <p:nvPr/>
          </p:nvSpPr>
          <p:spPr>
            <a:xfrm>
              <a:off x="6011290" y="3912489"/>
              <a:ext cx="574675" cy="798830"/>
            </a:xfrm>
            <a:custGeom>
              <a:avLst/>
              <a:gdLst/>
              <a:ahLst/>
              <a:cxnLst/>
              <a:rect l="l" t="t" r="r" b="b"/>
              <a:pathLst>
                <a:path w="574675" h="798829">
                  <a:moveTo>
                    <a:pt x="56642" y="0"/>
                  </a:moveTo>
                  <a:lnTo>
                    <a:pt x="0" y="211455"/>
                  </a:lnTo>
                  <a:lnTo>
                    <a:pt x="53721" y="180467"/>
                  </a:lnTo>
                  <a:lnTo>
                    <a:pt x="359791" y="710692"/>
                  </a:lnTo>
                  <a:lnTo>
                    <a:pt x="306197" y="741680"/>
                  </a:lnTo>
                  <a:lnTo>
                    <a:pt x="517652" y="798322"/>
                  </a:lnTo>
                  <a:lnTo>
                    <a:pt x="574293" y="586867"/>
                  </a:lnTo>
                  <a:lnTo>
                    <a:pt x="520700" y="617855"/>
                  </a:lnTo>
                  <a:lnTo>
                    <a:pt x="214503" y="87630"/>
                  </a:lnTo>
                  <a:lnTo>
                    <a:pt x="268097" y="56642"/>
                  </a:lnTo>
                  <a:lnTo>
                    <a:pt x="56642" y="0"/>
                  </a:lnTo>
                  <a:close/>
                </a:path>
              </a:pathLst>
            </a:custGeom>
            <a:solidFill>
              <a:srgbClr val="D5A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45529" y="5135118"/>
              <a:ext cx="1767839" cy="883919"/>
            </a:xfrm>
            <a:custGeom>
              <a:avLst/>
              <a:gdLst/>
              <a:ahLst/>
              <a:cxnLst/>
              <a:rect l="l" t="t" r="r" b="b"/>
              <a:pathLst>
                <a:path w="1767840" h="883920">
                  <a:moveTo>
                    <a:pt x="1679448" y="0"/>
                  </a:moveTo>
                  <a:lnTo>
                    <a:pt x="88392" y="0"/>
                  </a:lnTo>
                  <a:lnTo>
                    <a:pt x="54006" y="6953"/>
                  </a:lnTo>
                  <a:lnTo>
                    <a:pt x="25908" y="25907"/>
                  </a:lnTo>
                  <a:lnTo>
                    <a:pt x="6953" y="54006"/>
                  </a:lnTo>
                  <a:lnTo>
                    <a:pt x="0" y="88391"/>
                  </a:lnTo>
                  <a:lnTo>
                    <a:pt x="0" y="795527"/>
                  </a:lnTo>
                  <a:lnTo>
                    <a:pt x="6953" y="829934"/>
                  </a:lnTo>
                  <a:lnTo>
                    <a:pt x="25907" y="858031"/>
                  </a:lnTo>
                  <a:lnTo>
                    <a:pt x="54006" y="876973"/>
                  </a:lnTo>
                  <a:lnTo>
                    <a:pt x="88392" y="883919"/>
                  </a:lnTo>
                  <a:lnTo>
                    <a:pt x="1679448" y="883919"/>
                  </a:lnTo>
                  <a:lnTo>
                    <a:pt x="1713833" y="876973"/>
                  </a:lnTo>
                  <a:lnTo>
                    <a:pt x="1741932" y="858031"/>
                  </a:lnTo>
                  <a:lnTo>
                    <a:pt x="1760886" y="829934"/>
                  </a:lnTo>
                  <a:lnTo>
                    <a:pt x="1767840" y="795527"/>
                  </a:lnTo>
                  <a:lnTo>
                    <a:pt x="1767840" y="88391"/>
                  </a:lnTo>
                  <a:lnTo>
                    <a:pt x="1760886" y="54006"/>
                  </a:lnTo>
                  <a:lnTo>
                    <a:pt x="1741931" y="25907"/>
                  </a:lnTo>
                  <a:lnTo>
                    <a:pt x="1713833" y="6953"/>
                  </a:lnTo>
                  <a:lnTo>
                    <a:pt x="1679448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45529" y="5135118"/>
              <a:ext cx="1767839" cy="883919"/>
            </a:xfrm>
            <a:custGeom>
              <a:avLst/>
              <a:gdLst/>
              <a:ahLst/>
              <a:cxnLst/>
              <a:rect l="l" t="t" r="r" b="b"/>
              <a:pathLst>
                <a:path w="1767840" h="883920">
                  <a:moveTo>
                    <a:pt x="0" y="88391"/>
                  </a:moveTo>
                  <a:lnTo>
                    <a:pt x="6953" y="54006"/>
                  </a:lnTo>
                  <a:lnTo>
                    <a:pt x="25908" y="25907"/>
                  </a:lnTo>
                  <a:lnTo>
                    <a:pt x="54006" y="6953"/>
                  </a:lnTo>
                  <a:lnTo>
                    <a:pt x="88392" y="0"/>
                  </a:lnTo>
                  <a:lnTo>
                    <a:pt x="1679448" y="0"/>
                  </a:lnTo>
                  <a:lnTo>
                    <a:pt x="1713833" y="6953"/>
                  </a:lnTo>
                  <a:lnTo>
                    <a:pt x="1741931" y="25907"/>
                  </a:lnTo>
                  <a:lnTo>
                    <a:pt x="1760886" y="54006"/>
                  </a:lnTo>
                  <a:lnTo>
                    <a:pt x="1767840" y="88391"/>
                  </a:lnTo>
                  <a:lnTo>
                    <a:pt x="1767840" y="795527"/>
                  </a:lnTo>
                  <a:lnTo>
                    <a:pt x="1760886" y="829934"/>
                  </a:lnTo>
                  <a:lnTo>
                    <a:pt x="1741932" y="858031"/>
                  </a:lnTo>
                  <a:lnTo>
                    <a:pt x="1713833" y="876973"/>
                  </a:lnTo>
                  <a:lnTo>
                    <a:pt x="1679448" y="883919"/>
                  </a:lnTo>
                  <a:lnTo>
                    <a:pt x="88392" y="883919"/>
                  </a:lnTo>
                  <a:lnTo>
                    <a:pt x="54006" y="876973"/>
                  </a:lnTo>
                  <a:lnTo>
                    <a:pt x="25907" y="858031"/>
                  </a:lnTo>
                  <a:lnTo>
                    <a:pt x="6953" y="829934"/>
                  </a:lnTo>
                  <a:lnTo>
                    <a:pt x="0" y="795527"/>
                  </a:lnTo>
                  <a:lnTo>
                    <a:pt x="0" y="88391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233921" y="5301234"/>
            <a:ext cx="1591945" cy="5232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70205" marR="5080" indent="-358140">
              <a:lnSpc>
                <a:spcPts val="1870"/>
              </a:lnSpc>
              <a:spcBef>
                <a:spcPts val="305"/>
              </a:spcBef>
            </a:pPr>
            <a:r>
              <a:rPr sz="1700" b="1" spc="-1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</a:t>
            </a:r>
            <a:r>
              <a:rPr sz="1700" b="1" spc="-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1700" b="1" spc="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yc</a:t>
            </a:r>
            <a:r>
              <a:rPr sz="1700" b="1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</a:t>
            </a:r>
            <a:r>
              <a:rPr sz="1700" b="1" spc="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ogra</a:t>
            </a:r>
            <a:r>
              <a:rPr sz="1700" b="1" spc="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</a:t>
            </a:r>
            <a:r>
              <a:rPr sz="1700" b="1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hic  </a:t>
            </a:r>
            <a:r>
              <a:rPr sz="1700" b="1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Analysis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13861" y="5124958"/>
            <a:ext cx="2815590" cy="904240"/>
            <a:chOff x="3213861" y="5124958"/>
            <a:chExt cx="2815590" cy="904240"/>
          </a:xfrm>
        </p:grpSpPr>
        <p:sp>
          <p:nvSpPr>
            <p:cNvPr id="21" name="object 21"/>
            <p:cNvSpPr/>
            <p:nvPr/>
          </p:nvSpPr>
          <p:spPr>
            <a:xfrm>
              <a:off x="5106923" y="5422392"/>
              <a:ext cx="922019" cy="309880"/>
            </a:xfrm>
            <a:custGeom>
              <a:avLst/>
              <a:gdLst/>
              <a:ahLst/>
              <a:cxnLst/>
              <a:rect l="l" t="t" r="r" b="b"/>
              <a:pathLst>
                <a:path w="922020" h="309879">
                  <a:moveTo>
                    <a:pt x="767334" y="0"/>
                  </a:moveTo>
                  <a:lnTo>
                    <a:pt x="767334" y="61849"/>
                  </a:lnTo>
                  <a:lnTo>
                    <a:pt x="154686" y="61849"/>
                  </a:lnTo>
                  <a:lnTo>
                    <a:pt x="154686" y="0"/>
                  </a:lnTo>
                  <a:lnTo>
                    <a:pt x="0" y="154686"/>
                  </a:lnTo>
                  <a:lnTo>
                    <a:pt x="154686" y="309372"/>
                  </a:lnTo>
                  <a:lnTo>
                    <a:pt x="154686" y="247497"/>
                  </a:lnTo>
                  <a:lnTo>
                    <a:pt x="767334" y="247497"/>
                  </a:lnTo>
                  <a:lnTo>
                    <a:pt x="767334" y="309372"/>
                  </a:lnTo>
                  <a:lnTo>
                    <a:pt x="922020" y="154686"/>
                  </a:lnTo>
                  <a:lnTo>
                    <a:pt x="767334" y="0"/>
                  </a:lnTo>
                  <a:close/>
                </a:path>
              </a:pathLst>
            </a:custGeom>
            <a:solidFill>
              <a:srgbClr val="D5A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24021" y="5135118"/>
              <a:ext cx="1769745" cy="883919"/>
            </a:xfrm>
            <a:custGeom>
              <a:avLst/>
              <a:gdLst/>
              <a:ahLst/>
              <a:cxnLst/>
              <a:rect l="l" t="t" r="r" b="b"/>
              <a:pathLst>
                <a:path w="1769745" h="883920">
                  <a:moveTo>
                    <a:pt x="1680972" y="0"/>
                  </a:moveTo>
                  <a:lnTo>
                    <a:pt x="88391" y="0"/>
                  </a:lnTo>
                  <a:lnTo>
                    <a:pt x="54006" y="6953"/>
                  </a:lnTo>
                  <a:lnTo>
                    <a:pt x="25908" y="25907"/>
                  </a:lnTo>
                  <a:lnTo>
                    <a:pt x="6953" y="54006"/>
                  </a:lnTo>
                  <a:lnTo>
                    <a:pt x="0" y="88391"/>
                  </a:lnTo>
                  <a:lnTo>
                    <a:pt x="0" y="795527"/>
                  </a:lnTo>
                  <a:lnTo>
                    <a:pt x="6953" y="829934"/>
                  </a:lnTo>
                  <a:lnTo>
                    <a:pt x="25907" y="858031"/>
                  </a:lnTo>
                  <a:lnTo>
                    <a:pt x="54006" y="876973"/>
                  </a:lnTo>
                  <a:lnTo>
                    <a:pt x="88391" y="883919"/>
                  </a:lnTo>
                  <a:lnTo>
                    <a:pt x="1680972" y="883919"/>
                  </a:lnTo>
                  <a:lnTo>
                    <a:pt x="1715357" y="876973"/>
                  </a:lnTo>
                  <a:lnTo>
                    <a:pt x="1743455" y="858031"/>
                  </a:lnTo>
                  <a:lnTo>
                    <a:pt x="1762410" y="829934"/>
                  </a:lnTo>
                  <a:lnTo>
                    <a:pt x="1769364" y="795527"/>
                  </a:lnTo>
                  <a:lnTo>
                    <a:pt x="1769364" y="88391"/>
                  </a:lnTo>
                  <a:lnTo>
                    <a:pt x="1762410" y="54006"/>
                  </a:lnTo>
                  <a:lnTo>
                    <a:pt x="1743455" y="25907"/>
                  </a:lnTo>
                  <a:lnTo>
                    <a:pt x="1715357" y="6953"/>
                  </a:lnTo>
                  <a:lnTo>
                    <a:pt x="1680972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24021" y="5135118"/>
              <a:ext cx="1769745" cy="883919"/>
            </a:xfrm>
            <a:custGeom>
              <a:avLst/>
              <a:gdLst/>
              <a:ahLst/>
              <a:cxnLst/>
              <a:rect l="l" t="t" r="r" b="b"/>
              <a:pathLst>
                <a:path w="1769745" h="883920">
                  <a:moveTo>
                    <a:pt x="0" y="88391"/>
                  </a:moveTo>
                  <a:lnTo>
                    <a:pt x="6953" y="54006"/>
                  </a:lnTo>
                  <a:lnTo>
                    <a:pt x="25908" y="25907"/>
                  </a:lnTo>
                  <a:lnTo>
                    <a:pt x="54006" y="6953"/>
                  </a:lnTo>
                  <a:lnTo>
                    <a:pt x="88391" y="0"/>
                  </a:lnTo>
                  <a:lnTo>
                    <a:pt x="1680972" y="0"/>
                  </a:lnTo>
                  <a:lnTo>
                    <a:pt x="1715357" y="6953"/>
                  </a:lnTo>
                  <a:lnTo>
                    <a:pt x="1743455" y="25907"/>
                  </a:lnTo>
                  <a:lnTo>
                    <a:pt x="1762410" y="54006"/>
                  </a:lnTo>
                  <a:lnTo>
                    <a:pt x="1769364" y="88391"/>
                  </a:lnTo>
                  <a:lnTo>
                    <a:pt x="1769364" y="795527"/>
                  </a:lnTo>
                  <a:lnTo>
                    <a:pt x="1762410" y="829934"/>
                  </a:lnTo>
                  <a:lnTo>
                    <a:pt x="1743455" y="858031"/>
                  </a:lnTo>
                  <a:lnTo>
                    <a:pt x="1715357" y="876973"/>
                  </a:lnTo>
                  <a:lnTo>
                    <a:pt x="1680972" y="883919"/>
                  </a:lnTo>
                  <a:lnTo>
                    <a:pt x="88391" y="883919"/>
                  </a:lnTo>
                  <a:lnTo>
                    <a:pt x="54006" y="876973"/>
                  </a:lnTo>
                  <a:lnTo>
                    <a:pt x="25907" y="858031"/>
                  </a:lnTo>
                  <a:lnTo>
                    <a:pt x="6953" y="829934"/>
                  </a:lnTo>
                  <a:lnTo>
                    <a:pt x="0" y="795527"/>
                  </a:lnTo>
                  <a:lnTo>
                    <a:pt x="0" y="88391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553205" y="5301234"/>
            <a:ext cx="1108710" cy="5232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9540" marR="5080" indent="-117475">
              <a:lnSpc>
                <a:spcPts val="1870"/>
              </a:lnSpc>
              <a:spcBef>
                <a:spcPts val="305"/>
              </a:spcBef>
            </a:pPr>
            <a:r>
              <a:rPr sz="1700" b="1" spc="-1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Sit</a:t>
            </a:r>
            <a:r>
              <a:rPr sz="1700" b="1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ua</a:t>
            </a:r>
            <a:r>
              <a:rPr sz="1700" b="1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</a:t>
            </a:r>
            <a:r>
              <a:rPr sz="1700" b="1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ional  </a:t>
            </a:r>
            <a:r>
              <a:rPr sz="1700" b="1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Analysis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50790" y="2346960"/>
            <a:ext cx="7071359" cy="3672840"/>
            <a:chOff x="4550790" y="2346960"/>
            <a:chExt cx="7071359" cy="3672840"/>
          </a:xfrm>
        </p:grpSpPr>
        <p:sp>
          <p:nvSpPr>
            <p:cNvPr id="26" name="object 26"/>
            <p:cNvSpPr/>
            <p:nvPr/>
          </p:nvSpPr>
          <p:spPr>
            <a:xfrm>
              <a:off x="4550790" y="3912488"/>
              <a:ext cx="574675" cy="798830"/>
            </a:xfrm>
            <a:custGeom>
              <a:avLst/>
              <a:gdLst/>
              <a:ahLst/>
              <a:cxnLst/>
              <a:rect l="l" t="t" r="r" b="b"/>
              <a:pathLst>
                <a:path w="574675" h="798829">
                  <a:moveTo>
                    <a:pt x="517525" y="0"/>
                  </a:moveTo>
                  <a:lnTo>
                    <a:pt x="306070" y="56642"/>
                  </a:lnTo>
                  <a:lnTo>
                    <a:pt x="359663" y="87630"/>
                  </a:lnTo>
                  <a:lnTo>
                    <a:pt x="53594" y="617855"/>
                  </a:lnTo>
                  <a:lnTo>
                    <a:pt x="0" y="586867"/>
                  </a:lnTo>
                  <a:lnTo>
                    <a:pt x="56642" y="798322"/>
                  </a:lnTo>
                  <a:lnTo>
                    <a:pt x="267970" y="741680"/>
                  </a:lnTo>
                  <a:lnTo>
                    <a:pt x="214375" y="710692"/>
                  </a:lnTo>
                  <a:lnTo>
                    <a:pt x="520573" y="180467"/>
                  </a:lnTo>
                  <a:lnTo>
                    <a:pt x="574167" y="211455"/>
                  </a:lnTo>
                  <a:lnTo>
                    <a:pt x="517525" y="0"/>
                  </a:lnTo>
                  <a:close/>
                </a:path>
              </a:pathLst>
            </a:custGeom>
            <a:solidFill>
              <a:srgbClr val="D5AA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93123" y="2346960"/>
              <a:ext cx="2628900" cy="367284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932" y="1030935"/>
            <a:ext cx="50165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Demographic</a:t>
            </a:r>
            <a:r>
              <a:rPr lang="en-US" sz="3600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3600" spc="-85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600" spc="-95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Analysis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932" y="2514600"/>
            <a:ext cx="8150859" cy="85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lang="en-US" spc="30" dirty="0">
                <a:latin typeface="Verdana" panose="020B0804030504040204"/>
                <a:cs typeface="Verdana" panose="020B0804030504040204"/>
              </a:rPr>
              <a:t>D</a:t>
            </a:r>
            <a:r>
              <a:rPr spc="30" dirty="0" smtClean="0">
                <a:latin typeface="Verdana" panose="020B0804030504040204"/>
                <a:cs typeface="Verdana" panose="020B0804030504040204"/>
              </a:rPr>
              <a:t>emographic</a:t>
            </a:r>
            <a:r>
              <a:rPr lang="en-US" spc="30" dirty="0" smtClean="0">
                <a:latin typeface="Verdana" panose="020B0804030504040204"/>
                <a:cs typeface="Verdana" panose="020B0804030504040204"/>
              </a:rPr>
              <a:t>/s</a:t>
            </a:r>
            <a:r>
              <a:rPr spc="-145" dirty="0" smtClean="0">
                <a:latin typeface="Verdana" panose="020B0804030504040204"/>
                <a:cs typeface="Verdana" panose="020B0804030504040204"/>
              </a:rPr>
              <a:t> </a:t>
            </a:r>
            <a:r>
              <a:rPr spc="-45" dirty="0">
                <a:latin typeface="Verdana" panose="020B0804030504040204"/>
                <a:cs typeface="Verdana" panose="020B0804030504040204"/>
              </a:rPr>
              <a:t>information</a:t>
            </a:r>
            <a:r>
              <a:rPr spc="-165" dirty="0">
                <a:latin typeface="Verdana" panose="020B0804030504040204"/>
                <a:cs typeface="Verdana" panose="020B0804030504040204"/>
              </a:rPr>
              <a:t> </a:t>
            </a:r>
            <a:r>
              <a:rPr spc="-20" dirty="0">
                <a:latin typeface="Verdana" panose="020B0804030504040204"/>
                <a:cs typeface="Verdana" panose="020B0804030504040204"/>
              </a:rPr>
              <a:t>includes</a:t>
            </a:r>
            <a:r>
              <a:rPr spc="-140" dirty="0">
                <a:latin typeface="Verdana" panose="020B0804030504040204"/>
                <a:cs typeface="Verdana" panose="020B0804030504040204"/>
              </a:rPr>
              <a:t> </a:t>
            </a:r>
            <a:r>
              <a:rPr spc="-30" dirty="0">
                <a:latin typeface="Verdana" panose="020B0804030504040204"/>
                <a:cs typeface="Verdana" panose="020B0804030504040204"/>
              </a:rPr>
              <a:t>factors</a:t>
            </a:r>
            <a:r>
              <a:rPr spc="-110" dirty="0">
                <a:latin typeface="Verdana" panose="020B0804030504040204"/>
                <a:cs typeface="Verdana" panose="020B0804030504040204"/>
              </a:rPr>
              <a:t> </a:t>
            </a:r>
            <a:r>
              <a:rPr spc="-20" dirty="0">
                <a:latin typeface="Tahoma" panose="020B0604030504040204"/>
                <a:cs typeface="Tahoma" panose="020B0604030504040204"/>
              </a:rPr>
              <a:t>such</a:t>
            </a:r>
            <a:r>
              <a:rPr spc="-50" dirty="0">
                <a:latin typeface="Tahoma" panose="020B0604030504040204"/>
                <a:cs typeface="Tahoma" panose="020B0604030504040204"/>
              </a:rPr>
              <a:t> </a:t>
            </a:r>
            <a:r>
              <a:rPr spc="-15" dirty="0">
                <a:latin typeface="Tahoma" panose="020B0604030504040204"/>
                <a:cs typeface="Tahoma" panose="020B0604030504040204"/>
              </a:rPr>
              <a:t>as</a:t>
            </a:r>
            <a:r>
              <a:rPr spc="-35" dirty="0">
                <a:latin typeface="Tahoma" panose="020B0604030504040204"/>
                <a:cs typeface="Tahoma" panose="020B0604030504040204"/>
              </a:rPr>
              <a:t> </a:t>
            </a:r>
            <a:r>
              <a:rPr spc="-15" dirty="0">
                <a:latin typeface="Tahoma" panose="020B0604030504040204"/>
                <a:cs typeface="Tahoma" panose="020B0604030504040204"/>
              </a:rPr>
              <a:t>gender,</a:t>
            </a:r>
            <a:r>
              <a:rPr spc="-40" dirty="0">
                <a:latin typeface="Tahoma" panose="020B0604030504040204"/>
                <a:cs typeface="Tahoma" panose="020B0604030504040204"/>
              </a:rPr>
              <a:t> </a:t>
            </a:r>
            <a:r>
              <a:rPr spc="75" dirty="0">
                <a:latin typeface="Tahoma" panose="020B0604030504040204"/>
                <a:cs typeface="Tahoma" panose="020B0604030504040204"/>
              </a:rPr>
              <a:t>age</a:t>
            </a:r>
            <a:r>
              <a:rPr spc="-35" dirty="0">
                <a:latin typeface="Tahoma" panose="020B0604030504040204"/>
                <a:cs typeface="Tahoma" panose="020B0604030504040204"/>
              </a:rPr>
              <a:t> </a:t>
            </a:r>
            <a:r>
              <a:rPr spc="-15" dirty="0">
                <a:latin typeface="Tahoma" panose="020B0604030504040204"/>
                <a:cs typeface="Tahoma" panose="020B0604030504040204"/>
              </a:rPr>
              <a:t>range, </a:t>
            </a:r>
            <a:r>
              <a:rPr spc="-515" dirty="0">
                <a:latin typeface="Tahoma" panose="020B0604030504040204"/>
                <a:cs typeface="Tahoma" panose="020B0604030504040204"/>
              </a:rPr>
              <a:t> </a:t>
            </a:r>
            <a:r>
              <a:rPr spc="-65" dirty="0">
                <a:latin typeface="Tahoma" panose="020B0604030504040204"/>
                <a:cs typeface="Tahoma" panose="020B0604030504040204"/>
              </a:rPr>
              <a:t>marital</a:t>
            </a:r>
            <a:r>
              <a:rPr spc="-25" dirty="0">
                <a:latin typeface="Tahoma" panose="020B0604030504040204"/>
                <a:cs typeface="Tahoma" panose="020B0604030504040204"/>
              </a:rPr>
              <a:t> </a:t>
            </a:r>
            <a:r>
              <a:rPr spc="-105" dirty="0">
                <a:latin typeface="Tahoma" panose="020B0604030504040204"/>
                <a:cs typeface="Tahoma" panose="020B0604030504040204"/>
              </a:rPr>
              <a:t>status,</a:t>
            </a:r>
            <a:r>
              <a:rPr spc="-50" dirty="0">
                <a:latin typeface="Tahoma" panose="020B0604030504040204"/>
                <a:cs typeface="Tahoma" panose="020B0604030504040204"/>
              </a:rPr>
              <a:t> </a:t>
            </a:r>
            <a:r>
              <a:rPr spc="45" dirty="0">
                <a:latin typeface="Tahoma" panose="020B0604030504040204"/>
                <a:cs typeface="Tahoma" panose="020B0604030504040204"/>
              </a:rPr>
              <a:t>race</a:t>
            </a:r>
            <a:r>
              <a:rPr spc="-40" dirty="0">
                <a:latin typeface="Tahoma" panose="020B0604030504040204"/>
                <a:cs typeface="Tahoma" panose="020B0604030504040204"/>
              </a:rPr>
              <a:t> </a:t>
            </a:r>
            <a:r>
              <a:rPr spc="25" dirty="0">
                <a:latin typeface="Tahoma" panose="020B0604030504040204"/>
                <a:cs typeface="Tahoma" panose="020B0604030504040204"/>
              </a:rPr>
              <a:t>and</a:t>
            </a:r>
            <a:r>
              <a:rPr spc="-40" dirty="0">
                <a:latin typeface="Tahoma" panose="020B0604030504040204"/>
                <a:cs typeface="Tahoma" panose="020B0604030504040204"/>
              </a:rPr>
              <a:t> </a:t>
            </a:r>
            <a:r>
              <a:rPr spc="-60" dirty="0">
                <a:latin typeface="Tahoma" panose="020B0604030504040204"/>
                <a:cs typeface="Tahoma" panose="020B0604030504040204"/>
              </a:rPr>
              <a:t>ethnicity</a:t>
            </a:r>
            <a:r>
              <a:rPr spc="-60" dirty="0" smtClean="0">
                <a:latin typeface="Tahoma" panose="020B0604030504040204"/>
                <a:cs typeface="Tahoma" panose="020B0604030504040204"/>
              </a:rPr>
              <a:t>,</a:t>
            </a:r>
            <a:r>
              <a:rPr lang="en-US" spc="-60" dirty="0" smtClean="0">
                <a:latin typeface="Tahoma" panose="020B0604030504040204"/>
                <a:cs typeface="Tahoma" panose="020B0604030504040204"/>
              </a:rPr>
              <a:t> education</a:t>
            </a:r>
            <a:r>
              <a:rPr spc="-35" dirty="0" smtClean="0">
                <a:latin typeface="Tahoma" panose="020B0604030504040204"/>
                <a:cs typeface="Tahoma" panose="020B0604030504040204"/>
              </a:rPr>
              <a:t> </a:t>
            </a:r>
            <a:r>
              <a:rPr spc="25" dirty="0">
                <a:latin typeface="Tahoma" panose="020B0604030504040204"/>
                <a:cs typeface="Tahoma" panose="020B0604030504040204"/>
              </a:rPr>
              <a:t>and</a:t>
            </a:r>
            <a:r>
              <a:rPr spc="-40" dirty="0">
                <a:latin typeface="Tahoma" panose="020B0604030504040204"/>
                <a:cs typeface="Tahoma" panose="020B0604030504040204"/>
              </a:rPr>
              <a:t> </a:t>
            </a:r>
            <a:r>
              <a:rPr spc="30" dirty="0">
                <a:latin typeface="Tahoma" panose="020B0604030504040204"/>
                <a:cs typeface="Tahoma" panose="020B0604030504040204"/>
              </a:rPr>
              <a:t>socioeconomic</a:t>
            </a:r>
            <a:r>
              <a:rPr spc="-50" dirty="0">
                <a:latin typeface="Tahoma" panose="020B0604030504040204"/>
                <a:cs typeface="Tahoma" panose="020B0604030504040204"/>
              </a:rPr>
              <a:t> </a:t>
            </a:r>
            <a:r>
              <a:rPr spc="-105" dirty="0" smtClean="0">
                <a:latin typeface="Tahoma" panose="020B0604030504040204"/>
                <a:cs typeface="Tahoma" panose="020B0604030504040204"/>
              </a:rPr>
              <a:t>status</a:t>
            </a:r>
            <a:r>
              <a:rPr lang="en-US" spc="-105" dirty="0" smtClean="0">
                <a:latin typeface="Tahoma" panose="020B0604030504040204"/>
                <a:cs typeface="Tahoma" panose="020B0604030504040204"/>
              </a:rPr>
              <a:t> and etc</a:t>
            </a:r>
            <a:r>
              <a:rPr spc="-105" dirty="0" smtClean="0">
                <a:latin typeface="Tahoma" panose="020B0604030504040204"/>
                <a:cs typeface="Tahoma" panose="020B0604030504040204"/>
              </a:rPr>
              <a:t>.</a:t>
            </a:r>
            <a:endParaRPr lang="en-US" spc="-105" dirty="0" smtClean="0">
              <a:latin typeface="Tahoma" panose="020B0604030504040204"/>
              <a:cs typeface="Tahoma" panose="020B0604030504040204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US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 </a:t>
            </a:r>
            <a:r>
              <a:rPr lang="en-US" spc="-150" dirty="0" smtClean="0">
                <a:solidFill>
                  <a:srgbClr val="B31166"/>
                </a:solidFill>
                <a:latin typeface="Lucida Sans Unicode"/>
                <a:cs typeface="Lucida Sans Unicode"/>
              </a:rPr>
              <a:t> 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Demographic analysis explain the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information of your audience 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43200" y="3643884"/>
            <a:ext cx="5664708" cy="32141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4800"/>
            <a:ext cx="5257800" cy="6477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408" y="3505200"/>
            <a:ext cx="6994525" cy="40551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 descr="8 Demographic Questions Every Quality Survey Needs to Cont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81000"/>
            <a:ext cx="69342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932" y="1032459"/>
            <a:ext cx="526415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Psychographic</a:t>
            </a:r>
            <a:r>
              <a:rPr lang="en-US" sz="3600" spc="-20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3600" spc="-90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600" spc="-95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Analysis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932" y="2590800"/>
            <a:ext cx="800290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586803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lang="en-US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</a:t>
            </a:r>
            <a:r>
              <a:rPr sz="1800" spc="-7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1800" spc="6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</a:t>
            </a:r>
            <a:r>
              <a:rPr sz="1800" spc="4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</a:t>
            </a:r>
            <a:r>
              <a:rPr sz="1800" spc="-5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</a:t>
            </a:r>
            <a:r>
              <a:rPr sz="1800" spc="2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ogr</a:t>
            </a:r>
            <a:r>
              <a:rPr sz="1800" spc="1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1800" spc="2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</a:t>
            </a:r>
            <a:r>
              <a:rPr sz="1800" spc="2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</a:t>
            </a:r>
            <a:r>
              <a:rPr sz="1800" spc="-114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lang="en-US" sz="1800" spc="-114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c/s</a:t>
            </a:r>
            <a:r>
              <a:rPr sz="1800" spc="-13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-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for</a:t>
            </a:r>
            <a:r>
              <a:rPr sz="1800" spc="-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ma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on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</a:t>
            </a:r>
            <a:r>
              <a:rPr sz="1800" spc="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l</a:t>
            </a:r>
            <a:r>
              <a:rPr sz="1800" spc="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ud</a:t>
            </a:r>
            <a:r>
              <a:rPr sz="1800" spc="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-2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7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-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gs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su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</a:t>
            </a:r>
            <a:r>
              <a:rPr sz="1800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	</a:t>
            </a:r>
            <a:r>
              <a:rPr sz="1800" spc="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1800" spc="-2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1800"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lang="en-US" sz="1800" spc="-13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v</a:t>
            </a:r>
            <a:r>
              <a:rPr sz="1800" spc="13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1800" spc="-12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l</a:t>
            </a:r>
            <a:r>
              <a:rPr sz="1800" spc="2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u</a:t>
            </a:r>
            <a:r>
              <a:rPr sz="1800" spc="1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-24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1800" spc="-1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,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</a:t>
            </a:r>
            <a:r>
              <a:rPr sz="1800" spc="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</a:t>
            </a:r>
            <a:r>
              <a:rPr sz="1800"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-1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s,  </a:t>
            </a:r>
            <a:r>
              <a:rPr sz="1800" spc="-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attitudes,</a:t>
            </a:r>
            <a:r>
              <a:rPr sz="1800" spc="-1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and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beliefs.</a:t>
            </a:r>
            <a:endParaRPr sz="1800" dirty="0">
              <a:latin typeface="Verdana" panose="020B0804030504040204"/>
              <a:cs typeface="Verdana" panose="020B08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90800" y="3962400"/>
            <a:ext cx="5867400" cy="27691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3"/>
          <p:cNvSpPr txBox="1">
            <a:spLocks noGrp="1"/>
          </p:cNvSpPr>
          <p:nvPr>
            <p:ph type="body" idx="1"/>
          </p:nvPr>
        </p:nvSpPr>
        <p:spPr>
          <a:xfrm>
            <a:off x="457200" y="2362200"/>
            <a:ext cx="11201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586803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lang="en-US" sz="18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psychographic profile is a unique description of the attitudes, habits, and interests of an individual or group</a:t>
            </a:r>
            <a:endParaRPr sz="1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71800" y="2792779"/>
          <a:ext cx="5706035" cy="4065221"/>
        </p:xfrm>
        <a:graphic>
          <a:graphicData uri="http://schemas.openxmlformats.org/drawingml/2006/table">
            <a:tbl>
              <a:tblPr/>
              <a:tblGrid>
                <a:gridCol w="2889359"/>
                <a:gridCol w="2816676"/>
              </a:tblGrid>
              <a:tr h="32907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</a:rPr>
                        <a:t>PSYCHOGRAPHICS</a:t>
                      </a:r>
                      <a:endParaRPr lang="en-US" b="1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</a:rPr>
                        <a:t>DEMOGRAPHICS</a:t>
                      </a:r>
                      <a:endParaRPr lang="en-US" b="1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</a:tr>
              <a:tr h="541294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Personality Characteristics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Age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075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Lifestyle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Gender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847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Social Class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  <a:latin typeface="inherit"/>
                        </a:rPr>
                        <a:t>Occupation</a:t>
                      </a:r>
                      <a:endParaRPr lang="en-US" b="0">
                        <a:effectLst/>
                        <a:latin typeface="inherit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075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Habits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Ethnicity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</a:tr>
              <a:tr h="844149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Beliefs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 smtClean="0">
                        <a:effectLst/>
                      </a:endParaRPr>
                    </a:p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>
                          <a:effectLst/>
                        </a:rPr>
                        <a:t>Education Level</a:t>
                      </a:r>
                      <a:endParaRPr lang="en-US" dirty="0" smtClean="0">
                        <a:effectLst/>
                      </a:endParaRPr>
                    </a:p>
                    <a:p>
                      <a:pPr algn="l" fontAlgn="base"/>
                      <a:endParaRPr lang="en-US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61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Behaviors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>
                          <a:effectLst/>
                        </a:rPr>
                        <a:t>Religion</a:t>
                      </a:r>
                      <a:endParaRPr lang="en-US" dirty="0" smtClean="0">
                        <a:effectLst/>
                      </a:endParaRPr>
                    </a:p>
                    <a:p>
                      <a:pPr algn="l" fontAlgn="base"/>
                      <a:endParaRPr lang="en-US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075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Interests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932" y="1032459"/>
            <a:ext cx="424116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0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Situational</a:t>
            </a:r>
            <a:r>
              <a:rPr sz="3600" spc="-65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600" spc="-95" dirty="0">
                <a:solidFill>
                  <a:srgbClr val="EBEBEB"/>
                </a:solidFill>
                <a:latin typeface="Tahoma" panose="020B0604030504040204"/>
                <a:cs typeface="Tahoma" panose="020B0604030504040204"/>
              </a:rPr>
              <a:t>Analysis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79667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100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-2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It</a:t>
            </a:r>
            <a:r>
              <a:rPr sz="1800" spc="-1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focuses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on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characteristics</a:t>
            </a:r>
            <a:r>
              <a:rPr sz="1800"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related</a:t>
            </a:r>
            <a:r>
              <a:rPr sz="1800" spc="-1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to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specific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reading</a:t>
            </a:r>
            <a:r>
              <a:rPr sz="1800" spc="-1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7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situation</a:t>
            </a:r>
            <a:endParaRPr sz="1800" dirty="0">
              <a:latin typeface="Verdana" panose="020B0804030504040204"/>
              <a:cs typeface="Verdana" panose="020B08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74392" y="3759708"/>
            <a:ext cx="6109715" cy="23103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 smtClean="0"/>
              <a:t>Ho</a:t>
            </a:r>
            <a:r>
              <a:rPr spc="-10" dirty="0" smtClean="0"/>
              <a:t>w</a:t>
            </a:r>
            <a:r>
              <a:rPr spc="-260" dirty="0" smtClean="0"/>
              <a:t> </a:t>
            </a:r>
            <a:r>
              <a:rPr spc="-215" dirty="0"/>
              <a:t>wil</a:t>
            </a:r>
            <a:r>
              <a:rPr spc="-130" dirty="0"/>
              <a:t>l</a:t>
            </a:r>
            <a:r>
              <a:rPr spc="-270" dirty="0"/>
              <a:t> </a:t>
            </a:r>
            <a:r>
              <a:rPr spc="-30" dirty="0"/>
              <a:t>the</a:t>
            </a:r>
            <a:r>
              <a:rPr spc="-260" dirty="0"/>
              <a:t> </a:t>
            </a:r>
            <a:r>
              <a:rPr spc="-70" dirty="0"/>
              <a:t>readers</a:t>
            </a:r>
            <a:r>
              <a:rPr spc="-285" dirty="0"/>
              <a:t> </a:t>
            </a:r>
            <a:r>
              <a:rPr spc="-125" dirty="0"/>
              <a:t>use</a:t>
            </a:r>
            <a:r>
              <a:rPr spc="-270" dirty="0"/>
              <a:t> </a:t>
            </a:r>
            <a:r>
              <a:rPr spc="-150" dirty="0"/>
              <a:t>your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233932" y="1304290"/>
            <a:ext cx="2370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0" dirty="0">
                <a:solidFill>
                  <a:srgbClr val="EBEBEB"/>
                </a:solidFill>
                <a:latin typeface="Verdana" panose="020B0804030504040204"/>
                <a:cs typeface="Verdana" panose="020B0804030504040204"/>
              </a:rPr>
              <a:t>document</a:t>
            </a:r>
            <a:endParaRPr sz="3600">
              <a:latin typeface="Verdana" panose="020B0804030504040204"/>
              <a:cs typeface="Verdana" panose="020B08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3045" y="2199893"/>
            <a:ext cx="7652385" cy="4326636"/>
            <a:chOff x="2273045" y="2199893"/>
            <a:chExt cx="7652385" cy="4326636"/>
          </a:xfrm>
        </p:grpSpPr>
        <p:sp>
          <p:nvSpPr>
            <p:cNvPr id="5" name="object 5"/>
            <p:cNvSpPr/>
            <p:nvPr/>
          </p:nvSpPr>
          <p:spPr>
            <a:xfrm>
              <a:off x="2715005" y="2291333"/>
              <a:ext cx="7210425" cy="701040"/>
            </a:xfrm>
            <a:custGeom>
              <a:avLst/>
              <a:gdLst/>
              <a:ahLst/>
              <a:cxnLst/>
              <a:rect l="l" t="t" r="r" b="b"/>
              <a:pathLst>
                <a:path w="7210425" h="701039">
                  <a:moveTo>
                    <a:pt x="7210044" y="0"/>
                  </a:moveTo>
                  <a:lnTo>
                    <a:pt x="350519" y="0"/>
                  </a:lnTo>
                  <a:lnTo>
                    <a:pt x="0" y="350519"/>
                  </a:lnTo>
                  <a:lnTo>
                    <a:pt x="350519" y="701039"/>
                  </a:lnTo>
                  <a:lnTo>
                    <a:pt x="7210044" y="701039"/>
                  </a:lnTo>
                  <a:lnTo>
                    <a:pt x="7210044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15005" y="2291333"/>
              <a:ext cx="7210425" cy="701040"/>
            </a:xfrm>
            <a:custGeom>
              <a:avLst/>
              <a:gdLst/>
              <a:ahLst/>
              <a:cxnLst/>
              <a:rect l="l" t="t" r="r" b="b"/>
              <a:pathLst>
                <a:path w="7210425" h="701039">
                  <a:moveTo>
                    <a:pt x="7210044" y="701039"/>
                  </a:moveTo>
                  <a:lnTo>
                    <a:pt x="350519" y="701039"/>
                  </a:lnTo>
                  <a:lnTo>
                    <a:pt x="0" y="350519"/>
                  </a:lnTo>
                  <a:lnTo>
                    <a:pt x="350519" y="0"/>
                  </a:lnTo>
                  <a:lnTo>
                    <a:pt x="7210044" y="0"/>
                  </a:lnTo>
                  <a:lnTo>
                    <a:pt x="7210044" y="701039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73045" y="2199893"/>
              <a:ext cx="883919" cy="883919"/>
            </a:xfrm>
            <a:custGeom>
              <a:avLst/>
              <a:gdLst/>
              <a:ahLst/>
              <a:cxnLst/>
              <a:rect l="l" t="t" r="r" b="b"/>
              <a:pathLst>
                <a:path w="883919" h="883919">
                  <a:moveTo>
                    <a:pt x="0" y="441959"/>
                  </a:moveTo>
                  <a:lnTo>
                    <a:pt x="2593" y="393802"/>
                  </a:lnTo>
                  <a:lnTo>
                    <a:pt x="10193" y="347147"/>
                  </a:lnTo>
                  <a:lnTo>
                    <a:pt x="22530" y="302264"/>
                  </a:lnTo>
                  <a:lnTo>
                    <a:pt x="39335" y="259422"/>
                  </a:lnTo>
                  <a:lnTo>
                    <a:pt x="60339" y="218891"/>
                  </a:lnTo>
                  <a:lnTo>
                    <a:pt x="85270" y="180941"/>
                  </a:lnTo>
                  <a:lnTo>
                    <a:pt x="113861" y="145841"/>
                  </a:lnTo>
                  <a:lnTo>
                    <a:pt x="145841" y="113861"/>
                  </a:lnTo>
                  <a:lnTo>
                    <a:pt x="180941" y="85270"/>
                  </a:lnTo>
                  <a:lnTo>
                    <a:pt x="218891" y="60339"/>
                  </a:lnTo>
                  <a:lnTo>
                    <a:pt x="259422" y="39335"/>
                  </a:lnTo>
                  <a:lnTo>
                    <a:pt x="302264" y="22530"/>
                  </a:lnTo>
                  <a:lnTo>
                    <a:pt x="347147" y="10193"/>
                  </a:lnTo>
                  <a:lnTo>
                    <a:pt x="393802" y="2593"/>
                  </a:lnTo>
                  <a:lnTo>
                    <a:pt x="441960" y="0"/>
                  </a:lnTo>
                  <a:lnTo>
                    <a:pt x="490117" y="2593"/>
                  </a:lnTo>
                  <a:lnTo>
                    <a:pt x="536772" y="10193"/>
                  </a:lnTo>
                  <a:lnTo>
                    <a:pt x="581655" y="22530"/>
                  </a:lnTo>
                  <a:lnTo>
                    <a:pt x="624497" y="39335"/>
                  </a:lnTo>
                  <a:lnTo>
                    <a:pt x="665028" y="60339"/>
                  </a:lnTo>
                  <a:lnTo>
                    <a:pt x="702978" y="85270"/>
                  </a:lnTo>
                  <a:lnTo>
                    <a:pt x="738078" y="113861"/>
                  </a:lnTo>
                  <a:lnTo>
                    <a:pt x="770058" y="145841"/>
                  </a:lnTo>
                  <a:lnTo>
                    <a:pt x="798649" y="180941"/>
                  </a:lnTo>
                  <a:lnTo>
                    <a:pt x="823580" y="218891"/>
                  </a:lnTo>
                  <a:lnTo>
                    <a:pt x="844584" y="259422"/>
                  </a:lnTo>
                  <a:lnTo>
                    <a:pt x="861389" y="302264"/>
                  </a:lnTo>
                  <a:lnTo>
                    <a:pt x="873726" y="347147"/>
                  </a:lnTo>
                  <a:lnTo>
                    <a:pt x="881326" y="393802"/>
                  </a:lnTo>
                  <a:lnTo>
                    <a:pt x="883920" y="441959"/>
                  </a:lnTo>
                  <a:lnTo>
                    <a:pt x="881326" y="490117"/>
                  </a:lnTo>
                  <a:lnTo>
                    <a:pt x="873726" y="536772"/>
                  </a:lnTo>
                  <a:lnTo>
                    <a:pt x="861389" y="581655"/>
                  </a:lnTo>
                  <a:lnTo>
                    <a:pt x="844584" y="624497"/>
                  </a:lnTo>
                  <a:lnTo>
                    <a:pt x="823580" y="665028"/>
                  </a:lnTo>
                  <a:lnTo>
                    <a:pt x="798649" y="702978"/>
                  </a:lnTo>
                  <a:lnTo>
                    <a:pt x="770058" y="738078"/>
                  </a:lnTo>
                  <a:lnTo>
                    <a:pt x="738078" y="770058"/>
                  </a:lnTo>
                  <a:lnTo>
                    <a:pt x="702978" y="798649"/>
                  </a:lnTo>
                  <a:lnTo>
                    <a:pt x="665028" y="823580"/>
                  </a:lnTo>
                  <a:lnTo>
                    <a:pt x="624497" y="844584"/>
                  </a:lnTo>
                  <a:lnTo>
                    <a:pt x="581655" y="861389"/>
                  </a:lnTo>
                  <a:lnTo>
                    <a:pt x="536772" y="873726"/>
                  </a:lnTo>
                  <a:lnTo>
                    <a:pt x="490117" y="881326"/>
                  </a:lnTo>
                  <a:lnTo>
                    <a:pt x="441960" y="883919"/>
                  </a:lnTo>
                  <a:lnTo>
                    <a:pt x="393802" y="881326"/>
                  </a:lnTo>
                  <a:lnTo>
                    <a:pt x="347147" y="873726"/>
                  </a:lnTo>
                  <a:lnTo>
                    <a:pt x="302264" y="861389"/>
                  </a:lnTo>
                  <a:lnTo>
                    <a:pt x="259422" y="844584"/>
                  </a:lnTo>
                  <a:lnTo>
                    <a:pt x="218891" y="823580"/>
                  </a:lnTo>
                  <a:lnTo>
                    <a:pt x="180941" y="798649"/>
                  </a:lnTo>
                  <a:lnTo>
                    <a:pt x="145841" y="770058"/>
                  </a:lnTo>
                  <a:lnTo>
                    <a:pt x="113861" y="738078"/>
                  </a:lnTo>
                  <a:lnTo>
                    <a:pt x="85270" y="702978"/>
                  </a:lnTo>
                  <a:lnTo>
                    <a:pt x="60339" y="665028"/>
                  </a:lnTo>
                  <a:lnTo>
                    <a:pt x="39335" y="624497"/>
                  </a:lnTo>
                  <a:lnTo>
                    <a:pt x="22530" y="581655"/>
                  </a:lnTo>
                  <a:lnTo>
                    <a:pt x="10193" y="536772"/>
                  </a:lnTo>
                  <a:lnTo>
                    <a:pt x="2593" y="490117"/>
                  </a:lnTo>
                  <a:lnTo>
                    <a:pt x="0" y="441959"/>
                  </a:lnTo>
                  <a:close/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15005" y="3347466"/>
              <a:ext cx="7210425" cy="883919"/>
            </a:xfrm>
            <a:custGeom>
              <a:avLst/>
              <a:gdLst/>
              <a:ahLst/>
              <a:cxnLst/>
              <a:rect l="l" t="t" r="r" b="b"/>
              <a:pathLst>
                <a:path w="7210425" h="883920">
                  <a:moveTo>
                    <a:pt x="7210044" y="0"/>
                  </a:moveTo>
                  <a:lnTo>
                    <a:pt x="441960" y="0"/>
                  </a:lnTo>
                  <a:lnTo>
                    <a:pt x="0" y="441960"/>
                  </a:lnTo>
                  <a:lnTo>
                    <a:pt x="441960" y="883920"/>
                  </a:lnTo>
                  <a:lnTo>
                    <a:pt x="7210044" y="883920"/>
                  </a:lnTo>
                  <a:lnTo>
                    <a:pt x="7210044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15005" y="3347466"/>
              <a:ext cx="7210425" cy="883919"/>
            </a:xfrm>
            <a:custGeom>
              <a:avLst/>
              <a:gdLst/>
              <a:ahLst/>
              <a:cxnLst/>
              <a:rect l="l" t="t" r="r" b="b"/>
              <a:pathLst>
                <a:path w="7210425" h="883920">
                  <a:moveTo>
                    <a:pt x="7210044" y="883920"/>
                  </a:moveTo>
                  <a:lnTo>
                    <a:pt x="441960" y="883920"/>
                  </a:lnTo>
                  <a:lnTo>
                    <a:pt x="0" y="441960"/>
                  </a:lnTo>
                  <a:lnTo>
                    <a:pt x="441960" y="0"/>
                  </a:lnTo>
                  <a:lnTo>
                    <a:pt x="7210044" y="0"/>
                  </a:lnTo>
                  <a:lnTo>
                    <a:pt x="7210044" y="88392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73045" y="3347466"/>
              <a:ext cx="883919" cy="883919"/>
            </a:xfrm>
            <a:custGeom>
              <a:avLst/>
              <a:gdLst/>
              <a:ahLst/>
              <a:cxnLst/>
              <a:rect l="l" t="t" r="r" b="b"/>
              <a:pathLst>
                <a:path w="883919" h="883920">
                  <a:moveTo>
                    <a:pt x="0" y="441960"/>
                  </a:moveTo>
                  <a:lnTo>
                    <a:pt x="2593" y="393802"/>
                  </a:lnTo>
                  <a:lnTo>
                    <a:pt x="10193" y="347147"/>
                  </a:lnTo>
                  <a:lnTo>
                    <a:pt x="22530" y="302264"/>
                  </a:lnTo>
                  <a:lnTo>
                    <a:pt x="39335" y="259422"/>
                  </a:lnTo>
                  <a:lnTo>
                    <a:pt x="60339" y="218891"/>
                  </a:lnTo>
                  <a:lnTo>
                    <a:pt x="85270" y="180941"/>
                  </a:lnTo>
                  <a:lnTo>
                    <a:pt x="113861" y="145841"/>
                  </a:lnTo>
                  <a:lnTo>
                    <a:pt x="145841" y="113861"/>
                  </a:lnTo>
                  <a:lnTo>
                    <a:pt x="180941" y="85270"/>
                  </a:lnTo>
                  <a:lnTo>
                    <a:pt x="218891" y="60339"/>
                  </a:lnTo>
                  <a:lnTo>
                    <a:pt x="259422" y="39335"/>
                  </a:lnTo>
                  <a:lnTo>
                    <a:pt x="302264" y="22530"/>
                  </a:lnTo>
                  <a:lnTo>
                    <a:pt x="347147" y="10193"/>
                  </a:lnTo>
                  <a:lnTo>
                    <a:pt x="393802" y="2593"/>
                  </a:lnTo>
                  <a:lnTo>
                    <a:pt x="441960" y="0"/>
                  </a:lnTo>
                  <a:lnTo>
                    <a:pt x="490117" y="2593"/>
                  </a:lnTo>
                  <a:lnTo>
                    <a:pt x="536772" y="10193"/>
                  </a:lnTo>
                  <a:lnTo>
                    <a:pt x="581655" y="22530"/>
                  </a:lnTo>
                  <a:lnTo>
                    <a:pt x="624497" y="39335"/>
                  </a:lnTo>
                  <a:lnTo>
                    <a:pt x="665028" y="60339"/>
                  </a:lnTo>
                  <a:lnTo>
                    <a:pt x="702978" y="85270"/>
                  </a:lnTo>
                  <a:lnTo>
                    <a:pt x="738078" y="113861"/>
                  </a:lnTo>
                  <a:lnTo>
                    <a:pt x="770058" y="145841"/>
                  </a:lnTo>
                  <a:lnTo>
                    <a:pt x="798649" y="180941"/>
                  </a:lnTo>
                  <a:lnTo>
                    <a:pt x="823580" y="218891"/>
                  </a:lnTo>
                  <a:lnTo>
                    <a:pt x="844584" y="259422"/>
                  </a:lnTo>
                  <a:lnTo>
                    <a:pt x="861389" y="302264"/>
                  </a:lnTo>
                  <a:lnTo>
                    <a:pt x="873726" y="347147"/>
                  </a:lnTo>
                  <a:lnTo>
                    <a:pt x="881326" y="393802"/>
                  </a:lnTo>
                  <a:lnTo>
                    <a:pt x="883920" y="441960"/>
                  </a:lnTo>
                  <a:lnTo>
                    <a:pt x="881326" y="490117"/>
                  </a:lnTo>
                  <a:lnTo>
                    <a:pt x="873726" y="536772"/>
                  </a:lnTo>
                  <a:lnTo>
                    <a:pt x="861389" y="581655"/>
                  </a:lnTo>
                  <a:lnTo>
                    <a:pt x="844584" y="624497"/>
                  </a:lnTo>
                  <a:lnTo>
                    <a:pt x="823580" y="665028"/>
                  </a:lnTo>
                  <a:lnTo>
                    <a:pt x="798649" y="702978"/>
                  </a:lnTo>
                  <a:lnTo>
                    <a:pt x="770058" y="738078"/>
                  </a:lnTo>
                  <a:lnTo>
                    <a:pt x="738078" y="770058"/>
                  </a:lnTo>
                  <a:lnTo>
                    <a:pt x="702978" y="798649"/>
                  </a:lnTo>
                  <a:lnTo>
                    <a:pt x="665028" y="823580"/>
                  </a:lnTo>
                  <a:lnTo>
                    <a:pt x="624497" y="844584"/>
                  </a:lnTo>
                  <a:lnTo>
                    <a:pt x="581655" y="861389"/>
                  </a:lnTo>
                  <a:lnTo>
                    <a:pt x="536772" y="873726"/>
                  </a:lnTo>
                  <a:lnTo>
                    <a:pt x="490117" y="881326"/>
                  </a:lnTo>
                  <a:lnTo>
                    <a:pt x="441960" y="883920"/>
                  </a:lnTo>
                  <a:lnTo>
                    <a:pt x="393802" y="881326"/>
                  </a:lnTo>
                  <a:lnTo>
                    <a:pt x="347147" y="873726"/>
                  </a:lnTo>
                  <a:lnTo>
                    <a:pt x="302264" y="861389"/>
                  </a:lnTo>
                  <a:lnTo>
                    <a:pt x="259422" y="844584"/>
                  </a:lnTo>
                  <a:lnTo>
                    <a:pt x="218891" y="823580"/>
                  </a:lnTo>
                  <a:lnTo>
                    <a:pt x="180941" y="798649"/>
                  </a:lnTo>
                  <a:lnTo>
                    <a:pt x="145841" y="770058"/>
                  </a:lnTo>
                  <a:lnTo>
                    <a:pt x="113861" y="738078"/>
                  </a:lnTo>
                  <a:lnTo>
                    <a:pt x="85270" y="702978"/>
                  </a:lnTo>
                  <a:lnTo>
                    <a:pt x="60339" y="665028"/>
                  </a:lnTo>
                  <a:lnTo>
                    <a:pt x="39335" y="624497"/>
                  </a:lnTo>
                  <a:lnTo>
                    <a:pt x="22530" y="581655"/>
                  </a:lnTo>
                  <a:lnTo>
                    <a:pt x="10193" y="536772"/>
                  </a:lnTo>
                  <a:lnTo>
                    <a:pt x="2593" y="490117"/>
                  </a:lnTo>
                  <a:lnTo>
                    <a:pt x="0" y="44196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15005" y="4495038"/>
              <a:ext cx="7210425" cy="883919"/>
            </a:xfrm>
            <a:custGeom>
              <a:avLst/>
              <a:gdLst/>
              <a:ahLst/>
              <a:cxnLst/>
              <a:rect l="l" t="t" r="r" b="b"/>
              <a:pathLst>
                <a:path w="7210425" h="883920">
                  <a:moveTo>
                    <a:pt x="7210044" y="0"/>
                  </a:moveTo>
                  <a:lnTo>
                    <a:pt x="441960" y="0"/>
                  </a:lnTo>
                  <a:lnTo>
                    <a:pt x="0" y="441960"/>
                  </a:lnTo>
                  <a:lnTo>
                    <a:pt x="441960" y="883920"/>
                  </a:lnTo>
                  <a:lnTo>
                    <a:pt x="7210044" y="883920"/>
                  </a:lnTo>
                  <a:lnTo>
                    <a:pt x="7210044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15005" y="4495038"/>
              <a:ext cx="7210425" cy="883919"/>
            </a:xfrm>
            <a:custGeom>
              <a:avLst/>
              <a:gdLst/>
              <a:ahLst/>
              <a:cxnLst/>
              <a:rect l="l" t="t" r="r" b="b"/>
              <a:pathLst>
                <a:path w="7210425" h="883920">
                  <a:moveTo>
                    <a:pt x="7210044" y="883920"/>
                  </a:moveTo>
                  <a:lnTo>
                    <a:pt x="441960" y="883920"/>
                  </a:lnTo>
                  <a:lnTo>
                    <a:pt x="0" y="441960"/>
                  </a:lnTo>
                  <a:lnTo>
                    <a:pt x="441960" y="0"/>
                  </a:lnTo>
                  <a:lnTo>
                    <a:pt x="7210044" y="0"/>
                  </a:lnTo>
                  <a:lnTo>
                    <a:pt x="7210044" y="88392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73045" y="4495038"/>
              <a:ext cx="883919" cy="883919"/>
            </a:xfrm>
            <a:custGeom>
              <a:avLst/>
              <a:gdLst/>
              <a:ahLst/>
              <a:cxnLst/>
              <a:rect l="l" t="t" r="r" b="b"/>
              <a:pathLst>
                <a:path w="883919" h="883920">
                  <a:moveTo>
                    <a:pt x="0" y="441960"/>
                  </a:moveTo>
                  <a:lnTo>
                    <a:pt x="2593" y="393802"/>
                  </a:lnTo>
                  <a:lnTo>
                    <a:pt x="10193" y="347147"/>
                  </a:lnTo>
                  <a:lnTo>
                    <a:pt x="22530" y="302264"/>
                  </a:lnTo>
                  <a:lnTo>
                    <a:pt x="39335" y="259422"/>
                  </a:lnTo>
                  <a:lnTo>
                    <a:pt x="60339" y="218891"/>
                  </a:lnTo>
                  <a:lnTo>
                    <a:pt x="85270" y="180941"/>
                  </a:lnTo>
                  <a:lnTo>
                    <a:pt x="113861" y="145841"/>
                  </a:lnTo>
                  <a:lnTo>
                    <a:pt x="145841" y="113861"/>
                  </a:lnTo>
                  <a:lnTo>
                    <a:pt x="180941" y="85270"/>
                  </a:lnTo>
                  <a:lnTo>
                    <a:pt x="218891" y="60339"/>
                  </a:lnTo>
                  <a:lnTo>
                    <a:pt x="259422" y="39335"/>
                  </a:lnTo>
                  <a:lnTo>
                    <a:pt x="302264" y="22530"/>
                  </a:lnTo>
                  <a:lnTo>
                    <a:pt x="347147" y="10193"/>
                  </a:lnTo>
                  <a:lnTo>
                    <a:pt x="393802" y="2593"/>
                  </a:lnTo>
                  <a:lnTo>
                    <a:pt x="441960" y="0"/>
                  </a:lnTo>
                  <a:lnTo>
                    <a:pt x="490117" y="2593"/>
                  </a:lnTo>
                  <a:lnTo>
                    <a:pt x="536772" y="10193"/>
                  </a:lnTo>
                  <a:lnTo>
                    <a:pt x="581655" y="22530"/>
                  </a:lnTo>
                  <a:lnTo>
                    <a:pt x="624497" y="39335"/>
                  </a:lnTo>
                  <a:lnTo>
                    <a:pt x="665028" y="60339"/>
                  </a:lnTo>
                  <a:lnTo>
                    <a:pt x="702978" y="85270"/>
                  </a:lnTo>
                  <a:lnTo>
                    <a:pt x="738078" y="113861"/>
                  </a:lnTo>
                  <a:lnTo>
                    <a:pt x="770058" y="145841"/>
                  </a:lnTo>
                  <a:lnTo>
                    <a:pt x="798649" y="180941"/>
                  </a:lnTo>
                  <a:lnTo>
                    <a:pt x="823580" y="218891"/>
                  </a:lnTo>
                  <a:lnTo>
                    <a:pt x="844584" y="259422"/>
                  </a:lnTo>
                  <a:lnTo>
                    <a:pt x="861389" y="302264"/>
                  </a:lnTo>
                  <a:lnTo>
                    <a:pt x="873726" y="347147"/>
                  </a:lnTo>
                  <a:lnTo>
                    <a:pt x="881326" y="393802"/>
                  </a:lnTo>
                  <a:lnTo>
                    <a:pt x="883920" y="441960"/>
                  </a:lnTo>
                  <a:lnTo>
                    <a:pt x="881326" y="490117"/>
                  </a:lnTo>
                  <a:lnTo>
                    <a:pt x="873726" y="536772"/>
                  </a:lnTo>
                  <a:lnTo>
                    <a:pt x="861389" y="581655"/>
                  </a:lnTo>
                  <a:lnTo>
                    <a:pt x="844584" y="624497"/>
                  </a:lnTo>
                  <a:lnTo>
                    <a:pt x="823580" y="665028"/>
                  </a:lnTo>
                  <a:lnTo>
                    <a:pt x="798649" y="702978"/>
                  </a:lnTo>
                  <a:lnTo>
                    <a:pt x="770058" y="738078"/>
                  </a:lnTo>
                  <a:lnTo>
                    <a:pt x="738078" y="770058"/>
                  </a:lnTo>
                  <a:lnTo>
                    <a:pt x="702978" y="798649"/>
                  </a:lnTo>
                  <a:lnTo>
                    <a:pt x="665028" y="823580"/>
                  </a:lnTo>
                  <a:lnTo>
                    <a:pt x="624497" y="844584"/>
                  </a:lnTo>
                  <a:lnTo>
                    <a:pt x="581655" y="861389"/>
                  </a:lnTo>
                  <a:lnTo>
                    <a:pt x="536772" y="873726"/>
                  </a:lnTo>
                  <a:lnTo>
                    <a:pt x="490117" y="881326"/>
                  </a:lnTo>
                  <a:lnTo>
                    <a:pt x="441960" y="883920"/>
                  </a:lnTo>
                  <a:lnTo>
                    <a:pt x="393802" y="881326"/>
                  </a:lnTo>
                  <a:lnTo>
                    <a:pt x="347147" y="873726"/>
                  </a:lnTo>
                  <a:lnTo>
                    <a:pt x="302264" y="861389"/>
                  </a:lnTo>
                  <a:lnTo>
                    <a:pt x="259422" y="844584"/>
                  </a:lnTo>
                  <a:lnTo>
                    <a:pt x="218891" y="823580"/>
                  </a:lnTo>
                  <a:lnTo>
                    <a:pt x="180941" y="798649"/>
                  </a:lnTo>
                  <a:lnTo>
                    <a:pt x="145841" y="770058"/>
                  </a:lnTo>
                  <a:lnTo>
                    <a:pt x="113861" y="738078"/>
                  </a:lnTo>
                  <a:lnTo>
                    <a:pt x="85270" y="702978"/>
                  </a:lnTo>
                  <a:lnTo>
                    <a:pt x="60339" y="665028"/>
                  </a:lnTo>
                  <a:lnTo>
                    <a:pt x="39335" y="624497"/>
                  </a:lnTo>
                  <a:lnTo>
                    <a:pt x="22530" y="581655"/>
                  </a:lnTo>
                  <a:lnTo>
                    <a:pt x="10193" y="536772"/>
                  </a:lnTo>
                  <a:lnTo>
                    <a:pt x="2593" y="490117"/>
                  </a:lnTo>
                  <a:lnTo>
                    <a:pt x="0" y="44196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15005" y="5642610"/>
              <a:ext cx="7210425" cy="883919"/>
            </a:xfrm>
            <a:custGeom>
              <a:avLst/>
              <a:gdLst/>
              <a:ahLst/>
              <a:cxnLst/>
              <a:rect l="l" t="t" r="r" b="b"/>
              <a:pathLst>
                <a:path w="7210425" h="883920">
                  <a:moveTo>
                    <a:pt x="7210044" y="883919"/>
                  </a:moveTo>
                  <a:lnTo>
                    <a:pt x="441960" y="883919"/>
                  </a:lnTo>
                  <a:lnTo>
                    <a:pt x="0" y="441959"/>
                  </a:lnTo>
                  <a:lnTo>
                    <a:pt x="441960" y="0"/>
                  </a:lnTo>
                  <a:lnTo>
                    <a:pt x="7210044" y="0"/>
                  </a:lnTo>
                  <a:lnTo>
                    <a:pt x="7210044" y="883919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273045" y="2433066"/>
            <a:ext cx="8318755" cy="36375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300" spc="-1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2300" spc="-18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wa</a:t>
            </a:r>
            <a:r>
              <a:rPr sz="2300" spc="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</a:t>
            </a:r>
            <a:r>
              <a:rPr sz="2300" spc="-18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</a:t>
            </a:r>
            <a:r>
              <a:rPr sz="2300" spc="-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</a:t>
            </a:r>
            <a:r>
              <a:rPr sz="2300" spc="-29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</a:t>
            </a:r>
            <a:r>
              <a:rPr sz="2300" spc="-18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rea</a:t>
            </a:r>
            <a:r>
              <a:rPr sz="2300" spc="5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2300" spc="-8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er</a:t>
            </a:r>
            <a:r>
              <a:rPr sz="2300" spc="-19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1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</a:t>
            </a: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-17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ll</a:t>
            </a:r>
            <a:r>
              <a:rPr sz="2300" spc="-2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read</a:t>
            </a:r>
            <a:r>
              <a:rPr sz="2300" spc="-18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</a:t>
            </a:r>
            <a:r>
              <a:rPr sz="2300" spc="-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</a:t>
            </a:r>
            <a:r>
              <a:rPr sz="2300" spc="-29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</a:t>
            </a:r>
            <a:r>
              <a:rPr sz="2300" spc="-19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1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2300" spc="1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</a:t>
            </a:r>
            <a:r>
              <a:rPr sz="2300" spc="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cument</a:t>
            </a:r>
            <a:endParaRPr sz="23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</a:pPr>
            <a:endParaRPr sz="28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 dirty="0">
              <a:latin typeface="Verdana" panose="020B0804030504040204"/>
              <a:cs typeface="Verdana" panose="020B0804030504040204"/>
            </a:endParaRPr>
          </a:p>
          <a:p>
            <a:pPr marL="44450" algn="ctr">
              <a:lnSpc>
                <a:spcPct val="100000"/>
              </a:lnSpc>
            </a:pP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</a:t>
            </a:r>
            <a:r>
              <a:rPr sz="2300" spc="-8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our</a:t>
            </a:r>
            <a:r>
              <a:rPr sz="2300" spc="-2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rea</a:t>
            </a:r>
            <a:r>
              <a:rPr sz="2300" spc="5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2300" spc="-7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er’s</a:t>
            </a:r>
            <a:r>
              <a:rPr sz="2300" spc="-19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rea</a:t>
            </a:r>
            <a:r>
              <a:rPr sz="2300" spc="5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2300" spc="-17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ng</a:t>
            </a:r>
            <a:r>
              <a:rPr sz="2300" spc="-2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28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sk</a:t>
            </a:r>
            <a:r>
              <a:rPr sz="2300" spc="-1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-17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ll</a:t>
            </a:r>
            <a:endParaRPr sz="23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</a:pPr>
            <a:endParaRPr sz="2800" dirty="0">
              <a:latin typeface="Verdana" panose="020B0804030504040204"/>
              <a:cs typeface="Verdana" panose="020B0804030504040204"/>
            </a:endParaRPr>
          </a:p>
          <a:p>
            <a:pPr marL="486410" marR="431165" algn="ctr">
              <a:lnSpc>
                <a:spcPts val="2540"/>
              </a:lnSpc>
              <a:spcBef>
                <a:spcPts val="1875"/>
              </a:spcBef>
            </a:pPr>
            <a:r>
              <a:rPr sz="2300" spc="-1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2300" spc="-18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1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phys</a:t>
            </a:r>
            <a:r>
              <a:rPr sz="2300" spc="-4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10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cal</a:t>
            </a:r>
            <a:r>
              <a:rPr sz="2300" spc="-19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en</a:t>
            </a:r>
            <a:r>
              <a:rPr sz="2300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v</a:t>
            </a:r>
            <a:r>
              <a:rPr sz="2300" spc="-170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-5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ronment</a:t>
            </a:r>
            <a:r>
              <a:rPr lang="en-US" sz="2300" spc="-5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/digital environment</a:t>
            </a:r>
            <a:r>
              <a:rPr sz="2300" spc="-220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17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-5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2300" spc="-19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</a:t>
            </a:r>
            <a:r>
              <a:rPr sz="2300" spc="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hich</a:t>
            </a:r>
            <a:r>
              <a:rPr sz="2300" spc="-18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</a:t>
            </a:r>
            <a:r>
              <a:rPr sz="2300" spc="-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</a:t>
            </a:r>
            <a:r>
              <a:rPr sz="2300" spc="-254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  </a:t>
            </a:r>
            <a:r>
              <a:rPr sz="23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rea</a:t>
            </a:r>
            <a:r>
              <a:rPr sz="2300" spc="5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2300" spc="-8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er</a:t>
            </a:r>
            <a:r>
              <a:rPr sz="2300" spc="-19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1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</a:t>
            </a: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2300" spc="-17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ll</a:t>
            </a:r>
            <a:r>
              <a:rPr sz="2300" spc="-2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read</a:t>
            </a:r>
            <a:r>
              <a:rPr sz="2300" spc="-18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</a:t>
            </a:r>
            <a:r>
              <a:rPr sz="2300" spc="-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</a:t>
            </a:r>
            <a:r>
              <a:rPr sz="2300" spc="-29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</a:t>
            </a:r>
            <a:r>
              <a:rPr sz="2300" spc="-19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300" spc="1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</a:t>
            </a:r>
            <a:r>
              <a:rPr sz="2300" spc="13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</a:t>
            </a:r>
            <a:r>
              <a:rPr sz="2300" spc="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cument</a:t>
            </a:r>
            <a:endParaRPr sz="23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 dirty="0">
              <a:latin typeface="Verdana" panose="020B0804030504040204"/>
              <a:cs typeface="Verdana" panose="020B0804030504040204"/>
            </a:endParaRPr>
          </a:p>
          <a:p>
            <a:pPr marL="45085" algn="ctr">
              <a:lnSpc>
                <a:spcPts val="2655"/>
              </a:lnSpc>
            </a:pPr>
            <a:endParaRPr sz="2300" dirty="0">
              <a:latin typeface="Verdana" panose="020B0804030504040204"/>
              <a:cs typeface="Verdana" panose="020B080403050404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73045" y="5644134"/>
            <a:ext cx="883919" cy="883919"/>
          </a:xfrm>
          <a:custGeom>
            <a:avLst/>
            <a:gdLst/>
            <a:ahLst/>
            <a:cxnLst/>
            <a:rect l="l" t="t" r="r" b="b"/>
            <a:pathLst>
              <a:path w="883919" h="883920">
                <a:moveTo>
                  <a:pt x="0" y="441959"/>
                </a:moveTo>
                <a:lnTo>
                  <a:pt x="2593" y="393802"/>
                </a:lnTo>
                <a:lnTo>
                  <a:pt x="10193" y="347147"/>
                </a:lnTo>
                <a:lnTo>
                  <a:pt x="22530" y="302264"/>
                </a:lnTo>
                <a:lnTo>
                  <a:pt x="39335" y="259422"/>
                </a:lnTo>
                <a:lnTo>
                  <a:pt x="60339" y="218891"/>
                </a:lnTo>
                <a:lnTo>
                  <a:pt x="85270" y="180941"/>
                </a:lnTo>
                <a:lnTo>
                  <a:pt x="113861" y="145841"/>
                </a:lnTo>
                <a:lnTo>
                  <a:pt x="145841" y="113861"/>
                </a:lnTo>
                <a:lnTo>
                  <a:pt x="180941" y="85270"/>
                </a:lnTo>
                <a:lnTo>
                  <a:pt x="218891" y="60339"/>
                </a:lnTo>
                <a:lnTo>
                  <a:pt x="259422" y="39335"/>
                </a:lnTo>
                <a:lnTo>
                  <a:pt x="302264" y="22530"/>
                </a:lnTo>
                <a:lnTo>
                  <a:pt x="347147" y="10193"/>
                </a:lnTo>
                <a:lnTo>
                  <a:pt x="393802" y="2593"/>
                </a:lnTo>
                <a:lnTo>
                  <a:pt x="441960" y="0"/>
                </a:lnTo>
                <a:lnTo>
                  <a:pt x="490117" y="2593"/>
                </a:lnTo>
                <a:lnTo>
                  <a:pt x="536772" y="10193"/>
                </a:lnTo>
                <a:lnTo>
                  <a:pt x="581655" y="22530"/>
                </a:lnTo>
                <a:lnTo>
                  <a:pt x="624497" y="39335"/>
                </a:lnTo>
                <a:lnTo>
                  <a:pt x="665028" y="60339"/>
                </a:lnTo>
                <a:lnTo>
                  <a:pt x="702978" y="85270"/>
                </a:lnTo>
                <a:lnTo>
                  <a:pt x="738078" y="113861"/>
                </a:lnTo>
                <a:lnTo>
                  <a:pt x="770058" y="145841"/>
                </a:lnTo>
                <a:lnTo>
                  <a:pt x="798649" y="180941"/>
                </a:lnTo>
                <a:lnTo>
                  <a:pt x="823580" y="218891"/>
                </a:lnTo>
                <a:lnTo>
                  <a:pt x="844584" y="259422"/>
                </a:lnTo>
                <a:lnTo>
                  <a:pt x="861389" y="302264"/>
                </a:lnTo>
                <a:lnTo>
                  <a:pt x="873726" y="347147"/>
                </a:lnTo>
                <a:lnTo>
                  <a:pt x="881326" y="393802"/>
                </a:lnTo>
                <a:lnTo>
                  <a:pt x="883920" y="441959"/>
                </a:lnTo>
                <a:lnTo>
                  <a:pt x="881326" y="490115"/>
                </a:lnTo>
                <a:lnTo>
                  <a:pt x="873726" y="536768"/>
                </a:lnTo>
                <a:lnTo>
                  <a:pt x="861389" y="581651"/>
                </a:lnTo>
                <a:lnTo>
                  <a:pt x="844584" y="624492"/>
                </a:lnTo>
                <a:lnTo>
                  <a:pt x="823580" y="665022"/>
                </a:lnTo>
                <a:lnTo>
                  <a:pt x="798649" y="702973"/>
                </a:lnTo>
                <a:lnTo>
                  <a:pt x="770058" y="738073"/>
                </a:lnTo>
                <a:lnTo>
                  <a:pt x="738078" y="770054"/>
                </a:lnTo>
                <a:lnTo>
                  <a:pt x="702978" y="798645"/>
                </a:lnTo>
                <a:lnTo>
                  <a:pt x="665028" y="823578"/>
                </a:lnTo>
                <a:lnTo>
                  <a:pt x="624497" y="844582"/>
                </a:lnTo>
                <a:lnTo>
                  <a:pt x="581655" y="861387"/>
                </a:lnTo>
                <a:lnTo>
                  <a:pt x="536772" y="873725"/>
                </a:lnTo>
                <a:lnTo>
                  <a:pt x="490117" y="881326"/>
                </a:lnTo>
                <a:lnTo>
                  <a:pt x="441960" y="883919"/>
                </a:lnTo>
                <a:lnTo>
                  <a:pt x="393802" y="881326"/>
                </a:lnTo>
                <a:lnTo>
                  <a:pt x="347147" y="873725"/>
                </a:lnTo>
                <a:lnTo>
                  <a:pt x="302264" y="861387"/>
                </a:lnTo>
                <a:lnTo>
                  <a:pt x="259422" y="844582"/>
                </a:lnTo>
                <a:lnTo>
                  <a:pt x="218891" y="823578"/>
                </a:lnTo>
                <a:lnTo>
                  <a:pt x="180941" y="798645"/>
                </a:lnTo>
                <a:lnTo>
                  <a:pt x="145841" y="770054"/>
                </a:lnTo>
                <a:lnTo>
                  <a:pt x="113861" y="738073"/>
                </a:lnTo>
                <a:lnTo>
                  <a:pt x="85270" y="702973"/>
                </a:lnTo>
                <a:lnTo>
                  <a:pt x="60339" y="665022"/>
                </a:lnTo>
                <a:lnTo>
                  <a:pt x="39335" y="624492"/>
                </a:lnTo>
                <a:lnTo>
                  <a:pt x="22530" y="581651"/>
                </a:lnTo>
                <a:lnTo>
                  <a:pt x="10193" y="536768"/>
                </a:lnTo>
                <a:lnTo>
                  <a:pt x="2593" y="490115"/>
                </a:lnTo>
                <a:lnTo>
                  <a:pt x="0" y="441959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805" y="1029335"/>
            <a:ext cx="263461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85" dirty="0">
                <a:latin typeface="Verdana" panose="020B0804030504040204" pitchFamily="34" charset="0"/>
                <a:cs typeface="Verdana" panose="020B0804030504040204" pitchFamily="34" charset="0"/>
              </a:rPr>
              <a:t>Con</a:t>
            </a:r>
            <a:r>
              <a:rPr spc="185" dirty="0">
                <a:latin typeface="Verdana" panose="020B0804030504040204" pitchFamily="34" charset="0"/>
                <a:cs typeface="Verdana" panose="020B0804030504040204" pitchFamily="34" charset="0"/>
              </a:rPr>
              <a:t>c</a:t>
            </a:r>
            <a:r>
              <a:rPr spc="-270" dirty="0">
                <a:latin typeface="Verdana" panose="020B0804030504040204" pitchFamily="34" charset="0"/>
                <a:cs typeface="Verdana" panose="020B0804030504040204" pitchFamily="34" charset="0"/>
              </a:rPr>
              <a:t>lu</a:t>
            </a:r>
            <a:r>
              <a:rPr spc="-320" dirty="0">
                <a:latin typeface="Verdana" panose="020B0804030504040204" pitchFamily="34" charset="0"/>
                <a:cs typeface="Verdana" panose="020B0804030504040204" pitchFamily="34" charset="0"/>
              </a:rPr>
              <a:t>s</a:t>
            </a:r>
            <a:r>
              <a:rPr spc="-65" dirty="0">
                <a:latin typeface="Verdana" panose="020B0804030504040204" pitchFamily="34" charset="0"/>
                <a:cs typeface="Verdana" panose="020B0804030504040204" pitchFamily="34" charset="0"/>
              </a:rPr>
              <a:t>ion</a:t>
            </a:r>
            <a:endParaRPr spc="-65" dirty="0">
              <a:latin typeface="Verdana" panose="020B0804030504040204" pitchFamily="34" charset="0"/>
              <a:cs typeface="Verdana" panose="020B08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8325484" cy="2199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1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helpful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way</a:t>
            </a:r>
            <a:r>
              <a:rPr sz="1800" spc="-1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of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gathering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information</a:t>
            </a:r>
            <a:r>
              <a:rPr sz="1800" spc="-1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about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readers</a:t>
            </a:r>
            <a:r>
              <a:rPr sz="1800" spc="-10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is</a:t>
            </a:r>
            <a:r>
              <a:rPr sz="1800" spc="-1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to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conduct </a:t>
            </a:r>
            <a:r>
              <a:rPr sz="1800" spc="-6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</a:t>
            </a:r>
            <a:r>
              <a:rPr sz="1800" spc="-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audience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5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analysis</a:t>
            </a:r>
            <a:endParaRPr sz="1800" dirty="0">
              <a:latin typeface="Verdana" panose="020B0804030504040204"/>
              <a:cs typeface="Verdana" panose="020B0804030504040204"/>
            </a:endParaRPr>
          </a:p>
          <a:p>
            <a:pPr marL="355600" marR="354330" indent="-3429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Depending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on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purpose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and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needs</a:t>
            </a:r>
            <a:r>
              <a:rPr sz="1800" spc="-9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of</a:t>
            </a:r>
            <a:r>
              <a:rPr sz="1800" spc="-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documents,</a:t>
            </a:r>
            <a:r>
              <a:rPr sz="1800" spc="-10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may 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perform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1800" spc="-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brief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audience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profile</a:t>
            </a:r>
            <a:r>
              <a:rPr sz="1800" spc="-1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or</a:t>
            </a:r>
            <a:r>
              <a:rPr sz="1800" spc="-1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in-depth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audience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analysis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(or </a:t>
            </a:r>
            <a:r>
              <a:rPr sz="1800" spc="-6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1800" spc="-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o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met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h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g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i</a:t>
            </a:r>
            <a:r>
              <a:rPr sz="1800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-1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</a:t>
            </a:r>
            <a:r>
              <a:rPr sz="1800" spc="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</a:t>
            </a:r>
            <a:r>
              <a:rPr sz="18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w</a:t>
            </a:r>
            <a:r>
              <a:rPr sz="1800" spc="9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8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e</a:t>
            </a:r>
            <a:r>
              <a:rPr sz="1800" spc="-4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n</a:t>
            </a:r>
            <a:r>
              <a:rPr sz="1800" spc="-160" dirty="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)</a:t>
            </a:r>
            <a:endParaRPr sz="1800" dirty="0">
              <a:latin typeface="Verdana" panose="020B0804030504040204"/>
              <a:cs typeface="Verdana" panose="020B08040305040402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B31166"/>
                </a:solidFill>
                <a:latin typeface="Lucida Sans Unicode"/>
                <a:cs typeface="Lucida Sans Unicode"/>
              </a:rPr>
              <a:t>▶	</a:t>
            </a:r>
            <a:r>
              <a:rPr sz="1800" spc="-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Remember</a:t>
            </a:r>
            <a:r>
              <a:rPr sz="1800" spc="-1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1800" spc="-1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more</a:t>
            </a:r>
            <a:r>
              <a:rPr sz="1800" spc="-14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know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about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potential</a:t>
            </a:r>
            <a:r>
              <a:rPr sz="1800" spc="-114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readers,</a:t>
            </a:r>
            <a:r>
              <a:rPr sz="1800" spc="-1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1800" spc="-11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more</a:t>
            </a:r>
            <a:endParaRPr sz="1800" dirty="0">
              <a:latin typeface="Verdana" panose="020B0804030504040204"/>
              <a:cs typeface="Verdana" panose="020B0804030504040204"/>
            </a:endParaRPr>
          </a:p>
          <a:p>
            <a:pPr marL="355600">
              <a:lnSpc>
                <a:spcPct val="100000"/>
              </a:lnSpc>
            </a:pPr>
            <a:r>
              <a:rPr sz="1800" spc="-5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persuasive</a:t>
            </a:r>
            <a:r>
              <a:rPr sz="1800" spc="-15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and</a:t>
            </a:r>
            <a:r>
              <a:rPr sz="1800" spc="-12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user-centered</a:t>
            </a:r>
            <a:r>
              <a:rPr sz="1800" spc="-7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z="1800" spc="-13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documents</a:t>
            </a:r>
            <a:r>
              <a:rPr sz="1800" spc="-100" dirty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-5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may</a:t>
            </a:r>
            <a:r>
              <a:rPr sz="1800" spc="-15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1800" spc="10" smtClean="0">
                <a:solidFill>
                  <a:srgbClr val="404040"/>
                </a:solidFill>
                <a:latin typeface="Verdana" panose="020B0804030504040204"/>
                <a:cs typeface="Verdana" panose="020B0804030504040204"/>
              </a:rPr>
              <a:t>be</a:t>
            </a:r>
            <a:endParaRPr sz="18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3219</Words>
  <Application>WPS Presentation</Application>
  <PresentationFormat>Widescreen</PresentationFormat>
  <Paragraphs>142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SimSun</vt:lpstr>
      <vt:lpstr>Wingdings</vt:lpstr>
      <vt:lpstr>Verdana</vt:lpstr>
      <vt:lpstr>Lucida Sans Unicode</vt:lpstr>
      <vt:lpstr>Thonburi</vt:lpstr>
      <vt:lpstr>Tahoma</vt:lpstr>
      <vt:lpstr>Verdana</vt:lpstr>
      <vt:lpstr>Arial</vt:lpstr>
      <vt:lpstr>Tahoma</vt:lpstr>
      <vt:lpstr>inherit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Analyzing Audience </vt:lpstr>
      <vt:lpstr>Definition of Term</vt:lpstr>
      <vt:lpstr>Understanding Audience</vt:lpstr>
      <vt:lpstr>Audience</vt:lpstr>
      <vt:lpstr>Primary Audience</vt:lpstr>
      <vt:lpstr>Secondary Audience</vt:lpstr>
      <vt:lpstr>Tertiary Audience</vt:lpstr>
      <vt:lpstr>INTERNAL VS EXTERNAL AUDIENCE</vt:lpstr>
      <vt:lpstr>PowerPoint 演示文稿</vt:lpstr>
      <vt:lpstr>PowerPoint 演示文稿</vt:lpstr>
      <vt:lpstr>Audience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How will the readers use your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Audience/ Purpose and Building Goodwill</dc:title>
  <dc:creator>e30</dc:creator>
  <cp:lastModifiedBy>akmasafian</cp:lastModifiedBy>
  <cp:revision>22</cp:revision>
  <dcterms:created xsi:type="dcterms:W3CDTF">2025-10-07T03:40:56Z</dcterms:created>
  <dcterms:modified xsi:type="dcterms:W3CDTF">2025-10-07T03:40:56Z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2020-10-12T15:00:00Z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2023-02-08T15:00:00Z</vt:filetime>
  </property>
  <property fmtid="{D5CDD505-2E9C-101B-9397-08002B2CF9AE}" pid="5" name="ICV">
    <vt:lpwstr>A196C1049EBBB3D52886E46836B25E9D_43</vt:lpwstr>
  </property>
  <property fmtid="{D5CDD505-2E9C-101B-9397-08002B2CF9AE}" pid="6" name="KSOProductBuildVer">
    <vt:lpwstr>1033-12.1.22554.22554</vt:lpwstr>
  </property>
</Properties>
</file>