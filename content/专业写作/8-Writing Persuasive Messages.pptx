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4" r:id="rId4"/>
    <p:sldId id="265" r:id="rId5"/>
    <p:sldId id="266" r:id="rId6"/>
    <p:sldId id="267" r:id="rId7"/>
    <p:sldId id="280" r:id="rId8"/>
    <p:sldId id="268" r:id="rId9"/>
    <p:sldId id="269" r:id="rId10"/>
    <p:sldId id="271" r:id="rId11"/>
    <p:sldId id="272" r:id="rId12"/>
    <p:sldId id="273" r:id="rId13"/>
    <p:sldId id="281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112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2247" y="376427"/>
            <a:ext cx="8239505" cy="122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2627" y="1882139"/>
            <a:ext cx="3900170" cy="420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347216"/>
            <a:ext cx="7772400" cy="80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17176" y="1459364"/>
            <a:ext cx="7772400" cy="3036436"/>
            <a:chOff x="685800" y="1484375"/>
            <a:chExt cx="7772400" cy="3537204"/>
          </a:xfrm>
        </p:grpSpPr>
        <p:sp>
          <p:nvSpPr>
            <p:cNvPr id="4" name="object 4"/>
            <p:cNvSpPr/>
            <p:nvPr/>
          </p:nvSpPr>
          <p:spPr>
            <a:xfrm>
              <a:off x="685800" y="4282440"/>
              <a:ext cx="7772400" cy="807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5800" y="1484375"/>
              <a:ext cx="7772400" cy="35372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26630" y="4199381"/>
              <a:ext cx="730250" cy="730250"/>
            </a:xfrm>
            <a:custGeom>
              <a:avLst/>
              <a:gdLst/>
              <a:ahLst/>
              <a:cxnLst/>
              <a:rect l="l" t="t" r="r" b="b"/>
              <a:pathLst>
                <a:path w="730250" h="730250">
                  <a:moveTo>
                    <a:pt x="0" y="364998"/>
                  </a:moveTo>
                  <a:lnTo>
                    <a:pt x="3332" y="315477"/>
                  </a:lnTo>
                  <a:lnTo>
                    <a:pt x="13040" y="267978"/>
                  </a:lnTo>
                  <a:lnTo>
                    <a:pt x="28688" y="222938"/>
                  </a:lnTo>
                  <a:lnTo>
                    <a:pt x="49840" y="180791"/>
                  </a:lnTo>
                  <a:lnTo>
                    <a:pt x="76062" y="141972"/>
                  </a:lnTo>
                  <a:lnTo>
                    <a:pt x="106918" y="106918"/>
                  </a:lnTo>
                  <a:lnTo>
                    <a:pt x="141972" y="76062"/>
                  </a:lnTo>
                  <a:lnTo>
                    <a:pt x="180791" y="49840"/>
                  </a:lnTo>
                  <a:lnTo>
                    <a:pt x="222938" y="28688"/>
                  </a:lnTo>
                  <a:lnTo>
                    <a:pt x="267978" y="13040"/>
                  </a:lnTo>
                  <a:lnTo>
                    <a:pt x="315477" y="3332"/>
                  </a:lnTo>
                  <a:lnTo>
                    <a:pt x="364998" y="0"/>
                  </a:lnTo>
                  <a:lnTo>
                    <a:pt x="414518" y="3332"/>
                  </a:lnTo>
                  <a:lnTo>
                    <a:pt x="462017" y="13040"/>
                  </a:lnTo>
                  <a:lnTo>
                    <a:pt x="507057" y="28688"/>
                  </a:lnTo>
                  <a:lnTo>
                    <a:pt x="549204" y="49840"/>
                  </a:lnTo>
                  <a:lnTo>
                    <a:pt x="588023" y="76062"/>
                  </a:lnTo>
                  <a:lnTo>
                    <a:pt x="623077" y="106918"/>
                  </a:lnTo>
                  <a:lnTo>
                    <a:pt x="653933" y="141972"/>
                  </a:lnTo>
                  <a:lnTo>
                    <a:pt x="680155" y="180791"/>
                  </a:lnTo>
                  <a:lnTo>
                    <a:pt x="701307" y="222938"/>
                  </a:lnTo>
                  <a:lnTo>
                    <a:pt x="716955" y="267978"/>
                  </a:lnTo>
                  <a:lnTo>
                    <a:pt x="726663" y="315477"/>
                  </a:lnTo>
                  <a:lnTo>
                    <a:pt x="729996" y="364998"/>
                  </a:lnTo>
                  <a:lnTo>
                    <a:pt x="726663" y="414518"/>
                  </a:lnTo>
                  <a:lnTo>
                    <a:pt x="716955" y="462017"/>
                  </a:lnTo>
                  <a:lnTo>
                    <a:pt x="701307" y="507057"/>
                  </a:lnTo>
                  <a:lnTo>
                    <a:pt x="680155" y="549204"/>
                  </a:lnTo>
                  <a:lnTo>
                    <a:pt x="653933" y="588023"/>
                  </a:lnTo>
                  <a:lnTo>
                    <a:pt x="623077" y="623077"/>
                  </a:lnTo>
                  <a:lnTo>
                    <a:pt x="588023" y="653933"/>
                  </a:lnTo>
                  <a:lnTo>
                    <a:pt x="549204" y="680155"/>
                  </a:lnTo>
                  <a:lnTo>
                    <a:pt x="507057" y="701307"/>
                  </a:lnTo>
                  <a:lnTo>
                    <a:pt x="462017" y="716955"/>
                  </a:lnTo>
                  <a:lnTo>
                    <a:pt x="414518" y="726663"/>
                  </a:lnTo>
                  <a:lnTo>
                    <a:pt x="364998" y="729996"/>
                  </a:lnTo>
                  <a:lnTo>
                    <a:pt x="315477" y="726663"/>
                  </a:lnTo>
                  <a:lnTo>
                    <a:pt x="267978" y="716955"/>
                  </a:lnTo>
                  <a:lnTo>
                    <a:pt x="222938" y="701307"/>
                  </a:lnTo>
                  <a:lnTo>
                    <a:pt x="180791" y="680155"/>
                  </a:lnTo>
                  <a:lnTo>
                    <a:pt x="141972" y="653933"/>
                  </a:lnTo>
                  <a:lnTo>
                    <a:pt x="106918" y="623077"/>
                  </a:lnTo>
                  <a:lnTo>
                    <a:pt x="76062" y="588023"/>
                  </a:lnTo>
                  <a:lnTo>
                    <a:pt x="49840" y="549204"/>
                  </a:lnTo>
                  <a:lnTo>
                    <a:pt x="28688" y="507057"/>
                  </a:lnTo>
                  <a:lnTo>
                    <a:pt x="13040" y="462017"/>
                  </a:lnTo>
                  <a:lnTo>
                    <a:pt x="3332" y="414518"/>
                  </a:lnTo>
                  <a:lnTo>
                    <a:pt x="0" y="36499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5507" y="1776475"/>
              <a:ext cx="5316207" cy="5596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470" y="2483611"/>
              <a:ext cx="2444648" cy="5596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889312" y="3991273"/>
            <a:ext cx="53653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Writing a Comprehensive Sales Messages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69811" y="6362801"/>
            <a:ext cx="1997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© </a:t>
            </a:r>
            <a:r>
              <a:rPr sz="1000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2005 </a:t>
            </a: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Pearson Education Canada</a:t>
            </a:r>
            <a:r>
              <a:rPr sz="1000" spc="1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Inc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86289" y="384014"/>
            <a:ext cx="4048760" cy="3579495"/>
            <a:chOff x="4686289" y="384014"/>
            <a:chExt cx="4048760" cy="3579495"/>
          </a:xfrm>
        </p:grpSpPr>
        <p:sp>
          <p:nvSpPr>
            <p:cNvPr id="7" name="object 7"/>
            <p:cNvSpPr/>
            <p:nvPr/>
          </p:nvSpPr>
          <p:spPr>
            <a:xfrm>
              <a:off x="4686289" y="384014"/>
              <a:ext cx="3993693" cy="35791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48172" y="752856"/>
              <a:ext cx="2468118" cy="10096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18120" y="752856"/>
              <a:ext cx="794766" cy="10096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1888" y="1301495"/>
              <a:ext cx="2772917" cy="10096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20459" y="883665"/>
            <a:ext cx="22155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" marR="5080" indent="-1397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Interest-  (conte</a:t>
            </a:r>
            <a:r>
              <a:rPr sz="36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36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t)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0415" y="384014"/>
            <a:ext cx="4147820" cy="3579495"/>
            <a:chOff x="280415" y="384014"/>
            <a:chExt cx="4147820" cy="3579495"/>
          </a:xfrm>
        </p:grpSpPr>
        <p:sp>
          <p:nvSpPr>
            <p:cNvPr id="13" name="object 13"/>
            <p:cNvSpPr/>
            <p:nvPr/>
          </p:nvSpPr>
          <p:spPr>
            <a:xfrm>
              <a:off x="459997" y="384014"/>
              <a:ext cx="3968007" cy="35791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0415" y="752856"/>
              <a:ext cx="2759202" cy="100965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1448" y="752856"/>
              <a:ext cx="794765" cy="10096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1668" y="1301495"/>
              <a:ext cx="2865882" cy="100965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51789" y="883665"/>
            <a:ext cx="24060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Attention-  </a:t>
            </a:r>
            <a:r>
              <a:rPr sz="3600" b="1" spc="-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(open</a:t>
            </a:r>
            <a:r>
              <a:rPr sz="3600" b="1" spc="1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i</a:t>
            </a:r>
            <a:r>
              <a:rPr sz="3600" b="1" spc="-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ng)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74108" y="2569464"/>
            <a:ext cx="4079240" cy="3620770"/>
            <a:chOff x="4674108" y="2569464"/>
            <a:chExt cx="4079240" cy="3620770"/>
          </a:xfrm>
        </p:grpSpPr>
        <p:sp>
          <p:nvSpPr>
            <p:cNvPr id="19" name="object 19"/>
            <p:cNvSpPr/>
            <p:nvPr/>
          </p:nvSpPr>
          <p:spPr>
            <a:xfrm>
              <a:off x="4674108" y="2569464"/>
              <a:ext cx="4078986" cy="362026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20968" y="4410456"/>
              <a:ext cx="2058162" cy="100965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80960" y="4410456"/>
              <a:ext cx="794766" cy="10096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61888" y="4959096"/>
              <a:ext cx="2772917" cy="10096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34176" y="4542282"/>
            <a:ext cx="22002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908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Desire-  (content)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37387" y="2569464"/>
            <a:ext cx="4045585" cy="3620770"/>
            <a:chOff x="437387" y="2569464"/>
            <a:chExt cx="4045585" cy="3620770"/>
          </a:xfrm>
        </p:grpSpPr>
        <p:sp>
          <p:nvSpPr>
            <p:cNvPr id="25" name="object 25"/>
            <p:cNvSpPr/>
            <p:nvPr/>
          </p:nvSpPr>
          <p:spPr>
            <a:xfrm>
              <a:off x="437387" y="2569464"/>
              <a:ext cx="4045458" cy="362026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9515" y="4410456"/>
              <a:ext cx="2055114" cy="100965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56459" y="4410456"/>
              <a:ext cx="794765" cy="10096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9203" y="4959096"/>
              <a:ext cx="2670810" cy="100964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60882" y="4542282"/>
            <a:ext cx="20993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0185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Action-  (closure)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456688" y="1199388"/>
            <a:ext cx="4228465" cy="4228465"/>
            <a:chOff x="2456688" y="1199388"/>
            <a:chExt cx="4228465" cy="4228465"/>
          </a:xfrm>
        </p:grpSpPr>
        <p:sp>
          <p:nvSpPr>
            <p:cNvPr id="31" name="object 31"/>
            <p:cNvSpPr/>
            <p:nvPr/>
          </p:nvSpPr>
          <p:spPr>
            <a:xfrm>
              <a:off x="2456688" y="1199388"/>
              <a:ext cx="4228338" cy="422833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64536" y="2849880"/>
              <a:ext cx="1986534" cy="111937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89120" y="2849880"/>
              <a:ext cx="2026157" cy="111937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066414" y="2996564"/>
            <a:ext cx="30124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37030" algn="l"/>
              </a:tabLst>
            </a:pPr>
            <a:r>
              <a:rPr sz="4000" b="1" spc="-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AIDA	</a:t>
            </a:r>
            <a:r>
              <a:rPr sz="4000" b="1" spc="-1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PLAN</a:t>
            </a:r>
            <a:endParaRPr sz="40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62343" y="394970"/>
            <a:ext cx="5018417" cy="4055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9422" y="1752447"/>
            <a:ext cx="7585075" cy="3822328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latin typeface="Times New Roman" panose="02020503050405090304"/>
                <a:cs typeface="Times New Roman" panose="02020503050405090304"/>
              </a:rPr>
              <a:t>Attention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 - Introduction of the product</a:t>
            </a:r>
            <a:endParaRPr sz="2000" dirty="0">
              <a:latin typeface="Times New Roman" panose="02020503050405090304"/>
              <a:cs typeface="Times New Roman" panose="02020503050405090304"/>
            </a:endParaRPr>
          </a:p>
          <a:p>
            <a:pPr marL="194945" marR="354965" indent="-182880">
              <a:lnSpc>
                <a:spcPts val="2160"/>
              </a:lnSpc>
              <a:spcBef>
                <a:spcPts val="1230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195580" algn="l"/>
              </a:tabLst>
            </a:pPr>
            <a:r>
              <a:rPr sz="2000" dirty="0">
                <a:latin typeface="Times New Roman" panose="02020503050405090304"/>
                <a:cs typeface="Times New Roman" panose="02020503050405090304"/>
              </a:rPr>
              <a:t>The heading is the first 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item (content) </a:t>
            </a:r>
            <a:r>
              <a:rPr sz="2000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audience </a:t>
            </a:r>
            <a:r>
              <a:rPr sz="2000" dirty="0">
                <a:latin typeface="Times New Roman" panose="02020503050405090304"/>
                <a:cs typeface="Times New Roman" panose="02020503050405090304"/>
              </a:rPr>
              <a:t>sees on your </a:t>
            </a:r>
            <a:r>
              <a:rPr sz="2000" spc="-5" dirty="0">
                <a:latin typeface="Times New Roman" panose="02020503050405090304"/>
                <a:cs typeface="Times New Roman" panose="02020503050405090304"/>
              </a:rPr>
              <a:t>sales </a:t>
            </a:r>
            <a:r>
              <a:rPr sz="2000" dirty="0">
                <a:latin typeface="Times New Roman" panose="02020503050405090304"/>
                <a:cs typeface="Times New Roman" panose="02020503050405090304"/>
              </a:rPr>
              <a:t>letter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/brochure</a:t>
            </a:r>
            <a:endParaRPr lang="en-US" sz="2000" b="1" dirty="0">
              <a:latin typeface="Times New Roman" panose="02020503050405090304"/>
              <a:cs typeface="Times New Roman" panose="02020503050405090304"/>
            </a:endParaRPr>
          </a:p>
          <a:p>
            <a:pPr marL="194945" marR="354965" indent="-182880">
              <a:lnSpc>
                <a:spcPts val="2160"/>
              </a:lnSpc>
              <a:spcBef>
                <a:spcPts val="1230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195580" algn="l"/>
              </a:tabLst>
            </a:pPr>
            <a:r>
              <a:rPr sz="2000" spc="-65" dirty="0">
                <a:latin typeface="Times New Roman" panose="02020503050405090304"/>
                <a:cs typeface="Times New Roman" panose="02020503050405090304"/>
              </a:rPr>
              <a:t>You </a:t>
            </a:r>
            <a:r>
              <a:rPr sz="2000" dirty="0">
                <a:latin typeface="Times New Roman" panose="02020503050405090304"/>
                <a:cs typeface="Times New Roman" panose="02020503050405090304"/>
              </a:rPr>
              <a:t>can be</a:t>
            </a:r>
            <a:r>
              <a:rPr sz="2000" spc="-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spc="-5" dirty="0">
                <a:latin typeface="Times New Roman" panose="02020503050405090304"/>
                <a:cs typeface="Times New Roman" panose="02020503050405090304"/>
              </a:rPr>
              <a:t>slightly</a:t>
            </a:r>
            <a:r>
              <a:rPr lang="en-US" sz="20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spc="-5" dirty="0">
                <a:latin typeface="Times New Roman" panose="02020503050405090304"/>
                <a:cs typeface="Times New Roman" panose="02020503050405090304"/>
              </a:rPr>
              <a:t>provocative </a:t>
            </a:r>
            <a:r>
              <a:rPr sz="2000" b="1" dirty="0">
                <a:latin typeface="Times New Roman" panose="02020503050405090304"/>
                <a:cs typeface="Times New Roman" panose="02020503050405090304"/>
              </a:rPr>
              <a:t>and bold</a:t>
            </a:r>
            <a:endParaRPr sz="2000" dirty="0">
              <a:latin typeface="Times New Roman" panose="02020503050405090304"/>
              <a:cs typeface="Times New Roman" panose="02020503050405090304"/>
            </a:endParaRPr>
          </a:p>
          <a:p>
            <a:pPr marL="259080" indent="-247015">
              <a:lnSpc>
                <a:spcPct val="100000"/>
              </a:lnSpc>
              <a:spcBef>
                <a:spcPts val="960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258445" algn="l"/>
                <a:tab pos="259715" algn="l"/>
              </a:tabLst>
            </a:pPr>
            <a:r>
              <a:rPr sz="20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2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spc="-5" dirty="0">
                <a:latin typeface="Times New Roman" panose="02020503050405090304"/>
                <a:cs typeface="Times New Roman" panose="02020503050405090304"/>
              </a:rPr>
              <a:t>example:</a:t>
            </a:r>
            <a:endParaRPr sz="2000" dirty="0">
              <a:latin typeface="Times New Roman" panose="02020503050405090304"/>
              <a:cs typeface="Times New Roman" panose="02020503050405090304"/>
            </a:endParaRPr>
          </a:p>
          <a:p>
            <a:pPr marL="469900" lvl="1" indent="-182880">
              <a:lnSpc>
                <a:spcPct val="100000"/>
              </a:lnSpc>
              <a:spcBef>
                <a:spcPts val="155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469900" algn="l"/>
              </a:tabLst>
            </a:pP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Why are you still wasting your time with your boring &amp; old-fashioned vacuum cleaner?</a:t>
            </a:r>
            <a:endParaRPr sz="2000" dirty="0">
              <a:latin typeface="Times New Roman" panose="02020503050405090304"/>
              <a:cs typeface="Times New Roman" panose="02020503050405090304"/>
            </a:endParaRPr>
          </a:p>
          <a:p>
            <a:pPr marL="469900" lvl="1" indent="-182880">
              <a:lnSpc>
                <a:spcPct val="100000"/>
              </a:lnSpc>
              <a:spcBef>
                <a:spcPts val="365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469900" algn="l"/>
              </a:tabLst>
            </a:pPr>
            <a:r>
              <a:rPr sz="2000" dirty="0">
                <a:latin typeface="Times New Roman" panose="02020503050405090304"/>
                <a:cs typeface="Times New Roman" panose="02020503050405090304"/>
              </a:rPr>
              <a:t>Let us deal with </a:t>
            </a:r>
            <a:r>
              <a:rPr sz="2000" spc="-5" dirty="0">
                <a:latin typeface="Times New Roman" panose="02020503050405090304"/>
                <a:cs typeface="Times New Roman" panose="02020503050405090304"/>
              </a:rPr>
              <a:t>all the</a:t>
            </a:r>
            <a:r>
              <a:rPr sz="2000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dirty="0">
                <a:latin typeface="Times New Roman" panose="02020503050405090304"/>
                <a:cs typeface="Times New Roman" panose="02020503050405090304"/>
              </a:rPr>
              <a:t>hassle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!</a:t>
            </a:r>
            <a:endParaRPr sz="2000" dirty="0">
              <a:latin typeface="Times New Roman" panose="02020503050405090304"/>
              <a:cs typeface="Times New Roman" panose="02020503050405090304"/>
            </a:endParaRPr>
          </a:p>
          <a:p>
            <a:pPr lvl="1">
              <a:lnSpc>
                <a:spcPct val="100000"/>
              </a:lnSpc>
              <a:buClr>
                <a:srgbClr val="9E3611"/>
              </a:buClr>
              <a:buFont typeface="Wingdings" panose="05000000000000000000"/>
              <a:buChar char=""/>
            </a:pPr>
            <a:endParaRPr sz="2200" dirty="0">
              <a:latin typeface="Times New Roman" panose="02020503050405090304"/>
              <a:cs typeface="Times New Roman" panose="02020503050405090304"/>
            </a:endParaRPr>
          </a:p>
          <a:p>
            <a:pPr marL="12065" marR="5080" indent="0">
              <a:lnSpc>
                <a:spcPts val="2160"/>
              </a:lnSpc>
              <a:spcBef>
                <a:spcPts val="1230"/>
              </a:spcBef>
              <a:buClr>
                <a:srgbClr val="9E3611"/>
              </a:buClr>
              <a:buSzPct val="85000"/>
              <a:buFont typeface="Wingdings" panose="05000000000000000000"/>
              <a:buNone/>
              <a:tabLst>
                <a:tab pos="195580" algn="l"/>
              </a:tabLst>
            </a:pPr>
            <a:r>
              <a:rPr sz="2800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2800" spc="-5" dirty="0">
                <a:latin typeface="Times New Roman" panose="02020503050405090304"/>
                <a:cs typeface="Times New Roman" panose="02020503050405090304"/>
              </a:rPr>
              <a:t>aim </a:t>
            </a:r>
            <a:r>
              <a:rPr sz="2800" dirty="0">
                <a:latin typeface="Times New Roman" panose="02020503050405090304"/>
                <a:cs typeface="Times New Roman" panose="02020503050405090304"/>
              </a:rPr>
              <a:t>is to </a:t>
            </a: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introduce your product</a:t>
            </a:r>
            <a:endParaRPr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63067" y="1402590"/>
            <a:ext cx="8114030" cy="43338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Examples:</a:t>
            </a:r>
            <a:endParaRPr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5580" indent="-182880">
              <a:lnSpc>
                <a:spcPct val="100000"/>
              </a:lnSpc>
              <a:spcBef>
                <a:spcPts val="1145"/>
              </a:spcBef>
              <a:buClr>
                <a:srgbClr val="9E3611"/>
              </a:buClr>
              <a:buSzPct val="83000"/>
              <a:buFont typeface="Wingdings" panose="05000000000000000000"/>
              <a:buChar char=""/>
              <a:tabLst>
                <a:tab pos="195580" algn="l"/>
              </a:tabLst>
            </a:pPr>
            <a:r>
              <a:rPr sz="2000" b="1" spc="95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sz="2000" b="1" spc="-8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spc="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specific</a:t>
            </a:r>
            <a:r>
              <a:rPr sz="2000" b="1" spc="-8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trait</a:t>
            </a:r>
            <a:r>
              <a:rPr sz="2000" b="1" spc="-8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spc="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shared</a:t>
            </a:r>
            <a:r>
              <a:rPr sz="2000" b="1" spc="-8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spc="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</a:t>
            </a:r>
            <a:r>
              <a:rPr sz="2000" b="1" spc="-8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spc="-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000" b="1" spc="-8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spc="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audience:</a:t>
            </a:r>
            <a:endParaRPr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ts val="1530"/>
              </a:lnSpc>
              <a:spcBef>
                <a:spcPts val="660"/>
              </a:spcBef>
            </a:pPr>
            <a:r>
              <a:rPr sz="2000" spc="5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</a:t>
            </a:r>
            <a:r>
              <a:rPr sz="2000" b="1" spc="5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sz="2000" b="1" spc="-9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70" dirty="0">
                <a:latin typeface="Times New Roman" panose="02020503050405090304" pitchFamily="18" charset="0"/>
                <a:cs typeface="Times New Roman" panose="02020503050405090304" pitchFamily="18" charset="0"/>
              </a:rPr>
              <a:t>"Busy</a:t>
            </a:r>
            <a:r>
              <a:rPr sz="2000" spc="-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executives</a:t>
            </a:r>
            <a:r>
              <a:rPr lang="en-US" sz="2000" spc="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like you</a:t>
            </a:r>
            <a:r>
              <a:rPr sz="2000" spc="-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need</a:t>
            </a:r>
            <a:r>
              <a:rPr sz="2000" spc="-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000" spc="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good kitchen assistant!</a:t>
            </a:r>
            <a:endParaRPr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5580" indent="-182880">
              <a:lnSpc>
                <a:spcPct val="100000"/>
              </a:lnSpc>
              <a:spcBef>
                <a:spcPts val="1145"/>
              </a:spcBef>
              <a:buClr>
                <a:srgbClr val="9E3611"/>
              </a:buClr>
              <a:buSzPct val="83000"/>
              <a:buFont typeface="Wingdings" panose="05000000000000000000"/>
              <a:buChar char=""/>
              <a:tabLst>
                <a:tab pos="195580" algn="l"/>
              </a:tabLst>
            </a:pPr>
            <a:r>
              <a:rPr sz="2000" b="1" spc="95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sz="2000" b="1" spc="-8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spc="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solution</a:t>
            </a:r>
            <a:r>
              <a:rPr sz="2000" b="1" spc="-9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spc="-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sz="2000" b="1" spc="-8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spc="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sz="2000" b="1" spc="-8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b="1" spc="45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problem:</a:t>
            </a:r>
            <a:endParaRPr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 marR="9525">
              <a:lnSpc>
                <a:spcPct val="70000"/>
              </a:lnSpc>
              <a:spcBef>
                <a:spcPts val="1200"/>
              </a:spcBef>
            </a:pPr>
            <a:r>
              <a:rPr sz="2000" spc="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</a:t>
            </a:r>
            <a:r>
              <a:rPr sz="2000" b="1" spc="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sz="2000" b="1" spc="1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"Tired</a:t>
            </a:r>
            <a:r>
              <a:rPr sz="2000" spc="-6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-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sz="2000" spc="-8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45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cold</a:t>
            </a:r>
            <a:r>
              <a:rPr sz="2000" spc="-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air</a:t>
            </a:r>
            <a:r>
              <a:rPr sz="2000" spc="-7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rushing</a:t>
            </a:r>
            <a:r>
              <a:rPr sz="2000" spc="-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through</a:t>
            </a:r>
            <a:r>
              <a:rPr sz="2000" spc="-7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-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000" spc="-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cracks</a:t>
            </a:r>
            <a:r>
              <a:rPr sz="2000" spc="-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3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around</a:t>
            </a:r>
            <a:r>
              <a:rPr sz="2000" spc="-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30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your</a:t>
            </a:r>
            <a:r>
              <a:rPr sz="2000" spc="-7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windows?</a:t>
            </a:r>
            <a:r>
              <a:rPr sz="2000" spc="-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Stay</a:t>
            </a:r>
            <a:r>
              <a:rPr sz="2000" spc="-6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warm</a:t>
            </a:r>
            <a:r>
              <a:rPr sz="2000" spc="-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45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sz="2000" spc="-6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3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save </a:t>
            </a:r>
            <a:r>
              <a:rPr sz="2000" spc="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energy </a:t>
            </a:r>
            <a:r>
              <a:rPr sz="2000" spc="-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 </a:t>
            </a:r>
            <a:r>
              <a:rPr sz="2000" spc="1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AAA</a:t>
            </a:r>
            <a:r>
              <a:rPr sz="2000" spc="-3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000" spc="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Weather-stripping.“</a:t>
            </a:r>
            <a:endParaRPr lang="en-US" sz="2000" spc="15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 marR="9525">
              <a:lnSpc>
                <a:spcPct val="70000"/>
              </a:lnSpc>
              <a:spcBef>
                <a:spcPts val="1200"/>
              </a:spcBef>
            </a:pPr>
            <a:endParaRPr lang="en-US" sz="2000" spc="15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 marR="9525">
              <a:lnSpc>
                <a:spcPct val="70000"/>
              </a:lnSpc>
              <a:spcBef>
                <a:spcPts val="1200"/>
              </a:spcBef>
            </a:pPr>
            <a:endParaRPr lang="en-US" sz="2000" spc="15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 marR="9525">
              <a:lnSpc>
                <a:spcPct val="70000"/>
              </a:lnSpc>
              <a:spcBef>
                <a:spcPts val="1200"/>
              </a:spcBef>
            </a:pPr>
            <a:r>
              <a:rPr lang="en-US" sz="2000" spc="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**Think of a way to attract your audience to read your Sales Message</a:t>
            </a:r>
          </a:p>
          <a:p>
            <a:pPr marL="298450" marR="9525" indent="-285750">
              <a:lnSpc>
                <a:spcPct val="70000"/>
              </a:lnSpc>
              <a:spcBef>
                <a:spcPts val="1200"/>
              </a:spcBef>
              <a:buFontTx/>
              <a:buChar char="-"/>
            </a:pPr>
            <a:r>
              <a:rPr lang="en-US" sz="2000" spc="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song?</a:t>
            </a:r>
          </a:p>
          <a:p>
            <a:pPr marL="298450" marR="9525" indent="-285750">
              <a:lnSpc>
                <a:spcPct val="70000"/>
              </a:lnSpc>
              <a:spcBef>
                <a:spcPts val="1200"/>
              </a:spcBef>
              <a:buFontTx/>
              <a:buChar char="-"/>
            </a:pPr>
            <a:r>
              <a:rPr lang="en-US" sz="2000" spc="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Images?</a:t>
            </a:r>
            <a:endParaRPr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589559" y="818261"/>
            <a:ext cx="2611983" cy="3872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9740" y="2648534"/>
            <a:ext cx="7805420" cy="2316403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94945" marR="5080" indent="-182880" algn="just">
              <a:lnSpc>
                <a:spcPct val="90000"/>
              </a:lnSpc>
              <a:spcBef>
                <a:spcPts val="415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195580" algn="l"/>
              </a:tabLst>
            </a:pPr>
            <a:r>
              <a:rPr sz="2600" spc="-85" dirty="0">
                <a:latin typeface="Times New Roman" panose="02020503050405090304"/>
                <a:cs typeface="Times New Roman" panose="02020503050405090304"/>
              </a:rPr>
              <a:t>You </a:t>
            </a:r>
            <a:r>
              <a:rPr sz="2600" dirty="0">
                <a:latin typeface="Times New Roman" panose="02020503050405090304"/>
                <a:cs typeface="Times New Roman" panose="02020503050405090304"/>
              </a:rPr>
              <a:t>have </a:t>
            </a:r>
            <a:r>
              <a:rPr sz="2600" spc="5" dirty="0">
                <a:latin typeface="Times New Roman" panose="02020503050405090304"/>
                <a:cs typeface="Times New Roman" panose="02020503050405090304"/>
              </a:rPr>
              <a:t>now </a:t>
            </a:r>
            <a:r>
              <a:rPr sz="2600" dirty="0">
                <a:latin typeface="Times New Roman" panose="02020503050405090304"/>
                <a:cs typeface="Times New Roman" panose="02020503050405090304"/>
              </a:rPr>
              <a:t>caught the </a:t>
            </a:r>
            <a:r>
              <a:rPr sz="2600" spc="-5" dirty="0">
                <a:latin typeface="Times New Roman" panose="02020503050405090304"/>
                <a:cs typeface="Times New Roman" panose="02020503050405090304"/>
              </a:rPr>
              <a:t>recipient's attention. </a:t>
            </a:r>
            <a:r>
              <a:rPr sz="2600" dirty="0">
                <a:latin typeface="Times New Roman" panose="02020503050405090304"/>
                <a:cs typeface="Times New Roman" panose="02020503050405090304"/>
              </a:rPr>
              <a:t>What you  have to do next is to </a:t>
            </a:r>
            <a:r>
              <a:rPr sz="2600" u="sng" spc="-5" dirty="0">
                <a:latin typeface="Times New Roman" panose="02020503050405090304"/>
                <a:cs typeface="Times New Roman" panose="02020503050405090304"/>
              </a:rPr>
              <a:t>make </a:t>
            </a:r>
            <a:r>
              <a:rPr sz="2600" u="sng" dirty="0">
                <a:latin typeface="Times New Roman" panose="02020503050405090304"/>
                <a:cs typeface="Times New Roman" panose="02020503050405090304"/>
              </a:rPr>
              <a:t>your audience </a:t>
            </a:r>
            <a:r>
              <a:rPr lang="en-US" sz="2600" u="sng" dirty="0">
                <a:latin typeface="Times New Roman" panose="02020503050405090304"/>
                <a:cs typeface="Times New Roman" panose="02020503050405090304"/>
              </a:rPr>
              <a:t>clear </a:t>
            </a:r>
            <a:r>
              <a:rPr lang="en-US" sz="26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26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600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lang="en-US" sz="2600" dirty="0">
                <a:latin typeface="Times New Roman" panose="02020503050405090304"/>
                <a:cs typeface="Times New Roman" panose="02020503050405090304"/>
              </a:rPr>
              <a:t>product that</a:t>
            </a:r>
            <a:r>
              <a:rPr sz="26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600" dirty="0">
                <a:latin typeface="Times New Roman" panose="02020503050405090304"/>
                <a:cs typeface="Times New Roman" panose="02020503050405090304"/>
              </a:rPr>
              <a:t>you are</a:t>
            </a:r>
            <a:r>
              <a:rPr sz="26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600" spc="-10" dirty="0">
                <a:latin typeface="Times New Roman" panose="02020503050405090304"/>
                <a:cs typeface="Times New Roman" panose="02020503050405090304"/>
              </a:rPr>
              <a:t>offering.</a:t>
            </a:r>
            <a:endParaRPr lang="en-US" sz="2600" spc="-10" dirty="0">
              <a:latin typeface="Times New Roman" panose="02020503050405090304"/>
              <a:cs typeface="Times New Roman" panose="02020503050405090304"/>
            </a:endParaRPr>
          </a:p>
          <a:p>
            <a:pPr marL="194945" marR="5080" indent="-182880" algn="just">
              <a:lnSpc>
                <a:spcPct val="90000"/>
              </a:lnSpc>
              <a:spcBef>
                <a:spcPts val="415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195580" algn="l"/>
              </a:tabLst>
            </a:pPr>
            <a:endParaRPr lang="en-US" sz="2600" spc="-10" dirty="0">
              <a:latin typeface="Times New Roman" panose="02020503050405090304"/>
              <a:cs typeface="Times New Roman" panose="02020503050405090304"/>
            </a:endParaRPr>
          </a:p>
          <a:p>
            <a:pPr marL="194945" marR="5080" indent="-182880" algn="just">
              <a:lnSpc>
                <a:spcPct val="90000"/>
              </a:lnSpc>
              <a:spcBef>
                <a:spcPts val="415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195580" algn="l"/>
              </a:tabLst>
            </a:pPr>
            <a:r>
              <a:rPr lang="en-US" sz="2600" spc="-10" dirty="0">
                <a:latin typeface="Times New Roman" panose="02020503050405090304"/>
                <a:cs typeface="Times New Roman" panose="02020503050405090304"/>
              </a:rPr>
              <a:t>You have to </a:t>
            </a:r>
            <a:r>
              <a:rPr lang="en-US" sz="2600" u="sng" spc="-10" dirty="0">
                <a:latin typeface="Times New Roman" panose="02020503050405090304"/>
                <a:cs typeface="Times New Roman" panose="02020503050405090304"/>
              </a:rPr>
              <a:t>provide complete information </a:t>
            </a:r>
            <a:r>
              <a:rPr lang="en-US" sz="2600" spc="-10" dirty="0">
                <a:latin typeface="Times New Roman" panose="02020503050405090304"/>
                <a:cs typeface="Times New Roman" panose="02020503050405090304"/>
              </a:rPr>
              <a:t>of the product to your audience i.e. features, and etc.</a:t>
            </a:r>
            <a:endParaRPr sz="2600" dirty="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69811" y="6362801"/>
            <a:ext cx="1997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© </a:t>
            </a:r>
            <a:r>
              <a:rPr sz="1000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2005 </a:t>
            </a: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Pearson Education Canada</a:t>
            </a:r>
            <a:r>
              <a:rPr sz="1000" spc="1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Inc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91240" y="1539494"/>
            <a:ext cx="140335" cy="1836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5"/>
              </a:lnSpc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B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algn="just">
              <a:lnSpc>
                <a:spcPct val="37000"/>
              </a:lnSpc>
              <a:spcBef>
                <a:spcPts val="365"/>
              </a:spcBef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u  s  in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ts val="770"/>
              </a:lnSpc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ess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ts val="930"/>
              </a:lnSpc>
              <a:spcBef>
                <a:spcPts val="290"/>
              </a:spcBef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42000"/>
              </a:lnSpc>
              <a:spcBef>
                <a:spcPts val="425"/>
              </a:spcBef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o  m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ts val="535"/>
              </a:lnSpc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m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algn="just">
              <a:lnSpc>
                <a:spcPct val="41000"/>
              </a:lnSpc>
              <a:spcBef>
                <a:spcPts val="490"/>
              </a:spcBef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u n icatio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67000"/>
              </a:lnSpc>
              <a:spcBef>
                <a:spcPts val="1415"/>
              </a:spcBef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n  E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algn="just">
              <a:lnSpc>
                <a:spcPct val="32000"/>
              </a:lnSpc>
              <a:spcBef>
                <a:spcPts val="225"/>
              </a:spcBef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s  s  en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ts val="935"/>
              </a:lnSpc>
            </a:pPr>
            <a:r>
              <a:rPr sz="1000" spc="-5" dirty="0">
                <a:solidFill>
                  <a:srgbClr val="69230C"/>
                </a:solidFill>
                <a:latin typeface="Times New Roman" panose="02020503050405090304"/>
                <a:cs typeface="Times New Roman" panose="02020503050405090304"/>
              </a:rPr>
              <a:t>tials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2437" y="280415"/>
            <a:ext cx="4378325" cy="6042025"/>
            <a:chOff x="452437" y="280415"/>
            <a:chExt cx="4378325" cy="6042025"/>
          </a:xfrm>
        </p:grpSpPr>
        <p:sp>
          <p:nvSpPr>
            <p:cNvPr id="8" name="object 8"/>
            <p:cNvSpPr/>
            <p:nvPr/>
          </p:nvSpPr>
          <p:spPr>
            <a:xfrm>
              <a:off x="477011" y="400811"/>
              <a:ext cx="4353306" cy="580110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1019" y="304799"/>
              <a:ext cx="4261866" cy="601751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381000"/>
              <a:ext cx="4343400" cy="5791200"/>
            </a:xfrm>
            <a:custGeom>
              <a:avLst/>
              <a:gdLst/>
              <a:ahLst/>
              <a:cxnLst/>
              <a:rect l="l" t="t" r="r" b="b"/>
              <a:pathLst>
                <a:path w="4343400" h="5791200">
                  <a:moveTo>
                    <a:pt x="4343400" y="0"/>
                  </a:moveTo>
                  <a:lnTo>
                    <a:pt x="0" y="0"/>
                  </a:lnTo>
                  <a:lnTo>
                    <a:pt x="0" y="5791200"/>
                  </a:lnTo>
                  <a:lnTo>
                    <a:pt x="4343400" y="57912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381000"/>
              <a:ext cx="4343400" cy="5791200"/>
            </a:xfrm>
            <a:custGeom>
              <a:avLst/>
              <a:gdLst/>
              <a:ahLst/>
              <a:cxnLst/>
              <a:rect l="l" t="t" r="r" b="b"/>
              <a:pathLst>
                <a:path w="4343400" h="5791200">
                  <a:moveTo>
                    <a:pt x="0" y="5791200"/>
                  </a:moveTo>
                  <a:lnTo>
                    <a:pt x="4343400" y="5791200"/>
                  </a:lnTo>
                  <a:lnTo>
                    <a:pt x="4343400" y="0"/>
                  </a:lnTo>
                  <a:lnTo>
                    <a:pt x="0" y="0"/>
                  </a:lnTo>
                  <a:lnTo>
                    <a:pt x="0" y="5791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4463" y="280415"/>
              <a:ext cx="3963162" cy="122910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5111" y="1018032"/>
              <a:ext cx="4261866" cy="122910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893063" y="5506211"/>
            <a:ext cx="3496817" cy="7901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800600" y="381000"/>
            <a:ext cx="3915916" cy="5820917"/>
            <a:chOff x="4800600" y="381000"/>
            <a:chExt cx="3915916" cy="5820917"/>
          </a:xfrm>
        </p:grpSpPr>
        <p:sp>
          <p:nvSpPr>
            <p:cNvPr id="18" name="object 18"/>
            <p:cNvSpPr/>
            <p:nvPr/>
          </p:nvSpPr>
          <p:spPr>
            <a:xfrm>
              <a:off x="4820411" y="400811"/>
              <a:ext cx="3896105" cy="580110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00600" y="381000"/>
              <a:ext cx="3886200" cy="5791200"/>
            </a:xfrm>
            <a:custGeom>
              <a:avLst/>
              <a:gdLst/>
              <a:ahLst/>
              <a:cxnLst/>
              <a:rect l="l" t="t" r="r" b="b"/>
              <a:pathLst>
                <a:path w="3886200" h="5791200">
                  <a:moveTo>
                    <a:pt x="3886200" y="0"/>
                  </a:moveTo>
                  <a:lnTo>
                    <a:pt x="0" y="0"/>
                  </a:lnTo>
                  <a:lnTo>
                    <a:pt x="0" y="5791200"/>
                  </a:lnTo>
                  <a:lnTo>
                    <a:pt x="3886200" y="57912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0600" y="381000"/>
              <a:ext cx="3886200" cy="5791200"/>
            </a:xfrm>
            <a:custGeom>
              <a:avLst/>
              <a:gdLst/>
              <a:ahLst/>
              <a:cxnLst/>
              <a:rect l="l" t="t" r="r" b="b"/>
              <a:pathLst>
                <a:path w="3886200" h="5791200">
                  <a:moveTo>
                    <a:pt x="0" y="5791200"/>
                  </a:moveTo>
                  <a:lnTo>
                    <a:pt x="3886200" y="5791200"/>
                  </a:lnTo>
                  <a:lnTo>
                    <a:pt x="3886200" y="0"/>
                  </a:lnTo>
                  <a:lnTo>
                    <a:pt x="0" y="0"/>
                  </a:lnTo>
                  <a:lnTo>
                    <a:pt x="0" y="5791200"/>
                  </a:lnTo>
                  <a:close/>
                </a:path>
                <a:path w="3886200" h="5791200">
                  <a:moveTo>
                    <a:pt x="0" y="1524000"/>
                  </a:moveTo>
                  <a:lnTo>
                    <a:pt x="3886200" y="1524000"/>
                  </a:lnTo>
                  <a:lnTo>
                    <a:pt x="3886200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795837" y="4643437"/>
            <a:ext cx="3895725" cy="1536065"/>
            <a:chOff x="4795837" y="4643437"/>
            <a:chExt cx="3895725" cy="1536065"/>
          </a:xfrm>
        </p:grpSpPr>
        <p:sp>
          <p:nvSpPr>
            <p:cNvPr id="30" name="object 30"/>
            <p:cNvSpPr/>
            <p:nvPr/>
          </p:nvSpPr>
          <p:spPr>
            <a:xfrm>
              <a:off x="4800600" y="4648200"/>
              <a:ext cx="3886200" cy="1524000"/>
            </a:xfrm>
            <a:custGeom>
              <a:avLst/>
              <a:gdLst/>
              <a:ahLst/>
              <a:cxnLst/>
              <a:rect l="l" t="t" r="r" b="b"/>
              <a:pathLst>
                <a:path w="3886200" h="1524000">
                  <a:moveTo>
                    <a:pt x="0" y="1524000"/>
                  </a:moveTo>
                  <a:lnTo>
                    <a:pt x="3886200" y="1524000"/>
                  </a:lnTo>
                  <a:lnTo>
                    <a:pt x="3886200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35879" y="4791455"/>
              <a:ext cx="3243833" cy="89992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98236" y="5279136"/>
              <a:ext cx="2119121" cy="89992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 Box 35"/>
          <p:cNvSpPr txBox="1"/>
          <p:nvPr/>
        </p:nvSpPr>
        <p:spPr>
          <a:xfrm>
            <a:off x="5120005" y="2473960"/>
            <a:ext cx="3214370" cy="1034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/>
              <a:t>Know the Product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5029200" y="685800"/>
            <a:ext cx="35153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Provide Essential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39505" cy="8309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DESIRE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7548373" cy="3016210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spc="-85" dirty="0">
                <a:latin typeface="Times New Roman" panose="02020503050405090304"/>
                <a:cs typeface="Times New Roman" panose="02020503050405090304"/>
              </a:rPr>
              <a:t>You </a:t>
            </a:r>
            <a:r>
              <a:rPr lang="en-US" sz="2800" dirty="0">
                <a:latin typeface="Times New Roman" panose="02020503050405090304"/>
                <a:cs typeface="Times New Roman" panose="02020503050405090304"/>
              </a:rPr>
              <a:t>have </a:t>
            </a:r>
            <a:r>
              <a:rPr lang="en-US" sz="2800" spc="5" dirty="0">
                <a:latin typeface="Times New Roman" panose="02020503050405090304"/>
                <a:cs typeface="Times New Roman" panose="02020503050405090304"/>
              </a:rPr>
              <a:t>now provide the clear content of the product to your audience.</a:t>
            </a:r>
            <a:r>
              <a:rPr lang="en-US" sz="28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sz="2800" dirty="0">
                <a:latin typeface="Times New Roman" panose="02020503050405090304"/>
                <a:cs typeface="Times New Roman" panose="02020503050405090304"/>
              </a:rPr>
              <a:t>What you  have to do next is </a:t>
            </a:r>
            <a:r>
              <a:rPr lang="en-US" sz="2800" u="sng" dirty="0">
                <a:latin typeface="Times New Roman" panose="02020503050405090304"/>
                <a:cs typeface="Times New Roman" panose="02020503050405090304"/>
              </a:rPr>
              <a:t>to provide evidence/proof of your product’s efficiency</a:t>
            </a:r>
            <a:r>
              <a:rPr lang="en-US" sz="2800" dirty="0">
                <a:latin typeface="Times New Roman" panose="02020503050405090304"/>
                <a:cs typeface="Times New Roman" panose="02020503050405090304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503050405090304"/>
              <a:cs typeface="Times New Roman" panose="02020503050405090304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503050405090304"/>
                <a:cs typeface="Times New Roman" panose="02020503050405090304"/>
              </a:rPr>
              <a:t> Your aim for this section is to persuade your audience based on the evidence(s) given.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457200" y="381000"/>
            <a:ext cx="8229600" cy="1216660"/>
          </a:xfrm>
          <a:custGeom>
            <a:avLst/>
            <a:gdLst/>
            <a:ahLst/>
            <a:cxnLst/>
            <a:rect l="l" t="t" r="r" b="b"/>
            <a:pathLst>
              <a:path w="8229600" h="1216660">
                <a:moveTo>
                  <a:pt x="0" y="1216152"/>
                </a:moveTo>
                <a:lnTo>
                  <a:pt x="8229600" y="1216152"/>
                </a:lnTo>
                <a:lnTo>
                  <a:pt x="8229600" y="0"/>
                </a:lnTo>
                <a:lnTo>
                  <a:pt x="0" y="0"/>
                </a:lnTo>
                <a:lnTo>
                  <a:pt x="0" y="121615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452247" y="376427"/>
            <a:ext cx="8239505" cy="83099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INCREASING DESIRE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58165" y="2180590"/>
            <a:ext cx="8128635" cy="2583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2800">
                <a:latin typeface="Times New Roman" panose="02020503050405090304" pitchFamily="18" charset="0"/>
                <a:cs typeface="Times New Roman" panose="02020503050405090304" pitchFamily="18" charset="0"/>
              </a:rPr>
              <a:t>Study the competition (show comparison)</a:t>
            </a:r>
          </a:p>
          <a:p>
            <a:pPr indent="0">
              <a:buFont typeface="Arial" panose="020B0604020202090204" pitchFamily="34" charset="0"/>
              <a:buNone/>
            </a:pPr>
            <a:endParaRPr lang="en-US" sz="28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Times New Roman" panose="02020503050405090304" pitchFamily="18" charset="0"/>
                <a:cs typeface="Times New Roman" panose="02020503050405090304" pitchFamily="18" charset="0"/>
              </a:rPr>
              <a:t> Support your claim with data (figures, statements and etc.,)</a:t>
            </a:r>
          </a:p>
          <a:p>
            <a:endParaRPr lang="en-US" sz="28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762000" y="838200"/>
            <a:ext cx="1903704" cy="3514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3400" y="2286000"/>
            <a:ext cx="7670800" cy="299339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95580" indent="-182880" algn="just">
              <a:spcBef>
                <a:spcPts val="1065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195580" algn="l"/>
              </a:tabLst>
            </a:pPr>
            <a:r>
              <a:rPr lang="en-US" sz="2800" spc="-85" dirty="0">
                <a:latin typeface="Times New Roman" panose="02020503050405090304"/>
                <a:cs typeface="Times New Roman" panose="02020503050405090304"/>
              </a:rPr>
              <a:t>You </a:t>
            </a:r>
            <a:r>
              <a:rPr lang="en-US" sz="2800" dirty="0">
                <a:latin typeface="Times New Roman" panose="02020503050405090304"/>
                <a:cs typeface="Times New Roman" panose="02020503050405090304"/>
              </a:rPr>
              <a:t>have </a:t>
            </a:r>
            <a:r>
              <a:rPr lang="en-US" sz="2800" spc="5" dirty="0">
                <a:latin typeface="Times New Roman" panose="02020503050405090304"/>
                <a:cs typeface="Times New Roman" panose="02020503050405090304"/>
              </a:rPr>
              <a:t>now provide the clear content and evidence to your audience.</a:t>
            </a:r>
            <a:r>
              <a:rPr lang="en-US" sz="28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sz="2800" dirty="0">
                <a:latin typeface="Times New Roman" panose="02020503050405090304"/>
                <a:cs typeface="Times New Roman" panose="02020503050405090304"/>
              </a:rPr>
              <a:t>What you have to do next is </a:t>
            </a:r>
            <a:r>
              <a:rPr lang="en-US" sz="2800" u="sng" dirty="0">
                <a:latin typeface="Times New Roman" panose="02020503050405090304"/>
                <a:cs typeface="Times New Roman" panose="02020503050405090304"/>
              </a:rPr>
              <a:t>to provide </a:t>
            </a:r>
            <a:r>
              <a:rPr sz="2800" u="sng" dirty="0">
                <a:latin typeface="Times New Roman" panose="02020503050405090304"/>
                <a:cs typeface="Times New Roman" panose="02020503050405090304"/>
              </a:rPr>
              <a:t>actions or </a:t>
            </a:r>
            <a:r>
              <a:rPr sz="2800" u="sng" spc="-5" dirty="0">
                <a:latin typeface="Times New Roman" panose="02020503050405090304"/>
                <a:cs typeface="Times New Roman" panose="02020503050405090304"/>
              </a:rPr>
              <a:t>steps </a:t>
            </a:r>
            <a:r>
              <a:rPr sz="2800" dirty="0">
                <a:latin typeface="Times New Roman" panose="02020503050405090304"/>
                <a:cs typeface="Times New Roman" panose="02020503050405090304"/>
              </a:rPr>
              <a:t>that they </a:t>
            </a:r>
            <a:r>
              <a:rPr lang="en-US" sz="2800" dirty="0">
                <a:latin typeface="Times New Roman" panose="02020503050405090304"/>
                <a:cs typeface="Times New Roman" panose="02020503050405090304"/>
              </a:rPr>
              <a:t>need</a:t>
            </a:r>
            <a:r>
              <a:rPr sz="2800" dirty="0">
                <a:latin typeface="Times New Roman" panose="02020503050405090304"/>
                <a:cs typeface="Times New Roman" panose="02020503050405090304"/>
              </a:rPr>
              <a:t> to </a:t>
            </a:r>
            <a:r>
              <a:rPr sz="2800" spc="-5" dirty="0">
                <a:latin typeface="Times New Roman" panose="02020503050405090304"/>
                <a:cs typeface="Times New Roman" panose="02020503050405090304"/>
              </a:rPr>
              <a:t>take if</a:t>
            </a:r>
            <a:r>
              <a:rPr lang="en-US" sz="2800" spc="-5" dirty="0">
                <a:latin typeface="Times New Roman" panose="02020503050405090304"/>
                <a:cs typeface="Times New Roman" panose="02020503050405090304"/>
              </a:rPr>
              <a:t> they need to:</a:t>
            </a:r>
          </a:p>
          <a:p>
            <a:pPr marL="12700" indent="0" algn="just">
              <a:spcBef>
                <a:spcPts val="1065"/>
              </a:spcBef>
              <a:buClr>
                <a:srgbClr val="9E3611"/>
              </a:buClr>
              <a:buSzPct val="85000"/>
              <a:buFont typeface="Wingdings" panose="05000000000000000000"/>
              <a:buNone/>
              <a:tabLst>
                <a:tab pos="195580" algn="l"/>
              </a:tabLst>
            </a:pPr>
            <a:r>
              <a:rPr lang="en-US" sz="2800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2800" dirty="0">
                <a:latin typeface="Times New Roman" panose="02020503050405090304"/>
                <a:cs typeface="Times New Roman" panose="02020503050405090304"/>
              </a:rPr>
              <a:t>know </a:t>
            </a:r>
            <a:r>
              <a:rPr sz="2800" spc="-5" dirty="0">
                <a:latin typeface="Times New Roman" panose="02020503050405090304"/>
                <a:cs typeface="Times New Roman" panose="02020503050405090304"/>
              </a:rPr>
              <a:t>more </a:t>
            </a:r>
            <a:r>
              <a:rPr sz="2800" dirty="0">
                <a:latin typeface="Times New Roman" panose="02020503050405090304"/>
                <a:cs typeface="Times New Roman" panose="02020503050405090304"/>
              </a:rPr>
              <a:t>about your product  </a:t>
            </a:r>
          </a:p>
          <a:p>
            <a:pPr marL="12700" indent="0" algn="just">
              <a:spcBef>
                <a:spcPts val="1065"/>
              </a:spcBef>
              <a:buClr>
                <a:srgbClr val="9E3611"/>
              </a:buClr>
              <a:buSzPct val="85000"/>
              <a:buFont typeface="Wingdings" panose="05000000000000000000"/>
              <a:buNone/>
              <a:tabLst>
                <a:tab pos="195580" algn="l"/>
              </a:tabLst>
            </a:pPr>
            <a:r>
              <a:rPr lang="en-US" sz="2800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2800" dirty="0">
                <a:latin typeface="Times New Roman" panose="02020503050405090304"/>
                <a:cs typeface="Times New Roman" panose="02020503050405090304"/>
              </a:rPr>
              <a:t>place an order of your</a:t>
            </a:r>
            <a:r>
              <a:rPr sz="2800" spc="-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dirty="0">
                <a:latin typeface="Times New Roman" panose="02020503050405090304"/>
                <a:cs typeface="Times New Roman" panose="02020503050405090304"/>
              </a:rPr>
              <a:t>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616407"/>
            <a:ext cx="58470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21100" algn="l"/>
              </a:tabLst>
            </a:pPr>
            <a:r>
              <a:rPr sz="4400" b="1" dirty="0">
                <a:solidFill>
                  <a:schemeClr val="tx1"/>
                </a:solidFill>
                <a:latin typeface="+mn-lt"/>
                <a:cs typeface="Tahoma" panose="020B0604030504040204"/>
              </a:rPr>
              <a:t>USING</a:t>
            </a:r>
            <a:r>
              <a:rPr sz="4400" b="1" spc="-10" dirty="0">
                <a:solidFill>
                  <a:schemeClr val="tx1"/>
                </a:solidFill>
                <a:latin typeface="+mn-lt"/>
                <a:cs typeface="Tahoma" panose="020B0604030504040204"/>
              </a:rPr>
              <a:t> </a:t>
            </a:r>
            <a:r>
              <a:rPr sz="4400" b="1" spc="-5" dirty="0">
                <a:solidFill>
                  <a:schemeClr val="tx1"/>
                </a:solidFill>
                <a:latin typeface="+mn-lt"/>
                <a:cs typeface="Tahoma" panose="020B0604030504040204"/>
              </a:rPr>
              <a:t>POS</a:t>
            </a:r>
            <a:r>
              <a:rPr sz="4400" b="1" dirty="0">
                <a:solidFill>
                  <a:schemeClr val="tx1"/>
                </a:solidFill>
                <a:latin typeface="+mn-lt"/>
                <a:cs typeface="Tahoma" panose="020B0604030504040204"/>
              </a:rPr>
              <a:t>T</a:t>
            </a:r>
            <a:r>
              <a:rPr lang="en-US" sz="4400" b="1" dirty="0">
                <a:solidFill>
                  <a:schemeClr val="tx1"/>
                </a:solidFill>
                <a:latin typeface="+mn-lt"/>
                <a:cs typeface="Tahoma" panose="020B0604030504040204"/>
              </a:rPr>
              <a:t>S</a:t>
            </a:r>
            <a:r>
              <a:rPr sz="4400" b="1" spc="-5" dirty="0">
                <a:solidFill>
                  <a:schemeClr val="tx1"/>
                </a:solidFill>
                <a:latin typeface="+mn-lt"/>
                <a:cs typeface="Tahoma" panose="020B0604030504040204"/>
              </a:rPr>
              <a:t>CR</a:t>
            </a:r>
            <a:r>
              <a:rPr sz="4400" b="1" spc="-15" dirty="0">
                <a:solidFill>
                  <a:schemeClr val="tx1"/>
                </a:solidFill>
                <a:latin typeface="+mn-lt"/>
                <a:cs typeface="Tahoma" panose="020B0604030504040204"/>
              </a:rPr>
              <a:t>I</a:t>
            </a:r>
            <a:r>
              <a:rPr sz="4400" b="1" spc="-5" dirty="0">
                <a:solidFill>
                  <a:schemeClr val="tx1"/>
                </a:solidFill>
                <a:latin typeface="+mn-lt"/>
                <a:cs typeface="Tahoma" panose="020B0604030504040204"/>
              </a:rPr>
              <a:t>PT</a:t>
            </a:r>
            <a:endParaRPr sz="4400" dirty="0">
              <a:solidFill>
                <a:schemeClr val="tx1"/>
              </a:solidFill>
              <a:latin typeface="+mn-lt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187956"/>
            <a:ext cx="7423784" cy="31864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5580" indent="-183515" algn="just">
              <a:spcBef>
                <a:spcPts val="925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196215" algn="l"/>
              </a:tabLst>
            </a:pPr>
            <a:r>
              <a:rPr sz="2800" u="sng" spc="-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P.S</a:t>
            </a:r>
            <a:r>
              <a:rPr sz="2800" u="sng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</a:t>
            </a:r>
            <a:r>
              <a:rPr sz="2800" u="sng" spc="-1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useful</a:t>
            </a:r>
            <a:r>
              <a:rPr sz="2800" u="sng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</a:t>
            </a:r>
            <a:r>
              <a:rPr sz="2800" u="sng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800" u="sng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-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last</a:t>
            </a:r>
            <a:r>
              <a:rPr sz="2800" u="sng" spc="-1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-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attention</a:t>
            </a:r>
            <a:r>
              <a:rPr sz="2800" u="sng" spc="-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grabber</a:t>
            </a:r>
            <a:r>
              <a:rPr sz="2800" u="sng" spc="-14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</a:t>
            </a:r>
            <a:r>
              <a:rPr sz="2800" spc="39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writer</a:t>
            </a:r>
            <a:r>
              <a:rPr sz="2800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will</a:t>
            </a:r>
            <a:r>
              <a:rPr sz="2800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put</a:t>
            </a:r>
            <a:r>
              <a:rPr sz="2800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element</a:t>
            </a:r>
            <a:r>
              <a:rPr sz="2800" spc="-1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9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</a:t>
            </a:r>
            <a:r>
              <a:rPr sz="2800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lang="en-US" sz="2800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last</a:t>
            </a:r>
            <a:r>
              <a:rPr sz="2800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part</a:t>
            </a:r>
            <a:r>
              <a:rPr sz="2800" spc="-13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45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sz="2800" spc="-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800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sales</a:t>
            </a:r>
            <a:r>
              <a:rPr sz="2800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800" spc="-7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message (after Action)</a:t>
            </a:r>
            <a:r>
              <a:rPr sz="2800" spc="-7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sz="2800" spc="-7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5580" algn="just"/>
            <a:endParaRPr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5580" indent="-183515" algn="just">
              <a:spcBef>
                <a:spcPts val="960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196215" algn="l"/>
              </a:tabLst>
            </a:pPr>
            <a:r>
              <a:rPr sz="2800" spc="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800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major</a:t>
            </a:r>
            <a:r>
              <a:rPr sz="2800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advantage</a:t>
            </a:r>
            <a:r>
              <a:rPr sz="2800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45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sz="2800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9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using</a:t>
            </a:r>
            <a:r>
              <a:rPr sz="2800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-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P.S</a:t>
            </a:r>
            <a:r>
              <a:rPr sz="2800" u="sng" spc="-1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</a:t>
            </a:r>
            <a:r>
              <a:rPr sz="2800" u="sng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-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sz="2800" u="sng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grab</a:t>
            </a:r>
            <a:r>
              <a:rPr sz="2800" u="sng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-3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800" u="sng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audience</a:t>
            </a:r>
            <a:r>
              <a:rPr lang="en-US" sz="2800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-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attention</a:t>
            </a:r>
            <a:r>
              <a:rPr sz="2800" u="sng" spc="-1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</a:t>
            </a:r>
            <a:r>
              <a:rPr sz="2800" u="sng" spc="-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providing</a:t>
            </a:r>
            <a:r>
              <a:rPr sz="2800" u="sng" spc="-27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-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“extra”</a:t>
            </a:r>
            <a:r>
              <a:rPr sz="2800" u="sng" spc="-28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u="sng" spc="-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content</a:t>
            </a:r>
            <a:r>
              <a:rPr sz="2800" u="sng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</a:t>
            </a:r>
            <a:r>
              <a:rPr sz="2800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order</a:t>
            </a:r>
            <a:r>
              <a:rPr sz="2800" spc="-9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sz="2800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5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catch</a:t>
            </a:r>
            <a:r>
              <a:rPr sz="2800" spc="-1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their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attention </a:t>
            </a:r>
            <a:r>
              <a:rPr sz="2800" spc="6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on </a:t>
            </a:r>
            <a:r>
              <a:rPr sz="2800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800" spc="-3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product</a:t>
            </a:r>
            <a:r>
              <a:rPr lang="en-US" sz="2800" spc="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651459"/>
            <a:ext cx="5316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chemeClr val="tx1"/>
                </a:solidFill>
                <a:latin typeface="+mn-lt"/>
                <a:cs typeface="Tahoma" panose="020B0604030504040204"/>
              </a:rPr>
              <a:t>USING POST</a:t>
            </a:r>
            <a:r>
              <a:rPr lang="en-US" sz="4000" b="1" spc="-35" dirty="0">
                <a:solidFill>
                  <a:schemeClr val="tx1"/>
                </a:solidFill>
                <a:latin typeface="+mn-lt"/>
                <a:cs typeface="Tahoma" panose="020B0604030504040204"/>
              </a:rPr>
              <a:t>S</a:t>
            </a:r>
            <a:r>
              <a:rPr sz="4000" b="1" spc="-5" dirty="0">
                <a:solidFill>
                  <a:schemeClr val="tx1"/>
                </a:solidFill>
                <a:latin typeface="+mn-lt"/>
                <a:cs typeface="Tahoma" panose="020B0604030504040204"/>
              </a:rPr>
              <a:t>CRIPT</a:t>
            </a:r>
            <a:endParaRPr sz="4000" dirty="0">
              <a:solidFill>
                <a:schemeClr val="tx1"/>
              </a:solidFill>
              <a:latin typeface="+mn-lt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3740" y="2187956"/>
            <a:ext cx="7562850" cy="317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6380" indent="-183515">
              <a:lnSpc>
                <a:spcPct val="100000"/>
              </a:lnSpc>
              <a:spcBef>
                <a:spcPts val="105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247015" algn="l"/>
              </a:tabLst>
            </a:pPr>
            <a:r>
              <a:rPr sz="2800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P.S:</a:t>
            </a:r>
            <a:r>
              <a:rPr sz="2800" spc="-28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800" spc="2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15</a:t>
            </a:r>
            <a:r>
              <a:rPr sz="2800" spc="2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%</a:t>
            </a:r>
            <a:r>
              <a:rPr sz="2800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off</a:t>
            </a:r>
            <a:r>
              <a:rPr sz="2800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</a:t>
            </a:r>
            <a:r>
              <a:rPr sz="2800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800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3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first</a:t>
            </a:r>
            <a:r>
              <a:rPr sz="2800" spc="-1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100</a:t>
            </a:r>
            <a:r>
              <a:rPr sz="2800" spc="-1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customers!</a:t>
            </a:r>
            <a:endParaRPr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00000"/>
              </a:lnSpc>
              <a:buClr>
                <a:srgbClr val="9E3611"/>
              </a:buClr>
              <a:buFont typeface="Wingdings" panose="05000000000000000000"/>
              <a:buChar char=""/>
            </a:pPr>
            <a:endParaRPr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46380" marR="55880" indent="-183515">
              <a:lnSpc>
                <a:spcPts val="2160"/>
              </a:lnSpc>
              <a:spcBef>
                <a:spcPts val="1920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247015" algn="l"/>
              </a:tabLst>
            </a:pPr>
            <a:r>
              <a:rPr sz="2800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P.S:</a:t>
            </a:r>
            <a:r>
              <a:rPr sz="2800" spc="-2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85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</a:t>
            </a:r>
            <a:r>
              <a:rPr sz="2800" spc="-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65" dirty="0">
                <a:latin typeface="Times New Roman" panose="02020503050405090304" pitchFamily="18" charset="0"/>
                <a:cs typeface="Times New Roman" panose="02020503050405090304" pitchFamily="18" charset="0"/>
              </a:rPr>
              <a:t>purchasing</a:t>
            </a:r>
            <a:r>
              <a:rPr sz="2800" spc="-1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</a:t>
            </a:r>
            <a:r>
              <a:rPr sz="2800" spc="-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product</a:t>
            </a:r>
            <a:r>
              <a:rPr sz="2800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800" spc="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</a:t>
            </a:r>
            <a:r>
              <a:rPr lang="en-US" sz="2800" spc="5" dirty="0">
                <a:latin typeface="Times New Roman" panose="02020503050405090304" pitchFamily="18" charset="0"/>
                <a:cs typeface="Times New Roman" panose="02020503050405090304" pitchFamily="18" charset="0"/>
              </a:rPr>
              <a:t>30 November</a:t>
            </a:r>
            <a:r>
              <a:rPr sz="2800" spc="-1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202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6</a:t>
            </a:r>
            <a:r>
              <a:rPr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sz="2800" spc="-28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45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</a:t>
            </a:r>
            <a:r>
              <a:rPr sz="2800" spc="-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are </a:t>
            </a:r>
            <a:r>
              <a:rPr sz="2800" spc="-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entitled </a:t>
            </a:r>
            <a:r>
              <a:rPr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....................</a:t>
            </a:r>
            <a:r>
              <a:rPr sz="2800" spc="-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!</a:t>
            </a:r>
            <a:endParaRPr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00000"/>
              </a:lnSpc>
              <a:buClr>
                <a:srgbClr val="9E3611"/>
              </a:buClr>
              <a:buFont typeface="Wingdings" panose="05000000000000000000"/>
              <a:buChar char=""/>
            </a:pPr>
            <a:endParaRPr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46380" indent="-183515">
              <a:lnSpc>
                <a:spcPct val="100000"/>
              </a:lnSpc>
              <a:spcBef>
                <a:spcPts val="1620"/>
              </a:spcBef>
              <a:buClr>
                <a:srgbClr val="9E3611"/>
              </a:buClr>
              <a:buSzPct val="85000"/>
              <a:buFont typeface="Wingdings" panose="05000000000000000000"/>
              <a:buChar char=""/>
              <a:tabLst>
                <a:tab pos="247015" algn="l"/>
              </a:tabLst>
            </a:pPr>
            <a:r>
              <a:rPr sz="2800" spc="-1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P.S:</a:t>
            </a:r>
            <a:r>
              <a:rPr sz="2800" spc="-27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FREE</a:t>
            </a:r>
            <a:r>
              <a:rPr sz="2800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1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sz="2800" spc="1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</a:t>
            </a:r>
            <a:r>
              <a:rPr sz="2800" spc="1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RVICE</a:t>
            </a:r>
            <a:r>
              <a:rPr sz="2800" spc="-114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</a:t>
            </a:r>
            <a:r>
              <a:rPr sz="2800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months)</a:t>
            </a:r>
            <a:r>
              <a:rPr sz="2800" spc="-1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</a:t>
            </a:r>
            <a:r>
              <a:rPr sz="2800" spc="-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800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-3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first</a:t>
            </a:r>
            <a:r>
              <a:rPr sz="2800" spc="-1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sz="2800" spc="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sz="2800" spc="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sz="2800" spc="-10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800" spc="2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customers!</a:t>
            </a:r>
            <a:endParaRPr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3731" y="6254496"/>
            <a:ext cx="391795" cy="394970"/>
            <a:chOff x="8523731" y="6254496"/>
            <a:chExt cx="391795" cy="394970"/>
          </a:xfrm>
        </p:grpSpPr>
        <p:sp>
          <p:nvSpPr>
            <p:cNvPr id="3" name="object 3"/>
            <p:cNvSpPr/>
            <p:nvPr/>
          </p:nvSpPr>
          <p:spPr>
            <a:xfrm>
              <a:off x="8523731" y="6254496"/>
              <a:ext cx="391668" cy="3947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60307" y="6291072"/>
              <a:ext cx="318770" cy="321945"/>
            </a:xfrm>
            <a:custGeom>
              <a:avLst/>
              <a:gdLst/>
              <a:ahLst/>
              <a:cxnLst/>
              <a:rect l="l" t="t" r="r" b="b"/>
              <a:pathLst>
                <a:path w="318770" h="321945">
                  <a:moveTo>
                    <a:pt x="0" y="160781"/>
                  </a:moveTo>
                  <a:lnTo>
                    <a:pt x="8113" y="109962"/>
                  </a:lnTo>
                  <a:lnTo>
                    <a:pt x="30711" y="65825"/>
                  </a:lnTo>
                  <a:lnTo>
                    <a:pt x="65178" y="31021"/>
                  </a:lnTo>
                  <a:lnTo>
                    <a:pt x="108898" y="8196"/>
                  </a:lnTo>
                  <a:lnTo>
                    <a:pt x="159258" y="0"/>
                  </a:lnTo>
                  <a:lnTo>
                    <a:pt x="209617" y="8196"/>
                  </a:lnTo>
                  <a:lnTo>
                    <a:pt x="253337" y="31021"/>
                  </a:lnTo>
                  <a:lnTo>
                    <a:pt x="287804" y="65825"/>
                  </a:lnTo>
                  <a:lnTo>
                    <a:pt x="310402" y="109962"/>
                  </a:lnTo>
                  <a:lnTo>
                    <a:pt x="318516" y="160781"/>
                  </a:lnTo>
                  <a:lnTo>
                    <a:pt x="310402" y="211601"/>
                  </a:lnTo>
                  <a:lnTo>
                    <a:pt x="287804" y="255738"/>
                  </a:lnTo>
                  <a:lnTo>
                    <a:pt x="253337" y="290542"/>
                  </a:lnTo>
                  <a:lnTo>
                    <a:pt x="209617" y="313367"/>
                  </a:lnTo>
                  <a:lnTo>
                    <a:pt x="159258" y="321563"/>
                  </a:lnTo>
                  <a:lnTo>
                    <a:pt x="108898" y="313367"/>
                  </a:lnTo>
                  <a:lnTo>
                    <a:pt x="65178" y="290542"/>
                  </a:lnTo>
                  <a:lnTo>
                    <a:pt x="30711" y="255738"/>
                  </a:lnTo>
                  <a:lnTo>
                    <a:pt x="8113" y="211601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2250" y="773176"/>
          <a:ext cx="8763000" cy="5853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910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Attention</a:t>
                      </a:r>
                      <a:endParaRPr sz="1800" dirty="0">
                        <a:solidFill>
                          <a:schemeClr val="bg1"/>
                        </a:solidFill>
                        <a:latin typeface="Gothic Uralic"/>
                        <a:cs typeface="Gothic Ural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Make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your audience 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want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to </a:t>
                      </a:r>
                      <a:r>
                        <a:rPr lang="en-US" sz="1800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know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 about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your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idea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. Find some </a:t>
                      </a:r>
                      <a:r>
                        <a:rPr sz="1800" b="1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common ground on which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to </a:t>
                      </a:r>
                      <a:r>
                        <a:rPr sz="1800" b="1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build your case. Try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to </a:t>
                      </a:r>
                      <a:r>
                        <a:rPr sz="1800" b="1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attract their</a:t>
                      </a:r>
                      <a:r>
                        <a:rPr sz="1800" b="1" spc="-70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800" b="1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attention.</a:t>
                      </a:r>
                      <a:endParaRPr sz="1800" dirty="0">
                        <a:solidFill>
                          <a:schemeClr val="bg1"/>
                        </a:solidFill>
                        <a:latin typeface="Gothic Uralic"/>
                        <a:cs typeface="Gothic Ural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16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Interest</a:t>
                      </a:r>
                      <a:endParaRPr sz="1800" dirty="0">
                        <a:solidFill>
                          <a:schemeClr val="bg1"/>
                        </a:solidFill>
                        <a:latin typeface="URW Gothic"/>
                        <a:cs typeface="URW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409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Explain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the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relevanc</a:t>
                      </a:r>
                      <a:r>
                        <a:rPr lang="en-US"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y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 of your message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to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your audience. 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Explain </a:t>
                      </a:r>
                      <a:r>
                        <a:rPr sz="1800" b="1" spc="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in </a:t>
                      </a:r>
                      <a:r>
                        <a:rPr sz="1800" b="1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detail </a:t>
                      </a:r>
                      <a:r>
                        <a:rPr sz="1800" b="1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about </a:t>
                      </a:r>
                      <a:r>
                        <a:rPr sz="1800" b="1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your  </a:t>
                      </a:r>
                      <a:r>
                        <a:rPr sz="1800" b="1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product. </a:t>
                      </a:r>
                      <a:endParaRPr sz="1800" dirty="0">
                        <a:solidFill>
                          <a:schemeClr val="bg1"/>
                        </a:solidFill>
                        <a:latin typeface="URW Gothic"/>
                        <a:cs typeface="URW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61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Desire</a:t>
                      </a: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428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0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Make </a:t>
                      </a:r>
                      <a:r>
                        <a:rPr sz="1800" b="0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audience </a:t>
                      </a:r>
                      <a:r>
                        <a:rPr sz="1800" b="0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members want to </a:t>
                      </a:r>
                      <a:r>
                        <a:rPr sz="1800" b="0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change</a:t>
                      </a:r>
                      <a:r>
                        <a:rPr lang="en-US" sz="1800" b="0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 their</a:t>
                      </a:r>
                      <a:r>
                        <a:rPr lang="en-US" sz="1800" b="0" spc="-5" baseline="0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 opinion</a:t>
                      </a:r>
                      <a:r>
                        <a:rPr sz="1800" b="0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 by explaining  how </a:t>
                      </a:r>
                      <a:r>
                        <a:rPr sz="1800" b="0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the </a:t>
                      </a:r>
                      <a:r>
                        <a:rPr sz="1800" b="0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change will benefit </a:t>
                      </a:r>
                      <a:r>
                        <a:rPr sz="1800" b="0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them. </a:t>
                      </a:r>
                      <a:r>
                        <a:rPr sz="1800" b="1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Back up your</a:t>
                      </a:r>
                      <a:r>
                        <a:rPr sz="1800" b="1" spc="-1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claims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/support your claim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 with evidence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.</a:t>
                      </a: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16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Action</a:t>
                      </a:r>
                      <a:endParaRPr sz="1800" dirty="0">
                        <a:solidFill>
                          <a:schemeClr val="bg1"/>
                        </a:solidFill>
                        <a:latin typeface="URW Gothic"/>
                        <a:cs typeface="URW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409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Suggest action</a:t>
                      </a:r>
                      <a:r>
                        <a:rPr lang="en-US" sz="1800" b="1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s that</a:t>
                      </a:r>
                      <a:r>
                        <a:rPr sz="1800" b="1" spc="-5" dirty="0">
                          <a:solidFill>
                            <a:schemeClr val="bg1"/>
                          </a:solidFill>
                          <a:latin typeface="Gothic Uralic"/>
                          <a:cs typeface="Gothic Uralic"/>
                        </a:rPr>
                        <a:t> you want readers to take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.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Remind 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readers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of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the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benefits of taking action,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and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make </a:t>
                      </a:r>
                      <a:r>
                        <a:rPr lang="en-US"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the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 action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URW Gothic"/>
                          <a:cs typeface="URW Gothic"/>
                        </a:rPr>
                        <a:t>easy.</a:t>
                      </a:r>
                      <a:endParaRPr sz="1800" dirty="0">
                        <a:solidFill>
                          <a:schemeClr val="bg1"/>
                        </a:solidFill>
                        <a:latin typeface="URW Gothic"/>
                        <a:cs typeface="URW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57758" y="190627"/>
            <a:ext cx="826541" cy="3924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752600"/>
            <a:ext cx="75438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Please take note that your Sales Letter (ASG 2) should be organized as a formal letter (LETTER FORMAT IS REQUIRED)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616</Words>
  <Application>Microsoft Office PowerPoint</Application>
  <PresentationFormat>On-screen Show (4:3)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Gothic Uralic</vt:lpstr>
      <vt:lpstr>Tahoma</vt:lpstr>
      <vt:lpstr>Times New Roman</vt:lpstr>
      <vt:lpstr>Trebuchet MS</vt:lpstr>
      <vt:lpstr>URW Gothic</vt:lpstr>
      <vt:lpstr>Wingdings</vt:lpstr>
      <vt:lpstr>Office Theme</vt:lpstr>
      <vt:lpstr>PowerPoint Presentation</vt:lpstr>
      <vt:lpstr>Attention-  (opening)</vt:lpstr>
      <vt:lpstr>PowerPoint Presentation</vt:lpstr>
      <vt:lpstr>PowerPoint Presentation</vt:lpstr>
      <vt:lpstr>PowerPoint Presentation</vt:lpstr>
      <vt:lpstr>PowerPoint Presentation</vt:lpstr>
      <vt:lpstr>DESIRE</vt:lpstr>
      <vt:lpstr>INCREASING DESIRE</vt:lpstr>
      <vt:lpstr>PowerPoint Presentation</vt:lpstr>
      <vt:lpstr>USING POSTSCRIPT</vt:lpstr>
      <vt:lpstr>USING POSTSCRIPT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Persuasive Messages</dc:title>
  <dc:creator>Myles A. Hassell</dc:creator>
  <cp:lastModifiedBy>Akma Safian</cp:lastModifiedBy>
  <cp:revision>34</cp:revision>
  <dcterms:created xsi:type="dcterms:W3CDTF">2025-11-06T03:41:48Z</dcterms:created>
  <dcterms:modified xsi:type="dcterms:W3CDTF">2026-05-05T01:37:20Z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2020-10-29T06:00:00Z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2022-10-26T06:00:00Z</vt:filetime>
  </property>
  <property fmtid="{D5CDD505-2E9C-101B-9397-08002B2CF9AE}" pid="5" name="ICV">
    <vt:lpwstr>DEA90DECE1556D8DDBC30A69EBB6C644_43</vt:lpwstr>
  </property>
  <property fmtid="{D5CDD505-2E9C-101B-9397-08002B2CF9AE}" pid="6" name="KSOProductBuildVer">
    <vt:lpwstr>1033-12.1.22554.22554</vt:lpwstr>
  </property>
</Properties>
</file>