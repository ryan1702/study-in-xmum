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3" r:id="rId2"/>
    <p:sldId id="277" r:id="rId3"/>
    <p:sldId id="278" r:id="rId4"/>
    <p:sldId id="260" r:id="rId5"/>
    <p:sldId id="279" r:id="rId6"/>
    <p:sldId id="280" r:id="rId7"/>
    <p:sldId id="262" r:id="rId8"/>
    <p:sldId id="263" r:id="rId9"/>
    <p:sldId id="282" r:id="rId10"/>
    <p:sldId id="264" r:id="rId11"/>
    <p:sldId id="265" r:id="rId12"/>
    <p:sldId id="266" r:id="rId13"/>
    <p:sldId id="268" r:id="rId14"/>
    <p:sldId id="281" r:id="rId15"/>
    <p:sldId id="272" r:id="rId16"/>
    <p:sldId id="273" r:id="rId17"/>
    <p:sldId id="275" r:id="rId18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howGuides="1">
      <p:cViewPr varScale="1">
        <p:scale>
          <a:sx n="105" d="100"/>
          <a:sy n="105" d="100"/>
        </p:scale>
        <p:origin x="1744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9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9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9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9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9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9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9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9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9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057400"/>
            <a:ext cx="7773338" cy="1596177"/>
          </a:xfrm>
        </p:spPr>
        <p:txBody>
          <a:bodyPr/>
          <a:lstStyle/>
          <a:p>
            <a:r>
              <a:rPr lang="en-US" dirty="0"/>
              <a:t>Language of Business Writing &amp; Business Letter Writing (Formatting)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295400"/>
            <a:ext cx="8839200" cy="5029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28800" y="266581"/>
            <a:ext cx="66294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Language of Business Writing</a:t>
            </a:r>
            <a:br>
              <a:rPr lang="en-US" sz="1100" dirty="0"/>
            </a:b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064" y="414272"/>
            <a:ext cx="8365135" cy="49244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Tone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It is important to try to get the right 'tone' in your message.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**</a:t>
            </a:r>
            <a:r>
              <a:rPr lang="en-US" b="1" dirty="0">
                <a:solidFill>
                  <a:schemeClr val="tx1"/>
                </a:solidFill>
              </a:rPr>
              <a:t>Aim for a neutral tone</a:t>
            </a:r>
            <a:br>
              <a:rPr lang="en-US" b="1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62407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85" dirty="0"/>
              <a:t>Elements </a:t>
            </a:r>
            <a:r>
              <a:rPr spc="-180" dirty="0"/>
              <a:t>of </a:t>
            </a:r>
            <a:r>
              <a:rPr spc="10" dirty="0"/>
              <a:t>a </a:t>
            </a:r>
            <a:r>
              <a:rPr spc="25" dirty="0"/>
              <a:t>business</a:t>
            </a:r>
            <a:r>
              <a:rPr spc="-590" dirty="0"/>
              <a:t> </a:t>
            </a:r>
            <a:r>
              <a:rPr spc="-254" dirty="0"/>
              <a:t>letter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40" y="1905000"/>
            <a:ext cx="3275330" cy="35420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85115" marR="5080" indent="-273050">
              <a:lnSpc>
                <a:spcPts val="3460"/>
              </a:lnSpc>
              <a:spcBef>
                <a:spcPts val="535"/>
              </a:spcBef>
              <a:buClr>
                <a:srgbClr val="D24717"/>
              </a:buClr>
              <a:buSzPct val="84000"/>
              <a:buFont typeface="Arial" panose="020B0604020202090204"/>
              <a:buChar char=""/>
              <a:tabLst>
                <a:tab pos="285750" algn="l"/>
              </a:tabLst>
            </a:pPr>
            <a:r>
              <a:rPr lang="en-US" sz="3200" spc="-100" dirty="0">
                <a:latin typeface="Times New Roman" panose="02020503050405090304"/>
                <a:cs typeface="Times New Roman" panose="02020503050405090304"/>
              </a:rPr>
              <a:t>- </a:t>
            </a:r>
            <a:r>
              <a:rPr sz="3200" spc="-100" dirty="0">
                <a:latin typeface="Times New Roman" panose="02020503050405090304"/>
                <a:cs typeface="Times New Roman" panose="02020503050405090304"/>
              </a:rPr>
              <a:t>letterhead </a:t>
            </a:r>
            <a:r>
              <a:rPr lang="en-US" sz="3200" spc="-100" dirty="0">
                <a:latin typeface="Times New Roman" panose="02020503050405090304"/>
                <a:cs typeface="Times New Roman" panose="02020503050405090304"/>
              </a:rPr>
              <a:t>(optional)</a:t>
            </a:r>
            <a:endParaRPr lang="en-US" sz="3200" spc="-50" dirty="0">
              <a:latin typeface="Times New Roman" panose="02020503050405090304"/>
              <a:cs typeface="Times New Roman" panose="02020503050405090304"/>
            </a:endParaRPr>
          </a:p>
          <a:p>
            <a:pPr marL="285115" marR="5080" indent="-273050">
              <a:lnSpc>
                <a:spcPts val="3460"/>
              </a:lnSpc>
              <a:spcBef>
                <a:spcPts val="535"/>
              </a:spcBef>
              <a:buClr>
                <a:srgbClr val="D24717"/>
              </a:buClr>
              <a:buSzPct val="84000"/>
              <a:buFont typeface="Arial" panose="020B0604020202090204"/>
              <a:buChar char=""/>
              <a:tabLst>
                <a:tab pos="285750" algn="l"/>
              </a:tabLst>
            </a:pPr>
            <a:r>
              <a:rPr lang="en-US" sz="3200" spc="-125" dirty="0">
                <a:latin typeface="Times New Roman" panose="02020503050405090304"/>
                <a:cs typeface="Times New Roman" panose="02020503050405090304"/>
              </a:rPr>
              <a:t>- </a:t>
            </a:r>
            <a:r>
              <a:rPr sz="3200" spc="-125" dirty="0">
                <a:latin typeface="Times New Roman" panose="02020503050405090304"/>
                <a:cs typeface="Times New Roman" panose="02020503050405090304"/>
              </a:rPr>
              <a:t>return  </a:t>
            </a:r>
            <a:r>
              <a:rPr sz="3200" spc="-130" dirty="0">
                <a:latin typeface="Times New Roman" panose="02020503050405090304"/>
                <a:cs typeface="Times New Roman" panose="02020503050405090304"/>
              </a:rPr>
              <a:t>address</a:t>
            </a:r>
            <a:endParaRPr sz="3200" dirty="0">
              <a:latin typeface="Times New Roman" panose="02020503050405090304"/>
              <a:cs typeface="Times New Roman" panose="02020503050405090304"/>
            </a:endParaRPr>
          </a:p>
          <a:p>
            <a:pPr marL="285115" indent="-273050">
              <a:lnSpc>
                <a:spcPct val="100000"/>
              </a:lnSpc>
              <a:spcBef>
                <a:spcPts val="165"/>
              </a:spcBef>
              <a:buClr>
                <a:srgbClr val="D24717"/>
              </a:buClr>
              <a:buSzPct val="84000"/>
              <a:buFont typeface="Arial" panose="020B0604020202090204"/>
              <a:buChar char=""/>
              <a:tabLst>
                <a:tab pos="285750" algn="l"/>
              </a:tabLst>
            </a:pPr>
            <a:r>
              <a:rPr lang="en-US" sz="3200" spc="-90" dirty="0">
                <a:latin typeface="Times New Roman" panose="02020503050405090304"/>
                <a:cs typeface="Times New Roman" panose="02020503050405090304"/>
              </a:rPr>
              <a:t>- </a:t>
            </a:r>
            <a:r>
              <a:rPr sz="3200" spc="-90" dirty="0">
                <a:latin typeface="Times New Roman" panose="02020503050405090304"/>
                <a:cs typeface="Times New Roman" panose="02020503050405090304"/>
              </a:rPr>
              <a:t>date</a:t>
            </a:r>
            <a:endParaRPr sz="3200" dirty="0">
              <a:latin typeface="Times New Roman" panose="02020503050405090304"/>
              <a:cs typeface="Times New Roman" panose="02020503050405090304"/>
            </a:endParaRPr>
          </a:p>
          <a:p>
            <a:pPr marL="285115" indent="-273050">
              <a:lnSpc>
                <a:spcPct val="100000"/>
              </a:lnSpc>
              <a:spcBef>
                <a:spcPts val="220"/>
              </a:spcBef>
              <a:buClr>
                <a:srgbClr val="D24717"/>
              </a:buClr>
              <a:buSzPct val="84000"/>
              <a:buFont typeface="Arial" panose="020B0604020202090204"/>
              <a:buChar char=""/>
              <a:tabLst>
                <a:tab pos="285750" algn="l"/>
              </a:tabLst>
            </a:pPr>
            <a:r>
              <a:rPr lang="en-US" sz="3200" spc="-160" dirty="0">
                <a:latin typeface="Times New Roman" panose="02020503050405090304"/>
                <a:cs typeface="Times New Roman" panose="02020503050405090304"/>
              </a:rPr>
              <a:t>- </a:t>
            </a:r>
            <a:r>
              <a:rPr sz="3200" spc="-160" dirty="0">
                <a:latin typeface="Times New Roman" panose="02020503050405090304"/>
                <a:cs typeface="Times New Roman" panose="02020503050405090304"/>
              </a:rPr>
              <a:t>inside</a:t>
            </a:r>
            <a:r>
              <a:rPr sz="3200" spc="-9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3200" spc="-130" dirty="0">
                <a:latin typeface="Times New Roman" panose="02020503050405090304"/>
                <a:cs typeface="Times New Roman" panose="02020503050405090304"/>
              </a:rPr>
              <a:t>address</a:t>
            </a:r>
            <a:endParaRPr sz="3200" dirty="0">
              <a:latin typeface="Times New Roman" panose="02020503050405090304"/>
              <a:cs typeface="Times New Roman" panose="02020503050405090304"/>
            </a:endParaRPr>
          </a:p>
          <a:p>
            <a:pPr marL="285115" indent="-273050">
              <a:lnSpc>
                <a:spcPct val="100000"/>
              </a:lnSpc>
              <a:spcBef>
                <a:spcPts val="215"/>
              </a:spcBef>
              <a:buClr>
                <a:srgbClr val="D24717"/>
              </a:buClr>
              <a:buSzPct val="84000"/>
              <a:buFont typeface="Arial" panose="020B0604020202090204"/>
              <a:buChar char=""/>
              <a:tabLst>
                <a:tab pos="285750" algn="l"/>
              </a:tabLst>
            </a:pPr>
            <a:r>
              <a:rPr lang="en-US" sz="3200" spc="-114" dirty="0">
                <a:latin typeface="Times New Roman" panose="02020503050405090304"/>
                <a:cs typeface="Times New Roman" panose="02020503050405090304"/>
              </a:rPr>
              <a:t>- </a:t>
            </a:r>
            <a:r>
              <a:rPr sz="3200" spc="-114" dirty="0">
                <a:latin typeface="Times New Roman" panose="02020503050405090304"/>
                <a:cs typeface="Times New Roman" panose="02020503050405090304"/>
              </a:rPr>
              <a:t>salutation</a:t>
            </a:r>
            <a:endParaRPr sz="3200" dirty="0">
              <a:latin typeface="Times New Roman" panose="02020503050405090304"/>
              <a:cs typeface="Times New Roman" panose="02020503050405090304"/>
            </a:endParaRPr>
          </a:p>
          <a:p>
            <a:pPr marL="285115" indent="-273050">
              <a:lnSpc>
                <a:spcPct val="100000"/>
              </a:lnSpc>
              <a:spcBef>
                <a:spcPts val="215"/>
              </a:spcBef>
              <a:buClr>
                <a:srgbClr val="D24717"/>
              </a:buClr>
              <a:buSzPct val="84000"/>
              <a:buFont typeface="Arial" panose="020B0604020202090204"/>
              <a:buChar char=""/>
              <a:tabLst>
                <a:tab pos="285750" algn="l"/>
              </a:tabLst>
            </a:pPr>
            <a:r>
              <a:rPr lang="en-US" sz="3200" spc="-105" dirty="0">
                <a:latin typeface="Times New Roman" panose="02020503050405090304"/>
                <a:cs typeface="Times New Roman" panose="02020503050405090304"/>
              </a:rPr>
              <a:t>- </a:t>
            </a:r>
            <a:r>
              <a:rPr sz="3200" spc="-105" dirty="0">
                <a:latin typeface="Times New Roman" panose="02020503050405090304"/>
                <a:cs typeface="Times New Roman" panose="02020503050405090304"/>
              </a:rPr>
              <a:t>subject</a:t>
            </a:r>
            <a:endParaRPr sz="3200" dirty="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05400" y="1905000"/>
            <a:ext cx="3620135" cy="3752215"/>
          </a:xfrm>
          <a:prstGeom prst="rect">
            <a:avLst/>
          </a:prstGeom>
        </p:spPr>
        <p:txBody>
          <a:bodyPr vert="horz" wrap="square" lIns="0" tIns="88900" rIns="0" bIns="0" rtlCol="0">
            <a:no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84000"/>
              <a:buFont typeface="Arial" panose="020B0604020202090204"/>
              <a:buChar char=""/>
              <a:tabLst>
                <a:tab pos="285750" algn="l"/>
              </a:tabLst>
            </a:pPr>
            <a:r>
              <a:rPr lang="en-US" sz="3200" spc="-185" dirty="0">
                <a:latin typeface="Times New Roman" panose="02020503050405090304"/>
                <a:cs typeface="Times New Roman" panose="02020503050405090304"/>
              </a:rPr>
              <a:t>- </a:t>
            </a:r>
            <a:r>
              <a:rPr sz="3200" spc="-185" dirty="0">
                <a:latin typeface="Times New Roman" panose="02020503050405090304"/>
                <a:cs typeface="Times New Roman" panose="02020503050405090304"/>
              </a:rPr>
              <a:t>body </a:t>
            </a:r>
            <a:r>
              <a:rPr sz="3200" spc="-55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3200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3200" spc="-10" dirty="0">
                <a:latin typeface="Times New Roman" panose="02020503050405090304"/>
                <a:cs typeface="Times New Roman" panose="02020503050405090304"/>
              </a:rPr>
              <a:t>text</a:t>
            </a:r>
            <a:endParaRPr sz="3200" dirty="0">
              <a:latin typeface="Times New Roman" panose="02020503050405090304"/>
              <a:cs typeface="Times New Roman" panose="02020503050405090304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000"/>
              <a:buFont typeface="Arial" panose="020B0604020202090204"/>
              <a:buChar char=""/>
              <a:tabLst>
                <a:tab pos="285750" algn="l"/>
              </a:tabLst>
            </a:pPr>
            <a:r>
              <a:rPr lang="en-US" sz="3200" spc="-135" dirty="0">
                <a:latin typeface="Times New Roman" panose="02020503050405090304"/>
                <a:cs typeface="Times New Roman" panose="02020503050405090304"/>
              </a:rPr>
              <a:t>- </a:t>
            </a:r>
            <a:r>
              <a:rPr sz="3200" spc="-135" dirty="0">
                <a:latin typeface="Times New Roman" panose="02020503050405090304"/>
                <a:cs typeface="Times New Roman" panose="02020503050405090304"/>
              </a:rPr>
              <a:t>complimentary</a:t>
            </a:r>
            <a:r>
              <a:rPr sz="3200" spc="-10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3200" spc="-200" dirty="0">
                <a:latin typeface="Times New Roman" panose="02020503050405090304"/>
                <a:cs typeface="Times New Roman" panose="02020503050405090304"/>
              </a:rPr>
              <a:t>close</a:t>
            </a:r>
            <a:endParaRPr sz="3200" dirty="0">
              <a:latin typeface="Times New Roman" panose="02020503050405090304"/>
              <a:cs typeface="Times New Roman" panose="02020503050405090304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000"/>
              <a:buFont typeface="Arial" panose="020B0604020202090204"/>
              <a:buChar char=""/>
              <a:tabLst>
                <a:tab pos="285750" algn="l"/>
              </a:tabLst>
            </a:pPr>
            <a:r>
              <a:rPr lang="en-US" sz="3200" spc="-125" dirty="0">
                <a:latin typeface="Times New Roman" panose="02020503050405090304"/>
                <a:cs typeface="Times New Roman" panose="02020503050405090304"/>
              </a:rPr>
              <a:t>- </a:t>
            </a:r>
            <a:r>
              <a:rPr sz="3200" spc="-125" dirty="0">
                <a:latin typeface="Times New Roman" panose="02020503050405090304"/>
                <a:cs typeface="Times New Roman" panose="02020503050405090304"/>
              </a:rPr>
              <a:t>signature</a:t>
            </a:r>
            <a:endParaRPr sz="3200" dirty="0">
              <a:latin typeface="Times New Roman" panose="02020503050405090304"/>
              <a:cs typeface="Times New Roman" panose="02020503050405090304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000"/>
              <a:buFont typeface="Arial" panose="020B0604020202090204"/>
              <a:buChar char=""/>
              <a:tabLst>
                <a:tab pos="285750" algn="l"/>
              </a:tabLst>
            </a:pPr>
            <a:r>
              <a:rPr lang="en-US" sz="3200" spc="-180" dirty="0">
                <a:latin typeface="Times New Roman" panose="02020503050405090304"/>
                <a:cs typeface="Times New Roman" panose="02020503050405090304"/>
              </a:rPr>
              <a:t>- </a:t>
            </a:r>
            <a:r>
              <a:rPr sz="3200" spc="-180" dirty="0">
                <a:latin typeface="Times New Roman" panose="02020503050405090304"/>
                <a:cs typeface="Times New Roman" panose="02020503050405090304"/>
              </a:rPr>
              <a:t>name and </a:t>
            </a:r>
            <a:r>
              <a:rPr sz="3200" spc="-65" dirty="0">
                <a:latin typeface="Times New Roman" panose="02020503050405090304"/>
                <a:cs typeface="Times New Roman" panose="02020503050405090304"/>
              </a:rPr>
              <a:t>title</a:t>
            </a:r>
            <a:r>
              <a:rPr lang="en-US" sz="3200" spc="-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3200" spc="-114" dirty="0">
                <a:latin typeface="Times New Roman" panose="02020503050405090304"/>
                <a:cs typeface="Times New Roman" panose="02020503050405090304"/>
              </a:rPr>
              <a:t>lines</a:t>
            </a:r>
            <a:endParaRPr sz="3200" dirty="0">
              <a:latin typeface="Times New Roman" panose="02020503050405090304"/>
              <a:cs typeface="Times New Roman" panose="02020503050405090304"/>
            </a:endParaRPr>
          </a:p>
          <a:p>
            <a:pPr marL="285115" marR="1140460" indent="-27305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000"/>
              <a:buFont typeface="Arial" panose="020B0604020202090204"/>
              <a:buChar char=""/>
              <a:tabLst>
                <a:tab pos="285750" algn="l"/>
              </a:tabLst>
            </a:pPr>
            <a:r>
              <a:rPr lang="en-US" sz="3200" spc="-135" dirty="0">
                <a:latin typeface="Times New Roman" panose="02020503050405090304"/>
                <a:cs typeface="Times New Roman" panose="02020503050405090304"/>
              </a:rPr>
              <a:t>- </a:t>
            </a:r>
            <a:r>
              <a:rPr sz="3200" spc="-135" dirty="0">
                <a:latin typeface="Times New Roman" panose="02020503050405090304"/>
                <a:cs typeface="Times New Roman" panose="02020503050405090304"/>
              </a:rPr>
              <a:t>enclosure </a:t>
            </a:r>
            <a:r>
              <a:rPr sz="3200" spc="-114" dirty="0">
                <a:latin typeface="Times New Roman" panose="02020503050405090304"/>
                <a:cs typeface="Times New Roman" panose="02020503050405090304"/>
              </a:rPr>
              <a:t>(optional)</a:t>
            </a:r>
            <a:endParaRPr sz="3200" dirty="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74064" y="414273"/>
            <a:ext cx="8060336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cs typeface="Comic Sans MS" panose="030F0902030302020204"/>
              </a:rPr>
              <a:t>Letterhead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1577340"/>
            <a:ext cx="8077200" cy="2154436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sz="2400" i="0" cap="none" dirty="0"/>
              <a:t>A business letterhead is a printed header at the top of a company letter.</a:t>
            </a:r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sz="2400" i="0" cap="none" dirty="0"/>
              <a:t>Normally includes a business's logo and company’s details.  </a:t>
            </a:r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sz="2400" i="0" cap="none" dirty="0"/>
              <a:t>Located on top of the page</a:t>
            </a:r>
          </a:p>
        </p:txBody>
      </p:sp>
      <p:pic>
        <p:nvPicPr>
          <p:cNvPr id="1026" name="Picture 2" descr="Letterhead Example | Letterhead examples, Company letterhead template, Company  letterhead examples"/>
          <p:cNvPicPr>
            <a:picLocks noGrp="1" noChangeAspect="1" noChangeArrowheads="1"/>
          </p:cNvPicPr>
          <p:nvPr>
            <p:ph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76800" y="3433763"/>
            <a:ext cx="3810000" cy="3424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135" y="1371600"/>
            <a:ext cx="7907936" cy="492443"/>
          </a:xfrm>
        </p:spPr>
        <p:txBody>
          <a:bodyPr>
            <a:normAutofit fontScale="90000"/>
          </a:bodyPr>
          <a:lstStyle/>
          <a:p>
            <a:r>
              <a:rPr lang="en-US" sz="3200" spc="-10" dirty="0"/>
              <a:t>Return Address (writer’s information)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6134" y="2057400"/>
            <a:ext cx="8154465" cy="3429000"/>
          </a:xfrm>
        </p:spPr>
        <p:txBody>
          <a:bodyPr>
            <a:normAutofit fontScale="92500" lnSpcReduction="10000"/>
          </a:bodyPr>
          <a:lstStyle/>
          <a:p>
            <a:endParaRPr lang="en-US" i="0" dirty="0"/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sz="3400" i="0" cap="none" dirty="0"/>
              <a:t>2 situations:</a:t>
            </a:r>
          </a:p>
          <a:p>
            <a:pPr marL="914400" lvl="1" indent="-457200">
              <a:buFont typeface="Arial" panose="020B0604020202090204" pitchFamily="34" charset="0"/>
              <a:buChar char="•"/>
            </a:pPr>
            <a:r>
              <a:rPr lang="en-US" sz="3400" i="0" cap="none" dirty="0"/>
              <a:t>From a company: </a:t>
            </a:r>
            <a:r>
              <a:rPr lang="en-US" sz="3400" cap="none" dirty="0"/>
              <a:t>n</a:t>
            </a:r>
            <a:r>
              <a:rPr lang="en-US" sz="3400" i="0" cap="none" dirty="0"/>
              <a:t>ame, position, company’s name and company’s address</a:t>
            </a:r>
          </a:p>
          <a:p>
            <a:pPr marL="914400" lvl="1" indent="-457200">
              <a:buFont typeface="Arial" panose="020B0604020202090204" pitchFamily="34" charset="0"/>
              <a:buChar char="•"/>
            </a:pPr>
            <a:r>
              <a:rPr lang="en-US" sz="3400" cap="none" dirty="0"/>
              <a:t>From an individual writer: name, home address</a:t>
            </a:r>
          </a:p>
          <a:p>
            <a:pPr lvl="1"/>
            <a:endParaRPr lang="en-US" sz="3400" i="0" cap="none" dirty="0"/>
          </a:p>
          <a:p>
            <a:pPr marL="0" indent="0">
              <a:buNone/>
            </a:pPr>
            <a:endParaRPr lang="en-US" sz="3400" i="0" cap="none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1555" y="1223010"/>
            <a:ext cx="168148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70" dirty="0"/>
              <a:t>Da</a:t>
            </a:r>
            <a:r>
              <a:rPr sz="3600" spc="-114" dirty="0"/>
              <a:t>t</a:t>
            </a:r>
            <a:r>
              <a:rPr sz="3600" spc="-90" dirty="0"/>
              <a:t>e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304800" y="2133600"/>
            <a:ext cx="8686800" cy="378079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065" marR="568960">
              <a:lnSpc>
                <a:spcPts val="2690"/>
              </a:lnSpc>
              <a:spcBef>
                <a:spcPts val="740"/>
              </a:spcBef>
            </a:pPr>
            <a:r>
              <a:rPr sz="2800" spc="-140" dirty="0">
                <a:cs typeface="Times New Roman" panose="02020503050405090304"/>
              </a:rPr>
              <a:t>The </a:t>
            </a:r>
            <a:r>
              <a:rPr sz="2800" spc="-114" dirty="0">
                <a:cs typeface="Times New Roman" panose="02020503050405090304"/>
              </a:rPr>
              <a:t>date </a:t>
            </a:r>
            <a:r>
              <a:rPr sz="2800" spc="-180" dirty="0">
                <a:cs typeface="Times New Roman" panose="02020503050405090304"/>
              </a:rPr>
              <a:t>is </a:t>
            </a:r>
            <a:r>
              <a:rPr sz="2800" spc="-55" dirty="0">
                <a:cs typeface="Times New Roman" panose="02020503050405090304"/>
              </a:rPr>
              <a:t>written </a:t>
            </a:r>
            <a:r>
              <a:rPr sz="2800" spc="-140" dirty="0">
                <a:cs typeface="Times New Roman" panose="02020503050405090304"/>
              </a:rPr>
              <a:t>bellow </a:t>
            </a:r>
            <a:r>
              <a:rPr sz="2800" spc="-85" dirty="0">
                <a:cs typeface="Times New Roman" panose="02020503050405090304"/>
              </a:rPr>
              <a:t>the </a:t>
            </a:r>
            <a:r>
              <a:rPr sz="2800" spc="-155" dirty="0">
                <a:cs typeface="Times New Roman" panose="02020503050405090304"/>
              </a:rPr>
              <a:t>sender’s </a:t>
            </a:r>
            <a:r>
              <a:rPr sz="2800" spc="-145" dirty="0">
                <a:cs typeface="Times New Roman" panose="02020503050405090304"/>
              </a:rPr>
              <a:t>address </a:t>
            </a:r>
            <a:r>
              <a:rPr sz="2800" spc="-60" dirty="0">
                <a:cs typeface="Times New Roman" panose="02020503050405090304"/>
              </a:rPr>
              <a:t>- </a:t>
            </a:r>
            <a:r>
              <a:rPr sz="2800" spc="-120" dirty="0">
                <a:cs typeface="Times New Roman" panose="02020503050405090304"/>
              </a:rPr>
              <a:t>separated </a:t>
            </a:r>
            <a:r>
              <a:rPr sz="2800" spc="-125" dirty="0">
                <a:cs typeface="Times New Roman" panose="02020503050405090304"/>
              </a:rPr>
              <a:t>from </a:t>
            </a:r>
            <a:r>
              <a:rPr sz="2800" spc="-50" dirty="0">
                <a:cs typeface="Times New Roman" panose="02020503050405090304"/>
              </a:rPr>
              <a:t>it </a:t>
            </a:r>
            <a:r>
              <a:rPr sz="2800" spc="-225" dirty="0">
                <a:cs typeface="Times New Roman" panose="02020503050405090304"/>
              </a:rPr>
              <a:t>by a</a:t>
            </a:r>
            <a:r>
              <a:rPr sz="2800" spc="75" dirty="0">
                <a:cs typeface="Times New Roman" panose="02020503050405090304"/>
              </a:rPr>
              <a:t> </a:t>
            </a:r>
            <a:r>
              <a:rPr sz="2800" spc="-130" dirty="0">
                <a:cs typeface="Times New Roman" panose="02020503050405090304"/>
              </a:rPr>
              <a:t>space.</a:t>
            </a:r>
            <a:endParaRPr sz="2800" dirty="0"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00" dirty="0">
              <a:cs typeface="Times New Roman" panose="02020503050405090304"/>
            </a:endParaRPr>
          </a:p>
          <a:p>
            <a:pPr marL="12065">
              <a:lnSpc>
                <a:spcPts val="3325"/>
              </a:lnSpc>
              <a:buClr>
                <a:srgbClr val="D24717"/>
              </a:buClr>
              <a:buSzPct val="84000"/>
              <a:tabLst>
                <a:tab pos="285750" algn="l"/>
              </a:tabLst>
            </a:pPr>
            <a:r>
              <a:rPr sz="2800" spc="-270" dirty="0">
                <a:cs typeface="Times New Roman" panose="02020503050405090304"/>
              </a:rPr>
              <a:t>T</a:t>
            </a:r>
            <a:r>
              <a:rPr lang="en-US" sz="2800" spc="-270" dirty="0">
                <a:cs typeface="Times New Roman" panose="02020503050405090304"/>
              </a:rPr>
              <a:t>hree</a:t>
            </a:r>
            <a:r>
              <a:rPr sz="2800" spc="-270" dirty="0">
                <a:cs typeface="Times New Roman" panose="02020503050405090304"/>
              </a:rPr>
              <a:t> </a:t>
            </a:r>
            <a:r>
              <a:rPr sz="2800" spc="-120" dirty="0">
                <a:cs typeface="Times New Roman" panose="02020503050405090304"/>
              </a:rPr>
              <a:t>most </a:t>
            </a:r>
            <a:r>
              <a:rPr sz="2800" spc="-145" dirty="0">
                <a:cs typeface="Times New Roman" panose="02020503050405090304"/>
              </a:rPr>
              <a:t>common</a:t>
            </a:r>
            <a:r>
              <a:rPr sz="2800" spc="-270" dirty="0">
                <a:cs typeface="Times New Roman" panose="02020503050405090304"/>
              </a:rPr>
              <a:t> </a:t>
            </a:r>
            <a:r>
              <a:rPr sz="2800" spc="-100" dirty="0">
                <a:cs typeface="Times New Roman" panose="02020503050405090304"/>
              </a:rPr>
              <a:t>forms:</a:t>
            </a:r>
            <a:endParaRPr sz="2800" dirty="0">
              <a:cs typeface="Times New Roman" panose="02020503050405090304"/>
            </a:endParaRPr>
          </a:p>
          <a:p>
            <a:pPr marL="12700">
              <a:lnSpc>
                <a:spcPts val="3290"/>
              </a:lnSpc>
            </a:pPr>
            <a:r>
              <a:rPr lang="en-US" sz="2800" b="1" spc="-40" dirty="0">
                <a:cs typeface="Times New Roman" panose="02020503050405090304"/>
              </a:rPr>
              <a:t>October </a:t>
            </a:r>
            <a:r>
              <a:rPr sz="2800" b="1" spc="-75" dirty="0">
                <a:cs typeface="Times New Roman" panose="02020503050405090304"/>
              </a:rPr>
              <a:t>27, </a:t>
            </a:r>
            <a:r>
              <a:rPr sz="2800" b="1" spc="-120" dirty="0">
                <a:cs typeface="Times New Roman" panose="02020503050405090304"/>
              </a:rPr>
              <a:t>20</a:t>
            </a:r>
            <a:r>
              <a:rPr lang="en-US" sz="2800" b="1" spc="-120" dirty="0">
                <a:cs typeface="Times New Roman" panose="02020503050405090304"/>
              </a:rPr>
              <a:t>26</a:t>
            </a:r>
            <a:endParaRPr sz="2800" dirty="0">
              <a:cs typeface="Times New Roman" panose="02020503050405090304"/>
            </a:endParaRPr>
          </a:p>
          <a:p>
            <a:pPr marL="12700">
              <a:lnSpc>
                <a:spcPts val="3325"/>
              </a:lnSpc>
            </a:pPr>
            <a:r>
              <a:rPr sz="2800" b="1" spc="-120" dirty="0">
                <a:cs typeface="Times New Roman" panose="02020503050405090304"/>
              </a:rPr>
              <a:t>27 </a:t>
            </a:r>
            <a:r>
              <a:rPr lang="en-US" sz="2800" b="1" spc="-40" dirty="0">
                <a:cs typeface="Times New Roman" panose="02020503050405090304"/>
              </a:rPr>
              <a:t>October </a:t>
            </a:r>
            <a:r>
              <a:rPr sz="2800" b="1" spc="-120" dirty="0">
                <a:cs typeface="Times New Roman" panose="02020503050405090304"/>
              </a:rPr>
              <a:t>2</a:t>
            </a:r>
            <a:r>
              <a:rPr lang="en-US" sz="2800" b="1" spc="-120" dirty="0">
                <a:cs typeface="Times New Roman" panose="02020503050405090304"/>
              </a:rPr>
              <a:t>026</a:t>
            </a:r>
          </a:p>
          <a:p>
            <a:pPr marL="12700">
              <a:lnSpc>
                <a:spcPts val="3325"/>
              </a:lnSpc>
            </a:pPr>
            <a:r>
              <a:rPr lang="en-US" sz="2800" b="1" spc="-120" dirty="0">
                <a:cs typeface="Times New Roman" panose="02020503050405090304"/>
              </a:rPr>
              <a:t>2026 October, 27</a:t>
            </a:r>
            <a:endParaRPr sz="2800" dirty="0"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350" dirty="0">
              <a:cs typeface="Times New Roman" panose="02020503050405090304"/>
            </a:endParaRPr>
          </a:p>
          <a:p>
            <a:pPr marL="12065" marR="5080">
              <a:lnSpc>
                <a:spcPts val="2690"/>
              </a:lnSpc>
              <a:buClr>
                <a:srgbClr val="D24717"/>
              </a:buClr>
              <a:buSzPct val="84000"/>
              <a:tabLst>
                <a:tab pos="285750" algn="l"/>
              </a:tabLst>
            </a:pPr>
            <a:r>
              <a:rPr sz="2800" spc="-140" dirty="0">
                <a:cs typeface="Times New Roman" panose="02020503050405090304"/>
              </a:rPr>
              <a:t>The </a:t>
            </a:r>
            <a:r>
              <a:rPr sz="2800" spc="-114" dirty="0">
                <a:cs typeface="Times New Roman" panose="02020503050405090304"/>
              </a:rPr>
              <a:t>month </a:t>
            </a:r>
            <a:r>
              <a:rPr sz="2800" spc="-185" dirty="0">
                <a:cs typeface="Times New Roman" panose="02020503050405090304"/>
              </a:rPr>
              <a:t>is </a:t>
            </a:r>
            <a:r>
              <a:rPr sz="2800" spc="-130" dirty="0">
                <a:cs typeface="Times New Roman" panose="02020503050405090304"/>
              </a:rPr>
              <a:t>never </a:t>
            </a:r>
            <a:r>
              <a:rPr sz="2800" spc="-120" dirty="0">
                <a:cs typeface="Times New Roman" panose="02020503050405090304"/>
              </a:rPr>
              <a:t>abbreviated, </a:t>
            </a:r>
            <a:r>
              <a:rPr sz="2800" spc="-85" dirty="0">
                <a:cs typeface="Times New Roman" panose="02020503050405090304"/>
              </a:rPr>
              <a:t>the </a:t>
            </a:r>
            <a:r>
              <a:rPr sz="2800" spc="-229" dirty="0">
                <a:cs typeface="Times New Roman" panose="02020503050405090304"/>
              </a:rPr>
              <a:t>day </a:t>
            </a:r>
            <a:r>
              <a:rPr sz="2800" spc="-185" dirty="0">
                <a:cs typeface="Times New Roman" panose="02020503050405090304"/>
              </a:rPr>
              <a:t>is </a:t>
            </a:r>
            <a:r>
              <a:rPr sz="2800" spc="-130" dirty="0">
                <a:cs typeface="Times New Roman" panose="02020503050405090304"/>
              </a:rPr>
              <a:t>never spelled </a:t>
            </a:r>
            <a:r>
              <a:rPr sz="2800" spc="-120" dirty="0">
                <a:cs typeface="Times New Roman" panose="02020503050405090304"/>
              </a:rPr>
              <a:t>out</a:t>
            </a:r>
            <a:r>
              <a:rPr sz="2800" spc="-90" dirty="0">
                <a:latin typeface="Times New Roman" panose="02020503050405090304"/>
                <a:cs typeface="Times New Roman" panose="02020503050405090304"/>
              </a:rPr>
              <a:t>.</a:t>
            </a:r>
            <a:endParaRPr sz="2800" dirty="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1066800"/>
            <a:ext cx="510286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Inside</a:t>
            </a:r>
            <a:r>
              <a:rPr spc="-270" dirty="0"/>
              <a:t> </a:t>
            </a:r>
            <a:r>
              <a:rPr lang="en-US" spc="-5" dirty="0"/>
              <a:t>A</a:t>
            </a:r>
            <a:r>
              <a:rPr spc="-5" dirty="0"/>
              <a:t>ddress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2133600"/>
            <a:ext cx="7896225" cy="3559308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2800" spc="-140" dirty="0">
                <a:cs typeface="Times New Roman" panose="02020503050405090304"/>
              </a:rPr>
              <a:t>The </a:t>
            </a:r>
            <a:r>
              <a:rPr lang="en-US" sz="2800" spc="-145" dirty="0">
                <a:cs typeface="Times New Roman" panose="02020503050405090304"/>
              </a:rPr>
              <a:t>information</a:t>
            </a:r>
            <a:r>
              <a:rPr sz="2800" spc="-145" dirty="0">
                <a:cs typeface="Times New Roman" panose="02020503050405090304"/>
              </a:rPr>
              <a:t> </a:t>
            </a:r>
            <a:r>
              <a:rPr sz="2800" spc="-165" dirty="0">
                <a:cs typeface="Times New Roman" panose="02020503050405090304"/>
              </a:rPr>
              <a:t>of </a:t>
            </a:r>
            <a:r>
              <a:rPr sz="2800" spc="-85" dirty="0">
                <a:cs typeface="Times New Roman" panose="02020503050405090304"/>
              </a:rPr>
              <a:t>the</a:t>
            </a:r>
            <a:r>
              <a:rPr sz="2800" spc="145" dirty="0">
                <a:cs typeface="Times New Roman" panose="02020503050405090304"/>
              </a:rPr>
              <a:t> </a:t>
            </a:r>
            <a:r>
              <a:rPr sz="2800" spc="-85" dirty="0">
                <a:cs typeface="Times New Roman" panose="02020503050405090304"/>
              </a:rPr>
              <a:t>recipient</a:t>
            </a:r>
            <a:r>
              <a:rPr sz="2400" spc="-85" dirty="0">
                <a:cs typeface="Times New Roman" panose="02020503050405090304"/>
              </a:rPr>
              <a:t>:</a:t>
            </a:r>
            <a:endParaRPr lang="en-US" sz="2400" spc="-85" dirty="0"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endParaRPr lang="en-US" sz="2400" spc="-85" dirty="0"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sz="2400" spc="-85" dirty="0">
                <a:cs typeface="Times New Roman" panose="02020503050405090304"/>
              </a:rPr>
              <a:t>To a company:</a:t>
            </a: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rabicParenR"/>
            </a:pPr>
            <a:r>
              <a:rPr lang="en-US" sz="2400" spc="-85" dirty="0">
                <a:cs typeface="Times New Roman" panose="02020503050405090304"/>
              </a:rPr>
              <a:t>Name</a:t>
            </a: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rabicParenR"/>
            </a:pPr>
            <a:r>
              <a:rPr lang="en-US" sz="2400" spc="-85" dirty="0">
                <a:cs typeface="Times New Roman" panose="02020503050405090304"/>
              </a:rPr>
              <a:t>Position</a:t>
            </a: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rabicParenR"/>
            </a:pPr>
            <a:r>
              <a:rPr lang="en-US" sz="2400" spc="-85" dirty="0">
                <a:cs typeface="Times New Roman" panose="02020503050405090304"/>
              </a:rPr>
              <a:t>Company’s name</a:t>
            </a: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rabicParenR"/>
            </a:pPr>
            <a:r>
              <a:rPr lang="en-US" sz="2400" spc="-85" dirty="0">
                <a:cs typeface="Times New Roman" panose="02020503050405090304"/>
              </a:rPr>
              <a:t>Company’s address</a:t>
            </a:r>
            <a:endParaRPr sz="2400" dirty="0">
              <a:cs typeface="Times New Roman" panose="02020503050405090304"/>
            </a:endParaRPr>
          </a:p>
          <a:p>
            <a:pPr marL="12065">
              <a:lnSpc>
                <a:spcPct val="100000"/>
              </a:lnSpc>
              <a:buClr>
                <a:srgbClr val="D24717"/>
              </a:buClr>
              <a:buSzPct val="85000"/>
              <a:tabLst>
                <a:tab pos="285750" algn="l"/>
              </a:tabLst>
            </a:pPr>
            <a:endParaRPr sz="3000" dirty="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066800"/>
            <a:ext cx="5088535" cy="1231106"/>
          </a:xfrm>
        </p:spPr>
        <p:txBody>
          <a:bodyPr/>
          <a:lstStyle/>
          <a:p>
            <a:r>
              <a:rPr lang="en-US" spc="-60" dirty="0"/>
              <a:t>Inside</a:t>
            </a:r>
            <a:r>
              <a:rPr lang="en-US" spc="-270" dirty="0"/>
              <a:t> </a:t>
            </a:r>
            <a:r>
              <a:rPr lang="en-US" spc="-5" dirty="0"/>
              <a:t>Address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sz="quarter" idx="13"/>
          </p:nvPr>
        </p:nvSpPr>
        <p:spPr>
          <a:xfrm>
            <a:off x="474064" y="2743200"/>
            <a:ext cx="8028305" cy="16764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515"/>
              </a:spcBef>
              <a:buNone/>
            </a:pPr>
            <a:r>
              <a:rPr lang="en-US" sz="2400" i="0" cap="none" spc="-85" dirty="0"/>
              <a:t>To an individual recipient:</a:t>
            </a: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rabicParenR"/>
            </a:pPr>
            <a:r>
              <a:rPr lang="en-US" sz="2400" i="0" cap="none" spc="-85" dirty="0"/>
              <a:t>Name</a:t>
            </a: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rabicParenR"/>
            </a:pPr>
            <a:r>
              <a:rPr lang="en-US" sz="2400" i="0" cap="none" spc="-85" dirty="0"/>
              <a:t>Home address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331" y="232623"/>
            <a:ext cx="7773338" cy="15961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0" dirty="0"/>
              <a:t>Salutat</a:t>
            </a:r>
            <a:r>
              <a:rPr spc="-90" dirty="0"/>
              <a:t>i</a:t>
            </a:r>
            <a:r>
              <a:rPr spc="-50" dirty="0"/>
              <a:t>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quarter" idx="13"/>
          </p:nvPr>
        </p:nvSpPr>
        <p:spPr>
          <a:xfrm>
            <a:off x="87630" y="1828800"/>
            <a:ext cx="8929370" cy="415163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2800" cap="none" spc="-300" dirty="0"/>
              <a:t>Example:</a:t>
            </a:r>
          </a:p>
          <a:p>
            <a:pPr marL="12700" marR="6066790">
              <a:lnSpc>
                <a:spcPts val="3630"/>
              </a:lnSpc>
              <a:spcBef>
                <a:spcPts val="160"/>
              </a:spcBef>
            </a:pPr>
            <a:r>
              <a:rPr lang="en-US" sz="2800" cap="none" spc="-35" dirty="0">
                <a:cs typeface="Times New Roman" panose="02020503050405090304"/>
              </a:rPr>
              <a:t>Dear </a:t>
            </a:r>
            <a:r>
              <a:rPr lang="en-US" sz="2800" cap="none" spc="-135" dirty="0">
                <a:cs typeface="Times New Roman" panose="02020503050405090304"/>
              </a:rPr>
              <a:t>Sir</a:t>
            </a:r>
          </a:p>
          <a:p>
            <a:pPr marL="12700" marR="6066790">
              <a:lnSpc>
                <a:spcPts val="3630"/>
              </a:lnSpc>
              <a:spcBef>
                <a:spcPts val="160"/>
              </a:spcBef>
            </a:pPr>
            <a:r>
              <a:rPr lang="en-US" sz="2800" i="1" cap="none" spc="-35" dirty="0">
                <a:cs typeface="Times New Roman" panose="02020503050405090304"/>
              </a:rPr>
              <a:t>Dear Madam </a:t>
            </a:r>
            <a:endParaRPr lang="en-US" sz="2800" i="1" cap="none" spc="-95" dirty="0"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800" cap="none" spc="-35" dirty="0">
                <a:cs typeface="Times New Roman" panose="02020503050405090304"/>
              </a:rPr>
              <a:t>Dear </a:t>
            </a:r>
            <a:r>
              <a:rPr lang="en-US" sz="2800" cap="none" spc="-114" dirty="0">
                <a:cs typeface="Times New Roman" panose="02020503050405090304"/>
              </a:rPr>
              <a:t>Sir </a:t>
            </a:r>
            <a:r>
              <a:rPr lang="en-US" sz="2800" cap="none" spc="-110" dirty="0">
                <a:cs typeface="Times New Roman" panose="02020503050405090304"/>
              </a:rPr>
              <a:t>or</a:t>
            </a:r>
            <a:r>
              <a:rPr lang="en-US" sz="2800" cap="none" spc="-95" dirty="0">
                <a:cs typeface="Times New Roman" panose="02020503050405090304"/>
              </a:rPr>
              <a:t> </a:t>
            </a:r>
            <a:r>
              <a:rPr lang="en-US" sz="2800" cap="none" spc="-90" dirty="0">
                <a:cs typeface="Times New Roman" panose="02020503050405090304"/>
              </a:rPr>
              <a:t>Madam</a:t>
            </a: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lang="en-US" sz="2800" cap="none" spc="-35" dirty="0">
                <a:cs typeface="Times New Roman" panose="02020503050405090304"/>
              </a:rPr>
              <a:t>Dear </a:t>
            </a:r>
            <a:r>
              <a:rPr lang="en-US" sz="2800" cap="none" spc="-175" dirty="0">
                <a:cs typeface="Times New Roman" panose="02020503050405090304"/>
              </a:rPr>
              <a:t>Mr.</a:t>
            </a:r>
            <a:r>
              <a:rPr lang="en-US" sz="2800" cap="none" spc="-415" dirty="0">
                <a:cs typeface="Times New Roman" panose="02020503050405090304"/>
              </a:rPr>
              <a:t> </a:t>
            </a:r>
            <a:r>
              <a:rPr lang="en-US" sz="2800" cap="none" spc="-125" dirty="0">
                <a:cs typeface="Times New Roman" panose="02020503050405090304"/>
              </a:rPr>
              <a:t>James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lang="en-US" sz="2800" cap="none" dirty="0">
              <a:cs typeface="Times New Roman" panose="02020503050405090304"/>
            </a:endParaRPr>
          </a:p>
          <a:p>
            <a:pPr marL="285115" marR="5080" indent="-273050" algn="just">
              <a:lnSpc>
                <a:spcPts val="3030"/>
              </a:lnSpc>
              <a:buClr>
                <a:srgbClr val="D24717"/>
              </a:buClr>
              <a:buSzPct val="84000"/>
              <a:buFont typeface="Arial" panose="020B0604020202090204"/>
              <a:buChar char=""/>
              <a:tabLst>
                <a:tab pos="285750" algn="l"/>
              </a:tabLst>
            </a:pPr>
            <a:r>
              <a:rPr lang="en-US" sz="2800" i="0" cap="none" spc="-175" dirty="0">
                <a:cs typeface="Times New Roman" panose="02020503050405090304"/>
              </a:rPr>
              <a:t>- Should </a:t>
            </a:r>
            <a:r>
              <a:rPr lang="en-US" sz="2800" i="0" cap="none" spc="-130" dirty="0">
                <a:cs typeface="Times New Roman" panose="02020503050405090304"/>
              </a:rPr>
              <a:t>be </a:t>
            </a:r>
            <a:r>
              <a:rPr lang="en-US" sz="2800" i="0" cap="none" spc="-55" dirty="0">
                <a:cs typeface="Times New Roman" panose="02020503050405090304"/>
              </a:rPr>
              <a:t>written </a:t>
            </a:r>
            <a:r>
              <a:rPr lang="en-US" sz="2800" i="0" cap="none" spc="-145" dirty="0">
                <a:cs typeface="Times New Roman" panose="02020503050405090304"/>
              </a:rPr>
              <a:t>below </a:t>
            </a:r>
            <a:r>
              <a:rPr lang="en-US" sz="2800" i="0" cap="none" spc="-85" dirty="0">
                <a:cs typeface="Times New Roman" panose="02020503050405090304"/>
              </a:rPr>
              <a:t>the </a:t>
            </a:r>
            <a:r>
              <a:rPr lang="en-US" sz="2800" i="0" cap="none" spc="-145" dirty="0">
                <a:cs typeface="Times New Roman" panose="02020503050405090304"/>
              </a:rPr>
              <a:t>address </a:t>
            </a:r>
            <a:r>
              <a:rPr lang="en-US" sz="2800" i="0" cap="none" spc="-160" dirty="0">
                <a:cs typeface="Times New Roman" panose="02020503050405090304"/>
              </a:rPr>
              <a:t>and </a:t>
            </a:r>
            <a:r>
              <a:rPr lang="en-US" sz="2800" i="0" cap="none" spc="-110" dirty="0">
                <a:cs typeface="Times New Roman" panose="02020503050405090304"/>
              </a:rPr>
              <a:t>with </a:t>
            </a:r>
            <a:r>
              <a:rPr lang="en-US" sz="2800" i="0" cap="none" spc="-225" dirty="0">
                <a:cs typeface="Times New Roman" panose="02020503050405090304"/>
              </a:rPr>
              <a:t>a </a:t>
            </a:r>
            <a:r>
              <a:rPr lang="en-US" sz="2800" i="0" cap="none" spc="-170" dirty="0">
                <a:cs typeface="Times New Roman" panose="02020503050405090304"/>
              </a:rPr>
              <a:t>space </a:t>
            </a:r>
            <a:r>
              <a:rPr lang="en-US" sz="2800" i="0" cap="none" spc="-165" dirty="0">
                <a:cs typeface="Times New Roman" panose="02020503050405090304"/>
              </a:rPr>
              <a:t>of </a:t>
            </a:r>
            <a:r>
              <a:rPr lang="en-US" sz="2800" i="0" cap="none" spc="-250" dirty="0">
                <a:cs typeface="Times New Roman" panose="02020503050405090304"/>
              </a:rPr>
              <a:t>one  </a:t>
            </a:r>
            <a:r>
              <a:rPr lang="en-US" sz="2800" i="0" cap="none" spc="-45" dirty="0">
                <a:cs typeface="Times New Roman" panose="02020503050405090304"/>
              </a:rPr>
              <a:t>or </a:t>
            </a:r>
            <a:r>
              <a:rPr lang="en-US" sz="2800" i="0" cap="none" spc="-114" dirty="0">
                <a:cs typeface="Times New Roman" panose="02020503050405090304"/>
              </a:rPr>
              <a:t>three </a:t>
            </a:r>
            <a:r>
              <a:rPr lang="en-US" sz="2800" i="0" cap="none" spc="-140" dirty="0">
                <a:cs typeface="Times New Roman" panose="02020503050405090304"/>
              </a:rPr>
              <a:t>lines </a:t>
            </a:r>
            <a:r>
              <a:rPr lang="en-US" sz="2800" i="0" cap="none" spc="-114" dirty="0">
                <a:cs typeface="Times New Roman" panose="02020503050405090304"/>
              </a:rPr>
              <a:t>before </a:t>
            </a:r>
            <a:r>
              <a:rPr lang="en-US" sz="2800" i="0" cap="none" spc="-85" dirty="0">
                <a:cs typeface="Times New Roman" panose="02020503050405090304"/>
              </a:rPr>
              <a:t>the </a:t>
            </a:r>
            <a:r>
              <a:rPr lang="en-US" sz="2800" i="0" cap="none" spc="-170" dirty="0">
                <a:cs typeface="Times New Roman" panose="02020503050405090304"/>
              </a:rPr>
              <a:t>subject</a:t>
            </a:r>
            <a:r>
              <a:rPr lang="en-US" sz="2800" i="0" cap="none" spc="-50" dirty="0">
                <a:cs typeface="Times New Roman" panose="02020503050405090304"/>
              </a:rPr>
              <a:t>.</a:t>
            </a:r>
          </a:p>
          <a:p>
            <a:pPr marL="285115" indent="-273050">
              <a:lnSpc>
                <a:spcPct val="100000"/>
              </a:lnSpc>
              <a:spcBef>
                <a:spcPts val="215"/>
              </a:spcBef>
              <a:buClr>
                <a:srgbClr val="D24717"/>
              </a:buClr>
              <a:buSzPct val="84000"/>
              <a:buFont typeface="Arial" panose="020B0604020202090204"/>
              <a:buChar char=""/>
              <a:tabLst>
                <a:tab pos="285750" algn="l"/>
              </a:tabLst>
            </a:pPr>
            <a:r>
              <a:rPr lang="en-US" sz="2800" i="0" cap="none" spc="-85" dirty="0">
                <a:cs typeface="Times New Roman" panose="02020503050405090304"/>
              </a:rPr>
              <a:t>- It </a:t>
            </a:r>
            <a:r>
              <a:rPr lang="en-US" sz="2800" i="0" cap="none" spc="-180" dirty="0">
                <a:cs typeface="Times New Roman" panose="02020503050405090304"/>
              </a:rPr>
              <a:t>is </a:t>
            </a:r>
            <a:r>
              <a:rPr lang="en-US" sz="2800" i="0" cap="none" spc="-155" dirty="0">
                <a:cs typeface="Times New Roman" panose="02020503050405090304"/>
              </a:rPr>
              <a:t>followed </a:t>
            </a:r>
            <a:r>
              <a:rPr lang="en-US" sz="2800" i="0" cap="none" spc="-225" dirty="0">
                <a:cs typeface="Times New Roman" panose="02020503050405090304"/>
              </a:rPr>
              <a:t>by a </a:t>
            </a:r>
            <a:r>
              <a:rPr lang="en-US" sz="2800" i="0" cap="none" spc="-170" dirty="0">
                <a:cs typeface="Times New Roman" panose="02020503050405090304"/>
              </a:rPr>
              <a:t>comma </a:t>
            </a:r>
            <a:r>
              <a:rPr lang="en-US" sz="2800" i="0" cap="none" dirty="0">
                <a:cs typeface="Times New Roman" panose="02020503050405090304"/>
              </a:rPr>
              <a:t>(,) </a:t>
            </a:r>
            <a:r>
              <a:rPr lang="en-US" sz="2800" i="0" cap="none" spc="-45" dirty="0">
                <a:cs typeface="Times New Roman" panose="02020503050405090304"/>
              </a:rPr>
              <a:t>or </a:t>
            </a:r>
            <a:r>
              <a:rPr lang="en-US" sz="2800" i="0" cap="none" spc="-225" dirty="0">
                <a:cs typeface="Times New Roman" panose="02020503050405090304"/>
              </a:rPr>
              <a:t>a</a:t>
            </a:r>
            <a:r>
              <a:rPr lang="en-US" sz="2800" i="0" cap="none" spc="20" dirty="0">
                <a:cs typeface="Times New Roman" panose="02020503050405090304"/>
              </a:rPr>
              <a:t> </a:t>
            </a:r>
            <a:r>
              <a:rPr lang="en-US" sz="2800" i="0" cap="none" spc="-130" dirty="0">
                <a:cs typeface="Times New Roman" panose="02020503050405090304"/>
              </a:rPr>
              <a:t>colon </a:t>
            </a:r>
            <a:r>
              <a:rPr lang="en-US" sz="2800" i="0" cap="none" spc="10" dirty="0">
                <a:cs typeface="Times New Roman" panose="02020503050405090304"/>
              </a:rPr>
              <a:t>(:).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0080" y="1025208"/>
            <a:ext cx="3336925" cy="565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5" dirty="0"/>
              <a:t>Subject</a:t>
            </a:r>
            <a:r>
              <a:rPr spc="-260" dirty="0"/>
              <a:t> </a:t>
            </a:r>
            <a:endParaRPr spc="-265" dirty="0"/>
          </a:p>
        </p:txBody>
      </p:sp>
      <p:sp>
        <p:nvSpPr>
          <p:cNvPr id="3" name="object 3"/>
          <p:cNvSpPr txBox="1"/>
          <p:nvPr/>
        </p:nvSpPr>
        <p:spPr>
          <a:xfrm>
            <a:off x="533400" y="1981200"/>
            <a:ext cx="7861934" cy="368236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2400" b="1" i="1" spc="-114" dirty="0">
                <a:cs typeface="Times New Roman" panose="02020503050405090304"/>
              </a:rPr>
              <a:t>Example:</a:t>
            </a:r>
            <a:endParaRPr sz="2400" dirty="0"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400" b="1" i="1" spc="-195" dirty="0">
                <a:cs typeface="Times New Roman" panose="02020503050405090304"/>
              </a:rPr>
              <a:t>SUBJECT: </a:t>
            </a:r>
            <a:r>
              <a:rPr sz="2400" b="1" i="1" spc="-100" dirty="0">
                <a:cs typeface="Times New Roman" panose="02020503050405090304"/>
              </a:rPr>
              <a:t>New Office</a:t>
            </a:r>
            <a:r>
              <a:rPr sz="2400" b="1" i="1" spc="-145" dirty="0">
                <a:cs typeface="Times New Roman" panose="02020503050405090304"/>
              </a:rPr>
              <a:t> </a:t>
            </a:r>
            <a:r>
              <a:rPr sz="2400" b="1" i="1" spc="-105" dirty="0">
                <a:cs typeface="Times New Roman" panose="02020503050405090304"/>
              </a:rPr>
              <a:t>Policy</a:t>
            </a:r>
            <a:endParaRPr sz="2400" dirty="0"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 dirty="0">
              <a:cs typeface="Times New Roman" panose="02020503050405090304"/>
            </a:endParaRPr>
          </a:p>
          <a:p>
            <a:pPr marL="12700">
              <a:lnSpc>
                <a:spcPct val="100000"/>
              </a:lnSpc>
            </a:pPr>
            <a:r>
              <a:rPr sz="3000" spc="-150" dirty="0">
                <a:cs typeface="Times New Roman" panose="02020503050405090304"/>
              </a:rPr>
              <a:t>The </a:t>
            </a:r>
            <a:r>
              <a:rPr sz="3000" spc="-135" dirty="0">
                <a:cs typeface="Times New Roman" panose="02020503050405090304"/>
              </a:rPr>
              <a:t>subject</a:t>
            </a:r>
            <a:r>
              <a:rPr sz="3000" spc="-20" dirty="0">
                <a:cs typeface="Times New Roman" panose="02020503050405090304"/>
              </a:rPr>
              <a:t> </a:t>
            </a:r>
            <a:r>
              <a:rPr sz="3000" spc="-45" dirty="0">
                <a:cs typeface="Times New Roman" panose="02020503050405090304"/>
              </a:rPr>
              <a:t>title:</a:t>
            </a:r>
            <a:endParaRPr sz="3000" dirty="0">
              <a:cs typeface="Times New Roman" panose="02020503050405090304"/>
            </a:endParaRPr>
          </a:p>
          <a:p>
            <a:pPr marL="469900" indent="-457200">
              <a:lnSpc>
                <a:spcPct val="100000"/>
              </a:lnSpc>
              <a:spcBef>
                <a:spcPts val="240"/>
              </a:spcBef>
              <a:buClr>
                <a:srgbClr val="D24717"/>
              </a:buClr>
              <a:buSzPct val="85000"/>
              <a:buFont typeface="Arial" panose="020B0604020202090204"/>
              <a:buChar char=""/>
              <a:tabLst>
                <a:tab pos="469265" algn="l"/>
                <a:tab pos="469900" algn="l"/>
              </a:tabLst>
            </a:pPr>
            <a:r>
              <a:rPr lang="en-US" sz="3000" spc="-160" dirty="0">
                <a:cs typeface="Times New Roman" panose="02020503050405090304"/>
              </a:rPr>
              <a:t>- </a:t>
            </a:r>
            <a:r>
              <a:rPr sz="3000" spc="-160" dirty="0">
                <a:cs typeface="Times New Roman" panose="02020503050405090304"/>
              </a:rPr>
              <a:t>Immediately </a:t>
            </a:r>
            <a:r>
              <a:rPr sz="3000" spc="-170" dirty="0">
                <a:cs typeface="Times New Roman" panose="02020503050405090304"/>
              </a:rPr>
              <a:t>draws </a:t>
            </a:r>
            <a:r>
              <a:rPr sz="3000" spc="-90" dirty="0">
                <a:cs typeface="Times New Roman" panose="02020503050405090304"/>
              </a:rPr>
              <a:t>attention </a:t>
            </a:r>
            <a:r>
              <a:rPr sz="3000" spc="-45" dirty="0">
                <a:cs typeface="Times New Roman" panose="02020503050405090304"/>
              </a:rPr>
              <a:t>to </a:t>
            </a:r>
            <a:r>
              <a:rPr sz="3000" spc="-90" dirty="0">
                <a:cs typeface="Times New Roman" panose="02020503050405090304"/>
              </a:rPr>
              <a:t>the </a:t>
            </a:r>
            <a:r>
              <a:rPr sz="3000" spc="-110" dirty="0">
                <a:cs typeface="Times New Roman" panose="02020503050405090304"/>
              </a:rPr>
              <a:t>topic </a:t>
            </a:r>
            <a:r>
              <a:rPr sz="3000" spc="-175" dirty="0">
                <a:cs typeface="Times New Roman" panose="02020503050405090304"/>
              </a:rPr>
              <a:t>o</a:t>
            </a:r>
            <a:r>
              <a:rPr lang="en-US" sz="3000" spc="-175" dirty="0">
                <a:cs typeface="Times New Roman" panose="02020503050405090304"/>
              </a:rPr>
              <a:t>f the document</a:t>
            </a:r>
            <a:endParaRPr sz="3000" dirty="0">
              <a:cs typeface="Times New Roman" panose="02020503050405090304"/>
            </a:endParaRPr>
          </a:p>
          <a:p>
            <a:pPr marL="469900" indent="-457200">
              <a:lnSpc>
                <a:spcPct val="100000"/>
              </a:lnSpc>
              <a:spcBef>
                <a:spcPts val="240"/>
              </a:spcBef>
              <a:buClr>
                <a:srgbClr val="D24717"/>
              </a:buClr>
              <a:buSzPct val="85000"/>
              <a:buFont typeface="Arial" panose="020B0604020202090204"/>
              <a:buChar char=""/>
              <a:tabLst>
                <a:tab pos="469265" algn="l"/>
                <a:tab pos="469900" algn="l"/>
              </a:tabLst>
            </a:pPr>
            <a:r>
              <a:rPr lang="en-US" sz="3000" spc="-150" dirty="0">
                <a:cs typeface="Times New Roman" panose="02020503050405090304"/>
              </a:rPr>
              <a:t>- </a:t>
            </a:r>
            <a:r>
              <a:rPr sz="3000" spc="-150" dirty="0">
                <a:cs typeface="Times New Roman" panose="02020503050405090304"/>
              </a:rPr>
              <a:t>Quickly </a:t>
            </a:r>
            <a:r>
              <a:rPr sz="3000" spc="-135" dirty="0">
                <a:cs typeface="Times New Roman" panose="02020503050405090304"/>
              </a:rPr>
              <a:t>identifies </a:t>
            </a:r>
            <a:r>
              <a:rPr sz="3000" spc="-90" dirty="0">
                <a:cs typeface="Times New Roman" panose="02020503050405090304"/>
              </a:rPr>
              <a:t>the </a:t>
            </a:r>
            <a:r>
              <a:rPr sz="3000" spc="-110" dirty="0">
                <a:cs typeface="Times New Roman" panose="02020503050405090304"/>
              </a:rPr>
              <a:t>purpose </a:t>
            </a:r>
            <a:r>
              <a:rPr sz="3000" spc="-175" dirty="0">
                <a:cs typeface="Times New Roman" panose="02020503050405090304"/>
              </a:rPr>
              <a:t>of </a:t>
            </a:r>
            <a:r>
              <a:rPr sz="3000" spc="-85" dirty="0">
                <a:cs typeface="Times New Roman" panose="02020503050405090304"/>
              </a:rPr>
              <a:t>the</a:t>
            </a:r>
            <a:r>
              <a:rPr sz="3000" spc="150" dirty="0">
                <a:cs typeface="Times New Roman" panose="02020503050405090304"/>
              </a:rPr>
              <a:t> </a:t>
            </a:r>
            <a:r>
              <a:rPr sz="3000" spc="-60" dirty="0">
                <a:cs typeface="Times New Roman" panose="02020503050405090304"/>
              </a:rPr>
              <a:t>letter</a:t>
            </a:r>
            <a:endParaRPr sz="3000" dirty="0">
              <a:cs typeface="Times New Roman" panose="02020503050405090304"/>
            </a:endParaRPr>
          </a:p>
          <a:p>
            <a:pPr marL="469900" indent="-457200">
              <a:lnSpc>
                <a:spcPct val="100000"/>
              </a:lnSpc>
              <a:spcBef>
                <a:spcPts val="245"/>
              </a:spcBef>
              <a:buClr>
                <a:srgbClr val="D24717"/>
              </a:buClr>
              <a:buSzPct val="85000"/>
              <a:buFont typeface="Arial" panose="020B0604020202090204"/>
              <a:buChar char=""/>
              <a:tabLst>
                <a:tab pos="469265" algn="l"/>
                <a:tab pos="469900" algn="l"/>
              </a:tabLst>
            </a:pPr>
            <a:r>
              <a:rPr lang="en-US" sz="3000" spc="-185" dirty="0">
                <a:cs typeface="Times New Roman" panose="02020503050405090304"/>
              </a:rPr>
              <a:t>- </a:t>
            </a:r>
            <a:r>
              <a:rPr sz="3000" spc="-185" dirty="0">
                <a:cs typeface="Times New Roman" panose="02020503050405090304"/>
              </a:rPr>
              <a:t>Should </a:t>
            </a:r>
            <a:r>
              <a:rPr sz="3000" spc="-140" dirty="0">
                <a:cs typeface="Times New Roman" panose="02020503050405090304"/>
              </a:rPr>
              <a:t>be </a:t>
            </a:r>
            <a:r>
              <a:rPr sz="3000" spc="-170" dirty="0">
                <a:cs typeface="Times New Roman" panose="02020503050405090304"/>
              </a:rPr>
              <a:t>only </a:t>
            </a:r>
            <a:r>
              <a:rPr sz="3000" spc="-150" dirty="0">
                <a:cs typeface="Times New Roman" panose="02020503050405090304"/>
              </a:rPr>
              <a:t>ONE</a:t>
            </a:r>
            <a:r>
              <a:rPr sz="3000" spc="170" dirty="0">
                <a:cs typeface="Times New Roman" panose="02020503050405090304"/>
              </a:rPr>
              <a:t> </a:t>
            </a:r>
            <a:r>
              <a:rPr sz="3000" spc="-95" dirty="0">
                <a:cs typeface="Times New Roman" panose="02020503050405090304"/>
              </a:rPr>
              <a:t>line.</a:t>
            </a:r>
            <a:endParaRPr sz="3000" dirty="0"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89077"/>
            <a:ext cx="70078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75" dirty="0"/>
              <a:t>Body </a:t>
            </a:r>
            <a:r>
              <a:rPr sz="3600" spc="-160" dirty="0"/>
              <a:t>of </a:t>
            </a:r>
            <a:r>
              <a:rPr sz="3600" spc="-145" dirty="0"/>
              <a:t>the</a:t>
            </a:r>
            <a:r>
              <a:rPr sz="3600" spc="-370" dirty="0"/>
              <a:t> </a:t>
            </a:r>
            <a:r>
              <a:rPr sz="3600" spc="-229" dirty="0"/>
              <a:t>letter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85800" y="1905000"/>
            <a:ext cx="7999730" cy="37439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325"/>
              </a:lnSpc>
              <a:spcBef>
                <a:spcPts val="95"/>
              </a:spcBef>
            </a:pPr>
            <a:r>
              <a:rPr sz="2800" spc="-165" dirty="0">
                <a:latin typeface="Times New Roman" panose="02020503050405090304"/>
                <a:cs typeface="Times New Roman" panose="02020503050405090304"/>
              </a:rPr>
              <a:t>Deals</a:t>
            </a:r>
            <a:r>
              <a:rPr sz="2800" spc="-80" dirty="0">
                <a:latin typeface="Times New Roman" panose="02020503050405090304"/>
                <a:cs typeface="Times New Roman" panose="02020503050405090304"/>
              </a:rPr>
              <a:t> with:</a:t>
            </a:r>
            <a:endParaRPr sz="2800" dirty="0">
              <a:latin typeface="Times New Roman" panose="02020503050405090304"/>
              <a:cs typeface="Times New Roman" panose="02020503050405090304"/>
            </a:endParaRPr>
          </a:p>
          <a:p>
            <a:pPr marL="285750" indent="-273685">
              <a:lnSpc>
                <a:spcPts val="3290"/>
              </a:lnSpc>
              <a:buClr>
                <a:srgbClr val="D24717"/>
              </a:buClr>
              <a:buSzPct val="84000"/>
              <a:buFont typeface="Arial" panose="020B0604020202090204"/>
              <a:buChar char=""/>
              <a:tabLst>
                <a:tab pos="286385" algn="l"/>
              </a:tabLst>
            </a:pPr>
            <a:r>
              <a:rPr lang="en-US" sz="2800" spc="-180" dirty="0">
                <a:latin typeface="Times New Roman" panose="02020503050405090304"/>
                <a:cs typeface="Times New Roman" panose="02020503050405090304"/>
              </a:rPr>
              <a:t>- </a:t>
            </a:r>
            <a:r>
              <a:rPr sz="2800" spc="-180" dirty="0">
                <a:latin typeface="Times New Roman" panose="02020503050405090304"/>
                <a:cs typeface="Times New Roman" panose="02020503050405090304"/>
              </a:rPr>
              <a:t>how </a:t>
            </a:r>
            <a:r>
              <a:rPr sz="2800" spc="-150" dirty="0">
                <a:latin typeface="Times New Roman" panose="02020503050405090304"/>
                <a:cs typeface="Times New Roman" panose="02020503050405090304"/>
              </a:rPr>
              <a:t>much </a:t>
            </a:r>
            <a:r>
              <a:rPr sz="2800" b="1" dirty="0">
                <a:latin typeface="Times New Roman" panose="02020503050405090304"/>
                <a:cs typeface="Times New Roman" panose="02020503050405090304"/>
              </a:rPr>
              <a:t>information </a:t>
            </a:r>
            <a:r>
              <a:rPr sz="2800" spc="-45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28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800" spc="-140" dirty="0">
                <a:latin typeface="Times New Roman" panose="02020503050405090304"/>
                <a:cs typeface="Times New Roman" panose="02020503050405090304"/>
              </a:rPr>
              <a:t>give</a:t>
            </a:r>
            <a:r>
              <a:rPr lang="en-US" sz="2800" spc="-140" dirty="0">
                <a:latin typeface="Times New Roman" panose="02020503050405090304"/>
                <a:cs typeface="Times New Roman" panose="02020503050405090304"/>
              </a:rPr>
              <a:t>?</a:t>
            </a:r>
            <a:endParaRPr sz="2800" dirty="0">
              <a:latin typeface="Times New Roman" panose="02020503050405090304"/>
              <a:cs typeface="Times New Roman" panose="02020503050405090304"/>
            </a:endParaRPr>
          </a:p>
          <a:p>
            <a:pPr marL="285750" indent="-273685">
              <a:lnSpc>
                <a:spcPts val="3290"/>
              </a:lnSpc>
              <a:buClr>
                <a:srgbClr val="D24717"/>
              </a:buClr>
              <a:buSzPct val="84000"/>
              <a:buFont typeface="Arial" panose="020B0604020202090204"/>
              <a:buChar char=""/>
              <a:tabLst>
                <a:tab pos="286385" algn="l"/>
              </a:tabLst>
            </a:pPr>
            <a:r>
              <a:rPr lang="en-US" sz="2800" spc="-140" dirty="0">
                <a:latin typeface="Times New Roman" panose="02020503050405090304"/>
                <a:cs typeface="Times New Roman" panose="02020503050405090304"/>
              </a:rPr>
              <a:t>- </a:t>
            </a:r>
            <a:r>
              <a:rPr sz="2800" spc="-140" dirty="0">
                <a:latin typeface="Times New Roman" panose="02020503050405090304"/>
                <a:cs typeface="Times New Roman" panose="02020503050405090304"/>
              </a:rPr>
              <a:t>w</a:t>
            </a:r>
            <a:r>
              <a:rPr lang="en-US" sz="2800" spc="-140" dirty="0">
                <a:latin typeface="Times New Roman" panose="02020503050405090304"/>
                <a:cs typeface="Times New Roman" panose="02020503050405090304"/>
              </a:rPr>
              <a:t>hich </a:t>
            </a:r>
            <a:r>
              <a:rPr lang="en-US" sz="2800" b="1" spc="10" dirty="0">
                <a:latin typeface="Times New Roman" panose="02020503050405090304"/>
                <a:cs typeface="Times New Roman" panose="02020503050405090304"/>
              </a:rPr>
              <a:t>approach</a:t>
            </a:r>
            <a:r>
              <a:rPr sz="2800" b="1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800" spc="-4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28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lang="en-US" sz="2800" spc="-35" dirty="0">
                <a:latin typeface="Times New Roman" panose="02020503050405090304"/>
                <a:cs typeface="Times New Roman" panose="02020503050405090304"/>
              </a:rPr>
              <a:t>be </a:t>
            </a:r>
            <a:r>
              <a:rPr sz="2800" spc="-100" dirty="0">
                <a:latin typeface="Times New Roman" panose="02020503050405090304"/>
                <a:cs typeface="Times New Roman" panose="02020503050405090304"/>
              </a:rPr>
              <a:t>use</a:t>
            </a:r>
            <a:r>
              <a:rPr lang="en-US" sz="2800" spc="-100" dirty="0">
                <a:latin typeface="Times New Roman" panose="02020503050405090304"/>
                <a:cs typeface="Times New Roman" panose="02020503050405090304"/>
              </a:rPr>
              <a:t>d?</a:t>
            </a:r>
            <a:endParaRPr sz="2800" dirty="0">
              <a:latin typeface="Times New Roman" panose="02020503050405090304"/>
              <a:cs typeface="Times New Roman" panose="02020503050405090304"/>
            </a:endParaRPr>
          </a:p>
          <a:p>
            <a:pPr marL="285750" indent="-273685">
              <a:lnSpc>
                <a:spcPts val="2990"/>
              </a:lnSpc>
              <a:buClr>
                <a:srgbClr val="D24717"/>
              </a:buClr>
              <a:buSzPct val="84000"/>
              <a:buFont typeface="Arial" panose="020B0604020202090204"/>
              <a:buChar char=""/>
              <a:tabLst>
                <a:tab pos="286385" algn="l"/>
              </a:tabLst>
            </a:pPr>
            <a:endParaRPr sz="3600" b="1" i="1" spc="-105" dirty="0">
              <a:latin typeface="Times New Roman" panose="02020503050405090304"/>
              <a:cs typeface="Times New Roman" panose="02020503050405090304"/>
            </a:endParaRPr>
          </a:p>
          <a:p>
            <a:pPr marL="285750" indent="-273685">
              <a:lnSpc>
                <a:spcPts val="2990"/>
              </a:lnSpc>
              <a:buClr>
                <a:srgbClr val="D24717"/>
              </a:buClr>
              <a:buSzPct val="84000"/>
              <a:buFont typeface="Arial" panose="020B0604020202090204"/>
              <a:buChar char=""/>
              <a:tabLst>
                <a:tab pos="286385" algn="l"/>
              </a:tabLst>
            </a:pPr>
            <a:endParaRPr sz="3600" dirty="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ts val="3315"/>
              </a:lnSpc>
            </a:pPr>
            <a:r>
              <a:rPr sz="2800" spc="-140" dirty="0">
                <a:latin typeface="Times New Roman" panose="02020503050405090304"/>
                <a:cs typeface="Times New Roman" panose="02020503050405090304"/>
              </a:rPr>
              <a:t>The </a:t>
            </a:r>
            <a:r>
              <a:rPr sz="2800" spc="-120" dirty="0">
                <a:latin typeface="Times New Roman" panose="02020503050405090304"/>
                <a:cs typeface="Times New Roman" panose="02020503050405090304"/>
              </a:rPr>
              <a:t>length</a:t>
            </a:r>
            <a:r>
              <a:rPr sz="2800" spc="-70" dirty="0">
                <a:latin typeface="Times New Roman" panose="02020503050405090304"/>
                <a:cs typeface="Times New Roman" panose="02020503050405090304"/>
              </a:rPr>
              <a:t>:</a:t>
            </a:r>
            <a:endParaRPr sz="2800" dirty="0">
              <a:latin typeface="Times New Roman" panose="02020503050405090304"/>
              <a:cs typeface="Times New Roman" panose="02020503050405090304"/>
            </a:endParaRPr>
          </a:p>
          <a:p>
            <a:pPr marL="12065" indent="0">
              <a:lnSpc>
                <a:spcPts val="3290"/>
              </a:lnSpc>
              <a:buClr>
                <a:srgbClr val="D24717"/>
              </a:buClr>
              <a:buSzPct val="84000"/>
              <a:buFont typeface="Arial" panose="020B0604020202090204"/>
              <a:buNone/>
              <a:tabLst>
                <a:tab pos="286385" algn="l"/>
              </a:tabLst>
            </a:pPr>
            <a:r>
              <a:rPr lang="en-US" sz="2800" spc="-90" dirty="0">
                <a:latin typeface="Times New Roman" panose="02020503050405090304"/>
                <a:cs typeface="Times New Roman" panose="02020503050405090304"/>
              </a:rPr>
              <a:t>- paragraphs – minimum (3) and maximum (5)</a:t>
            </a:r>
          </a:p>
          <a:p>
            <a:pPr marL="12065">
              <a:lnSpc>
                <a:spcPts val="3290"/>
              </a:lnSpc>
              <a:buClr>
                <a:srgbClr val="D24717"/>
              </a:buClr>
              <a:buSzPct val="84000"/>
              <a:tabLst>
                <a:tab pos="286385" algn="l"/>
              </a:tabLst>
            </a:pPr>
            <a:r>
              <a:rPr lang="en-US" sz="2800" spc="-90" dirty="0">
                <a:latin typeface="Times New Roman" panose="02020503050405090304"/>
                <a:cs typeface="Times New Roman" panose="02020503050405090304"/>
              </a:rPr>
              <a:t>**some letters can be written more than 5 paragraphs (persuasive)</a:t>
            </a:r>
            <a:endParaRPr sz="2800" dirty="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6600" y="796608"/>
            <a:ext cx="1877695" cy="565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5" dirty="0"/>
              <a:t>Style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22424"/>
            <a:ext cx="8145145" cy="2682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95"/>
              </a:spcBef>
              <a:buClr>
                <a:srgbClr val="D24717"/>
              </a:buClr>
              <a:buSzPct val="84000"/>
              <a:buFont typeface="Arial" panose="020B0604020202090204"/>
              <a:buChar char=""/>
              <a:tabLst>
                <a:tab pos="285750" algn="l"/>
              </a:tabLst>
            </a:pPr>
            <a:r>
              <a:rPr lang="en-US" sz="2800" spc="-240" dirty="0">
                <a:cs typeface="Times New Roman" panose="02020503050405090304"/>
              </a:rPr>
              <a:t>- </a:t>
            </a:r>
            <a:r>
              <a:rPr sz="2800" spc="-240" dirty="0">
                <a:cs typeface="Times New Roman" panose="02020503050405090304"/>
              </a:rPr>
              <a:t>Avoid </a:t>
            </a:r>
            <a:r>
              <a:rPr sz="2800" spc="-100" dirty="0">
                <a:cs typeface="Times New Roman" panose="02020503050405090304"/>
              </a:rPr>
              <a:t>jargon</a:t>
            </a:r>
            <a:r>
              <a:rPr lang="en-US" sz="2800" spc="-100" dirty="0">
                <a:cs typeface="Times New Roman" panose="02020503050405090304"/>
              </a:rPr>
              <a:t> </a:t>
            </a:r>
            <a:r>
              <a:rPr sz="2800" spc="-160" dirty="0">
                <a:cs typeface="Times New Roman" panose="02020503050405090304"/>
              </a:rPr>
              <a:t>an</a:t>
            </a:r>
            <a:r>
              <a:rPr lang="en-US" sz="2800" spc="-160" dirty="0">
                <a:cs typeface="Times New Roman" panose="02020503050405090304"/>
              </a:rPr>
              <a:t>d other unnecessary words</a:t>
            </a:r>
            <a:r>
              <a:rPr sz="2800" spc="-145" dirty="0">
                <a:cs typeface="Times New Roman" panose="02020503050405090304"/>
              </a:rPr>
              <a:t>.</a:t>
            </a:r>
            <a:endParaRPr sz="2800" dirty="0">
              <a:cs typeface="Times New Roman" panose="02020503050405090304"/>
            </a:endParaRPr>
          </a:p>
          <a:p>
            <a:pPr marL="12065">
              <a:lnSpc>
                <a:spcPct val="100000"/>
              </a:lnSpc>
              <a:buClr>
                <a:srgbClr val="D24717"/>
              </a:buClr>
              <a:buSzPct val="84000"/>
              <a:tabLst>
                <a:tab pos="285750" algn="l"/>
              </a:tabLst>
            </a:pPr>
            <a:endParaRPr sz="3350" dirty="0">
              <a:cs typeface="Times New Roman" panose="02020503050405090304"/>
            </a:endParaRPr>
          </a:p>
          <a:p>
            <a:pPr marL="285115" marR="770255" indent="-273050">
              <a:lnSpc>
                <a:spcPts val="2690"/>
              </a:lnSpc>
              <a:buClr>
                <a:srgbClr val="D24717"/>
              </a:buClr>
              <a:buSzPct val="84000"/>
              <a:buFont typeface="Arial" panose="020B0604020202090204"/>
              <a:buChar char=""/>
              <a:tabLst>
                <a:tab pos="285750" algn="l"/>
              </a:tabLst>
            </a:pPr>
            <a:r>
              <a:rPr lang="en-US" sz="2800" spc="-245" dirty="0">
                <a:cs typeface="Times New Roman" panose="02020503050405090304"/>
              </a:rPr>
              <a:t>- </a:t>
            </a:r>
            <a:r>
              <a:rPr sz="2800" spc="-245" dirty="0">
                <a:cs typeface="Times New Roman" panose="02020503050405090304"/>
              </a:rPr>
              <a:t>“</a:t>
            </a:r>
            <a:r>
              <a:rPr sz="2800" b="1" spc="-245" dirty="0">
                <a:cs typeface="Times New Roman" panose="02020503050405090304"/>
              </a:rPr>
              <a:t>We</a:t>
            </a:r>
            <a:r>
              <a:rPr sz="2800" spc="-245" dirty="0">
                <a:cs typeface="Times New Roman" panose="02020503050405090304"/>
              </a:rPr>
              <a:t>” </a:t>
            </a:r>
            <a:r>
              <a:rPr sz="2800" spc="-145" dirty="0">
                <a:cs typeface="Times New Roman" panose="02020503050405090304"/>
              </a:rPr>
              <a:t>should </a:t>
            </a:r>
            <a:r>
              <a:rPr sz="2800" spc="-130" dirty="0">
                <a:cs typeface="Times New Roman" panose="02020503050405090304"/>
              </a:rPr>
              <a:t>be </a:t>
            </a:r>
            <a:r>
              <a:rPr sz="2800" spc="-140" dirty="0">
                <a:cs typeface="Times New Roman" panose="02020503050405090304"/>
              </a:rPr>
              <a:t>used when </a:t>
            </a:r>
            <a:r>
              <a:rPr lang="en-US" sz="2800" spc="-170" dirty="0">
                <a:cs typeface="Times New Roman" panose="02020503050405090304"/>
              </a:rPr>
              <a:t>writing</a:t>
            </a:r>
            <a:r>
              <a:rPr sz="2800" spc="-170" dirty="0">
                <a:cs typeface="Times New Roman" panose="02020503050405090304"/>
              </a:rPr>
              <a:t> </a:t>
            </a:r>
            <a:r>
              <a:rPr sz="2800" spc="-120" dirty="0">
                <a:cs typeface="Times New Roman" panose="02020503050405090304"/>
              </a:rPr>
              <a:t>on </a:t>
            </a:r>
            <a:r>
              <a:rPr sz="2800" spc="-165" dirty="0">
                <a:cs typeface="Times New Roman" panose="02020503050405090304"/>
              </a:rPr>
              <a:t>behalf of </a:t>
            </a:r>
            <a:r>
              <a:rPr sz="2800" spc="-229" dirty="0">
                <a:cs typeface="Times New Roman" panose="02020503050405090304"/>
              </a:rPr>
              <a:t>your  </a:t>
            </a:r>
            <a:r>
              <a:rPr sz="2800" spc="-175" dirty="0">
                <a:cs typeface="Times New Roman" panose="02020503050405090304"/>
              </a:rPr>
              <a:t>company </a:t>
            </a:r>
            <a:r>
              <a:rPr sz="2800" spc="-45" dirty="0">
                <a:cs typeface="Times New Roman" panose="02020503050405090304"/>
              </a:rPr>
              <a:t>or </a:t>
            </a:r>
            <a:r>
              <a:rPr sz="2800" spc="-225" dirty="0">
                <a:cs typeface="Times New Roman" panose="02020503050405090304"/>
              </a:rPr>
              <a:t>a </a:t>
            </a:r>
            <a:r>
              <a:rPr sz="2800" spc="-110" dirty="0">
                <a:cs typeface="Times New Roman" panose="02020503050405090304"/>
              </a:rPr>
              <a:t>group </a:t>
            </a:r>
            <a:r>
              <a:rPr sz="2800" spc="-165" dirty="0">
                <a:cs typeface="Times New Roman" panose="02020503050405090304"/>
              </a:rPr>
              <a:t>of</a:t>
            </a:r>
            <a:r>
              <a:rPr sz="2800" spc="195" dirty="0">
                <a:cs typeface="Times New Roman" panose="02020503050405090304"/>
              </a:rPr>
              <a:t> </a:t>
            </a:r>
            <a:r>
              <a:rPr sz="2800" spc="-140" dirty="0">
                <a:cs typeface="Times New Roman" panose="02020503050405090304"/>
              </a:rPr>
              <a:t>associates.</a:t>
            </a:r>
            <a:endParaRPr lang="en-US" sz="2800" spc="-140" dirty="0">
              <a:cs typeface="Times New Roman" panose="02020503050405090304"/>
            </a:endParaRPr>
          </a:p>
          <a:p>
            <a:pPr marL="285115" marR="770255" indent="-273050">
              <a:lnSpc>
                <a:spcPts val="2690"/>
              </a:lnSpc>
              <a:buClr>
                <a:srgbClr val="D24717"/>
              </a:buClr>
              <a:buSzPct val="84000"/>
              <a:buFont typeface="Arial" panose="020B0604020202090204"/>
              <a:buChar char=""/>
              <a:tabLst>
                <a:tab pos="285750" algn="l"/>
              </a:tabLst>
            </a:pPr>
            <a:endParaRPr lang="en-US" sz="2800" spc="-140" dirty="0">
              <a:cs typeface="Times New Roman" panose="02020503050405090304"/>
            </a:endParaRPr>
          </a:p>
          <a:p>
            <a:pPr marL="285115" marR="770255" indent="-273050">
              <a:lnSpc>
                <a:spcPts val="2690"/>
              </a:lnSpc>
              <a:buClr>
                <a:srgbClr val="D24717"/>
              </a:buClr>
              <a:buSzPct val="84000"/>
              <a:buFont typeface="Arial" panose="020B0604020202090204"/>
              <a:buChar char=""/>
              <a:tabLst>
                <a:tab pos="285750" algn="l"/>
              </a:tabLst>
            </a:pPr>
            <a:r>
              <a:rPr lang="en-US" sz="2800" spc="-140" dirty="0">
                <a:cs typeface="Times New Roman" panose="02020503050405090304"/>
              </a:rPr>
              <a:t>- </a:t>
            </a:r>
            <a:r>
              <a:rPr lang="en-US" sz="2800" b="1" spc="-140" dirty="0">
                <a:cs typeface="Times New Roman" panose="02020503050405090304"/>
              </a:rPr>
              <a:t>“I”</a:t>
            </a:r>
            <a:r>
              <a:rPr lang="en-US" sz="2800" spc="-140" dirty="0">
                <a:cs typeface="Times New Roman" panose="02020503050405090304"/>
              </a:rPr>
              <a:t> should be used when writing as an individual writer.</a:t>
            </a:r>
            <a:endParaRPr sz="2800" dirty="0"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838200"/>
            <a:ext cx="6307735" cy="615553"/>
          </a:xfrm>
        </p:spPr>
        <p:txBody>
          <a:bodyPr/>
          <a:lstStyle/>
          <a:p>
            <a:r>
              <a:rPr lang="en-US" dirty="0"/>
              <a:t>Sequence/ Arrangement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sz="quarter" idx="13"/>
          </p:nvPr>
        </p:nvSpPr>
        <p:spPr>
          <a:xfrm>
            <a:off x="474064" y="2209800"/>
            <a:ext cx="8212736" cy="2133600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sz="3200" i="0" cap="none" dirty="0"/>
              <a:t>Based on the approach (direct or indirect)</a:t>
            </a:r>
          </a:p>
          <a:p>
            <a:pPr marL="914400" lvl="1" indent="-457200">
              <a:buFont typeface="Arial" panose="020B0604020202090204" pitchFamily="34" charset="0"/>
              <a:buChar char="•"/>
            </a:pPr>
            <a:r>
              <a:rPr lang="en-US" sz="2400" cap="none" dirty="0"/>
              <a:t>Direct (3 steps)</a:t>
            </a:r>
          </a:p>
          <a:p>
            <a:pPr marL="914400" lvl="1" indent="-457200">
              <a:buFont typeface="Arial" panose="020B0604020202090204" pitchFamily="34" charset="0"/>
              <a:buChar char="•"/>
            </a:pPr>
            <a:r>
              <a:rPr lang="en-US" sz="2400" i="0" cap="none" dirty="0"/>
              <a:t>Indirect (4 steps)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00" y="533083"/>
            <a:ext cx="6236970" cy="565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5" dirty="0"/>
              <a:t>Complimentary</a:t>
            </a:r>
            <a:r>
              <a:rPr spc="-250" dirty="0"/>
              <a:t> </a:t>
            </a:r>
            <a:r>
              <a:rPr spc="-65" dirty="0"/>
              <a:t>close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1295400"/>
            <a:ext cx="8221980" cy="4583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95"/>
              </a:spcBef>
            </a:pPr>
            <a:r>
              <a:rPr lang="en-US" sz="2800" i="1" spc="-300" dirty="0">
                <a:cs typeface="Times New Roman" panose="02020503050405090304"/>
              </a:rPr>
              <a:t>Options</a:t>
            </a:r>
            <a:r>
              <a:rPr sz="2800" i="1" spc="-300" dirty="0">
                <a:cs typeface="Times New Roman" panose="02020503050405090304"/>
              </a:rPr>
              <a:t>: </a:t>
            </a:r>
            <a:r>
              <a:rPr sz="2800" b="1" i="1" spc="-195" dirty="0">
                <a:cs typeface="Times New Roman" panose="02020503050405090304"/>
              </a:rPr>
              <a:t>Yours </a:t>
            </a:r>
            <a:r>
              <a:rPr sz="2800" b="1" i="1" spc="-150" dirty="0">
                <a:cs typeface="Times New Roman" panose="02020503050405090304"/>
              </a:rPr>
              <a:t>sincerely,Yours</a:t>
            </a:r>
            <a:r>
              <a:rPr sz="2800" b="1" i="1" dirty="0">
                <a:cs typeface="Times New Roman" panose="02020503050405090304"/>
              </a:rPr>
              <a:t> </a:t>
            </a:r>
            <a:r>
              <a:rPr sz="2800" b="1" i="1" spc="-55" dirty="0">
                <a:cs typeface="Times New Roman" panose="02020503050405090304"/>
              </a:rPr>
              <a:t>faithfully,</a:t>
            </a:r>
            <a:endParaRPr sz="2800" dirty="0"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000" dirty="0">
              <a:cs typeface="Times New Roman" panose="02020503050405090304"/>
            </a:endParaRPr>
          </a:p>
          <a:p>
            <a:pPr marL="285115" marR="505460" indent="-273050" algn="just">
              <a:lnSpc>
                <a:spcPts val="2880"/>
              </a:lnSpc>
              <a:buClr>
                <a:srgbClr val="D24717"/>
              </a:buClr>
              <a:buSzPct val="85000"/>
              <a:buFont typeface="Arial" panose="020B0604020202090204"/>
              <a:buChar char=""/>
              <a:tabLst>
                <a:tab pos="285750" algn="l"/>
              </a:tabLst>
            </a:pPr>
            <a:r>
              <a:rPr lang="en-US" sz="3000" spc="-220" dirty="0">
                <a:cs typeface="Times New Roman" panose="02020503050405090304"/>
              </a:rPr>
              <a:t>- </a:t>
            </a:r>
            <a:r>
              <a:rPr sz="3000" spc="-220" dirty="0">
                <a:cs typeface="Times New Roman" panose="02020503050405090304"/>
              </a:rPr>
              <a:t>If </a:t>
            </a:r>
            <a:r>
              <a:rPr sz="3000" spc="-90" dirty="0">
                <a:cs typeface="Times New Roman" panose="02020503050405090304"/>
              </a:rPr>
              <a:t>the </a:t>
            </a:r>
            <a:r>
              <a:rPr sz="3000" spc="-45" dirty="0">
                <a:cs typeface="Times New Roman" panose="02020503050405090304"/>
              </a:rPr>
              <a:t>letter </a:t>
            </a:r>
            <a:r>
              <a:rPr sz="3000" spc="-165" dirty="0">
                <a:cs typeface="Times New Roman" panose="02020503050405090304"/>
              </a:rPr>
              <a:t>begins </a:t>
            </a:r>
            <a:r>
              <a:rPr sz="3000" spc="-114" dirty="0">
                <a:cs typeface="Times New Roman" panose="02020503050405090304"/>
              </a:rPr>
              <a:t>with </a:t>
            </a:r>
            <a:r>
              <a:rPr sz="3000" b="1" i="1" spc="-40" dirty="0">
                <a:cs typeface="Times New Roman" panose="02020503050405090304"/>
              </a:rPr>
              <a:t>Dear </a:t>
            </a:r>
            <a:r>
              <a:rPr sz="3000" b="1" i="1" spc="-145" dirty="0">
                <a:cs typeface="Times New Roman" panose="02020503050405090304"/>
              </a:rPr>
              <a:t>Sir,</a:t>
            </a:r>
            <a:r>
              <a:rPr sz="3000" b="1" i="1" spc="-114" dirty="0">
                <a:cs typeface="Times New Roman" panose="02020503050405090304"/>
              </a:rPr>
              <a:t> </a:t>
            </a:r>
            <a:r>
              <a:rPr sz="3000" b="1" i="1" spc="-60" dirty="0">
                <a:cs typeface="Times New Roman" panose="02020503050405090304"/>
              </a:rPr>
              <a:t>Dear</a:t>
            </a:r>
            <a:r>
              <a:rPr lang="en-US" sz="3000" b="1" i="1" spc="-60" dirty="0">
                <a:cs typeface="Times New Roman" panose="02020503050405090304"/>
              </a:rPr>
              <a:t> </a:t>
            </a:r>
            <a:r>
              <a:rPr sz="3000" b="1" i="1" spc="-95" dirty="0">
                <a:cs typeface="Times New Roman" panose="02020503050405090304"/>
              </a:rPr>
              <a:t>Madam, </a:t>
            </a:r>
            <a:r>
              <a:rPr sz="3000" b="1" dirty="0">
                <a:cs typeface="Times New Roman" panose="02020503050405090304"/>
              </a:rPr>
              <a:t>or </a:t>
            </a:r>
            <a:r>
              <a:rPr sz="3000" b="1" i="1" spc="-40" dirty="0">
                <a:cs typeface="Times New Roman" panose="02020503050405090304"/>
              </a:rPr>
              <a:t>Dear </a:t>
            </a:r>
            <a:r>
              <a:rPr sz="3000" b="1" i="1" spc="-120" dirty="0">
                <a:cs typeface="Times New Roman" panose="02020503050405090304"/>
              </a:rPr>
              <a:t>Sir or </a:t>
            </a:r>
            <a:r>
              <a:rPr sz="3000" b="1" i="1" spc="-95" dirty="0">
                <a:cs typeface="Times New Roman" panose="02020503050405090304"/>
              </a:rPr>
              <a:t>Madam</a:t>
            </a:r>
            <a:r>
              <a:rPr sz="3000" i="1" spc="-95" dirty="0">
                <a:cs typeface="Times New Roman" panose="02020503050405090304"/>
              </a:rPr>
              <a:t>,</a:t>
            </a:r>
            <a:r>
              <a:rPr sz="3000" i="1" spc="-610" dirty="0">
                <a:cs typeface="Times New Roman" panose="02020503050405090304"/>
              </a:rPr>
              <a:t> </a:t>
            </a:r>
            <a:r>
              <a:rPr sz="3000" i="1" spc="-90" dirty="0">
                <a:cs typeface="Times New Roman" panose="02020503050405090304"/>
              </a:rPr>
              <a:t>it </a:t>
            </a:r>
            <a:r>
              <a:rPr sz="3000" spc="-135" dirty="0">
                <a:cs typeface="Times New Roman" panose="02020503050405090304"/>
              </a:rPr>
              <a:t>will </a:t>
            </a:r>
            <a:r>
              <a:rPr sz="3000" spc="-155" dirty="0">
                <a:cs typeface="Times New Roman" panose="02020503050405090304"/>
              </a:rPr>
              <a:t>close </a:t>
            </a:r>
            <a:r>
              <a:rPr sz="3000" spc="-114" dirty="0">
                <a:cs typeface="Times New Roman" panose="02020503050405090304"/>
              </a:rPr>
              <a:t>with </a:t>
            </a:r>
            <a:r>
              <a:rPr sz="3000" b="1" i="1" spc="-200" dirty="0">
                <a:cs typeface="Times New Roman" panose="02020503050405090304"/>
              </a:rPr>
              <a:t>Yours</a:t>
            </a:r>
            <a:r>
              <a:rPr sz="3000" b="1" i="1" spc="-95" dirty="0">
                <a:cs typeface="Times New Roman" panose="02020503050405090304"/>
              </a:rPr>
              <a:t> </a:t>
            </a:r>
            <a:r>
              <a:rPr sz="3000" b="1" i="1" spc="-50" dirty="0">
                <a:cs typeface="Times New Roman" panose="02020503050405090304"/>
              </a:rPr>
              <a:t>faithfully</a:t>
            </a:r>
            <a:r>
              <a:rPr sz="3000" i="1" spc="-50" dirty="0">
                <a:cs typeface="Times New Roman" panose="02020503050405090304"/>
              </a:rPr>
              <a:t>.</a:t>
            </a:r>
            <a:endParaRPr sz="3000" dirty="0"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D24717"/>
              </a:buClr>
              <a:buFont typeface="Arial" panose="020B0604020202090204"/>
              <a:buChar char=""/>
            </a:pPr>
            <a:endParaRPr sz="2900" dirty="0">
              <a:cs typeface="Times New Roman" panose="02020503050405090304"/>
            </a:endParaRPr>
          </a:p>
          <a:p>
            <a:pPr marL="285115" indent="-273050">
              <a:lnSpc>
                <a:spcPts val="3240"/>
              </a:lnSpc>
              <a:spcBef>
                <a:spcPts val="5"/>
              </a:spcBef>
              <a:buClr>
                <a:srgbClr val="D24717"/>
              </a:buClr>
              <a:buSzPct val="85000"/>
              <a:buFont typeface="Arial" panose="020B0604020202090204"/>
              <a:buChar char=""/>
              <a:tabLst>
                <a:tab pos="285750" algn="l"/>
              </a:tabLst>
            </a:pPr>
            <a:r>
              <a:rPr lang="en-US" sz="3000" spc="-220" dirty="0">
                <a:cs typeface="Times New Roman" panose="02020503050405090304"/>
              </a:rPr>
              <a:t>- </a:t>
            </a:r>
            <a:r>
              <a:rPr sz="3000" spc="-220" dirty="0">
                <a:cs typeface="Times New Roman" panose="02020503050405090304"/>
              </a:rPr>
              <a:t>If </a:t>
            </a:r>
            <a:r>
              <a:rPr sz="3000" spc="-90" dirty="0">
                <a:cs typeface="Times New Roman" panose="02020503050405090304"/>
              </a:rPr>
              <a:t>the </a:t>
            </a:r>
            <a:r>
              <a:rPr sz="3000" spc="-45" dirty="0">
                <a:cs typeface="Times New Roman" panose="02020503050405090304"/>
              </a:rPr>
              <a:t>letter </a:t>
            </a:r>
            <a:r>
              <a:rPr sz="3000" spc="-165" dirty="0">
                <a:cs typeface="Times New Roman" panose="02020503050405090304"/>
              </a:rPr>
              <a:t>begins </a:t>
            </a:r>
            <a:r>
              <a:rPr sz="3000" spc="-114" dirty="0">
                <a:cs typeface="Times New Roman" panose="02020503050405090304"/>
              </a:rPr>
              <a:t>with </a:t>
            </a:r>
            <a:r>
              <a:rPr sz="3000" spc="-125" dirty="0">
                <a:cs typeface="Times New Roman" panose="02020503050405090304"/>
              </a:rPr>
              <a:t>personal </a:t>
            </a:r>
            <a:r>
              <a:rPr sz="3000" spc="-165" dirty="0">
                <a:cs typeface="Times New Roman" panose="02020503050405090304"/>
              </a:rPr>
              <a:t>name </a:t>
            </a:r>
            <a:r>
              <a:rPr sz="3000" spc="-45" dirty="0">
                <a:cs typeface="Times New Roman" panose="02020503050405090304"/>
              </a:rPr>
              <a:t>(</a:t>
            </a:r>
            <a:r>
              <a:rPr sz="3000" b="1" i="1" spc="-45" dirty="0">
                <a:cs typeface="Times New Roman" panose="02020503050405090304"/>
              </a:rPr>
              <a:t>Dear</a:t>
            </a:r>
            <a:r>
              <a:rPr sz="3000" b="1" i="1" spc="305" dirty="0">
                <a:cs typeface="Times New Roman" panose="02020503050405090304"/>
              </a:rPr>
              <a:t> </a:t>
            </a:r>
            <a:r>
              <a:rPr sz="3000" b="1" i="1" spc="-185" dirty="0">
                <a:cs typeface="Times New Roman" panose="02020503050405090304"/>
              </a:rPr>
              <a:t>Mr.</a:t>
            </a:r>
            <a:endParaRPr sz="3000" dirty="0">
              <a:cs typeface="Times New Roman" panose="02020503050405090304"/>
            </a:endParaRPr>
          </a:p>
          <a:p>
            <a:pPr marL="285115">
              <a:lnSpc>
                <a:spcPts val="3240"/>
              </a:lnSpc>
            </a:pPr>
            <a:r>
              <a:rPr sz="3000" b="1" i="1" spc="-110" dirty="0">
                <a:cs typeface="Times New Roman" panose="02020503050405090304"/>
              </a:rPr>
              <a:t>James</a:t>
            </a:r>
            <a:r>
              <a:rPr sz="3000" spc="-110" dirty="0">
                <a:cs typeface="Times New Roman" panose="02020503050405090304"/>
              </a:rPr>
              <a:t>), </a:t>
            </a:r>
            <a:r>
              <a:rPr sz="3000" spc="-55" dirty="0">
                <a:cs typeface="Times New Roman" panose="02020503050405090304"/>
              </a:rPr>
              <a:t>it </a:t>
            </a:r>
            <a:r>
              <a:rPr sz="3000" spc="-135" dirty="0">
                <a:cs typeface="Times New Roman" panose="02020503050405090304"/>
              </a:rPr>
              <a:t>will </a:t>
            </a:r>
            <a:r>
              <a:rPr sz="3000" spc="-155" dirty="0">
                <a:cs typeface="Times New Roman" panose="02020503050405090304"/>
              </a:rPr>
              <a:t>close </a:t>
            </a:r>
            <a:r>
              <a:rPr sz="3000" spc="-114" dirty="0">
                <a:cs typeface="Times New Roman" panose="02020503050405090304"/>
              </a:rPr>
              <a:t>with </a:t>
            </a:r>
            <a:r>
              <a:rPr sz="3000" b="1" i="1" spc="-200" dirty="0">
                <a:cs typeface="Times New Roman" panose="02020503050405090304"/>
              </a:rPr>
              <a:t>Yours</a:t>
            </a:r>
            <a:r>
              <a:rPr sz="3000" b="1" i="1" spc="-55" dirty="0">
                <a:cs typeface="Times New Roman" panose="02020503050405090304"/>
              </a:rPr>
              <a:t> </a:t>
            </a:r>
            <a:r>
              <a:rPr sz="3000" b="1" i="1" spc="-90" dirty="0">
                <a:cs typeface="Times New Roman" panose="02020503050405090304"/>
              </a:rPr>
              <a:t>sincerely</a:t>
            </a:r>
            <a:r>
              <a:rPr sz="3000" spc="-90" dirty="0">
                <a:cs typeface="Times New Roman" panose="02020503050405090304"/>
              </a:rPr>
              <a:t>.</a:t>
            </a:r>
            <a:endParaRPr sz="3000" dirty="0">
              <a:cs typeface="Times New Roman" panose="02020503050405090304"/>
            </a:endParaRPr>
          </a:p>
          <a:p>
            <a:pPr>
              <a:lnSpc>
                <a:spcPct val="100000"/>
              </a:lnSpc>
            </a:pPr>
            <a:endParaRPr sz="3550" dirty="0">
              <a:cs typeface="Times New Roman" panose="02020503050405090304"/>
            </a:endParaRPr>
          </a:p>
          <a:p>
            <a:pPr marL="285115" marR="5080" indent="-273050">
              <a:lnSpc>
                <a:spcPct val="80000"/>
              </a:lnSpc>
              <a:buClr>
                <a:srgbClr val="D24717"/>
              </a:buClr>
              <a:buSzPct val="85000"/>
              <a:buFont typeface="Arial" panose="020B0604020202090204"/>
              <a:buChar char=""/>
              <a:tabLst>
                <a:tab pos="285750" algn="l"/>
              </a:tabLst>
            </a:pPr>
            <a:r>
              <a:rPr sz="3000" b="1" spc="-125" dirty="0">
                <a:cs typeface="Times New Roman" panose="02020503050405090304"/>
              </a:rPr>
              <a:t>Leave </a:t>
            </a:r>
            <a:r>
              <a:rPr lang="en-US" sz="3000" b="1" spc="35" dirty="0">
                <a:cs typeface="Times New Roman" panose="02020503050405090304"/>
              </a:rPr>
              <a:t>one</a:t>
            </a:r>
            <a:r>
              <a:rPr sz="3000" b="1" spc="35" dirty="0">
                <a:cs typeface="Times New Roman" panose="02020503050405090304"/>
              </a:rPr>
              <a:t>-three </a:t>
            </a:r>
            <a:r>
              <a:rPr sz="3000" b="1" spc="45" dirty="0">
                <a:cs typeface="Times New Roman" panose="02020503050405090304"/>
              </a:rPr>
              <a:t>line </a:t>
            </a:r>
            <a:r>
              <a:rPr sz="3000" spc="-130" dirty="0">
                <a:cs typeface="Times New Roman" panose="02020503050405090304"/>
              </a:rPr>
              <a:t>between </a:t>
            </a:r>
            <a:r>
              <a:rPr sz="3000" spc="-90" dirty="0">
                <a:cs typeface="Times New Roman" panose="02020503050405090304"/>
              </a:rPr>
              <a:t>the </a:t>
            </a:r>
            <a:r>
              <a:rPr lang="en-US" sz="3000" spc="-175" dirty="0">
                <a:cs typeface="Times New Roman" panose="02020503050405090304"/>
              </a:rPr>
              <a:t>last paragraph</a:t>
            </a:r>
            <a:r>
              <a:rPr sz="3000" spc="-175" dirty="0">
                <a:cs typeface="Times New Roman" panose="02020503050405090304"/>
              </a:rPr>
              <a:t> of </a:t>
            </a:r>
            <a:r>
              <a:rPr sz="3000" spc="-90" dirty="0">
                <a:cs typeface="Times New Roman" panose="02020503050405090304"/>
              </a:rPr>
              <a:t>the </a:t>
            </a:r>
            <a:r>
              <a:rPr sz="3000" spc="-120" dirty="0">
                <a:cs typeface="Times New Roman" panose="02020503050405090304"/>
              </a:rPr>
              <a:t>letter </a:t>
            </a:r>
            <a:r>
              <a:rPr sz="3000" spc="-165" dirty="0">
                <a:cs typeface="Times New Roman" panose="02020503050405090304"/>
              </a:rPr>
              <a:t>and </a:t>
            </a:r>
            <a:r>
              <a:rPr sz="3000" spc="-85" dirty="0">
                <a:cs typeface="Times New Roman" panose="02020503050405090304"/>
              </a:rPr>
              <a:t>the </a:t>
            </a:r>
            <a:r>
              <a:rPr sz="3000" spc="-130" dirty="0">
                <a:cs typeface="Times New Roman" panose="02020503050405090304"/>
              </a:rPr>
              <a:t>complimentary</a:t>
            </a:r>
            <a:r>
              <a:rPr sz="3000" spc="30" dirty="0">
                <a:cs typeface="Times New Roman" panose="02020503050405090304"/>
              </a:rPr>
              <a:t> </a:t>
            </a:r>
            <a:r>
              <a:rPr sz="3000" spc="-114" dirty="0">
                <a:cs typeface="Times New Roman" panose="02020503050405090304"/>
              </a:rPr>
              <a:t>close.</a:t>
            </a:r>
            <a:endParaRPr sz="3000" dirty="0"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8800" y="720408"/>
            <a:ext cx="5989320" cy="565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80" dirty="0"/>
              <a:t>Signature</a:t>
            </a:r>
            <a:r>
              <a:rPr lang="en-US" spc="-80" dirty="0"/>
              <a:t> Block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236220" y="1961515"/>
            <a:ext cx="8754110" cy="1586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080" indent="-273050" algn="just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85000"/>
              <a:buFont typeface="Arial" panose="020B0604020202090204"/>
              <a:buChar char=""/>
              <a:tabLst>
                <a:tab pos="285750" algn="l"/>
              </a:tabLst>
            </a:pPr>
            <a:r>
              <a:rPr lang="en-US" sz="3000" spc="-150" dirty="0">
                <a:cs typeface="Times New Roman" panose="02020503050405090304"/>
              </a:rPr>
              <a:t>- </a:t>
            </a:r>
            <a:r>
              <a:rPr sz="2400" spc="-150" dirty="0">
                <a:cs typeface="Times New Roman" panose="02020503050405090304"/>
              </a:rPr>
              <a:t>The </a:t>
            </a:r>
            <a:r>
              <a:rPr sz="2400" spc="-135" dirty="0">
                <a:cs typeface="Times New Roman" panose="02020503050405090304"/>
              </a:rPr>
              <a:t>signature </a:t>
            </a:r>
            <a:r>
              <a:rPr sz="2400" spc="-155" dirty="0">
                <a:cs typeface="Times New Roman" panose="02020503050405090304"/>
              </a:rPr>
              <a:t>block consists </a:t>
            </a:r>
            <a:r>
              <a:rPr sz="2400" spc="-175" dirty="0">
                <a:cs typeface="Times New Roman" panose="02020503050405090304"/>
              </a:rPr>
              <a:t>of </a:t>
            </a:r>
            <a:r>
              <a:rPr sz="2400" spc="-130" dirty="0">
                <a:cs typeface="Times New Roman" panose="02020503050405090304"/>
              </a:rPr>
              <a:t>your </a:t>
            </a:r>
            <a:r>
              <a:rPr sz="2400" spc="-114" dirty="0">
                <a:cs typeface="Times New Roman" panose="02020503050405090304"/>
              </a:rPr>
              <a:t>signature, </a:t>
            </a:r>
            <a:r>
              <a:rPr sz="2400" spc="-165" dirty="0">
                <a:cs typeface="Times New Roman" panose="02020503050405090304"/>
              </a:rPr>
              <a:t>name </a:t>
            </a:r>
            <a:r>
              <a:rPr sz="2400" spc="-170" dirty="0">
                <a:cs typeface="Times New Roman" panose="02020503050405090304"/>
              </a:rPr>
              <a:t>and </a:t>
            </a:r>
            <a:r>
              <a:rPr sz="2400" spc="-130" dirty="0">
                <a:cs typeface="Times New Roman" panose="02020503050405090304"/>
              </a:rPr>
              <a:t>your </a:t>
            </a:r>
            <a:r>
              <a:rPr sz="2400" spc="-125" dirty="0">
                <a:cs typeface="Times New Roman" panose="02020503050405090304"/>
              </a:rPr>
              <a:t>position</a:t>
            </a:r>
            <a:r>
              <a:rPr lang="en-US" sz="2400" spc="-125" dirty="0">
                <a:cs typeface="Times New Roman" panose="02020503050405090304"/>
              </a:rPr>
              <a:t> </a:t>
            </a:r>
            <a:r>
              <a:rPr sz="2400" spc="-140" dirty="0">
                <a:cs typeface="Times New Roman" panose="02020503050405090304"/>
              </a:rPr>
              <a:t>in </a:t>
            </a:r>
            <a:r>
              <a:rPr sz="2400" spc="-90" dirty="0">
                <a:cs typeface="Times New Roman" panose="02020503050405090304"/>
              </a:rPr>
              <a:t>the</a:t>
            </a:r>
            <a:r>
              <a:rPr sz="2400" spc="235" dirty="0">
                <a:cs typeface="Times New Roman" panose="02020503050405090304"/>
              </a:rPr>
              <a:t> </a:t>
            </a:r>
            <a:r>
              <a:rPr sz="2400" spc="-65" dirty="0">
                <a:cs typeface="Times New Roman" panose="02020503050405090304"/>
              </a:rPr>
              <a:t>firm</a:t>
            </a:r>
            <a:r>
              <a:rPr lang="en-US" sz="2400" spc="-65" dirty="0">
                <a:cs typeface="Times New Roman" panose="02020503050405090304"/>
              </a:rPr>
              <a:t> (if required)</a:t>
            </a:r>
            <a:r>
              <a:rPr sz="2400" spc="-65" dirty="0">
                <a:cs typeface="Times New Roman" panose="02020503050405090304"/>
              </a:rPr>
              <a:t>.</a:t>
            </a:r>
            <a:endParaRPr sz="2400" dirty="0">
              <a:cs typeface="Times New Roman" panose="02020503050405090304"/>
            </a:endParaRPr>
          </a:p>
          <a:p>
            <a:pPr algn="just">
              <a:lnSpc>
                <a:spcPct val="100000"/>
              </a:lnSpc>
              <a:spcBef>
                <a:spcPts val="25"/>
              </a:spcBef>
              <a:buClr>
                <a:srgbClr val="D24717"/>
              </a:buClr>
              <a:buFont typeface="Arial" panose="020B0604020202090204"/>
              <a:buChar char=""/>
            </a:pPr>
            <a:endParaRPr sz="2400" dirty="0">
              <a:cs typeface="Times New Roman" panose="02020503050405090304"/>
            </a:endParaRPr>
          </a:p>
          <a:p>
            <a:pPr marL="12065" marR="36195" indent="0" algn="just">
              <a:lnSpc>
                <a:spcPct val="100000"/>
              </a:lnSpc>
              <a:spcBef>
                <a:spcPts val="5"/>
              </a:spcBef>
              <a:buClr>
                <a:srgbClr val="D24717"/>
              </a:buClr>
              <a:buSzPct val="85000"/>
              <a:buFont typeface="Arial" panose="020B0604020202090204"/>
              <a:buNone/>
              <a:tabLst>
                <a:tab pos="285750" algn="l"/>
              </a:tabLst>
            </a:pPr>
            <a:endParaRPr sz="2400" dirty="0"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5390" y="568008"/>
            <a:ext cx="4625340" cy="565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5" dirty="0"/>
              <a:t>Enclosure</a:t>
            </a:r>
            <a:r>
              <a:rPr spc="-265" dirty="0"/>
              <a:t> </a:t>
            </a:r>
            <a:r>
              <a:rPr spc="-155" dirty="0"/>
              <a:t>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8019" y="1447749"/>
            <a:ext cx="7609205" cy="407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i="1" spc="-245" dirty="0">
                <a:latin typeface="Times New Roman" panose="02020503050405090304"/>
                <a:cs typeface="Times New Roman" panose="02020503050405090304"/>
              </a:rPr>
              <a:t>Enc</a:t>
            </a:r>
            <a:r>
              <a:rPr lang="en-US" sz="3000" b="1" i="1" spc="-245" dirty="0">
                <a:latin typeface="Times New Roman" panose="02020503050405090304"/>
                <a:cs typeface="Times New Roman" panose="02020503050405090304"/>
              </a:rPr>
              <a:t>.</a:t>
            </a:r>
            <a:r>
              <a:rPr sz="3000" b="1" i="1" spc="-1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lang="en-US" sz="3000" b="1" i="1" spc="-120" dirty="0">
                <a:latin typeface="Times New Roman" panose="02020503050405090304"/>
                <a:cs typeface="Times New Roman" panose="02020503050405090304"/>
              </a:rPr>
              <a:t>2)</a:t>
            </a:r>
            <a:r>
              <a:rPr sz="3000" b="1" i="1" spc="-195" dirty="0">
                <a:latin typeface="Times New Roman" panose="02020503050405090304"/>
                <a:cs typeface="Times New Roman" panose="02020503050405090304"/>
              </a:rPr>
              <a:t>Encl</a:t>
            </a:r>
            <a:r>
              <a:rPr lang="en-US" sz="3000" b="1" i="1" spc="-195" dirty="0">
                <a:latin typeface="Times New Roman" panose="02020503050405090304"/>
                <a:cs typeface="Times New Roman" panose="02020503050405090304"/>
              </a:rPr>
              <a:t>. 3)</a:t>
            </a:r>
            <a:r>
              <a:rPr lang="en-US" sz="3000" b="1" i="1" spc="-195" dirty="0" err="1">
                <a:latin typeface="Times New Roman" panose="02020503050405090304"/>
                <a:cs typeface="Times New Roman" panose="02020503050405090304"/>
              </a:rPr>
              <a:t>Enc</a:t>
            </a:r>
            <a:r>
              <a:rPr lang="en-US" sz="3000" b="1" i="1" spc="-195" dirty="0">
                <a:latin typeface="Times New Roman" panose="02020503050405090304"/>
                <a:cs typeface="Times New Roman" panose="02020503050405090304"/>
              </a:rPr>
              <a:t>:  4)</a:t>
            </a:r>
            <a:r>
              <a:rPr lang="en-US" sz="3000" b="1" i="1" spc="-195" dirty="0" err="1">
                <a:latin typeface="Times New Roman" panose="02020503050405090304"/>
                <a:cs typeface="Times New Roman" panose="02020503050405090304"/>
              </a:rPr>
              <a:t>Encl</a:t>
            </a:r>
            <a:r>
              <a:rPr lang="en-US" sz="3000" b="1" i="1" spc="-195" dirty="0">
                <a:latin typeface="Times New Roman" panose="02020503050405090304"/>
                <a:cs typeface="Times New Roman" panose="02020503050405090304"/>
              </a:rPr>
              <a:t>:</a:t>
            </a:r>
            <a:r>
              <a:rPr sz="3000" b="1" i="1" spc="-195" dirty="0">
                <a:latin typeface="Times New Roman" panose="02020503050405090304"/>
                <a:cs typeface="Times New Roman" panose="02020503050405090304"/>
              </a:rPr>
              <a:t> </a:t>
            </a:r>
            <a:endParaRPr sz="3000" dirty="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800" dirty="0">
              <a:cs typeface="Times New Roman" panose="02020503050405090304" pitchFamily="18" charset="0"/>
            </a:endParaRPr>
          </a:p>
          <a:p>
            <a:pPr marL="12065" indent="0" algn="just">
              <a:lnSpc>
                <a:spcPct val="100000"/>
              </a:lnSpc>
              <a:buClr>
                <a:srgbClr val="D24717"/>
              </a:buClr>
              <a:buSzPct val="85000"/>
              <a:buFont typeface="Arial" panose="020B0604020202090204"/>
              <a:buNone/>
              <a:tabLst>
                <a:tab pos="285750" algn="l"/>
              </a:tabLst>
            </a:pPr>
            <a:r>
              <a:rPr lang="en-US" sz="2800" spc="-155" dirty="0">
                <a:cs typeface="Times New Roman" panose="02020503050405090304" pitchFamily="18" charset="0"/>
              </a:rPr>
              <a:t>- </a:t>
            </a:r>
            <a:r>
              <a:rPr sz="2800" spc="-155" dirty="0">
                <a:cs typeface="Times New Roman" panose="02020503050405090304" pitchFamily="18" charset="0"/>
              </a:rPr>
              <a:t>Enclosure</a:t>
            </a:r>
            <a:r>
              <a:rPr lang="en-US" sz="2800" spc="-155" dirty="0">
                <a:cs typeface="Times New Roman" panose="02020503050405090304" pitchFamily="18" charset="0"/>
              </a:rPr>
              <a:t>(</a:t>
            </a:r>
            <a:r>
              <a:rPr sz="2800" spc="-155" dirty="0">
                <a:cs typeface="Times New Roman" panose="02020503050405090304" pitchFamily="18" charset="0"/>
              </a:rPr>
              <a:t>s</a:t>
            </a:r>
            <a:r>
              <a:rPr lang="en-US" sz="2800" spc="-155" dirty="0">
                <a:cs typeface="Times New Roman" panose="02020503050405090304" pitchFamily="18" charset="0"/>
              </a:rPr>
              <a:t>) is used when the writer needs to send  secondary document (supporting document) with the letter</a:t>
            </a:r>
          </a:p>
          <a:p>
            <a:pPr marL="12065" marR="441325" indent="0" algn="just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5000"/>
              <a:buFont typeface="Arial" panose="020B0604020202090204"/>
              <a:buNone/>
              <a:tabLst>
                <a:tab pos="285750" algn="l"/>
              </a:tabLst>
            </a:pPr>
            <a:r>
              <a:rPr lang="en-US" sz="2800" spc="-190" dirty="0">
                <a:cs typeface="Times New Roman" panose="02020503050405090304" pitchFamily="18" charset="0"/>
              </a:rPr>
              <a:t>- </a:t>
            </a:r>
            <a:r>
              <a:rPr sz="2800" spc="-190" dirty="0">
                <a:cs typeface="Times New Roman" panose="02020503050405090304" pitchFamily="18" charset="0"/>
              </a:rPr>
              <a:t>They </a:t>
            </a:r>
            <a:r>
              <a:rPr sz="2800" spc="-180" dirty="0">
                <a:cs typeface="Times New Roman" panose="02020503050405090304" pitchFamily="18" charset="0"/>
              </a:rPr>
              <a:t>can </a:t>
            </a:r>
            <a:r>
              <a:rPr sz="2800" spc="-140" dirty="0">
                <a:cs typeface="Times New Roman" panose="02020503050405090304" pitchFamily="18" charset="0"/>
              </a:rPr>
              <a:t>be </a:t>
            </a:r>
            <a:r>
              <a:rPr sz="2800" spc="-120" dirty="0">
                <a:cs typeface="Times New Roman" panose="02020503050405090304" pitchFamily="18" charset="0"/>
              </a:rPr>
              <a:t>mentioned </a:t>
            </a:r>
            <a:r>
              <a:rPr sz="2800" spc="-114" dirty="0">
                <a:cs typeface="Times New Roman" panose="02020503050405090304" pitchFamily="18" charset="0"/>
              </a:rPr>
              <a:t>at </a:t>
            </a:r>
            <a:r>
              <a:rPr sz="2800" spc="-90" dirty="0">
                <a:cs typeface="Times New Roman" panose="02020503050405090304" pitchFamily="18" charset="0"/>
              </a:rPr>
              <a:t>the </a:t>
            </a:r>
            <a:r>
              <a:rPr sz="2800" spc="-85" dirty="0">
                <a:cs typeface="Times New Roman" panose="02020503050405090304" pitchFamily="18" charset="0"/>
              </a:rPr>
              <a:t>bottom </a:t>
            </a:r>
            <a:r>
              <a:rPr sz="2800" spc="-175" dirty="0">
                <a:cs typeface="Times New Roman" panose="02020503050405090304" pitchFamily="18" charset="0"/>
              </a:rPr>
              <a:t>of </a:t>
            </a:r>
            <a:r>
              <a:rPr sz="2800" spc="-90" dirty="0">
                <a:cs typeface="Times New Roman" panose="02020503050405090304" pitchFamily="18" charset="0"/>
              </a:rPr>
              <a:t>the </a:t>
            </a:r>
            <a:r>
              <a:rPr sz="2800" spc="-120" dirty="0">
                <a:cs typeface="Times New Roman" panose="02020503050405090304" pitchFamily="18" charset="0"/>
              </a:rPr>
              <a:t>letter  </a:t>
            </a:r>
            <a:r>
              <a:rPr sz="2800" spc="-105" dirty="0">
                <a:cs typeface="Times New Roman" panose="02020503050405090304" pitchFamily="18" charset="0"/>
              </a:rPr>
              <a:t>after </a:t>
            </a:r>
            <a:r>
              <a:rPr sz="2800" i="1" spc="-254" dirty="0">
                <a:cs typeface="Times New Roman" panose="02020503050405090304" pitchFamily="18" charset="0"/>
              </a:rPr>
              <a:t>Enc</a:t>
            </a:r>
            <a:r>
              <a:rPr sz="2800" spc="-254" dirty="0">
                <a:cs typeface="Times New Roman" panose="02020503050405090304" pitchFamily="18" charset="0"/>
              </a:rPr>
              <a:t>. </a:t>
            </a:r>
            <a:r>
              <a:rPr lang="en-US" sz="2800" spc="-50" dirty="0">
                <a:cs typeface="Times New Roman" panose="02020503050405090304" pitchFamily="18" charset="0"/>
              </a:rPr>
              <a:t>/</a:t>
            </a:r>
            <a:r>
              <a:rPr sz="2800" i="1" spc="-229" dirty="0">
                <a:cs typeface="Times New Roman" panose="02020503050405090304" pitchFamily="18" charset="0"/>
              </a:rPr>
              <a:t>Encl</a:t>
            </a:r>
            <a:r>
              <a:rPr lang="en-US" sz="2800" i="1" spc="-229" dirty="0">
                <a:cs typeface="Times New Roman" panose="02020503050405090304" pitchFamily="18" charset="0"/>
              </a:rPr>
              <a:t>. / </a:t>
            </a:r>
            <a:r>
              <a:rPr lang="en-US" sz="2800" i="1" spc="-229" dirty="0" err="1">
                <a:cs typeface="Times New Roman" panose="02020503050405090304" pitchFamily="18" charset="0"/>
              </a:rPr>
              <a:t>Enc</a:t>
            </a:r>
            <a:r>
              <a:rPr lang="en-US" sz="2800" i="1" spc="-229" dirty="0">
                <a:cs typeface="Times New Roman" panose="02020503050405090304" pitchFamily="18" charset="0"/>
              </a:rPr>
              <a:t>: / </a:t>
            </a:r>
            <a:r>
              <a:rPr lang="en-US" sz="2800" i="1" spc="-229" dirty="0" err="1">
                <a:cs typeface="Times New Roman" panose="02020503050405090304" pitchFamily="18" charset="0"/>
              </a:rPr>
              <a:t>Encl</a:t>
            </a:r>
            <a:r>
              <a:rPr lang="en-US" sz="2800" i="1" spc="-229" dirty="0">
                <a:cs typeface="Times New Roman" panose="02020503050405090304" pitchFamily="18" charset="0"/>
              </a:rPr>
              <a:t>:</a:t>
            </a:r>
            <a:endParaRPr sz="2800" dirty="0">
              <a:cs typeface="Times New Roman" panose="02020503050405090304" pitchFamily="18" charset="0"/>
            </a:endParaRPr>
          </a:p>
          <a:p>
            <a:pPr marL="12065" marR="5080" indent="0" algn="just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000"/>
              <a:buFont typeface="Arial" panose="020B0604020202090204"/>
              <a:buNone/>
              <a:tabLst>
                <a:tab pos="285750" algn="l"/>
              </a:tabLst>
            </a:pPr>
            <a:r>
              <a:rPr lang="en-US" sz="2800" spc="-220" dirty="0">
                <a:cs typeface="Times New Roman" panose="02020503050405090304" pitchFamily="18" charset="0"/>
              </a:rPr>
              <a:t>- </a:t>
            </a:r>
            <a:r>
              <a:rPr sz="2800" spc="-220" dirty="0">
                <a:cs typeface="Times New Roman" panose="02020503050405090304" pitchFamily="18" charset="0"/>
              </a:rPr>
              <a:t>If </a:t>
            </a:r>
            <a:r>
              <a:rPr sz="2800" spc="-80" dirty="0">
                <a:cs typeface="Times New Roman" panose="02020503050405090304" pitchFamily="18" charset="0"/>
              </a:rPr>
              <a:t>there</a:t>
            </a:r>
            <a:r>
              <a:rPr lang="en-US" sz="2800" spc="-80" dirty="0">
                <a:cs typeface="Times New Roman" panose="02020503050405090304" pitchFamily="18" charset="0"/>
              </a:rPr>
              <a:t> are few </a:t>
            </a:r>
            <a:r>
              <a:rPr sz="2800" spc="-105" dirty="0">
                <a:cs typeface="Times New Roman" panose="02020503050405090304" pitchFamily="18" charset="0"/>
              </a:rPr>
              <a:t>documents</a:t>
            </a:r>
            <a:r>
              <a:rPr lang="en-US" sz="2800" spc="-105" dirty="0">
                <a:cs typeface="Times New Roman" panose="02020503050405090304" pitchFamily="18" charset="0"/>
              </a:rPr>
              <a:t> to be enclosed</a:t>
            </a:r>
            <a:r>
              <a:rPr sz="2800" spc="-105" dirty="0">
                <a:cs typeface="Times New Roman" panose="02020503050405090304" pitchFamily="18" charset="0"/>
              </a:rPr>
              <a:t>, </a:t>
            </a:r>
            <a:r>
              <a:rPr sz="2800" spc="-100" dirty="0">
                <a:cs typeface="Times New Roman" panose="02020503050405090304" pitchFamily="18" charset="0"/>
              </a:rPr>
              <a:t>then </a:t>
            </a:r>
            <a:r>
              <a:rPr sz="2800" spc="-55" dirty="0">
                <a:cs typeface="Times New Roman" panose="02020503050405090304" pitchFamily="18" charset="0"/>
              </a:rPr>
              <a:t>it </a:t>
            </a:r>
            <a:r>
              <a:rPr sz="2800" spc="-155" dirty="0">
                <a:cs typeface="Times New Roman" panose="02020503050405090304" pitchFamily="18" charset="0"/>
              </a:rPr>
              <a:t>should </a:t>
            </a:r>
            <a:r>
              <a:rPr sz="2800" spc="-360" dirty="0">
                <a:cs typeface="Times New Roman" panose="02020503050405090304" pitchFamily="18" charset="0"/>
              </a:rPr>
              <a:t>be  </a:t>
            </a:r>
            <a:r>
              <a:rPr sz="2800" spc="-85" dirty="0">
                <a:cs typeface="Times New Roman" panose="02020503050405090304" pitchFamily="18" charset="0"/>
              </a:rPr>
              <a:t>listed</a:t>
            </a:r>
            <a:r>
              <a:rPr lang="en-US" sz="2800" spc="-85" dirty="0">
                <a:cs typeface="Times New Roman" panose="02020503050405090304" pitchFamily="18" charset="0"/>
              </a:rPr>
              <a:t> and numbered</a:t>
            </a:r>
            <a:r>
              <a:rPr sz="2800" spc="-85" dirty="0">
                <a:cs typeface="Times New Roman" panose="02020503050405090304" pitchFamily="18" charset="0"/>
              </a:rPr>
              <a:t>.</a:t>
            </a:r>
            <a:endParaRPr sz="2800" dirty="0"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18</TotalTime>
  <Words>602</Words>
  <Application>Microsoft Macintosh PowerPoint</Application>
  <PresentationFormat>On-screen Show (4:3)</PresentationFormat>
  <Paragraphs>98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Comic Sans MS</vt:lpstr>
      <vt:lpstr>Times New Roman</vt:lpstr>
      <vt:lpstr>Tw Cen MT</vt:lpstr>
      <vt:lpstr>Droplet</vt:lpstr>
      <vt:lpstr>Language of Business Writing &amp; Business Letter Writing (Formatting)</vt:lpstr>
      <vt:lpstr>PowerPoint Presentation</vt:lpstr>
      <vt:lpstr>Tone   It is important to try to get the right 'tone' in your message.   **Aim for a neutral tone </vt:lpstr>
      <vt:lpstr>Elements of a business letter</vt:lpstr>
      <vt:lpstr>Letterhead</vt:lpstr>
      <vt:lpstr>Return Address (writer’s information)</vt:lpstr>
      <vt:lpstr>Date</vt:lpstr>
      <vt:lpstr>Inside Address</vt:lpstr>
      <vt:lpstr>Inside Address</vt:lpstr>
      <vt:lpstr>Salutation</vt:lpstr>
      <vt:lpstr>Subject </vt:lpstr>
      <vt:lpstr>Body of the letter</vt:lpstr>
      <vt:lpstr>Style</vt:lpstr>
      <vt:lpstr>Sequence/ Arrangement</vt:lpstr>
      <vt:lpstr>Complimentary close</vt:lpstr>
      <vt:lpstr>Signature Block</vt:lpstr>
      <vt:lpstr>Enclosure 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 Letter Writing</dc:title>
  <dc:creator>FON</dc:creator>
  <cp:lastModifiedBy>WU YOUFAN</cp:lastModifiedBy>
  <cp:revision>24</cp:revision>
  <dcterms:created xsi:type="dcterms:W3CDTF">2025-10-22T06:35:28Z</dcterms:created>
  <dcterms:modified xsi:type="dcterms:W3CDTF">2026-06-29T16:38:48Z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2020-10-26T15:00:00Z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2022-10-26T15:00:00Z</vt:filetime>
  </property>
  <property fmtid="{D5CDD505-2E9C-101B-9397-08002B2CF9AE}" pid="5" name="ICV">
    <vt:lpwstr>836F47C28DCA577C5D11F76828148639_43</vt:lpwstr>
  </property>
  <property fmtid="{D5CDD505-2E9C-101B-9397-08002B2CF9AE}" pid="6" name="KSOProductBuildVer">
    <vt:lpwstr>1033-12.1.22554.22554</vt:lpwstr>
  </property>
</Properties>
</file>