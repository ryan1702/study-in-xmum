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3" r:id="rId12"/>
    <p:sldId id="274" r:id="rId13"/>
    <p:sldId id="276" r:id="rId14"/>
    <p:sldId id="277" r:id="rId15"/>
    <p:sldId id="278" r:id="rId16"/>
    <p:sldId id="279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CDB58A-7D92-432D-97C9-C2397D5A0398}" type="doc">
      <dgm:prSet loTypeId="urn:microsoft.com/office/officeart/2005/8/layout/rings+Icon" loCatId="relationship" qsTypeId="urn:microsoft.com/office/officeart/2005/8/quickstyle/simple1#1" qsCatId="simple" csTypeId="urn:microsoft.com/office/officeart/2005/8/colors/colorful4#1" csCatId="colorful" phldr="1"/>
      <dgm:spPr/>
      <dgm:t>
        <a:bodyPr/>
        <a:lstStyle/>
        <a:p>
          <a:endParaRPr lang="en-US"/>
        </a:p>
      </dgm:t>
    </dgm:pt>
    <dgm:pt modelId="{6E02FC41-14AE-41F6-831B-307E8E6CA055}">
      <dgm:prSet phldrT="[Text]"/>
      <dgm:spPr/>
      <dgm:t>
        <a:bodyPr/>
        <a:lstStyle/>
        <a:p>
          <a:r>
            <a:rPr lang="en-US" dirty="0"/>
            <a:t>ethos</a:t>
          </a:r>
        </a:p>
      </dgm:t>
    </dgm:pt>
    <dgm:pt modelId="{18A2709E-903A-4F46-946D-8333BDA6DE08}" type="parTrans" cxnId="{464439EA-CA58-4B2F-AB7E-37C8CFF672DE}">
      <dgm:prSet/>
      <dgm:spPr/>
      <dgm:t>
        <a:bodyPr/>
        <a:lstStyle/>
        <a:p>
          <a:endParaRPr lang="en-US"/>
        </a:p>
      </dgm:t>
    </dgm:pt>
    <dgm:pt modelId="{38944365-CF17-4CBD-9C5E-CB0B154CCEC8}" type="sibTrans" cxnId="{464439EA-CA58-4B2F-AB7E-37C8CFF672DE}">
      <dgm:prSet/>
      <dgm:spPr/>
      <dgm:t>
        <a:bodyPr/>
        <a:lstStyle/>
        <a:p>
          <a:endParaRPr lang="en-US"/>
        </a:p>
      </dgm:t>
    </dgm:pt>
    <dgm:pt modelId="{8A0FC0F1-F65E-46DD-9785-1A2AD6801A93}">
      <dgm:prSet phldrT="[Text]"/>
      <dgm:spPr/>
      <dgm:t>
        <a:bodyPr/>
        <a:lstStyle/>
        <a:p>
          <a:r>
            <a:rPr lang="en-US" dirty="0"/>
            <a:t>pathos</a:t>
          </a:r>
        </a:p>
      </dgm:t>
    </dgm:pt>
    <dgm:pt modelId="{5C6984BC-FD7D-4AF3-948B-07058840A00C}" type="parTrans" cxnId="{60B06F2B-BDB1-40D5-959E-EC31C0CD46F9}">
      <dgm:prSet/>
      <dgm:spPr/>
      <dgm:t>
        <a:bodyPr/>
        <a:lstStyle/>
        <a:p>
          <a:endParaRPr lang="en-US"/>
        </a:p>
      </dgm:t>
    </dgm:pt>
    <dgm:pt modelId="{17710ACF-8867-4934-BC74-792C5BB92E2B}" type="sibTrans" cxnId="{60B06F2B-BDB1-40D5-959E-EC31C0CD46F9}">
      <dgm:prSet/>
      <dgm:spPr/>
      <dgm:t>
        <a:bodyPr/>
        <a:lstStyle/>
        <a:p>
          <a:endParaRPr lang="en-US"/>
        </a:p>
      </dgm:t>
    </dgm:pt>
    <dgm:pt modelId="{CDEFE4C3-8DBD-46EE-ADB2-991AD88A8696}">
      <dgm:prSet phldrT="[Text]"/>
      <dgm:spPr/>
      <dgm:t>
        <a:bodyPr/>
        <a:lstStyle/>
        <a:p>
          <a:r>
            <a:rPr lang="en-US" dirty="0"/>
            <a:t>logos</a:t>
          </a:r>
        </a:p>
      </dgm:t>
    </dgm:pt>
    <dgm:pt modelId="{BA58F877-2BBC-4687-A9A5-A1AC6646FA4A}" type="parTrans" cxnId="{E940D939-CE47-4560-A9E1-0DFEE4645856}">
      <dgm:prSet/>
      <dgm:spPr/>
      <dgm:t>
        <a:bodyPr/>
        <a:lstStyle/>
        <a:p>
          <a:endParaRPr lang="en-US"/>
        </a:p>
      </dgm:t>
    </dgm:pt>
    <dgm:pt modelId="{CC927474-8E10-441F-969B-8AC5A42DB070}" type="sibTrans" cxnId="{E940D939-CE47-4560-A9E1-0DFEE4645856}">
      <dgm:prSet/>
      <dgm:spPr/>
      <dgm:t>
        <a:bodyPr/>
        <a:lstStyle/>
        <a:p>
          <a:endParaRPr lang="en-US"/>
        </a:p>
      </dgm:t>
    </dgm:pt>
    <dgm:pt modelId="{470D7516-5720-4606-8F27-39EF4F611937}" type="pres">
      <dgm:prSet presAssocID="{C0CDB58A-7D92-432D-97C9-C2397D5A0398}" presName="Name0" presStyleCnt="0">
        <dgm:presLayoutVars>
          <dgm:chMax val="7"/>
          <dgm:dir/>
          <dgm:resizeHandles val="exact"/>
        </dgm:presLayoutVars>
      </dgm:prSet>
      <dgm:spPr/>
    </dgm:pt>
    <dgm:pt modelId="{2D941015-B4C1-4C91-AA36-C8CEAA626517}" type="pres">
      <dgm:prSet presAssocID="{C0CDB58A-7D92-432D-97C9-C2397D5A0398}" presName="ellipse1" presStyleLbl="vennNode1" presStyleIdx="0" presStyleCnt="3">
        <dgm:presLayoutVars>
          <dgm:bulletEnabled val="1"/>
        </dgm:presLayoutVars>
      </dgm:prSet>
      <dgm:spPr/>
    </dgm:pt>
    <dgm:pt modelId="{48B73B2F-FC69-4D5B-B5CF-A1827D660145}" type="pres">
      <dgm:prSet presAssocID="{C0CDB58A-7D92-432D-97C9-C2397D5A0398}" presName="ellipse2" presStyleLbl="vennNode1" presStyleIdx="1" presStyleCnt="3">
        <dgm:presLayoutVars>
          <dgm:bulletEnabled val="1"/>
        </dgm:presLayoutVars>
      </dgm:prSet>
      <dgm:spPr/>
    </dgm:pt>
    <dgm:pt modelId="{ABCBC159-B5FD-46FF-9100-E10B9D732F09}" type="pres">
      <dgm:prSet presAssocID="{C0CDB58A-7D92-432D-97C9-C2397D5A0398}" presName="ellipse3" presStyleLbl="vennNode1" presStyleIdx="2" presStyleCnt="3">
        <dgm:presLayoutVars>
          <dgm:bulletEnabled val="1"/>
        </dgm:presLayoutVars>
      </dgm:prSet>
      <dgm:spPr/>
    </dgm:pt>
  </dgm:ptLst>
  <dgm:cxnLst>
    <dgm:cxn modelId="{60B06F2B-BDB1-40D5-959E-EC31C0CD46F9}" srcId="{C0CDB58A-7D92-432D-97C9-C2397D5A0398}" destId="{8A0FC0F1-F65E-46DD-9785-1A2AD6801A93}" srcOrd="1" destOrd="0" parTransId="{5C6984BC-FD7D-4AF3-948B-07058840A00C}" sibTransId="{17710ACF-8867-4934-BC74-792C5BB92E2B}"/>
    <dgm:cxn modelId="{E3650733-8959-45BA-B2A2-CDE7AA0EB6D4}" type="presOf" srcId="{6E02FC41-14AE-41F6-831B-307E8E6CA055}" destId="{2D941015-B4C1-4C91-AA36-C8CEAA626517}" srcOrd="0" destOrd="0" presId="urn:microsoft.com/office/officeart/2005/8/layout/rings+Icon"/>
    <dgm:cxn modelId="{E940D939-CE47-4560-A9E1-0DFEE4645856}" srcId="{C0CDB58A-7D92-432D-97C9-C2397D5A0398}" destId="{CDEFE4C3-8DBD-46EE-ADB2-991AD88A8696}" srcOrd="2" destOrd="0" parTransId="{BA58F877-2BBC-4687-A9A5-A1AC6646FA4A}" sibTransId="{CC927474-8E10-441F-969B-8AC5A42DB070}"/>
    <dgm:cxn modelId="{C48E415F-74E3-462C-953C-3D890629D186}" type="presOf" srcId="{8A0FC0F1-F65E-46DD-9785-1A2AD6801A93}" destId="{48B73B2F-FC69-4D5B-B5CF-A1827D660145}" srcOrd="0" destOrd="0" presId="urn:microsoft.com/office/officeart/2005/8/layout/rings+Icon"/>
    <dgm:cxn modelId="{7667C986-A47B-41F1-AB50-73E63568428F}" type="presOf" srcId="{CDEFE4C3-8DBD-46EE-ADB2-991AD88A8696}" destId="{ABCBC159-B5FD-46FF-9100-E10B9D732F09}" srcOrd="0" destOrd="0" presId="urn:microsoft.com/office/officeart/2005/8/layout/rings+Icon"/>
    <dgm:cxn modelId="{59208EAA-4240-4CF6-B5A6-7F0E9B642244}" type="presOf" srcId="{C0CDB58A-7D92-432D-97C9-C2397D5A0398}" destId="{470D7516-5720-4606-8F27-39EF4F611937}" srcOrd="0" destOrd="0" presId="urn:microsoft.com/office/officeart/2005/8/layout/rings+Icon"/>
    <dgm:cxn modelId="{464439EA-CA58-4B2F-AB7E-37C8CFF672DE}" srcId="{C0CDB58A-7D92-432D-97C9-C2397D5A0398}" destId="{6E02FC41-14AE-41F6-831B-307E8E6CA055}" srcOrd="0" destOrd="0" parTransId="{18A2709E-903A-4F46-946D-8333BDA6DE08}" sibTransId="{38944365-CF17-4CBD-9C5E-CB0B154CCEC8}"/>
    <dgm:cxn modelId="{D8FA18BA-A6C6-498D-A971-82542B3104DA}" type="presParOf" srcId="{470D7516-5720-4606-8F27-39EF4F611937}" destId="{2D941015-B4C1-4C91-AA36-C8CEAA626517}" srcOrd="0" destOrd="0" presId="urn:microsoft.com/office/officeart/2005/8/layout/rings+Icon"/>
    <dgm:cxn modelId="{588E41BC-FEE6-4901-AE23-96A3289B3EBF}" type="presParOf" srcId="{470D7516-5720-4606-8F27-39EF4F611937}" destId="{48B73B2F-FC69-4D5B-B5CF-A1827D660145}" srcOrd="1" destOrd="0" presId="urn:microsoft.com/office/officeart/2005/8/layout/rings+Icon"/>
    <dgm:cxn modelId="{5A8B2BE5-51FB-4D89-8FC2-A46BB7372024}" type="presParOf" srcId="{470D7516-5720-4606-8F27-39EF4F611937}" destId="{ABCBC159-B5FD-46FF-9100-E10B9D732F09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41015-B4C1-4C91-AA36-C8CEAA626517}">
      <dsp:nvSpPr>
        <dsp:cNvPr id="0" name=""/>
        <dsp:cNvSpPr/>
      </dsp:nvSpPr>
      <dsp:spPr bwMode="white">
        <a:xfrm>
          <a:off x="1329533" y="0"/>
          <a:ext cx="1943457" cy="1943429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4">
            <a:alpha val="50000"/>
            <a:hueOff val="0"/>
            <a:satOff val="0"/>
            <a:lumOff val="0"/>
            <a:alpha val="50196"/>
          </a:schemeClr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ethos</a:t>
          </a:r>
        </a:p>
      </dsp:txBody>
      <dsp:txXfrm>
        <a:off x="1329533" y="0"/>
        <a:ext cx="1943457" cy="1943429"/>
      </dsp:txXfrm>
    </dsp:sp>
    <dsp:sp modelId="{48B73B2F-FC69-4D5B-B5CF-A1827D660145}">
      <dsp:nvSpPr>
        <dsp:cNvPr id="0" name=""/>
        <dsp:cNvSpPr/>
      </dsp:nvSpPr>
      <dsp:spPr bwMode="white">
        <a:xfrm>
          <a:off x="2329847" y="1296159"/>
          <a:ext cx="1943457" cy="1943429"/>
        </a:xfrm>
        <a:prstGeom prst="ellipse">
          <a:avLst/>
        </a:prstGeom>
        <a:solidFill>
          <a:schemeClr val="accent4">
            <a:alpha val="50000"/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4">
            <a:alpha val="50000"/>
            <a:hueOff val="5190000"/>
            <a:satOff val="-23921"/>
            <a:lumOff val="784"/>
            <a:alpha val="50196"/>
          </a:schemeClr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0489" tIns="110489" rIns="110489" bIns="110489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pathos</a:t>
          </a:r>
        </a:p>
      </dsp:txBody>
      <dsp:txXfrm>
        <a:off x="2329847" y="1296159"/>
        <a:ext cx="1943457" cy="1943429"/>
      </dsp:txXfrm>
    </dsp:sp>
    <dsp:sp modelId="{ABCBC159-B5FD-46FF-9100-E10B9D732F09}">
      <dsp:nvSpPr>
        <dsp:cNvPr id="0" name=""/>
        <dsp:cNvSpPr/>
      </dsp:nvSpPr>
      <dsp:spPr bwMode="white">
        <a:xfrm>
          <a:off x="3328979" y="0"/>
          <a:ext cx="1943457" cy="1943429"/>
        </a:xfrm>
        <a:prstGeom prst="ellipse">
          <a:avLst/>
        </a:prstGeom>
        <a:solidFill>
          <a:schemeClr val="accent4">
            <a:alpha val="50000"/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4">
            <a:alpha val="50000"/>
            <a:hueOff val="10380000"/>
            <a:satOff val="-47842"/>
            <a:lumOff val="1569"/>
            <a:alpha val="50196"/>
          </a:schemeClr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logos</a:t>
          </a:r>
        </a:p>
      </dsp:txBody>
      <dsp:txXfrm>
        <a:off x="3328979" y="0"/>
        <a:ext cx="1943457" cy="19434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32800-B72E-4269-87AE-2AC90082C6E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A2B81-F065-4850-8FD7-65F3310246F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6CC84-0466-4920-AB5C-C41F8614D23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/>
              <a:t>“the art of </a:t>
            </a:r>
            <a:r>
              <a:rPr lang="en-US" sz="1200" b="1" dirty="0"/>
              <a:t>convincing</a:t>
            </a:r>
            <a:r>
              <a:rPr lang="en-US" sz="1200" dirty="0"/>
              <a:t> </a:t>
            </a:r>
            <a:r>
              <a:rPr lang="en-US" sz="1200" b="1" dirty="0"/>
              <a:t>audience</a:t>
            </a:r>
            <a:r>
              <a:rPr lang="en-US" sz="1200" dirty="0"/>
              <a:t> that they should </a:t>
            </a:r>
            <a:r>
              <a:rPr lang="en-US" sz="1200" b="1" dirty="0"/>
              <a:t>listen to</a:t>
            </a:r>
            <a:r>
              <a:rPr lang="en-US" sz="1200" dirty="0"/>
              <a:t>, and be </a:t>
            </a:r>
            <a:r>
              <a:rPr lang="en-US" sz="1200" b="1" dirty="0"/>
              <a:t>persuaded</a:t>
            </a:r>
            <a:r>
              <a:rPr lang="en-US" sz="1200" dirty="0"/>
              <a:t> by the speaker’s/ writer’s  argument through the arrangement, delivery, and style of his/her message.”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i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MY" altLang="en-US" dirty="0"/>
              <a:t>If you use it well, your audience will easily understand what you're saying, and will be influenced by your message.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i="1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MY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6CC84-0466-4920-AB5C-C41F8614D23A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6CC84-0466-4920-AB5C-C41F8614D23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MY" dirty="0"/>
              <a:t>Ethos: building trust by establishing your credibility and authority (Writer).</a:t>
            </a:r>
          </a:p>
          <a:p>
            <a:pPr marL="228600" indent="-228600">
              <a:buAutoNum type="arabicPeriod"/>
            </a:pPr>
            <a:r>
              <a:rPr lang="en-MY" dirty="0"/>
              <a:t>Pathos: appealing to emotion by connecting with your audience through their values and interests (Audience).</a:t>
            </a:r>
          </a:p>
          <a:p>
            <a:pPr marL="228600" indent="-228600">
              <a:buAutoNum type="arabicPeriod"/>
            </a:pPr>
            <a:r>
              <a:rPr lang="en-MY" dirty="0"/>
              <a:t>Logos: appealing to your audience's intelligence with well-constructed and clearly argued ideas (Context).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6CC84-0466-4920-AB5C-C41F8614D23A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6CC84-0466-4920-AB5C-C41F8614D23A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6CC84-0466-4920-AB5C-C41F8614D23A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Ethos-Writer</a:t>
            </a:r>
          </a:p>
          <a:p>
            <a:pPr marL="228600" indent="-228600">
              <a:buAutoNum type="arabicPeriod"/>
            </a:pPr>
            <a:r>
              <a:rPr lang="en-US" dirty="0"/>
              <a:t> Pathos-Audience</a:t>
            </a:r>
          </a:p>
          <a:p>
            <a:pPr marL="228600" indent="-228600">
              <a:buAutoNum type="arabicPeriod"/>
            </a:pPr>
            <a:r>
              <a:rPr lang="en-US" dirty="0"/>
              <a:t>Logos-Context-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audience will </a:t>
            </a:r>
            <a:r>
              <a:rPr lang="en-MY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analyze</a:t>
            </a:r>
            <a:r>
              <a:rPr lang="en-MY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your message by putting it into context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6CC84-0466-4920-AB5C-C41F8614D23A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2A4CD-1C4F-481E-95CA-232802EBE3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F4F88-6159-4670-9440-A1D6EDF47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2A4CD-1C4F-481E-95CA-232802EBE3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F4F88-6159-4670-9440-A1D6EDF47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2A4CD-1C4F-481E-95CA-232802EBE3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F4F88-6159-4670-9440-A1D6EDF47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2A4CD-1C4F-481E-95CA-232802EBE3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F4F88-6159-4670-9440-A1D6EDF47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2A4CD-1C4F-481E-95CA-232802EBE3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F4F88-6159-4670-9440-A1D6EDF47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2A4CD-1C4F-481E-95CA-232802EBE3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F4F88-6159-4670-9440-A1D6EDF47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2A4CD-1C4F-481E-95CA-232802EBE3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F4F88-6159-4670-9440-A1D6EDF47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2A4CD-1C4F-481E-95CA-232802EBE3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F4F88-6159-4670-9440-A1D6EDF47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2A4CD-1C4F-481E-95CA-232802EBE3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F4F88-6159-4670-9440-A1D6EDF47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2A4CD-1C4F-481E-95CA-232802EBE3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F4F88-6159-4670-9440-A1D6EDF47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2A4CD-1C4F-481E-95CA-232802EBE3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F4F88-6159-4670-9440-A1D6EDF47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2A4CD-1C4F-481E-95CA-232802EBE30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F4F88-6159-4670-9440-A1D6EDF4715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82881"/>
            <a:ext cx="11686032" cy="5019358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29005" y="182880"/>
            <a:ext cx="10157460" cy="2009140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4800" dirty="0">
                <a:highlight>
                  <a:srgbClr val="C0C0C0"/>
                </a:highlight>
              </a:rPr>
              <a:t>Beginnings and Basic Rhetorical Considerations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967734" y="5481638"/>
            <a:ext cx="4356100" cy="957262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3600" b="1" dirty="0"/>
              <a:t>Rhetorical Triangle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734" y="122475"/>
            <a:ext cx="10515600" cy="1075389"/>
          </a:xfrm>
        </p:spPr>
        <p:txBody>
          <a:bodyPr/>
          <a:lstStyle/>
          <a:p>
            <a:pPr algn="ctr"/>
            <a:r>
              <a:rPr lang="en-US" dirty="0"/>
              <a:t>Rhetoric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12941"/>
            <a:ext cx="7338645" cy="3632117"/>
          </a:xfrm>
        </p:spPr>
        <p:txBody>
          <a:bodyPr>
            <a:noAutofit/>
          </a:bodyPr>
          <a:lstStyle/>
          <a:p>
            <a:pPr lvl="1" algn="just"/>
            <a:r>
              <a:rPr lang="en-US" altLang="en-US" sz="4000" dirty="0"/>
              <a:t>Rhetoric: The art of </a:t>
            </a:r>
            <a:r>
              <a:rPr lang="en-US" altLang="en-US" sz="4000" b="1" dirty="0"/>
              <a:t>persuasive</a:t>
            </a:r>
            <a:r>
              <a:rPr lang="en-US" altLang="en-US" sz="4000" dirty="0"/>
              <a:t> speaking or writing.</a:t>
            </a:r>
          </a:p>
          <a:p>
            <a:pPr lvl="1" algn="just"/>
            <a:r>
              <a:rPr lang="en-US" altLang="en-US" sz="4000" dirty="0"/>
              <a:t>Using language effectively </a:t>
            </a:r>
            <a:r>
              <a:rPr lang="en-US" altLang="en-US" sz="4000" b="1" dirty="0"/>
              <a:t>to persuade</a:t>
            </a:r>
            <a:r>
              <a:rPr lang="en-US" altLang="en-US" sz="4000" dirty="0"/>
              <a:t>.</a:t>
            </a:r>
            <a:endParaRPr lang="en-US" altLang="en-US" sz="4000" b="1" dirty="0"/>
          </a:p>
          <a:p>
            <a:pPr marL="457200" lvl="1" indent="0" algn="just">
              <a:buNone/>
            </a:pPr>
            <a:endParaRPr lang="en-US" altLang="en-US" sz="4000" b="1" dirty="0"/>
          </a:p>
          <a:p>
            <a:pPr marL="457200" lvl="1" indent="0" algn="ctr">
              <a:buNone/>
            </a:pPr>
            <a:endParaRPr lang="en-US" altLang="en-US" sz="4000" b="1" dirty="0"/>
          </a:p>
          <a:p>
            <a:pPr marL="0" indent="0" algn="just">
              <a:buNone/>
            </a:pPr>
            <a:endParaRPr lang="en-MY" altLang="en-US" dirty="0"/>
          </a:p>
          <a:p>
            <a:pPr marL="0" indent="0">
              <a:buNone/>
            </a:pP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645" y="1197864"/>
            <a:ext cx="4687099" cy="52907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1412"/>
          </a:xfrm>
        </p:spPr>
        <p:txBody>
          <a:bodyPr/>
          <a:lstStyle/>
          <a:p>
            <a:pPr algn="ctr"/>
            <a:r>
              <a:rPr lang="en-US" dirty="0"/>
              <a:t>Rhetorical Triangle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63040"/>
            <a:ext cx="11403830" cy="468172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Aristotle in his book “</a:t>
            </a:r>
            <a:r>
              <a:rPr lang="en-US" i="1" dirty="0"/>
              <a:t>Rhetoric</a:t>
            </a:r>
            <a:r>
              <a:rPr lang="en-US" dirty="0"/>
              <a:t>” identified </a:t>
            </a:r>
            <a:r>
              <a:rPr lang="en-US" b="1" dirty="0"/>
              <a:t>3 persuasion methods by which people can be persuaded.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Considered together, these appeals form what later rhetoricians have called the </a:t>
            </a:r>
            <a:r>
              <a:rPr lang="en-US" b="1" dirty="0"/>
              <a:t>rhetorical triangle.</a:t>
            </a:r>
          </a:p>
        </p:txBody>
      </p:sp>
      <p:graphicFrame>
        <p:nvGraphicFramePr>
          <p:cNvPr id="5" name="Content Placeholder 4"/>
          <p:cNvGraphicFramePr/>
          <p:nvPr/>
        </p:nvGraphicFramePr>
        <p:xfrm>
          <a:off x="2395728" y="2155372"/>
          <a:ext cx="6601968" cy="3239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0566"/>
            <a:ext cx="10515600" cy="1325563"/>
          </a:xfrm>
        </p:spPr>
        <p:txBody>
          <a:bodyPr/>
          <a:lstStyle/>
          <a:p>
            <a:pPr algn="ctr"/>
            <a:r>
              <a:rPr lang="en-MY" dirty="0"/>
              <a:t>Ethos- Pathos- Logos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4880" y="1341120"/>
            <a:ext cx="10652760" cy="52563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8600" y="-88900"/>
            <a:ext cx="127381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761" y="243841"/>
            <a:ext cx="10131425" cy="1219200"/>
          </a:xfrm>
        </p:spPr>
        <p:txBody>
          <a:bodyPr/>
          <a:lstStyle/>
          <a:p>
            <a:pPr algn="ctr"/>
            <a:endParaRPr lang="en-MY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51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194"/>
            <a:ext cx="10515600" cy="1017465"/>
          </a:xfrm>
        </p:spPr>
        <p:txBody>
          <a:bodyPr/>
          <a:lstStyle/>
          <a:p>
            <a:pPr algn="ctr"/>
            <a:r>
              <a:rPr lang="en-US" dirty="0"/>
              <a:t>Ethos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954" y="914396"/>
            <a:ext cx="12063046" cy="5730144"/>
          </a:xfrm>
        </p:spPr>
        <p:txBody>
          <a:bodyPr>
            <a:normAutofit/>
          </a:bodyPr>
          <a:lstStyle/>
          <a:p>
            <a:r>
              <a:rPr lang="en-US" sz="2900" b="1" i="1" dirty="0"/>
              <a:t>Definition:</a:t>
            </a:r>
            <a:r>
              <a:rPr lang="en-US" sz="2900" i="1" dirty="0"/>
              <a:t> </a:t>
            </a:r>
            <a:r>
              <a:rPr lang="en-US" sz="2900" dirty="0"/>
              <a:t>the writer establishes </a:t>
            </a:r>
            <a:r>
              <a:rPr lang="en-US" sz="2900" b="1" dirty="0"/>
              <a:t>credibility/trustworthiness</a:t>
            </a:r>
          </a:p>
          <a:p>
            <a:pPr marL="0" indent="0">
              <a:buNone/>
            </a:pPr>
            <a:endParaRPr lang="en-US" sz="2900" dirty="0">
              <a:highlight>
                <a:srgbClr val="FFFF00"/>
              </a:highlight>
            </a:endParaRPr>
          </a:p>
          <a:p>
            <a:r>
              <a:rPr lang="en-US" sz="2900" dirty="0"/>
              <a:t>Is the author reliable and credible?</a:t>
            </a:r>
          </a:p>
          <a:p>
            <a:r>
              <a:rPr lang="en-US" sz="2900" dirty="0"/>
              <a:t>Is the author knowledgeable?</a:t>
            </a:r>
          </a:p>
          <a:p>
            <a:r>
              <a:rPr lang="en-US" sz="2900" dirty="0"/>
              <a:t>Demonstrate </a:t>
            </a:r>
            <a:r>
              <a:rPr lang="en-US" sz="2900" b="1" dirty="0"/>
              <a:t>knowledge, experience, or expertise</a:t>
            </a:r>
          </a:p>
          <a:p>
            <a:endParaRPr lang="en-US" sz="29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14799"/>
            <a:ext cx="12192000" cy="26880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66" y="91753"/>
            <a:ext cx="10131425" cy="1156755"/>
          </a:xfrm>
        </p:spPr>
        <p:txBody>
          <a:bodyPr/>
          <a:lstStyle/>
          <a:p>
            <a:pPr algn="ctr"/>
            <a:r>
              <a:rPr lang="en-US" dirty="0"/>
              <a:t>Ethos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391" y="1248509"/>
            <a:ext cx="4267340" cy="2888022"/>
          </a:xfrm>
        </p:spPr>
        <p:txBody>
          <a:bodyPr>
            <a:normAutofit/>
          </a:bodyPr>
          <a:lstStyle/>
          <a:p>
            <a:r>
              <a:rPr lang="en-US" sz="2800" dirty="0"/>
              <a:t>Professional Degree/Recognition</a:t>
            </a:r>
          </a:p>
          <a:p>
            <a:r>
              <a:rPr lang="en-US" sz="2800" dirty="0"/>
              <a:t>Years of Experience</a:t>
            </a:r>
          </a:p>
        </p:txBody>
      </p:sp>
      <p:pic>
        <p:nvPicPr>
          <p:cNvPr id="1026" name="Picture 2" descr="http://www.nathanmagnuson.com/wp-content/uploads/2014/01/Trust-M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767" y="404270"/>
            <a:ext cx="4076012" cy="166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ttp://cdn.phillymag.com/wp-content/uploads/2014/07/best-of-philly-marquee-2014-940x54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278" y="1974091"/>
            <a:ext cx="4076012" cy="234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thethinkingstick.com/images/2011/11/collegedegre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2" y="4097731"/>
            <a:ext cx="2691790" cy="251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thiederman.com/wp-content/uploads/2013/08/Finding-Common-Ground-Sign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0290" y="4601931"/>
            <a:ext cx="3734535" cy="201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www.richmondblacktop.com/wp-content/uploads/2016/01/richmond_blacktop_more_than_40_years_experience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101" y="4315630"/>
            <a:ext cx="234315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0221" y="2120467"/>
            <a:ext cx="3115540" cy="23105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283" y="4431357"/>
            <a:ext cx="2590007" cy="2236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1877"/>
            <a:ext cx="10515600" cy="958708"/>
          </a:xfrm>
        </p:spPr>
        <p:txBody>
          <a:bodyPr/>
          <a:lstStyle/>
          <a:p>
            <a:pPr algn="ctr"/>
            <a:r>
              <a:rPr lang="en-US" dirty="0"/>
              <a:t> Ethos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262" y="1160585"/>
            <a:ext cx="11136923" cy="5332289"/>
          </a:xfrm>
        </p:spPr>
        <p:txBody>
          <a:bodyPr>
            <a:normAutofit/>
          </a:bodyPr>
          <a:lstStyle/>
          <a:p>
            <a:pPr lvl="0"/>
            <a:endParaRPr lang="en-US" dirty="0"/>
          </a:p>
          <a:p>
            <a:pPr lvl="0"/>
            <a:r>
              <a:rPr lang="en-US" dirty="0"/>
              <a:t>Ethos is an appeal to ethics, and it is a means of convincing someone of the </a:t>
            </a:r>
            <a:r>
              <a:rPr lang="en-US" b="1" dirty="0"/>
              <a:t>character or credibility of the persuader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200" b="1" dirty="0"/>
              <a:t>As a doctor, I am qualified </a:t>
            </a:r>
            <a:r>
              <a:rPr lang="en-US" sz="2200" dirty="0"/>
              <a:t>to tell you that this course of treatment will likely generate the best results.“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200" b="1" dirty="0"/>
              <a:t>"My three decades of experience </a:t>
            </a:r>
            <a:r>
              <a:rPr lang="en-US" sz="2200" dirty="0"/>
              <a:t>in public service, </a:t>
            </a:r>
            <a:r>
              <a:rPr lang="en-US" sz="2200" b="1" dirty="0"/>
              <a:t>my tireless commitment </a:t>
            </a:r>
            <a:r>
              <a:rPr lang="en-US" sz="2200" dirty="0"/>
              <a:t>to the people of this community, and </a:t>
            </a:r>
            <a:r>
              <a:rPr lang="en-US" sz="2200" b="1" dirty="0"/>
              <a:t>my willingness </a:t>
            </a:r>
            <a:r>
              <a:rPr lang="en-US" sz="2200" dirty="0"/>
              <a:t>to reach across the aisle and cooperate with the opposition, </a:t>
            </a:r>
            <a:r>
              <a:rPr lang="en-US" sz="2200" b="1" dirty="0"/>
              <a:t>make me the ideal candidate </a:t>
            </a:r>
            <a:r>
              <a:rPr lang="en-US" sz="2200" dirty="0"/>
              <a:t>for your mayor.“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200" dirty="0"/>
              <a:t>"</a:t>
            </a:r>
            <a:r>
              <a:rPr lang="en-US" sz="2200" b="1" dirty="0"/>
              <a:t>The veterinarian says </a:t>
            </a:r>
            <a:r>
              <a:rPr lang="en-US" sz="2200" dirty="0"/>
              <a:t>that an Australian shepherd will be the perfect match for our active lifestyle.“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2711"/>
            <a:ext cx="10515600" cy="975042"/>
          </a:xfrm>
        </p:spPr>
        <p:txBody>
          <a:bodyPr/>
          <a:lstStyle/>
          <a:p>
            <a:pPr algn="ctr"/>
            <a:r>
              <a:rPr lang="en-MY" dirty="0"/>
              <a:t>Pathos</a:t>
            </a:r>
          </a:p>
        </p:txBody>
      </p:sp>
      <p:pic>
        <p:nvPicPr>
          <p:cNvPr id="2050" name="Picture 2" descr="Image result for patho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2031" y="1340167"/>
            <a:ext cx="11570677" cy="539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783" y="21120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Pathos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783" y="1536772"/>
            <a:ext cx="6278217" cy="4880643"/>
          </a:xfrm>
        </p:spPr>
        <p:txBody>
          <a:bodyPr>
            <a:normAutofit fontScale="85000" lnSpcReduction="20000"/>
          </a:bodyPr>
          <a:lstStyle/>
          <a:p>
            <a:r>
              <a:rPr lang="en-US" sz="2800" b="1" i="1" dirty="0"/>
              <a:t>Definition:</a:t>
            </a:r>
            <a:r>
              <a:rPr lang="en-US" sz="2800" i="1" dirty="0"/>
              <a:t> </a:t>
            </a:r>
            <a:r>
              <a:rPr lang="en-US" sz="2800" dirty="0"/>
              <a:t>the writer appeals to the </a:t>
            </a:r>
            <a:r>
              <a:rPr lang="en-US" sz="2800" b="1" dirty="0"/>
              <a:t>emotions </a:t>
            </a:r>
            <a:r>
              <a:rPr lang="en-US" sz="2800" dirty="0"/>
              <a:t>of the audience. </a:t>
            </a:r>
          </a:p>
          <a:p>
            <a:r>
              <a:rPr lang="en-US" spc="-20" dirty="0">
                <a:cs typeface="Trebuchet MS" panose="020B0603020202020204"/>
              </a:rPr>
              <a:t>Pathos</a:t>
            </a:r>
            <a:r>
              <a:rPr lang="en-US" dirty="0">
                <a:cs typeface="Trebuchet MS" panose="020B0603020202020204"/>
              </a:rPr>
              <a:t> </a:t>
            </a:r>
            <a:r>
              <a:rPr lang="en-US" spc="-5" dirty="0">
                <a:cs typeface="Trebuchet MS" panose="020B0603020202020204"/>
              </a:rPr>
              <a:t>is</a:t>
            </a:r>
            <a:r>
              <a:rPr lang="en-US" spc="-20" dirty="0">
                <a:cs typeface="Trebuchet MS" panose="020B0603020202020204"/>
              </a:rPr>
              <a:t> </a:t>
            </a:r>
            <a:r>
              <a:rPr lang="en-US" spc="-5" dirty="0">
                <a:cs typeface="Trebuchet MS" panose="020B0603020202020204"/>
              </a:rPr>
              <a:t>an</a:t>
            </a:r>
            <a:r>
              <a:rPr lang="en-US" spc="10" dirty="0">
                <a:cs typeface="Trebuchet MS" panose="020B0603020202020204"/>
              </a:rPr>
              <a:t> </a:t>
            </a:r>
            <a:r>
              <a:rPr lang="en-US" spc="-5" dirty="0">
                <a:cs typeface="Trebuchet MS" panose="020B0603020202020204"/>
              </a:rPr>
              <a:t>appeal</a:t>
            </a:r>
            <a:r>
              <a:rPr lang="en-US" spc="-15" dirty="0">
                <a:cs typeface="Trebuchet MS" panose="020B0603020202020204"/>
              </a:rPr>
              <a:t> </a:t>
            </a:r>
            <a:r>
              <a:rPr lang="en-US" spc="-5" dirty="0">
                <a:cs typeface="Trebuchet MS" panose="020B0603020202020204"/>
              </a:rPr>
              <a:t>to</a:t>
            </a:r>
            <a:r>
              <a:rPr lang="en-US" spc="-15" dirty="0">
                <a:cs typeface="Trebuchet MS" panose="020B0603020202020204"/>
              </a:rPr>
              <a:t> </a:t>
            </a:r>
            <a:r>
              <a:rPr lang="en-US" spc="-5" dirty="0">
                <a:cs typeface="Trebuchet MS" panose="020B0603020202020204"/>
              </a:rPr>
              <a:t>emotion,</a:t>
            </a:r>
            <a:r>
              <a:rPr lang="en-US" spc="10" dirty="0">
                <a:cs typeface="Trebuchet MS" panose="020B0603020202020204"/>
              </a:rPr>
              <a:t> </a:t>
            </a:r>
            <a:r>
              <a:rPr lang="en-US" spc="-5" dirty="0">
                <a:cs typeface="Trebuchet MS" panose="020B0603020202020204"/>
              </a:rPr>
              <a:t>and</a:t>
            </a:r>
            <a:r>
              <a:rPr lang="en-US" spc="5" dirty="0">
                <a:cs typeface="Trebuchet MS" panose="020B0603020202020204"/>
              </a:rPr>
              <a:t> </a:t>
            </a:r>
            <a:r>
              <a:rPr lang="en-US" spc="-5" dirty="0">
                <a:cs typeface="Trebuchet MS" panose="020B0603020202020204"/>
              </a:rPr>
              <a:t>is </a:t>
            </a:r>
            <a:r>
              <a:rPr lang="en-US" dirty="0">
                <a:cs typeface="Trebuchet MS" panose="020B0603020202020204"/>
              </a:rPr>
              <a:t>a</a:t>
            </a:r>
            <a:r>
              <a:rPr lang="en-US" spc="-15" dirty="0">
                <a:cs typeface="Trebuchet MS" panose="020B0603020202020204"/>
              </a:rPr>
              <a:t> </a:t>
            </a:r>
            <a:r>
              <a:rPr lang="en-US" dirty="0">
                <a:cs typeface="Trebuchet MS" panose="020B0603020202020204"/>
              </a:rPr>
              <a:t>way </a:t>
            </a:r>
            <a:r>
              <a:rPr lang="en-US" spc="-5" dirty="0">
                <a:cs typeface="Trebuchet MS" panose="020B0603020202020204"/>
              </a:rPr>
              <a:t>of</a:t>
            </a:r>
            <a:r>
              <a:rPr lang="en-US" spc="-10" dirty="0">
                <a:cs typeface="Trebuchet MS" panose="020B0603020202020204"/>
              </a:rPr>
              <a:t> convincing</a:t>
            </a:r>
            <a:r>
              <a:rPr lang="en-US" spc="5" dirty="0">
                <a:cs typeface="Trebuchet MS" panose="020B0603020202020204"/>
              </a:rPr>
              <a:t> </a:t>
            </a:r>
            <a:r>
              <a:rPr lang="en-US" spc="-5" dirty="0">
                <a:cs typeface="Trebuchet MS" panose="020B0603020202020204"/>
              </a:rPr>
              <a:t>an audience</a:t>
            </a:r>
            <a:r>
              <a:rPr lang="en-US" spc="10" dirty="0">
                <a:cs typeface="Trebuchet MS" panose="020B0603020202020204"/>
              </a:rPr>
              <a:t> </a:t>
            </a:r>
            <a:r>
              <a:rPr lang="en-US" spc="-5" dirty="0">
                <a:cs typeface="Trebuchet MS" panose="020B0603020202020204"/>
              </a:rPr>
              <a:t>of</a:t>
            </a:r>
            <a:r>
              <a:rPr lang="en-US" spc="-10" dirty="0">
                <a:cs typeface="Trebuchet MS" panose="020B0603020202020204"/>
              </a:rPr>
              <a:t> </a:t>
            </a:r>
            <a:r>
              <a:rPr lang="en-US" spc="-5" dirty="0">
                <a:cs typeface="Trebuchet MS" panose="020B0603020202020204"/>
              </a:rPr>
              <a:t>an</a:t>
            </a:r>
            <a:r>
              <a:rPr lang="en-US" dirty="0">
                <a:cs typeface="Trebuchet MS" panose="020B0603020202020204"/>
              </a:rPr>
              <a:t> </a:t>
            </a:r>
            <a:r>
              <a:rPr lang="en-US" spc="-5" dirty="0">
                <a:cs typeface="Trebuchet MS" panose="020B0603020202020204"/>
              </a:rPr>
              <a:t>argument</a:t>
            </a:r>
            <a:r>
              <a:rPr lang="en-US" spc="10" dirty="0">
                <a:cs typeface="Trebuchet MS" panose="020B0603020202020204"/>
              </a:rPr>
              <a:t> </a:t>
            </a:r>
            <a:r>
              <a:rPr lang="en-US" dirty="0">
                <a:cs typeface="Trebuchet MS" panose="020B0603020202020204"/>
              </a:rPr>
              <a:t>by </a:t>
            </a:r>
            <a:r>
              <a:rPr lang="en-US" spc="-525" dirty="0">
                <a:cs typeface="Trebuchet MS" panose="020B0603020202020204"/>
              </a:rPr>
              <a:t> </a:t>
            </a:r>
            <a:r>
              <a:rPr lang="en-US" spc="-5" dirty="0">
                <a:cs typeface="Trebuchet MS" panose="020B0603020202020204"/>
              </a:rPr>
              <a:t>creating an emotional</a:t>
            </a:r>
            <a:r>
              <a:rPr lang="en-US" spc="5" dirty="0">
                <a:cs typeface="Trebuchet MS" panose="020B0603020202020204"/>
              </a:rPr>
              <a:t> </a:t>
            </a:r>
            <a:r>
              <a:rPr lang="en-US" dirty="0">
                <a:cs typeface="Trebuchet MS" panose="020B0603020202020204"/>
              </a:rPr>
              <a:t>response.</a:t>
            </a:r>
          </a:p>
          <a:p>
            <a:endParaRPr lang="en-US" dirty="0">
              <a:cs typeface="Trebuchet MS" panose="020B0603020202020204"/>
            </a:endParaRPr>
          </a:p>
          <a:p>
            <a:endParaRPr lang="en-US" sz="2800" u="sng" dirty="0"/>
          </a:p>
          <a:p>
            <a:r>
              <a:rPr lang="en-US" dirty="0"/>
              <a:t>Share </a:t>
            </a:r>
            <a:r>
              <a:rPr lang="en-US" b="1" dirty="0"/>
              <a:t>personal/</a:t>
            </a:r>
            <a:r>
              <a:rPr lang="en-US" dirty="0"/>
              <a:t>real anecdotes (stories)</a:t>
            </a:r>
          </a:p>
          <a:p>
            <a:r>
              <a:rPr lang="en-US" dirty="0"/>
              <a:t>Use word choice that makes people </a:t>
            </a:r>
            <a:r>
              <a:rPr lang="en-US" b="1" dirty="0"/>
              <a:t>feel </a:t>
            </a:r>
            <a:r>
              <a:rPr lang="en-US" dirty="0"/>
              <a:t>something</a:t>
            </a:r>
          </a:p>
          <a:p>
            <a:pPr marL="0" indent="0">
              <a:buNone/>
            </a:pPr>
            <a:r>
              <a:rPr lang="en-US" sz="2800" b="1" i="1" u="sng" dirty="0"/>
              <a:t>You may also use:</a:t>
            </a:r>
          </a:p>
          <a:p>
            <a:r>
              <a:rPr lang="en-US" sz="2800" b="1" dirty="0"/>
              <a:t>descriptive </a:t>
            </a:r>
            <a:r>
              <a:rPr lang="en-US" sz="2800" dirty="0"/>
              <a:t>language</a:t>
            </a:r>
            <a:endParaRPr lang="en-US" sz="2800" u="sng" dirty="0"/>
          </a:p>
          <a:p>
            <a:r>
              <a:rPr lang="en-US" sz="2800" b="1" dirty="0"/>
              <a:t>figurative</a:t>
            </a:r>
            <a:r>
              <a:rPr lang="en-US" sz="2800" dirty="0"/>
              <a:t> language</a:t>
            </a:r>
          </a:p>
        </p:txBody>
      </p:sp>
      <p:pic>
        <p:nvPicPr>
          <p:cNvPr id="5122" name="Picture 2" descr="http://www.greenbookblog.org/wp-content/uploads/2016/03/emotion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332" y="621183"/>
            <a:ext cx="2248474" cy="505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621183"/>
            <a:ext cx="5516880" cy="57962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Descriptive language </a:t>
            </a:r>
            <a:r>
              <a:rPr lang="en-US" dirty="0"/>
              <a:t>is the art of using words and phrases to create detailed mental images, evoke emotions, and engage a reader's or listener's senses. </a:t>
            </a:r>
          </a:p>
          <a:p>
            <a:r>
              <a:rPr lang="en-US" dirty="0"/>
              <a:t>For example: </a:t>
            </a:r>
            <a:r>
              <a:rPr lang="en-US" dirty="0">
                <a:solidFill>
                  <a:srgbClr val="0070C0"/>
                </a:solidFill>
              </a:rPr>
              <a:t>Let’s help the children </a:t>
            </a:r>
            <a:r>
              <a:rPr lang="en-US" dirty="0"/>
              <a:t>VS</a:t>
            </a:r>
            <a:r>
              <a:rPr lang="en-US" dirty="0">
                <a:solidFill>
                  <a:srgbClr val="0070C0"/>
                </a:solidFill>
              </a:rPr>
              <a:t> Let’s help the pity, starving, dying children</a:t>
            </a:r>
          </a:p>
          <a:p>
            <a:r>
              <a:rPr lang="en-US" b="1" dirty="0"/>
              <a:t>Figurative language </a:t>
            </a:r>
            <a:r>
              <a:rPr lang="en-US" dirty="0"/>
              <a:t>refers to the use of words in a way that deviates from the conventional meaning in order to convey the meaning. </a:t>
            </a:r>
          </a:p>
          <a:p>
            <a:r>
              <a:rPr lang="en-US" dirty="0"/>
              <a:t>For example: </a:t>
            </a:r>
            <a:r>
              <a:rPr lang="en-US" dirty="0">
                <a:solidFill>
                  <a:srgbClr val="0070C0"/>
                </a:solidFill>
              </a:rPr>
              <a:t>Your RM1 is like a heaven to them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5" y="88504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64919"/>
            <a:ext cx="12192000" cy="550457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Pathos is an </a:t>
            </a:r>
            <a:r>
              <a:rPr lang="en-US" b="1" dirty="0"/>
              <a:t>appeal to emotion</a:t>
            </a:r>
            <a:r>
              <a:rPr lang="en-US" dirty="0"/>
              <a:t>, and is a way of convincing an audience of an argument by </a:t>
            </a:r>
            <a:r>
              <a:rPr lang="en-US" b="1" dirty="0"/>
              <a:t>creating an emotional response</a:t>
            </a:r>
            <a:r>
              <a:rPr lang="en-US" dirty="0"/>
              <a:t>.</a:t>
            </a:r>
          </a:p>
          <a:p>
            <a:pPr marL="0" lvl="0" indent="0">
              <a:buNone/>
            </a:pPr>
            <a:endParaRPr lang="en-US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400" dirty="0"/>
              <a:t>Let us help the </a:t>
            </a:r>
            <a:r>
              <a:rPr lang="en-US" sz="2400" b="1" dirty="0"/>
              <a:t>poor, starving kids NOW</a:t>
            </a:r>
            <a:r>
              <a:rPr lang="en-US" sz="2400" dirty="0"/>
              <a:t>!</a:t>
            </a:r>
          </a:p>
          <a:p>
            <a:pPr marL="0" lvl="0" indent="0">
              <a:buNone/>
            </a:pPr>
            <a:endParaRPr lang="en-US" sz="2400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400" spc="-5" dirty="0">
                <a:cs typeface="Trebuchet MS" panose="020B0603020202020204"/>
              </a:rPr>
              <a:t>"This slimming pills will help you to reduce your weight in 3 months! No exercise needed! No diet-plan needed!”</a:t>
            </a:r>
          </a:p>
          <a:p>
            <a:pPr marL="0" lvl="0" indent="0">
              <a:buNone/>
            </a:pPr>
            <a:endParaRPr lang="en-US" sz="2400" dirty="0">
              <a:cs typeface="Trebuchet MS" panose="020B0603020202020204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400" spc="-45" dirty="0">
                <a:cs typeface="Trebuchet MS" panose="020B0603020202020204"/>
              </a:rPr>
              <a:t>"You </a:t>
            </a:r>
            <a:r>
              <a:rPr lang="en-US" sz="2400" spc="-10" dirty="0">
                <a:cs typeface="Trebuchet MS" panose="020B0603020202020204"/>
              </a:rPr>
              <a:t>make</a:t>
            </a:r>
            <a:r>
              <a:rPr lang="en-US" sz="2400" spc="10" dirty="0">
                <a:cs typeface="Trebuchet MS" panose="020B0603020202020204"/>
              </a:rPr>
              <a:t> </a:t>
            </a:r>
            <a:r>
              <a:rPr lang="en-US" sz="2400" spc="-5" dirty="0">
                <a:cs typeface="Trebuchet MS" panose="020B0603020202020204"/>
              </a:rPr>
              <a:t>a</a:t>
            </a:r>
            <a:r>
              <a:rPr lang="en-US" sz="2400" dirty="0">
                <a:cs typeface="Trebuchet MS" panose="020B0603020202020204"/>
              </a:rPr>
              <a:t> </a:t>
            </a:r>
            <a:r>
              <a:rPr lang="en-US" sz="2400" spc="-5" dirty="0">
                <a:cs typeface="Trebuchet MS" panose="020B0603020202020204"/>
              </a:rPr>
              <a:t>right </a:t>
            </a:r>
            <a:r>
              <a:rPr lang="en-US" sz="2400" spc="-10" dirty="0">
                <a:cs typeface="Trebuchet MS" panose="020B0603020202020204"/>
              </a:rPr>
              <a:t>decision</a:t>
            </a:r>
            <a:r>
              <a:rPr lang="en-US" sz="2400" spc="5" dirty="0">
                <a:cs typeface="Trebuchet MS" panose="020B0603020202020204"/>
              </a:rPr>
              <a:t> by donating to this charity </a:t>
            </a:r>
            <a:r>
              <a:rPr lang="en-US" sz="2400" spc="-5" dirty="0">
                <a:cs typeface="Trebuchet MS" panose="020B0603020202020204"/>
              </a:rPr>
              <a:t>because</a:t>
            </a:r>
            <a:r>
              <a:rPr lang="en-US" sz="2400" dirty="0">
                <a:cs typeface="Trebuchet MS" panose="020B0603020202020204"/>
              </a:rPr>
              <a:t> </a:t>
            </a:r>
            <a:r>
              <a:rPr lang="en-US" sz="2400" spc="-10" dirty="0">
                <a:cs typeface="Trebuchet MS" panose="020B0603020202020204"/>
              </a:rPr>
              <a:t>you</a:t>
            </a:r>
            <a:r>
              <a:rPr lang="en-US" sz="2400" spc="5" dirty="0">
                <a:cs typeface="Trebuchet MS" panose="020B0603020202020204"/>
              </a:rPr>
              <a:t> </a:t>
            </a:r>
            <a:r>
              <a:rPr lang="en-US" sz="2400" spc="-10" dirty="0">
                <a:cs typeface="Trebuchet MS" panose="020B0603020202020204"/>
              </a:rPr>
              <a:t>have </a:t>
            </a:r>
            <a:r>
              <a:rPr lang="en-US" sz="2400" spc="-5" dirty="0">
                <a:cs typeface="Trebuchet MS" panose="020B0603020202020204"/>
              </a:rPr>
              <a:t>something</a:t>
            </a:r>
            <a:r>
              <a:rPr lang="en-US" sz="2400" spc="5" dirty="0">
                <a:cs typeface="Trebuchet MS" panose="020B0603020202020204"/>
              </a:rPr>
              <a:t> </a:t>
            </a:r>
            <a:r>
              <a:rPr lang="en-US" sz="2400" spc="-5" dirty="0">
                <a:cs typeface="Trebuchet MS" panose="020B0603020202020204"/>
              </a:rPr>
              <a:t>that</a:t>
            </a:r>
            <a:r>
              <a:rPr lang="en-US" sz="2400" dirty="0">
                <a:cs typeface="Trebuchet MS" panose="020B0603020202020204"/>
              </a:rPr>
              <a:t> </a:t>
            </a:r>
            <a:r>
              <a:rPr lang="en-US" sz="2400" spc="-10" dirty="0">
                <a:cs typeface="Trebuchet MS" panose="020B0603020202020204"/>
              </a:rPr>
              <a:t>not </a:t>
            </a:r>
            <a:r>
              <a:rPr lang="en-US" sz="2400" spc="-650" dirty="0">
                <a:cs typeface="Trebuchet MS" panose="020B0603020202020204"/>
              </a:rPr>
              <a:t> </a:t>
            </a:r>
            <a:r>
              <a:rPr lang="en-US" sz="2400" spc="-10" dirty="0">
                <a:cs typeface="Trebuchet MS" panose="020B0603020202020204"/>
              </a:rPr>
              <a:t>many</a:t>
            </a:r>
            <a:r>
              <a:rPr lang="en-US" sz="2400" spc="-5" dirty="0">
                <a:cs typeface="Trebuchet MS" panose="020B0603020202020204"/>
              </a:rPr>
              <a:t> </a:t>
            </a:r>
            <a:r>
              <a:rPr lang="en-US" sz="2400" spc="-10" dirty="0">
                <a:cs typeface="Trebuchet MS" panose="020B0603020202020204"/>
              </a:rPr>
              <a:t>people</a:t>
            </a:r>
            <a:r>
              <a:rPr lang="en-US" sz="2400" spc="-5" dirty="0">
                <a:cs typeface="Trebuchet MS" panose="020B0603020202020204"/>
              </a:rPr>
              <a:t> </a:t>
            </a:r>
            <a:r>
              <a:rPr lang="en-US" sz="2400" spc="-10" dirty="0">
                <a:cs typeface="Trebuchet MS" panose="020B0603020202020204"/>
              </a:rPr>
              <a:t>do:</a:t>
            </a:r>
            <a:r>
              <a:rPr lang="en-US" sz="2400" spc="5" dirty="0">
                <a:cs typeface="Trebuchet MS" panose="020B0603020202020204"/>
              </a:rPr>
              <a:t> </a:t>
            </a:r>
            <a:r>
              <a:rPr lang="en-US" sz="2400" spc="-10" dirty="0">
                <a:cs typeface="Trebuchet MS" panose="020B0603020202020204"/>
              </a:rPr>
              <a:t>you</a:t>
            </a:r>
            <a:r>
              <a:rPr lang="en-US" sz="2400" spc="-5" dirty="0">
                <a:cs typeface="Trebuchet MS" panose="020B0603020202020204"/>
              </a:rPr>
              <a:t> have heart."</a:t>
            </a:r>
          </a:p>
          <a:p>
            <a:pPr marL="0" lvl="0" indent="0">
              <a:buNone/>
            </a:pPr>
            <a:endParaRPr lang="en-US" sz="2400" dirty="0"/>
          </a:p>
          <a:p>
            <a:pPr marL="0" lvl="0" indent="0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7685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Logos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149" y="1356360"/>
            <a:ext cx="5260571" cy="5333999"/>
          </a:xfrm>
        </p:spPr>
        <p:txBody>
          <a:bodyPr>
            <a:normAutofit/>
          </a:bodyPr>
          <a:lstStyle/>
          <a:p>
            <a:endParaRPr lang="en-US" sz="2800" b="1" i="1" dirty="0"/>
          </a:p>
          <a:p>
            <a:r>
              <a:rPr lang="en-US" sz="2800" b="1" i="1" dirty="0"/>
              <a:t>Definition:</a:t>
            </a:r>
            <a:r>
              <a:rPr lang="en-US" sz="2800" i="1" dirty="0"/>
              <a:t> </a:t>
            </a:r>
            <a:r>
              <a:rPr lang="en-US" sz="2800" dirty="0"/>
              <a:t>the </a:t>
            </a:r>
            <a:r>
              <a:rPr lang="en-US" dirty="0"/>
              <a:t>writer</a:t>
            </a:r>
            <a:r>
              <a:rPr lang="en-US" sz="2800" dirty="0"/>
              <a:t> appeals to the audience’s sense of </a:t>
            </a:r>
            <a:r>
              <a:rPr lang="en-US" sz="2800" b="1" dirty="0"/>
              <a:t>logic. </a:t>
            </a:r>
          </a:p>
          <a:p>
            <a:endParaRPr lang="en-US" sz="2800" u="sng" dirty="0"/>
          </a:p>
          <a:p>
            <a:r>
              <a:rPr lang="en-US" sz="2800" dirty="0"/>
              <a:t>Provide </a:t>
            </a:r>
            <a:r>
              <a:rPr lang="en-US" sz="2800" b="1" dirty="0"/>
              <a:t>examples, facts, </a:t>
            </a:r>
            <a:r>
              <a:rPr lang="en-US" sz="2800" dirty="0"/>
              <a:t>or </a:t>
            </a:r>
            <a:r>
              <a:rPr lang="en-US" sz="2800" b="1" dirty="0"/>
              <a:t>statistics</a:t>
            </a:r>
          </a:p>
          <a:p>
            <a:r>
              <a:rPr lang="en-US" sz="2800" dirty="0"/>
              <a:t>Include </a:t>
            </a:r>
            <a:r>
              <a:rPr lang="en-US" sz="2800" b="1" dirty="0"/>
              <a:t>Expert </a:t>
            </a:r>
            <a:r>
              <a:rPr lang="en-US" sz="2800" dirty="0"/>
              <a:t>Testimonies</a:t>
            </a:r>
          </a:p>
        </p:txBody>
      </p:sp>
      <p:pic>
        <p:nvPicPr>
          <p:cNvPr id="1028" name="Picture 4" descr="http://www.prague-guide.co.uk/pat-wp-content/uploads/2015/11/fact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09" y="306765"/>
            <a:ext cx="3736571" cy="88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559" y="1356359"/>
            <a:ext cx="6830292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190" y="135142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Logos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219" y="1216805"/>
            <a:ext cx="4267340" cy="1983337"/>
          </a:xfrm>
        </p:spPr>
        <p:txBody>
          <a:bodyPr>
            <a:normAutofit/>
          </a:bodyPr>
          <a:lstStyle/>
          <a:p>
            <a:r>
              <a:rPr lang="en-US" sz="2800" dirty="0"/>
              <a:t>Percentages/Amounts</a:t>
            </a:r>
          </a:p>
          <a:p>
            <a:r>
              <a:rPr lang="en-US" sz="2800" dirty="0"/>
              <a:t>Real Examples</a:t>
            </a:r>
          </a:p>
          <a:p>
            <a:r>
              <a:rPr lang="en-US" sz="2800" dirty="0"/>
              <a:t>Quoting </a:t>
            </a:r>
            <a:r>
              <a:rPr lang="en-US" dirty="0"/>
              <a:t>E</a:t>
            </a:r>
            <a:r>
              <a:rPr lang="en-US" sz="2800" dirty="0"/>
              <a:t>xpert Insight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5031812" y="1852061"/>
            <a:ext cx="55787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i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“According to…”</a:t>
            </a:r>
          </a:p>
        </p:txBody>
      </p:sp>
      <p:pic>
        <p:nvPicPr>
          <p:cNvPr id="4098" name="Picture 2" descr="http://www.textinganddrivingsafety.com/hs-fs/hubfs/Infographics/texting-driving-diagram.jpg?t=1480452877814&amp;width=600&amp;name=texting-driving-diagr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25042"/>
            <a:ext cx="12192000" cy="398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0381" y="294942"/>
            <a:ext cx="8596668" cy="1320800"/>
          </a:xfrm>
        </p:spPr>
        <p:txBody>
          <a:bodyPr/>
          <a:lstStyle/>
          <a:p>
            <a:pPr algn="ctr"/>
            <a:r>
              <a:rPr lang="en-US" dirty="0"/>
              <a:t>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48" y="955342"/>
            <a:ext cx="11881103" cy="577072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Logos is an appeal to logic, and is a way of persuading an audience by reason.</a:t>
            </a:r>
          </a:p>
          <a:p>
            <a:pPr lvl="0"/>
            <a:endParaRPr lang="en-US" dirty="0">
              <a:highlight>
                <a:srgbClr val="FFFF00"/>
              </a:highlight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200" dirty="0"/>
              <a:t>"</a:t>
            </a:r>
            <a:r>
              <a:rPr lang="en-US" sz="2200" b="1" dirty="0"/>
              <a:t>The data is perfectly clear</a:t>
            </a:r>
            <a:r>
              <a:rPr lang="en-US" sz="2200" dirty="0"/>
              <a:t>: this investment has consistently turned a profit year-over-year, even in spite of market declines in other areas.“</a:t>
            </a:r>
          </a:p>
          <a:p>
            <a:pPr marL="0" lvl="0" indent="0">
              <a:buNone/>
            </a:pPr>
            <a:endParaRPr lang="en-US" sz="2200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200" dirty="0"/>
              <a:t>"Ladies and gentlemen of the jury: </a:t>
            </a:r>
            <a:r>
              <a:rPr lang="en-US" sz="2200" b="1" dirty="0"/>
              <a:t>we have not only the fingerprints, the lack of an alibi, a clear motive, and an expressed desire to commit the robbery</a:t>
            </a:r>
            <a:r>
              <a:rPr lang="en-US" sz="2200" dirty="0"/>
              <a:t>… We also </a:t>
            </a:r>
            <a:r>
              <a:rPr lang="en-US" sz="2200" b="1" dirty="0"/>
              <a:t>have video </a:t>
            </a:r>
            <a:r>
              <a:rPr lang="en-US" sz="2200" dirty="0"/>
              <a:t>of the suspect breaking in. The case could not be more open and shut.“</a:t>
            </a:r>
          </a:p>
          <a:p>
            <a:pPr marL="0" lvl="0" indent="0">
              <a:buNone/>
            </a:pPr>
            <a:endParaRPr lang="en-US" sz="2200" dirty="0"/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200" dirty="0"/>
              <a:t>“</a:t>
            </a:r>
            <a:r>
              <a:rPr lang="en-US" sz="2200" b="1" dirty="0"/>
              <a:t>According to Johnson (2024), more than one hundred peer-reviewed studies </a:t>
            </a:r>
            <a:r>
              <a:rPr lang="en-US" sz="2200" dirty="0"/>
              <a:t>have been conducted over the past decade, and none of them suggests that this is an effective treatment for hair loss."</a:t>
            </a:r>
          </a:p>
          <a:p>
            <a:pPr marL="0" lvl="0" indent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mage result for logos rhetoric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69" y="341999"/>
            <a:ext cx="10868673" cy="651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Widescreen</PresentationFormat>
  <Paragraphs>101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Beginnings and Basic Rhetorical Considerations</vt:lpstr>
      <vt:lpstr>Rhetoric </vt:lpstr>
      <vt:lpstr>Rhetorical Triangle</vt:lpstr>
      <vt:lpstr>Ethos- Pathos- Logos</vt:lpstr>
      <vt:lpstr>PowerPoint Presentation</vt:lpstr>
      <vt:lpstr>PowerPoint Presentation</vt:lpstr>
      <vt:lpstr>Ethos</vt:lpstr>
      <vt:lpstr>Ethos Example</vt:lpstr>
      <vt:lpstr> Ethos</vt:lpstr>
      <vt:lpstr>Pathos</vt:lpstr>
      <vt:lpstr>Pathos</vt:lpstr>
      <vt:lpstr>PowerPoint Presentation</vt:lpstr>
      <vt:lpstr>Example</vt:lpstr>
      <vt:lpstr>Logos</vt:lpstr>
      <vt:lpstr>Logos</vt:lpstr>
      <vt:lpstr>Example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Hidayatul Akma Binti Safian</dc:creator>
  <cp:lastModifiedBy>Akma Safian</cp:lastModifiedBy>
  <cp:revision>10</cp:revision>
  <dcterms:created xsi:type="dcterms:W3CDTF">2025-10-03T05:07:56Z</dcterms:created>
  <dcterms:modified xsi:type="dcterms:W3CDTF">2026-04-07T03:52:10Z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769F1A9C55C6DD367857DF68BCA3AA28_43</vt:lpwstr>
  </property>
  <property fmtid="{D5CDD505-2E9C-101B-9397-08002B2CF9AE}" pid="3" name="KSOProductBuildVer">
    <vt:lpwstr>1033-12.1.22554.22554</vt:lpwstr>
  </property>
</Properties>
</file>