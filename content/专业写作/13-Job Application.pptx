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67" r:id="rId12"/>
    <p:sldId id="271" r:id="rId1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2" d="100"/>
          <a:sy n="72" d="100"/>
        </p:scale>
        <p:origin x="1120"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5/18/2026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5/18/2026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1D8BD707-D9CF-40AE-B4C6-C98DA3205C09}" type="datetimeFigureOut">
              <a:rPr lang="en-US" smtClean="0"/>
              <a:t>5/18/2026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mailto:ahmad@gmail.com"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2742942"/>
            <a:ext cx="7729322" cy="936154"/>
          </a:xfrm>
          <a:prstGeom prst="rect">
            <a:avLst/>
          </a:prstGeom>
        </p:spPr>
        <p:txBody>
          <a:bodyPr vert="horz" wrap="square" lIns="0" tIns="12700" rIns="0" bIns="0" rtlCol="0">
            <a:spAutoFit/>
          </a:bodyPr>
          <a:lstStyle/>
          <a:p>
            <a:pPr marL="3065145" marR="5080" indent="-3053080" algn="l">
              <a:lnSpc>
                <a:spcPct val="100000"/>
              </a:lnSpc>
              <a:spcBef>
                <a:spcPts val="100"/>
              </a:spcBef>
            </a:pPr>
            <a:r>
              <a:rPr sz="6000" b="0" spc="-5" dirty="0">
                <a:solidFill>
                  <a:schemeClr val="tx1"/>
                </a:solidFill>
                <a:latin typeface="+mn-lt"/>
                <a:cs typeface="Arial" panose="020B0604020202090204"/>
              </a:rPr>
              <a:t>Job Application Letter</a:t>
            </a:r>
            <a:endParaRPr sz="6000" dirty="0">
              <a:solidFill>
                <a:schemeClr val="tx1"/>
              </a:solidFill>
              <a:latin typeface="+mn-lt"/>
              <a:cs typeface="Arial" panose="020B060402020209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object 43"/>
          <p:cNvSpPr txBox="1"/>
          <p:nvPr/>
        </p:nvSpPr>
        <p:spPr>
          <a:xfrm>
            <a:off x="609600" y="1676400"/>
            <a:ext cx="7884034" cy="3965575"/>
          </a:xfrm>
          <a:prstGeom prst="rect">
            <a:avLst/>
          </a:prstGeom>
        </p:spPr>
        <p:txBody>
          <a:bodyPr vert="horz" wrap="square" lIns="0" tIns="12065" rIns="0" bIns="0" rtlCol="0">
            <a:spAutoFit/>
          </a:bodyPr>
          <a:lstStyle/>
          <a:p>
            <a:pPr marL="12700">
              <a:lnSpc>
                <a:spcPct val="100000"/>
              </a:lnSpc>
              <a:spcBef>
                <a:spcPts val="95"/>
              </a:spcBef>
            </a:pPr>
            <a:r>
              <a:rPr sz="2800" b="1" spc="-10" dirty="0">
                <a:latin typeface="Arial" panose="020B0604020202090204"/>
                <a:cs typeface="Arial" panose="020B0604020202090204"/>
              </a:rPr>
              <a:t>FUNCTIONS </a:t>
            </a:r>
            <a:r>
              <a:rPr sz="2800" b="1" spc="-5" dirty="0">
                <a:latin typeface="Arial" panose="020B0604020202090204"/>
                <a:cs typeface="Arial" panose="020B0604020202090204"/>
              </a:rPr>
              <a:t>OF A JOB </a:t>
            </a:r>
            <a:r>
              <a:rPr sz="2800" b="1" spc="-10" dirty="0">
                <a:latin typeface="Arial" panose="020B0604020202090204"/>
                <a:cs typeface="Arial" panose="020B0604020202090204"/>
              </a:rPr>
              <a:t>APPLICATION</a:t>
            </a:r>
            <a:r>
              <a:rPr sz="2800" b="1" spc="120" dirty="0">
                <a:latin typeface="Arial" panose="020B0604020202090204"/>
                <a:cs typeface="Arial" panose="020B0604020202090204"/>
              </a:rPr>
              <a:t> </a:t>
            </a:r>
            <a:r>
              <a:rPr sz="2800" b="1" spc="-10" dirty="0">
                <a:latin typeface="Arial" panose="020B0604020202090204"/>
                <a:cs typeface="Arial" panose="020B0604020202090204"/>
              </a:rPr>
              <a:t>LETTER</a:t>
            </a:r>
            <a:endParaRPr sz="2800" dirty="0">
              <a:latin typeface="Arial" panose="020B0604020202090204"/>
              <a:cs typeface="Arial" panose="020B0604020202090204"/>
            </a:endParaRPr>
          </a:p>
          <a:p>
            <a:pPr marL="812800" indent="-457200">
              <a:lnSpc>
                <a:spcPct val="100000"/>
              </a:lnSpc>
              <a:spcBef>
                <a:spcPts val="2400"/>
              </a:spcBef>
              <a:buFont typeface="Arial" panose="020B0604020202090204" pitchFamily="34" charset="0"/>
              <a:buChar char="•"/>
            </a:pPr>
            <a:r>
              <a:rPr sz="2800" dirty="0">
                <a:latin typeface="Arial" panose="020B0604020202090204"/>
                <a:cs typeface="Arial" panose="020B0604020202090204"/>
              </a:rPr>
              <a:t>Introduces your </a:t>
            </a:r>
            <a:r>
              <a:rPr sz="2800" spc="-5" dirty="0">
                <a:latin typeface="Arial" panose="020B0604020202090204"/>
                <a:cs typeface="Arial" panose="020B0604020202090204"/>
              </a:rPr>
              <a:t>CV</a:t>
            </a:r>
            <a:r>
              <a:rPr lang="en-US" sz="2800" spc="-5" dirty="0">
                <a:latin typeface="Arial" panose="020B0604020202090204"/>
                <a:cs typeface="Arial" panose="020B0604020202090204"/>
              </a:rPr>
              <a:t>/Resume</a:t>
            </a:r>
            <a:r>
              <a:rPr sz="2800" spc="-5" dirty="0">
                <a:latin typeface="Arial" panose="020B0604020202090204"/>
                <a:cs typeface="Arial" panose="020B0604020202090204"/>
              </a:rPr>
              <a:t> when </a:t>
            </a:r>
            <a:r>
              <a:rPr sz="2800" dirty="0">
                <a:latin typeface="Arial" panose="020B0604020202090204"/>
                <a:cs typeface="Arial" panose="020B0604020202090204"/>
              </a:rPr>
              <a:t>applying for </a:t>
            </a:r>
            <a:r>
              <a:rPr sz="2800" spc="-5" dirty="0">
                <a:latin typeface="Arial" panose="020B0604020202090204"/>
                <a:cs typeface="Arial" panose="020B0604020202090204"/>
              </a:rPr>
              <a:t>a</a:t>
            </a:r>
            <a:r>
              <a:rPr sz="2800" spc="25" dirty="0">
                <a:latin typeface="Arial" panose="020B0604020202090204"/>
                <a:cs typeface="Arial" panose="020B0604020202090204"/>
              </a:rPr>
              <a:t> </a:t>
            </a:r>
            <a:r>
              <a:rPr sz="2800" dirty="0">
                <a:latin typeface="Arial" panose="020B0604020202090204"/>
                <a:cs typeface="Arial" panose="020B0604020202090204"/>
              </a:rPr>
              <a:t>job.</a:t>
            </a:r>
          </a:p>
          <a:p>
            <a:pPr>
              <a:lnSpc>
                <a:spcPct val="100000"/>
              </a:lnSpc>
              <a:spcBef>
                <a:spcPts val="45"/>
              </a:spcBef>
            </a:pPr>
            <a:endParaRPr sz="4050" dirty="0">
              <a:latin typeface="Arial" panose="020B0604020202090204"/>
              <a:cs typeface="Arial" panose="020B0604020202090204"/>
            </a:endParaRPr>
          </a:p>
          <a:p>
            <a:pPr marL="812800" marR="5080" indent="-457200" algn="just">
              <a:lnSpc>
                <a:spcPct val="100000"/>
              </a:lnSpc>
              <a:spcBef>
                <a:spcPts val="5"/>
              </a:spcBef>
              <a:buFont typeface="Arial" panose="020B0604020202090204" pitchFamily="34" charset="0"/>
              <a:buChar char="•"/>
            </a:pPr>
            <a:r>
              <a:rPr sz="2800" spc="-5" dirty="0">
                <a:latin typeface="Arial" panose="020B0604020202090204"/>
                <a:cs typeface="Arial" panose="020B0604020202090204"/>
              </a:rPr>
              <a:t>Your </a:t>
            </a:r>
            <a:r>
              <a:rPr lang="en-US" sz="2800" dirty="0">
                <a:latin typeface="Arial" panose="020B0604020202090204"/>
                <a:cs typeface="Arial" panose="020B0604020202090204"/>
              </a:rPr>
              <a:t>application letter </a:t>
            </a:r>
            <a:r>
              <a:rPr sz="2800" spc="-5" dirty="0">
                <a:latin typeface="Arial" panose="020B0604020202090204"/>
                <a:cs typeface="Arial" panose="020B0604020202090204"/>
              </a:rPr>
              <a:t>is a potential employer’s first  </a:t>
            </a:r>
            <a:r>
              <a:rPr sz="2800" dirty="0">
                <a:latin typeface="Arial" panose="020B0604020202090204"/>
                <a:cs typeface="Arial" panose="020B0604020202090204"/>
              </a:rPr>
              <a:t>impression of you and can </a:t>
            </a:r>
            <a:r>
              <a:rPr sz="2800" spc="-5" dirty="0">
                <a:latin typeface="Arial" panose="020B0604020202090204"/>
                <a:cs typeface="Arial" panose="020B0604020202090204"/>
              </a:rPr>
              <a:t>be the </a:t>
            </a:r>
            <a:r>
              <a:rPr sz="2800" dirty="0">
                <a:latin typeface="Arial" panose="020B0604020202090204"/>
                <a:cs typeface="Arial" panose="020B0604020202090204"/>
              </a:rPr>
              <a:t>most </a:t>
            </a:r>
            <a:r>
              <a:rPr sz="2800" spc="-5" dirty="0">
                <a:latin typeface="Arial" panose="020B0604020202090204"/>
                <a:cs typeface="Arial" panose="020B0604020202090204"/>
              </a:rPr>
              <a:t>vital part  </a:t>
            </a:r>
            <a:r>
              <a:rPr sz="2800" dirty="0">
                <a:latin typeface="Arial" panose="020B0604020202090204"/>
                <a:cs typeface="Arial" panose="020B0604020202090204"/>
              </a:rPr>
              <a:t>of </a:t>
            </a:r>
            <a:r>
              <a:rPr sz="2800" spc="-5" dirty="0">
                <a:latin typeface="Arial" panose="020B0604020202090204"/>
                <a:cs typeface="Arial" panose="020B0604020202090204"/>
              </a:rPr>
              <a:t>the application</a:t>
            </a:r>
            <a:r>
              <a:rPr sz="2800" spc="30" dirty="0">
                <a:latin typeface="Arial" panose="020B0604020202090204"/>
                <a:cs typeface="Arial" panose="020B0604020202090204"/>
              </a:rPr>
              <a:t> </a:t>
            </a:r>
            <a:r>
              <a:rPr sz="2800" dirty="0">
                <a:latin typeface="Arial" panose="020B0604020202090204"/>
                <a:cs typeface="Arial" panose="020B0604020202090204"/>
              </a:rPr>
              <a:t>packet.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object 25"/>
          <p:cNvSpPr txBox="1"/>
          <p:nvPr/>
        </p:nvSpPr>
        <p:spPr>
          <a:xfrm>
            <a:off x="1066800" y="838200"/>
            <a:ext cx="2555875" cy="5171287"/>
          </a:xfrm>
          <a:prstGeom prst="rect">
            <a:avLst/>
          </a:prstGeom>
        </p:spPr>
        <p:txBody>
          <a:bodyPr vert="horz" wrap="square" lIns="0" tIns="13335" rIns="0" bIns="0" rtlCol="0">
            <a:spAutoFit/>
          </a:bodyPr>
          <a:lstStyle/>
          <a:p>
            <a:pPr marL="12700">
              <a:lnSpc>
                <a:spcPct val="100000"/>
              </a:lnSpc>
              <a:spcBef>
                <a:spcPts val="105"/>
              </a:spcBef>
            </a:pPr>
            <a:r>
              <a:rPr sz="3200" b="1" dirty="0">
                <a:latin typeface="Arial" panose="020B0604020202090204"/>
                <a:cs typeface="Arial" panose="020B0604020202090204"/>
              </a:rPr>
              <a:t>FORMAT</a:t>
            </a:r>
            <a:endParaRPr sz="3200" dirty="0">
              <a:latin typeface="Arial" panose="020B0604020202090204"/>
              <a:cs typeface="Arial" panose="020B0604020202090204"/>
            </a:endParaRPr>
          </a:p>
          <a:p>
            <a:pPr marL="12700" marR="795655">
              <a:lnSpc>
                <a:spcPct val="120000"/>
              </a:lnSpc>
              <a:spcBef>
                <a:spcPts val="1760"/>
              </a:spcBef>
            </a:pPr>
            <a:r>
              <a:rPr sz="2000" dirty="0">
                <a:latin typeface="Arial" panose="020B0604020202090204"/>
                <a:cs typeface="Arial" panose="020B0604020202090204"/>
              </a:rPr>
              <a:t>Return</a:t>
            </a:r>
            <a:r>
              <a:rPr sz="2000" spc="-85" dirty="0">
                <a:latin typeface="Arial" panose="020B0604020202090204"/>
                <a:cs typeface="Arial" panose="020B0604020202090204"/>
              </a:rPr>
              <a:t> </a:t>
            </a:r>
            <a:r>
              <a:rPr sz="2000" dirty="0">
                <a:latin typeface="Arial" panose="020B0604020202090204"/>
                <a:cs typeface="Arial" panose="020B0604020202090204"/>
              </a:rPr>
              <a:t>address  Date</a:t>
            </a:r>
          </a:p>
          <a:p>
            <a:pPr marL="12700" marR="879475">
              <a:lnSpc>
                <a:spcPct val="120000"/>
              </a:lnSpc>
            </a:pPr>
            <a:r>
              <a:rPr sz="2000" dirty="0">
                <a:latin typeface="Arial" panose="020B0604020202090204"/>
                <a:cs typeface="Arial" panose="020B0604020202090204"/>
              </a:rPr>
              <a:t>Inside</a:t>
            </a:r>
            <a:r>
              <a:rPr sz="2000" spc="-80" dirty="0">
                <a:latin typeface="Arial" panose="020B0604020202090204"/>
                <a:cs typeface="Arial" panose="020B0604020202090204"/>
              </a:rPr>
              <a:t> </a:t>
            </a:r>
            <a:r>
              <a:rPr sz="2000" dirty="0">
                <a:latin typeface="Arial" panose="020B0604020202090204"/>
                <a:cs typeface="Arial" panose="020B0604020202090204"/>
              </a:rPr>
              <a:t>address  Salutation  Subject </a:t>
            </a:r>
            <a:endParaRPr lang="en-US" sz="2000" dirty="0">
              <a:latin typeface="Arial" panose="020B0604020202090204"/>
              <a:cs typeface="Arial" panose="020B0604020202090204"/>
            </a:endParaRPr>
          </a:p>
          <a:p>
            <a:pPr marL="12700" marR="879475">
              <a:lnSpc>
                <a:spcPct val="120000"/>
              </a:lnSpc>
            </a:pPr>
            <a:r>
              <a:rPr sz="2000" dirty="0">
                <a:latin typeface="Arial" panose="020B0604020202090204"/>
                <a:cs typeface="Arial" panose="020B0604020202090204"/>
              </a:rPr>
              <a:t>Body of</a:t>
            </a:r>
            <a:r>
              <a:rPr sz="2000" spc="-65" dirty="0">
                <a:latin typeface="Arial" panose="020B0604020202090204"/>
                <a:cs typeface="Arial" panose="020B0604020202090204"/>
              </a:rPr>
              <a:t> </a:t>
            </a:r>
            <a:r>
              <a:rPr sz="2000" spc="-5" dirty="0">
                <a:latin typeface="Arial" panose="020B0604020202090204"/>
                <a:cs typeface="Arial" panose="020B0604020202090204"/>
              </a:rPr>
              <a:t>letter</a:t>
            </a:r>
            <a:endParaRPr sz="2000" dirty="0">
              <a:latin typeface="Arial" panose="020B0604020202090204"/>
              <a:cs typeface="Arial" panose="020B0604020202090204"/>
            </a:endParaRPr>
          </a:p>
          <a:p>
            <a:pPr marL="12700" marR="5080">
              <a:lnSpc>
                <a:spcPct val="120000"/>
              </a:lnSpc>
            </a:pPr>
            <a:r>
              <a:rPr sz="2000" dirty="0">
                <a:latin typeface="Arial" panose="020B0604020202090204"/>
                <a:cs typeface="Arial" panose="020B0604020202090204"/>
              </a:rPr>
              <a:t>Complimentary close  Signature </a:t>
            </a:r>
            <a:endParaRPr lang="en-US" sz="2000" dirty="0">
              <a:latin typeface="Arial" panose="020B0604020202090204"/>
              <a:cs typeface="Arial" panose="020B0604020202090204"/>
            </a:endParaRPr>
          </a:p>
          <a:p>
            <a:pPr marL="12700" marR="5080">
              <a:lnSpc>
                <a:spcPct val="120000"/>
              </a:lnSpc>
            </a:pPr>
            <a:r>
              <a:rPr lang="en-US" sz="2000" dirty="0">
                <a:latin typeface="Arial" panose="020B0604020202090204"/>
                <a:cs typeface="Arial" panose="020B0604020202090204"/>
              </a:rPr>
              <a:t>Name</a:t>
            </a:r>
            <a:r>
              <a:rPr sz="2000" dirty="0">
                <a:latin typeface="Arial" panose="020B0604020202090204"/>
                <a:cs typeface="Arial" panose="020B0604020202090204"/>
              </a:rPr>
              <a:t>  </a:t>
            </a:r>
            <a:endParaRPr lang="en-US" sz="2000" dirty="0">
              <a:latin typeface="Arial" panose="020B0604020202090204"/>
              <a:cs typeface="Arial" panose="020B0604020202090204"/>
            </a:endParaRPr>
          </a:p>
          <a:p>
            <a:pPr marL="12700" marR="5080">
              <a:lnSpc>
                <a:spcPct val="120000"/>
              </a:lnSpc>
            </a:pPr>
            <a:r>
              <a:rPr sz="2000" dirty="0">
                <a:latin typeface="Arial" panose="020B0604020202090204"/>
                <a:cs typeface="Arial" panose="020B0604020202090204"/>
              </a:rPr>
              <a:t>Enclosure:</a:t>
            </a:r>
            <a:r>
              <a:rPr sz="2000" spc="-85" dirty="0">
                <a:latin typeface="Arial" panose="020B0604020202090204"/>
                <a:cs typeface="Arial" panose="020B0604020202090204"/>
              </a:rPr>
              <a:t> </a:t>
            </a:r>
            <a:r>
              <a:rPr lang="en-US" sz="2000" dirty="0">
                <a:latin typeface="Arial" panose="020B0604020202090204"/>
                <a:cs typeface="Arial" panose="020B0604020202090204"/>
              </a:rPr>
              <a:t>Resume/CV</a:t>
            </a:r>
            <a:endParaRPr sz="2000" dirty="0">
              <a:latin typeface="Arial" panose="020B0604020202090204"/>
              <a:cs typeface="Arial" panose="020B0604020202090204"/>
            </a:endParaRPr>
          </a:p>
          <a:p>
            <a:pPr marL="1270000">
              <a:lnSpc>
                <a:spcPct val="100000"/>
              </a:lnSpc>
              <a:spcBef>
                <a:spcPts val="480"/>
              </a:spcBef>
            </a:pPr>
            <a:endParaRPr sz="2000" dirty="0">
              <a:latin typeface="Arial" panose="020B0604020202090204"/>
              <a:cs typeface="Arial" panose="020B060402020209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object 40"/>
          <p:cNvSpPr txBox="1"/>
          <p:nvPr/>
        </p:nvSpPr>
        <p:spPr>
          <a:xfrm>
            <a:off x="533400" y="1600412"/>
            <a:ext cx="8070850" cy="4067175"/>
          </a:xfrm>
          <a:prstGeom prst="rect">
            <a:avLst/>
          </a:prstGeom>
        </p:spPr>
        <p:txBody>
          <a:bodyPr vert="horz" wrap="square" lIns="0" tIns="13335" rIns="0" bIns="0" rtlCol="0">
            <a:spAutoFit/>
          </a:bodyPr>
          <a:lstStyle/>
          <a:p>
            <a:pPr marL="12700">
              <a:lnSpc>
                <a:spcPct val="100000"/>
              </a:lnSpc>
              <a:spcBef>
                <a:spcPts val="105"/>
              </a:spcBef>
            </a:pPr>
            <a:r>
              <a:rPr sz="3200" b="1" dirty="0">
                <a:latin typeface="Arial" panose="020B0604020202090204"/>
                <a:cs typeface="Arial" panose="020B0604020202090204"/>
              </a:rPr>
              <a:t>CONTENT </a:t>
            </a:r>
            <a:r>
              <a:rPr lang="en-US" sz="3200" b="1" dirty="0">
                <a:latin typeface="Arial" panose="020B0604020202090204"/>
                <a:cs typeface="Arial" panose="020B0604020202090204"/>
              </a:rPr>
              <a:t>AND ORGANISATION</a:t>
            </a:r>
            <a:endParaRPr sz="3200" dirty="0">
              <a:latin typeface="Arial" panose="020B0604020202090204"/>
              <a:cs typeface="Arial" panose="020B0604020202090204"/>
            </a:endParaRPr>
          </a:p>
          <a:p>
            <a:pPr marL="12700">
              <a:lnSpc>
                <a:spcPct val="100000"/>
              </a:lnSpc>
              <a:spcBef>
                <a:spcPts val="2415"/>
              </a:spcBef>
            </a:pPr>
            <a:r>
              <a:rPr sz="2800" spc="-5" dirty="0">
                <a:latin typeface="Arial" panose="020B0604020202090204"/>
                <a:cs typeface="Arial" panose="020B0604020202090204"/>
              </a:rPr>
              <a:t>A job </a:t>
            </a:r>
            <a:r>
              <a:rPr sz="2800" dirty="0">
                <a:latin typeface="Arial" panose="020B0604020202090204"/>
                <a:cs typeface="Arial" panose="020B0604020202090204"/>
              </a:rPr>
              <a:t>application</a:t>
            </a:r>
            <a:r>
              <a:rPr lang="en-US" sz="2800" dirty="0">
                <a:latin typeface="Arial" panose="020B0604020202090204"/>
                <a:cs typeface="Arial" panose="020B0604020202090204"/>
              </a:rPr>
              <a:t> </a:t>
            </a:r>
            <a:r>
              <a:rPr sz="2800" dirty="0">
                <a:latin typeface="Arial" panose="020B0604020202090204"/>
                <a:cs typeface="Arial" panose="020B0604020202090204"/>
              </a:rPr>
              <a:t>letter </a:t>
            </a:r>
            <a:r>
              <a:rPr sz="2800" spc="-5" dirty="0">
                <a:latin typeface="Arial" panose="020B0604020202090204"/>
                <a:cs typeface="Arial" panose="020B0604020202090204"/>
              </a:rPr>
              <a:t>has </a:t>
            </a:r>
            <a:r>
              <a:rPr sz="2800" dirty="0">
                <a:latin typeface="Arial" panose="020B0604020202090204"/>
                <a:cs typeface="Arial" panose="020B0604020202090204"/>
              </a:rPr>
              <a:t>different</a:t>
            </a:r>
            <a:r>
              <a:rPr sz="2800" spc="50" dirty="0">
                <a:latin typeface="Arial" panose="020B0604020202090204"/>
                <a:cs typeface="Arial" panose="020B0604020202090204"/>
              </a:rPr>
              <a:t> </a:t>
            </a:r>
            <a:r>
              <a:rPr sz="2800" dirty="0">
                <a:latin typeface="Arial" panose="020B0604020202090204"/>
                <a:cs typeface="Arial" panose="020B0604020202090204"/>
              </a:rPr>
              <a:t>parts</a:t>
            </a:r>
          </a:p>
          <a:p>
            <a:pPr marL="12700">
              <a:lnSpc>
                <a:spcPct val="100000"/>
              </a:lnSpc>
              <a:spcBef>
                <a:spcPts val="2415"/>
              </a:spcBef>
            </a:pPr>
            <a:r>
              <a:rPr sz="2500" spc="5" dirty="0">
                <a:latin typeface="Arial" panose="020B0604020202090204"/>
                <a:cs typeface="Arial" panose="020B0604020202090204"/>
              </a:rPr>
              <a:t>1.</a:t>
            </a:r>
            <a:r>
              <a:rPr lang="en-US" sz="2500" spc="5" dirty="0">
                <a:latin typeface="Arial" panose="020B0604020202090204"/>
                <a:cs typeface="Arial" panose="020B0604020202090204"/>
              </a:rPr>
              <a:t>   </a:t>
            </a:r>
            <a:r>
              <a:rPr sz="2800" spc="-5" dirty="0">
                <a:latin typeface="Arial" panose="020B0604020202090204"/>
                <a:cs typeface="Arial" panose="020B0604020202090204"/>
              </a:rPr>
              <a:t>The opening</a:t>
            </a:r>
            <a:r>
              <a:rPr sz="2800" spc="50" dirty="0">
                <a:latin typeface="Arial" panose="020B0604020202090204"/>
                <a:cs typeface="Arial" panose="020B0604020202090204"/>
              </a:rPr>
              <a:t> </a:t>
            </a:r>
            <a:r>
              <a:rPr sz="2800" dirty="0">
                <a:latin typeface="Arial" panose="020B0604020202090204"/>
                <a:cs typeface="Arial" panose="020B0604020202090204"/>
              </a:rPr>
              <a:t>paragraph</a:t>
            </a:r>
            <a:r>
              <a:rPr lang="en-US" sz="2800" dirty="0">
                <a:latin typeface="Arial" panose="020B0604020202090204"/>
                <a:cs typeface="Arial" panose="020B0604020202090204"/>
              </a:rPr>
              <a:t> (purpose)</a:t>
            </a:r>
            <a:endParaRPr sz="2800" dirty="0">
              <a:latin typeface="Arial" panose="020B0604020202090204"/>
              <a:cs typeface="Arial" panose="020B0604020202090204"/>
            </a:endParaRPr>
          </a:p>
          <a:p>
            <a:pPr marL="622300" indent="-610235">
              <a:lnSpc>
                <a:spcPct val="100000"/>
              </a:lnSpc>
              <a:spcBef>
                <a:spcPts val="2110"/>
              </a:spcBef>
              <a:buClr>
                <a:srgbClr val="85D1EB"/>
              </a:buClr>
              <a:buSzPct val="89000"/>
              <a:buFont typeface="Wingdings" panose="05000000000000000000"/>
              <a:buChar char=""/>
              <a:tabLst>
                <a:tab pos="622300" algn="l"/>
                <a:tab pos="622935" algn="l"/>
              </a:tabLst>
            </a:pPr>
            <a:r>
              <a:rPr sz="2800" spc="-5" dirty="0">
                <a:latin typeface="Arial" panose="020B0604020202090204"/>
                <a:cs typeface="Arial" panose="020B0604020202090204"/>
              </a:rPr>
              <a:t>Specify the job or </a:t>
            </a:r>
            <a:r>
              <a:rPr sz="2800" dirty="0">
                <a:latin typeface="Arial" panose="020B0604020202090204"/>
                <a:cs typeface="Arial" panose="020B0604020202090204"/>
              </a:rPr>
              <a:t>position</a:t>
            </a:r>
            <a:r>
              <a:rPr lang="en-US" sz="2800" dirty="0">
                <a:latin typeface="Arial" panose="020B0604020202090204"/>
                <a:cs typeface="Arial" panose="020B0604020202090204"/>
              </a:rPr>
              <a:t> that you are</a:t>
            </a:r>
            <a:r>
              <a:rPr sz="2800" dirty="0">
                <a:latin typeface="Arial" panose="020B0604020202090204"/>
                <a:cs typeface="Arial" panose="020B0604020202090204"/>
              </a:rPr>
              <a:t> applying</a:t>
            </a:r>
            <a:r>
              <a:rPr sz="2800" spc="70" dirty="0">
                <a:latin typeface="Arial" panose="020B0604020202090204"/>
                <a:cs typeface="Arial" panose="020B0604020202090204"/>
              </a:rPr>
              <a:t> </a:t>
            </a:r>
            <a:r>
              <a:rPr sz="2800" spc="-5" dirty="0">
                <a:latin typeface="Arial" panose="020B0604020202090204"/>
                <a:cs typeface="Arial" panose="020B0604020202090204"/>
              </a:rPr>
              <a:t>for</a:t>
            </a:r>
            <a:endParaRPr sz="2800" dirty="0">
              <a:latin typeface="Arial" panose="020B0604020202090204"/>
              <a:cs typeface="Arial" panose="020B0604020202090204"/>
            </a:endParaRPr>
          </a:p>
          <a:p>
            <a:pPr marL="622300" marR="5080" indent="-610235">
              <a:lnSpc>
                <a:spcPct val="100000"/>
              </a:lnSpc>
              <a:spcBef>
                <a:spcPts val="675"/>
              </a:spcBef>
              <a:buClr>
                <a:srgbClr val="85D1EB"/>
              </a:buClr>
              <a:buSzPct val="89000"/>
              <a:buFont typeface="Wingdings" panose="05000000000000000000"/>
              <a:buChar char=""/>
              <a:tabLst>
                <a:tab pos="622300" algn="l"/>
                <a:tab pos="622935" algn="l"/>
                <a:tab pos="1665605" algn="l"/>
                <a:tab pos="2138680" algn="l"/>
                <a:tab pos="2807970" algn="l"/>
                <a:tab pos="5219065" algn="l"/>
                <a:tab pos="5709920" algn="l"/>
                <a:tab pos="6656705" algn="l"/>
                <a:tab pos="7482840" algn="l"/>
              </a:tabLst>
            </a:pPr>
            <a:r>
              <a:rPr lang="en-US" sz="2800" spc="-5" dirty="0">
                <a:latin typeface="Arial" panose="020B0604020202090204"/>
                <a:cs typeface="Arial" panose="020B0604020202090204"/>
              </a:rPr>
              <a:t>S</a:t>
            </a:r>
            <a:r>
              <a:rPr sz="2800" spc="-5" dirty="0">
                <a:latin typeface="Arial" panose="020B0604020202090204"/>
                <a:cs typeface="Arial" panose="020B0604020202090204"/>
              </a:rPr>
              <a:t>t</a:t>
            </a:r>
            <a:r>
              <a:rPr sz="2800" dirty="0">
                <a:latin typeface="Arial" panose="020B0604020202090204"/>
                <a:cs typeface="Arial" panose="020B0604020202090204"/>
              </a:rPr>
              <a:t>a</a:t>
            </a:r>
            <a:r>
              <a:rPr sz="2800" spc="-5" dirty="0">
                <a:latin typeface="Arial" panose="020B0604020202090204"/>
                <a:cs typeface="Arial" panose="020B0604020202090204"/>
              </a:rPr>
              <a:t>te</a:t>
            </a:r>
            <a:r>
              <a:rPr lang="en-US" sz="2800" dirty="0">
                <a:latin typeface="Arial" panose="020B0604020202090204"/>
                <a:cs typeface="Arial" panose="020B0604020202090204"/>
              </a:rPr>
              <a:t> on </a:t>
            </a:r>
            <a:r>
              <a:rPr sz="2800" dirty="0">
                <a:latin typeface="Arial" panose="020B0604020202090204"/>
                <a:cs typeface="Arial" panose="020B0604020202090204"/>
              </a:rPr>
              <a:t>ho</a:t>
            </a:r>
            <a:r>
              <a:rPr sz="2800" spc="-5" dirty="0">
                <a:latin typeface="Arial" panose="020B0604020202090204"/>
                <a:cs typeface="Arial" panose="020B0604020202090204"/>
              </a:rPr>
              <a:t>w</a:t>
            </a:r>
            <a:r>
              <a:rPr lang="en-US" sz="2800" dirty="0">
                <a:latin typeface="Arial" panose="020B0604020202090204"/>
                <a:cs typeface="Arial" panose="020B0604020202090204"/>
              </a:rPr>
              <a:t> </a:t>
            </a:r>
            <a:r>
              <a:rPr sz="2800" spc="-5" dirty="0">
                <a:latin typeface="Arial" panose="020B0604020202090204"/>
                <a:cs typeface="Arial" panose="020B0604020202090204"/>
              </a:rPr>
              <a:t>y</a:t>
            </a:r>
            <a:r>
              <a:rPr sz="2800" spc="10" dirty="0">
                <a:latin typeface="Arial" panose="020B0604020202090204"/>
                <a:cs typeface="Arial" panose="020B0604020202090204"/>
              </a:rPr>
              <a:t>o</a:t>
            </a:r>
            <a:r>
              <a:rPr sz="2800" spc="-5" dirty="0">
                <a:latin typeface="Arial" panose="020B0604020202090204"/>
                <a:cs typeface="Arial" panose="020B0604020202090204"/>
              </a:rPr>
              <a:t>u know about the job</a:t>
            </a:r>
            <a:r>
              <a:rPr sz="2800" spc="30" dirty="0">
                <a:latin typeface="Arial" panose="020B0604020202090204"/>
                <a:cs typeface="Arial" panose="020B0604020202090204"/>
              </a:rPr>
              <a:t> </a:t>
            </a:r>
            <a:r>
              <a:rPr sz="2800" dirty="0">
                <a:latin typeface="Arial" panose="020B0604020202090204"/>
                <a:cs typeface="Arial" panose="020B0604020202090204"/>
              </a:rPr>
              <a:t>opening</a:t>
            </a:r>
            <a:r>
              <a:rPr lang="en-US" sz="2800" dirty="0">
                <a:latin typeface="Arial" panose="020B0604020202090204"/>
                <a:cs typeface="Arial" panose="020B0604020202090204"/>
              </a:rPr>
              <a:t> (the source of information)</a:t>
            </a:r>
            <a:endParaRPr sz="2800" dirty="0">
              <a:latin typeface="Arial" panose="020B0604020202090204"/>
              <a:cs typeface="Arial" panose="020B060402020209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object 52"/>
          <p:cNvSpPr txBox="1"/>
          <p:nvPr/>
        </p:nvSpPr>
        <p:spPr>
          <a:xfrm>
            <a:off x="457200" y="1981200"/>
            <a:ext cx="7696200" cy="3138170"/>
          </a:xfrm>
          <a:prstGeom prst="rect">
            <a:avLst/>
          </a:prstGeom>
        </p:spPr>
        <p:txBody>
          <a:bodyPr vert="horz" wrap="square" lIns="0" tIns="12065" rIns="0" bIns="0" rtlCol="0">
            <a:spAutoFit/>
          </a:bodyPr>
          <a:lstStyle/>
          <a:p>
            <a:pPr marL="12700">
              <a:lnSpc>
                <a:spcPct val="100000"/>
              </a:lnSpc>
              <a:spcBef>
                <a:spcPts val="95"/>
              </a:spcBef>
              <a:tabLst>
                <a:tab pos="622300" algn="l"/>
              </a:tabLst>
            </a:pPr>
            <a:r>
              <a:rPr sz="2800" spc="-5" dirty="0">
                <a:latin typeface="Arial" panose="020B0604020202090204"/>
                <a:cs typeface="Arial" panose="020B0604020202090204"/>
              </a:rPr>
              <a:t>The opening </a:t>
            </a:r>
            <a:r>
              <a:rPr sz="2800" dirty="0">
                <a:latin typeface="Arial" panose="020B0604020202090204"/>
                <a:cs typeface="Arial" panose="020B0604020202090204"/>
              </a:rPr>
              <a:t>paragraph</a:t>
            </a:r>
            <a:r>
              <a:rPr lang="en-US" sz="2800" spc="70" dirty="0">
                <a:latin typeface="Arial" panose="020B0604020202090204"/>
                <a:cs typeface="Arial" panose="020B0604020202090204"/>
              </a:rPr>
              <a:t>:</a:t>
            </a:r>
            <a:endParaRPr sz="2800" dirty="0">
              <a:latin typeface="Arial" panose="020B0604020202090204"/>
              <a:cs typeface="Arial" panose="020B0604020202090204"/>
            </a:endParaRPr>
          </a:p>
          <a:p>
            <a:pPr marL="622300" marR="5080" indent="-18415" algn="just">
              <a:lnSpc>
                <a:spcPct val="100000"/>
              </a:lnSpc>
              <a:spcBef>
                <a:spcPts val="2300"/>
              </a:spcBef>
            </a:pPr>
            <a:r>
              <a:rPr sz="2600" dirty="0">
                <a:latin typeface="Arial" panose="020B0604020202090204"/>
                <a:cs typeface="Arial" panose="020B0604020202090204"/>
              </a:rPr>
              <a:t>I wish to be considered for the position of </a:t>
            </a:r>
            <a:r>
              <a:rPr lang="en-US" sz="2600" u="sng" dirty="0">
                <a:latin typeface="Arial" panose="020B0604020202090204"/>
                <a:cs typeface="Arial" panose="020B0604020202090204"/>
              </a:rPr>
              <a:t>T</a:t>
            </a:r>
            <a:r>
              <a:rPr sz="2600" u="sng" dirty="0">
                <a:latin typeface="Arial" panose="020B0604020202090204"/>
                <a:cs typeface="Arial" panose="020B0604020202090204"/>
              </a:rPr>
              <a:t>echnical  </a:t>
            </a:r>
            <a:r>
              <a:rPr lang="en-US" sz="2600" u="sng" dirty="0">
                <a:latin typeface="Arial" panose="020B0604020202090204"/>
                <a:cs typeface="Arial" panose="020B0604020202090204"/>
              </a:rPr>
              <a:t>O</a:t>
            </a:r>
            <a:r>
              <a:rPr sz="2600" u="sng" dirty="0">
                <a:latin typeface="Arial" panose="020B0604020202090204"/>
                <a:cs typeface="Arial" panose="020B0604020202090204"/>
              </a:rPr>
              <a:t>fficer </a:t>
            </a:r>
            <a:r>
              <a:rPr sz="2600" dirty="0">
                <a:latin typeface="Arial" panose="020B0604020202090204"/>
                <a:cs typeface="Arial" panose="020B0604020202090204"/>
              </a:rPr>
              <a:t>which you advertised </a:t>
            </a:r>
            <a:r>
              <a:rPr sz="2600" spc="-5" dirty="0">
                <a:latin typeface="Arial" panose="020B0604020202090204"/>
                <a:cs typeface="Arial" panose="020B0604020202090204"/>
              </a:rPr>
              <a:t>in </a:t>
            </a:r>
            <a:r>
              <a:rPr sz="2600" u="sng" spc="5" dirty="0">
                <a:latin typeface="Arial" panose="020B0604020202090204"/>
                <a:cs typeface="Arial" panose="020B0604020202090204"/>
              </a:rPr>
              <a:t>The </a:t>
            </a:r>
            <a:r>
              <a:rPr sz="2600" u="sng" dirty="0">
                <a:latin typeface="Arial" panose="020B0604020202090204"/>
                <a:cs typeface="Arial" panose="020B0604020202090204"/>
              </a:rPr>
              <a:t>Star </a:t>
            </a:r>
            <a:r>
              <a:rPr sz="2600" dirty="0">
                <a:latin typeface="Arial" panose="020B0604020202090204"/>
                <a:cs typeface="Arial" panose="020B0604020202090204"/>
              </a:rPr>
              <a:t>on </a:t>
            </a:r>
            <a:r>
              <a:rPr lang="en-US" sz="2600" dirty="0">
                <a:latin typeface="Arial" panose="020B0604020202090204"/>
                <a:cs typeface="Arial" panose="020B0604020202090204"/>
              </a:rPr>
              <a:t>20 June 2026</a:t>
            </a:r>
            <a:r>
              <a:rPr sz="2600" dirty="0">
                <a:latin typeface="Arial" panose="020B0604020202090204"/>
                <a:cs typeface="Arial" panose="020B0604020202090204"/>
              </a:rPr>
              <a:t>. </a:t>
            </a:r>
            <a:r>
              <a:rPr sz="2600" i="1" dirty="0">
                <a:latin typeface="Arial" panose="020B0604020202090204"/>
                <a:cs typeface="Arial" panose="020B0604020202090204"/>
              </a:rPr>
              <a:t>I believe</a:t>
            </a:r>
            <a:r>
              <a:rPr lang="en-US" sz="2600" i="1" dirty="0">
                <a:latin typeface="Arial" panose="020B0604020202090204"/>
                <a:cs typeface="Arial" panose="020B0604020202090204"/>
              </a:rPr>
              <a:t> that</a:t>
            </a:r>
            <a:r>
              <a:rPr sz="2600" i="1" dirty="0">
                <a:latin typeface="Arial" panose="020B0604020202090204"/>
                <a:cs typeface="Arial" panose="020B0604020202090204"/>
              </a:rPr>
              <a:t> </a:t>
            </a:r>
            <a:r>
              <a:rPr sz="2600" i="1" spc="-5" dirty="0">
                <a:latin typeface="Arial" panose="020B0604020202090204"/>
                <a:cs typeface="Arial" panose="020B0604020202090204"/>
              </a:rPr>
              <a:t>my </a:t>
            </a:r>
            <a:r>
              <a:rPr sz="2600" i="1" dirty="0">
                <a:latin typeface="Arial" panose="020B0604020202090204"/>
                <a:cs typeface="Arial" panose="020B0604020202090204"/>
              </a:rPr>
              <a:t>degree </a:t>
            </a:r>
            <a:r>
              <a:rPr sz="2600" i="1" spc="-5" dirty="0">
                <a:latin typeface="Arial" panose="020B0604020202090204"/>
                <a:cs typeface="Arial" panose="020B0604020202090204"/>
              </a:rPr>
              <a:t>in </a:t>
            </a:r>
            <a:r>
              <a:rPr sz="2600" i="1" dirty="0">
                <a:latin typeface="Arial" panose="020B0604020202090204"/>
                <a:cs typeface="Arial" panose="020B0604020202090204"/>
              </a:rPr>
              <a:t>Electrical Engineering has </a:t>
            </a:r>
            <a:r>
              <a:rPr sz="2600" i="1" spc="-5" dirty="0">
                <a:latin typeface="Arial" panose="020B0604020202090204"/>
                <a:cs typeface="Arial" panose="020B0604020202090204"/>
              </a:rPr>
              <a:t>provided </a:t>
            </a:r>
            <a:r>
              <a:rPr sz="2600" i="1" dirty="0">
                <a:latin typeface="Arial" panose="020B0604020202090204"/>
                <a:cs typeface="Arial" panose="020B0604020202090204"/>
              </a:rPr>
              <a:t>me the knowledge and </a:t>
            </a:r>
            <a:r>
              <a:rPr sz="2600" i="1" spc="-5" dirty="0">
                <a:latin typeface="Arial" panose="020B0604020202090204"/>
                <a:cs typeface="Arial" panose="020B0604020202090204"/>
              </a:rPr>
              <a:t>skills  </a:t>
            </a:r>
            <a:r>
              <a:rPr lang="en-US" sz="2600" i="1" spc="-5" dirty="0">
                <a:latin typeface="Arial" panose="020B0604020202090204"/>
                <a:cs typeface="Arial" panose="020B0604020202090204"/>
              </a:rPr>
              <a:t>that will be </a:t>
            </a:r>
            <a:r>
              <a:rPr lang="en-US" sz="2600" i="1" dirty="0">
                <a:latin typeface="Arial" panose="020B0604020202090204"/>
                <a:cs typeface="Arial" panose="020B0604020202090204"/>
              </a:rPr>
              <a:t>required</a:t>
            </a:r>
            <a:r>
              <a:rPr sz="2600" i="1" dirty="0">
                <a:latin typeface="Arial" panose="020B0604020202090204"/>
                <a:cs typeface="Arial" panose="020B0604020202090204"/>
              </a:rPr>
              <a:t> for this</a:t>
            </a:r>
            <a:r>
              <a:rPr sz="2600" i="1" spc="-40" dirty="0">
                <a:latin typeface="Arial" panose="020B0604020202090204"/>
                <a:cs typeface="Arial" panose="020B0604020202090204"/>
              </a:rPr>
              <a:t> </a:t>
            </a:r>
            <a:r>
              <a:rPr sz="2600" i="1" dirty="0">
                <a:latin typeface="Arial" panose="020B0604020202090204"/>
                <a:cs typeface="Arial" panose="020B0604020202090204"/>
              </a:rPr>
              <a:t>position</a:t>
            </a:r>
            <a:r>
              <a:rPr lang="en-US" sz="2600" i="1" dirty="0">
                <a:latin typeface="Arial" panose="020B0604020202090204"/>
                <a:cs typeface="Arial" panose="020B0604020202090204"/>
              </a:rPr>
              <a:t> (additional information)</a:t>
            </a:r>
            <a:r>
              <a:rPr sz="2600" i="1" dirty="0">
                <a:latin typeface="Arial" panose="020B0604020202090204"/>
                <a:cs typeface="Arial" panose="020B0604020202090204"/>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object 57"/>
          <p:cNvSpPr txBox="1"/>
          <p:nvPr/>
        </p:nvSpPr>
        <p:spPr>
          <a:xfrm>
            <a:off x="762000" y="1905000"/>
            <a:ext cx="7620000" cy="2965450"/>
          </a:xfrm>
          <a:prstGeom prst="rect">
            <a:avLst/>
          </a:prstGeom>
        </p:spPr>
        <p:txBody>
          <a:bodyPr vert="horz" wrap="square" lIns="0" tIns="195580" rIns="0" bIns="0" rtlCol="0">
            <a:spAutoFit/>
          </a:bodyPr>
          <a:lstStyle/>
          <a:p>
            <a:pPr marL="12700">
              <a:lnSpc>
                <a:spcPct val="100000"/>
              </a:lnSpc>
              <a:spcBef>
                <a:spcPts val="105"/>
              </a:spcBef>
            </a:pPr>
            <a:r>
              <a:rPr lang="en-US" sz="2800" b="1" dirty="0">
                <a:latin typeface="Arial" panose="020B0604020202090204"/>
                <a:cs typeface="Arial" panose="020B0604020202090204"/>
              </a:rPr>
              <a:t>CONTENT (Details)</a:t>
            </a:r>
            <a:endParaRPr lang="en-US" sz="2800" dirty="0">
              <a:latin typeface="Arial" panose="020B0604020202090204"/>
              <a:cs typeface="Arial" panose="020B0604020202090204"/>
            </a:endParaRPr>
          </a:p>
          <a:p>
            <a:pPr marL="12700">
              <a:lnSpc>
                <a:spcPct val="100000"/>
              </a:lnSpc>
              <a:spcBef>
                <a:spcPts val="1440"/>
              </a:spcBef>
              <a:tabLst>
                <a:tab pos="622300" algn="l"/>
              </a:tabLst>
            </a:pPr>
            <a:r>
              <a:rPr sz="2500" spc="5" dirty="0">
                <a:latin typeface="Arial" panose="020B0604020202090204"/>
                <a:cs typeface="Arial" panose="020B0604020202090204"/>
              </a:rPr>
              <a:t>2.	</a:t>
            </a:r>
            <a:r>
              <a:rPr sz="2800" spc="-5" dirty="0">
                <a:latin typeface="Arial" panose="020B0604020202090204"/>
                <a:cs typeface="Arial" panose="020B0604020202090204"/>
              </a:rPr>
              <a:t>The middle</a:t>
            </a:r>
            <a:r>
              <a:rPr sz="2800" spc="45" dirty="0">
                <a:latin typeface="Arial" panose="020B0604020202090204"/>
                <a:cs typeface="Arial" panose="020B0604020202090204"/>
              </a:rPr>
              <a:t> </a:t>
            </a:r>
            <a:r>
              <a:rPr sz="2800" dirty="0">
                <a:latin typeface="Arial" panose="020B0604020202090204"/>
                <a:cs typeface="Arial" panose="020B0604020202090204"/>
              </a:rPr>
              <a:t>paragraphs</a:t>
            </a:r>
            <a:r>
              <a:rPr lang="en-US" sz="2800" dirty="0">
                <a:latin typeface="Arial" panose="020B0604020202090204"/>
                <a:cs typeface="Arial" panose="020B0604020202090204"/>
              </a:rPr>
              <a:t> (explanation):</a:t>
            </a:r>
            <a:endParaRPr sz="2800" dirty="0">
              <a:latin typeface="Arial" panose="020B0604020202090204"/>
              <a:cs typeface="Arial" panose="020B0604020202090204"/>
            </a:endParaRPr>
          </a:p>
          <a:p>
            <a:pPr marR="5080">
              <a:buClr>
                <a:srgbClr val="85D1EB"/>
              </a:buClr>
              <a:buSzPct val="89000"/>
              <a:buFont typeface="Wingdings" panose="05000000000000000000"/>
              <a:buChar char=""/>
              <a:tabLst>
                <a:tab pos="622935" algn="l"/>
              </a:tabLst>
            </a:pPr>
            <a:r>
              <a:rPr lang="en-US" sz="2800" dirty="0">
                <a:latin typeface="Arial" panose="020B0604020202090204"/>
                <a:cs typeface="Arial" panose="020B0604020202090204"/>
              </a:rPr>
              <a:t>    </a:t>
            </a:r>
            <a:r>
              <a:rPr sz="2800" dirty="0">
                <a:latin typeface="Arial" panose="020B0604020202090204"/>
                <a:cs typeface="Arial" panose="020B0604020202090204"/>
              </a:rPr>
              <a:t>Highlight </a:t>
            </a:r>
            <a:r>
              <a:rPr lang="en-US" sz="2800" dirty="0">
                <a:latin typeface="Arial" panose="020B0604020202090204"/>
                <a:cs typeface="Arial" panose="020B0604020202090204"/>
              </a:rPr>
              <a:t>on your </a:t>
            </a:r>
            <a:r>
              <a:rPr sz="2800" spc="-5" dirty="0">
                <a:latin typeface="Arial" panose="020B0604020202090204"/>
                <a:cs typeface="Arial" panose="020B0604020202090204"/>
              </a:rPr>
              <a:t>qualifications </a:t>
            </a:r>
            <a:r>
              <a:rPr lang="en-US" sz="2800" spc="-5" dirty="0">
                <a:latin typeface="Arial" panose="020B0604020202090204"/>
                <a:cs typeface="Arial" panose="020B0604020202090204"/>
              </a:rPr>
              <a:t>  	(academic/skills/work experience etc.)</a:t>
            </a:r>
          </a:p>
          <a:p>
            <a:pPr marR="5080">
              <a:buClr>
                <a:srgbClr val="85D1EB"/>
              </a:buClr>
              <a:buSzPct val="89000"/>
              <a:buFont typeface="Wingdings" panose="05000000000000000000"/>
              <a:buChar char=""/>
              <a:tabLst>
                <a:tab pos="622935" algn="l"/>
              </a:tabLst>
            </a:pPr>
            <a:r>
              <a:rPr lang="en-US" sz="2800" spc="-5" dirty="0">
                <a:latin typeface="Arial" panose="020B0604020202090204"/>
                <a:cs typeface="Arial" panose="020B0604020202090204"/>
              </a:rPr>
              <a:t>    M</a:t>
            </a:r>
            <a:r>
              <a:rPr sz="2800" spc="-5" dirty="0">
                <a:latin typeface="Arial" panose="020B0604020202090204"/>
                <a:cs typeface="Arial" panose="020B0604020202090204"/>
              </a:rPr>
              <a:t>ost relevant</a:t>
            </a:r>
            <a:r>
              <a:rPr sz="2800" spc="25" dirty="0">
                <a:latin typeface="Arial" panose="020B0604020202090204"/>
                <a:cs typeface="Arial" panose="020B0604020202090204"/>
              </a:rPr>
              <a:t> </a:t>
            </a:r>
            <a:r>
              <a:rPr lang="en-US" sz="2800" dirty="0">
                <a:latin typeface="Arial" panose="020B0604020202090204"/>
                <a:cs typeface="Arial" panose="020B0604020202090204"/>
              </a:rPr>
              <a:t>information</a:t>
            </a:r>
          </a:p>
          <a:p>
            <a:pPr marL="622300" indent="-610235">
              <a:lnSpc>
                <a:spcPct val="100000"/>
              </a:lnSpc>
              <a:buClr>
                <a:srgbClr val="85D1EB"/>
              </a:buClr>
              <a:buSzPct val="89000"/>
              <a:buFont typeface="Wingdings" panose="05000000000000000000"/>
              <a:buChar char=""/>
              <a:tabLst>
                <a:tab pos="622300" algn="l"/>
                <a:tab pos="622935" algn="l"/>
              </a:tabLst>
            </a:pPr>
            <a:r>
              <a:rPr sz="2800" spc="-5" dirty="0">
                <a:latin typeface="Arial" panose="020B0604020202090204"/>
                <a:cs typeface="Arial" panose="020B0604020202090204"/>
              </a:rPr>
              <a:t>State expected salary (if </a:t>
            </a:r>
            <a:r>
              <a:rPr sz="2800" dirty="0">
                <a:latin typeface="Arial" panose="020B0604020202090204"/>
                <a:cs typeface="Arial" panose="020B0604020202090204"/>
              </a:rPr>
              <a:t>required</a:t>
            </a:r>
            <a:r>
              <a:rPr sz="2800" spc="-5" dirty="0">
                <a:latin typeface="Arial" panose="020B0604020202090204"/>
                <a:cs typeface="Arial" panose="020B0604020202090204"/>
              </a:rPr>
              <a:t>)</a:t>
            </a:r>
            <a:endParaRPr sz="2800" dirty="0">
              <a:latin typeface="Arial" panose="020B0604020202090204"/>
              <a:cs typeface="Arial" panose="020B060402020209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object 46"/>
          <p:cNvSpPr txBox="1"/>
          <p:nvPr/>
        </p:nvSpPr>
        <p:spPr>
          <a:xfrm>
            <a:off x="838200" y="1828800"/>
            <a:ext cx="7239000" cy="3077845"/>
          </a:xfrm>
          <a:prstGeom prst="rect">
            <a:avLst/>
          </a:prstGeom>
        </p:spPr>
        <p:txBody>
          <a:bodyPr vert="horz" wrap="square" lIns="0" tIns="13335" rIns="0" bIns="0" rtlCol="0">
            <a:spAutoFit/>
          </a:bodyPr>
          <a:lstStyle/>
          <a:p>
            <a:pPr marL="12700" algn="just">
              <a:lnSpc>
                <a:spcPct val="100000"/>
              </a:lnSpc>
              <a:spcBef>
                <a:spcPts val="2415"/>
              </a:spcBef>
            </a:pPr>
            <a:r>
              <a:rPr sz="2500" spc="5" dirty="0">
                <a:latin typeface="Arial" panose="020B0604020202090204"/>
                <a:cs typeface="Arial" panose="020B0604020202090204"/>
              </a:rPr>
              <a:t>3. </a:t>
            </a:r>
            <a:r>
              <a:rPr sz="2800" spc="-5" dirty="0">
                <a:latin typeface="Arial" panose="020B0604020202090204"/>
                <a:cs typeface="Arial" panose="020B0604020202090204"/>
              </a:rPr>
              <a:t>The </a:t>
            </a:r>
            <a:r>
              <a:rPr sz="2800" dirty="0">
                <a:latin typeface="Arial" panose="020B0604020202090204"/>
                <a:cs typeface="Arial" panose="020B0604020202090204"/>
              </a:rPr>
              <a:t>closing</a:t>
            </a:r>
            <a:r>
              <a:rPr sz="2800" spc="-95" dirty="0">
                <a:latin typeface="Arial" panose="020B0604020202090204"/>
                <a:cs typeface="Arial" panose="020B0604020202090204"/>
              </a:rPr>
              <a:t> </a:t>
            </a:r>
            <a:r>
              <a:rPr sz="2800" spc="-5" dirty="0">
                <a:latin typeface="Arial" panose="020B0604020202090204"/>
                <a:cs typeface="Arial" panose="020B0604020202090204"/>
              </a:rPr>
              <a:t>paragraph</a:t>
            </a:r>
            <a:r>
              <a:rPr lang="en-US" sz="2800" spc="-5" dirty="0">
                <a:latin typeface="Arial" panose="020B0604020202090204"/>
                <a:cs typeface="Arial" panose="020B0604020202090204"/>
              </a:rPr>
              <a:t> (action)</a:t>
            </a:r>
            <a:endParaRPr sz="2800" dirty="0">
              <a:latin typeface="Arial" panose="020B0604020202090204"/>
              <a:cs typeface="Arial" panose="020B0604020202090204"/>
            </a:endParaRPr>
          </a:p>
          <a:p>
            <a:pPr marL="622300" indent="-610235" algn="just">
              <a:lnSpc>
                <a:spcPct val="100000"/>
              </a:lnSpc>
              <a:spcBef>
                <a:spcPts val="2400"/>
              </a:spcBef>
              <a:buClr>
                <a:srgbClr val="85D1EB"/>
              </a:buClr>
              <a:buSzPct val="89000"/>
              <a:buFont typeface="Wingdings" panose="05000000000000000000"/>
              <a:buChar char=""/>
              <a:tabLst>
                <a:tab pos="622935" algn="l"/>
              </a:tabLst>
            </a:pPr>
            <a:r>
              <a:rPr sz="2800" spc="-5" dirty="0">
                <a:latin typeface="Arial" panose="020B0604020202090204"/>
                <a:cs typeface="Arial" panose="020B0604020202090204"/>
              </a:rPr>
              <a:t>Refer to </a:t>
            </a:r>
            <a:r>
              <a:rPr sz="2800" dirty="0">
                <a:latin typeface="Arial" panose="020B0604020202090204"/>
                <a:cs typeface="Arial" panose="020B0604020202090204"/>
              </a:rPr>
              <a:t>enclosed </a:t>
            </a:r>
            <a:r>
              <a:rPr sz="2800" spc="-5" dirty="0">
                <a:latin typeface="Arial" panose="020B0604020202090204"/>
                <a:cs typeface="Arial" panose="020B0604020202090204"/>
              </a:rPr>
              <a:t>document</a:t>
            </a:r>
            <a:r>
              <a:rPr lang="en-US" sz="2800" spc="-5" dirty="0">
                <a:latin typeface="Arial" panose="020B0604020202090204"/>
                <a:cs typeface="Arial" panose="020B0604020202090204"/>
              </a:rPr>
              <a:t>(</a:t>
            </a:r>
            <a:r>
              <a:rPr sz="2800" spc="-5" dirty="0">
                <a:latin typeface="Arial" panose="020B0604020202090204"/>
                <a:cs typeface="Arial" panose="020B0604020202090204"/>
              </a:rPr>
              <a:t>s</a:t>
            </a:r>
            <a:r>
              <a:rPr lang="en-US" sz="2800" spc="-5" dirty="0">
                <a:latin typeface="Arial" panose="020B0604020202090204"/>
                <a:cs typeface="Arial" panose="020B0604020202090204"/>
              </a:rPr>
              <a:t>) – inform your readers that you have additional document(s)</a:t>
            </a:r>
            <a:r>
              <a:rPr sz="2800" spc="-5" dirty="0">
                <a:latin typeface="Arial" panose="020B0604020202090204"/>
                <a:cs typeface="Arial" panose="020B0604020202090204"/>
              </a:rPr>
              <a:t> </a:t>
            </a:r>
            <a:r>
              <a:rPr sz="2800" dirty="0">
                <a:latin typeface="Arial" panose="020B0604020202090204"/>
                <a:cs typeface="Arial" panose="020B0604020202090204"/>
              </a:rPr>
              <a:t>(</a:t>
            </a:r>
            <a:r>
              <a:rPr lang="en-US" sz="2800" dirty="0">
                <a:latin typeface="Arial" panose="020B0604020202090204"/>
                <a:cs typeface="Arial" panose="020B0604020202090204"/>
              </a:rPr>
              <a:t>i.e., your </a:t>
            </a:r>
            <a:r>
              <a:rPr sz="2800" spc="-5" dirty="0">
                <a:latin typeface="Arial" panose="020B0604020202090204"/>
                <a:cs typeface="Arial" panose="020B0604020202090204"/>
              </a:rPr>
              <a:t>CV).</a:t>
            </a:r>
            <a:endParaRPr sz="2800" dirty="0">
              <a:latin typeface="Arial" panose="020B0604020202090204"/>
              <a:cs typeface="Arial" panose="020B0604020202090204"/>
            </a:endParaRPr>
          </a:p>
          <a:p>
            <a:pPr marL="622300" marR="5080" indent="-610235" algn="just">
              <a:lnSpc>
                <a:spcPct val="100000"/>
              </a:lnSpc>
              <a:spcBef>
                <a:spcPts val="670"/>
              </a:spcBef>
              <a:buClr>
                <a:srgbClr val="85D1EB"/>
              </a:buClr>
              <a:buSzPct val="89000"/>
              <a:buFont typeface="Wingdings" panose="05000000000000000000"/>
              <a:buChar char=""/>
              <a:tabLst>
                <a:tab pos="622935" algn="l"/>
              </a:tabLst>
            </a:pPr>
            <a:r>
              <a:rPr sz="2800" dirty="0">
                <a:latin typeface="Arial" panose="020B0604020202090204"/>
                <a:cs typeface="Arial" panose="020B0604020202090204"/>
              </a:rPr>
              <a:t>Request </a:t>
            </a:r>
            <a:r>
              <a:rPr sz="2800" spc="-5" dirty="0">
                <a:latin typeface="Arial" panose="020B0604020202090204"/>
                <a:cs typeface="Arial" panose="020B0604020202090204"/>
              </a:rPr>
              <a:t>for </a:t>
            </a:r>
            <a:r>
              <a:rPr sz="2800" dirty="0">
                <a:latin typeface="Arial" panose="020B0604020202090204"/>
                <a:cs typeface="Arial" panose="020B0604020202090204"/>
              </a:rPr>
              <a:t>interview</a:t>
            </a:r>
          </a:p>
          <a:p>
            <a:pPr marL="622300" marR="5080" indent="-610235" algn="just">
              <a:lnSpc>
                <a:spcPct val="100000"/>
              </a:lnSpc>
              <a:spcBef>
                <a:spcPts val="670"/>
              </a:spcBef>
              <a:buClr>
                <a:srgbClr val="85D1EB"/>
              </a:buClr>
              <a:buSzPct val="89000"/>
              <a:buFont typeface="Wingdings" panose="05000000000000000000"/>
              <a:buChar char=""/>
              <a:tabLst>
                <a:tab pos="622935" algn="l"/>
              </a:tabLst>
            </a:pPr>
            <a:r>
              <a:rPr lang="en-US" sz="2800" dirty="0">
                <a:latin typeface="Arial" panose="020B0604020202090204"/>
                <a:cs typeface="Arial" panose="020B0604020202090204"/>
              </a:rPr>
              <a:t>I</a:t>
            </a:r>
            <a:r>
              <a:rPr sz="2800" dirty="0">
                <a:latin typeface="Arial" panose="020B0604020202090204"/>
                <a:cs typeface="Arial" panose="020B0604020202090204"/>
              </a:rPr>
              <a:t>nclude phone </a:t>
            </a:r>
            <a:r>
              <a:rPr sz="2800" spc="-5" dirty="0">
                <a:latin typeface="Arial" panose="020B0604020202090204"/>
                <a:cs typeface="Arial" panose="020B0604020202090204"/>
              </a:rPr>
              <a:t>no. and  e-mail </a:t>
            </a:r>
            <a:r>
              <a:rPr sz="2800" dirty="0">
                <a:latin typeface="Arial" panose="020B0604020202090204"/>
                <a:cs typeface="Arial" panose="020B0604020202090204"/>
              </a:rPr>
              <a:t>address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object 48"/>
          <p:cNvSpPr txBox="1"/>
          <p:nvPr/>
        </p:nvSpPr>
        <p:spPr>
          <a:xfrm>
            <a:off x="838200" y="1905000"/>
            <a:ext cx="7543800" cy="2868930"/>
          </a:xfrm>
          <a:prstGeom prst="rect">
            <a:avLst/>
          </a:prstGeom>
        </p:spPr>
        <p:txBody>
          <a:bodyPr vert="horz" wrap="square" lIns="0" tIns="13335" rIns="0" bIns="0" rtlCol="0">
            <a:spAutoFit/>
          </a:bodyPr>
          <a:lstStyle/>
          <a:p>
            <a:pPr marL="12700">
              <a:lnSpc>
                <a:spcPct val="100000"/>
              </a:lnSpc>
              <a:spcBef>
                <a:spcPts val="2415"/>
              </a:spcBef>
              <a:tabLst>
                <a:tab pos="622300" algn="l"/>
              </a:tabLst>
            </a:pPr>
            <a:r>
              <a:rPr sz="2400" spc="-5" dirty="0">
                <a:latin typeface="Arial" panose="020B0604020202090204"/>
                <a:cs typeface="Arial" panose="020B0604020202090204"/>
              </a:rPr>
              <a:t>The </a:t>
            </a:r>
            <a:r>
              <a:rPr sz="2400" dirty="0">
                <a:latin typeface="Arial" panose="020B0604020202090204"/>
                <a:cs typeface="Arial" panose="020B0604020202090204"/>
              </a:rPr>
              <a:t>closing </a:t>
            </a:r>
            <a:r>
              <a:rPr sz="2400" spc="-5" dirty="0">
                <a:latin typeface="Arial" panose="020B0604020202090204"/>
                <a:cs typeface="Arial" panose="020B0604020202090204"/>
              </a:rPr>
              <a:t>paragraph</a:t>
            </a:r>
            <a:r>
              <a:rPr lang="en-US" sz="2400" spc="-5" dirty="0">
                <a:latin typeface="Arial" panose="020B0604020202090204"/>
                <a:cs typeface="Arial" panose="020B0604020202090204"/>
              </a:rPr>
              <a:t>:</a:t>
            </a:r>
            <a:r>
              <a:rPr sz="2400" spc="40" dirty="0">
                <a:latin typeface="Arial" panose="020B0604020202090204"/>
                <a:cs typeface="Arial" panose="020B0604020202090204"/>
              </a:rPr>
              <a:t> </a:t>
            </a:r>
            <a:endParaRPr sz="2400" dirty="0">
              <a:latin typeface="Arial" panose="020B0604020202090204"/>
              <a:cs typeface="Arial" panose="020B0604020202090204"/>
            </a:endParaRPr>
          </a:p>
          <a:p>
            <a:pPr marL="622300" marR="5080" indent="-18415" algn="just">
              <a:lnSpc>
                <a:spcPct val="100000"/>
              </a:lnSpc>
              <a:spcBef>
                <a:spcPts val="2110"/>
              </a:spcBef>
            </a:pPr>
            <a:r>
              <a:rPr sz="2400" spc="-5" dirty="0">
                <a:latin typeface="Arial" panose="020B0604020202090204"/>
                <a:cs typeface="Arial" panose="020B0604020202090204"/>
              </a:rPr>
              <a:t>I am </a:t>
            </a:r>
            <a:r>
              <a:rPr sz="2400" dirty="0">
                <a:latin typeface="Arial" panose="020B0604020202090204"/>
                <a:cs typeface="Arial" panose="020B0604020202090204"/>
              </a:rPr>
              <a:t>enclosing </a:t>
            </a:r>
            <a:r>
              <a:rPr sz="2400" spc="-10" dirty="0">
                <a:latin typeface="Arial" panose="020B0604020202090204"/>
                <a:cs typeface="Arial" panose="020B0604020202090204"/>
              </a:rPr>
              <a:t>my </a:t>
            </a:r>
            <a:r>
              <a:rPr lang="en-US" sz="2400" spc="-5" dirty="0">
                <a:latin typeface="Arial" panose="020B0604020202090204"/>
                <a:cs typeface="Arial" panose="020B0604020202090204"/>
              </a:rPr>
              <a:t>CV for your reference.</a:t>
            </a:r>
            <a:r>
              <a:rPr sz="2400" dirty="0">
                <a:latin typeface="Arial" panose="020B0604020202090204"/>
                <a:cs typeface="Arial" panose="020B0604020202090204"/>
              </a:rPr>
              <a:t> </a:t>
            </a:r>
            <a:r>
              <a:rPr lang="en-US" sz="2400" dirty="0">
                <a:latin typeface="Arial" panose="020B0604020202090204"/>
                <a:cs typeface="Arial" panose="020B0604020202090204"/>
              </a:rPr>
              <a:t>It will be appreciated if I can have the chance to attend the interview session to further discuss on my application.</a:t>
            </a:r>
            <a:r>
              <a:rPr sz="2400" dirty="0">
                <a:latin typeface="Arial" panose="020B0604020202090204"/>
                <a:cs typeface="Arial" panose="020B0604020202090204"/>
              </a:rPr>
              <a:t> If </a:t>
            </a:r>
            <a:r>
              <a:rPr sz="2400" spc="-5" dirty="0">
                <a:latin typeface="Arial" panose="020B0604020202090204"/>
                <a:cs typeface="Arial" panose="020B0604020202090204"/>
              </a:rPr>
              <a:t>you </a:t>
            </a:r>
            <a:r>
              <a:rPr lang="en-US" sz="2400" dirty="0">
                <a:latin typeface="Arial" panose="020B0604020202090204"/>
                <a:cs typeface="Arial" panose="020B0604020202090204"/>
              </a:rPr>
              <a:t>need</a:t>
            </a:r>
            <a:r>
              <a:rPr sz="2400" dirty="0">
                <a:latin typeface="Arial" panose="020B0604020202090204"/>
                <a:cs typeface="Arial" panose="020B0604020202090204"/>
              </a:rPr>
              <a:t> </a:t>
            </a:r>
            <a:r>
              <a:rPr sz="2400" spc="-5" dirty="0">
                <a:latin typeface="Arial" panose="020B0604020202090204"/>
                <a:cs typeface="Arial" panose="020B0604020202090204"/>
              </a:rPr>
              <a:t>any </a:t>
            </a:r>
            <a:r>
              <a:rPr lang="en-US" sz="2400" dirty="0">
                <a:latin typeface="Arial" panose="020B0604020202090204"/>
                <a:cs typeface="Arial" panose="020B0604020202090204"/>
              </a:rPr>
              <a:t>additional</a:t>
            </a:r>
            <a:r>
              <a:rPr sz="2400" dirty="0">
                <a:latin typeface="Arial" panose="020B0604020202090204"/>
                <a:cs typeface="Arial" panose="020B0604020202090204"/>
              </a:rPr>
              <a:t> details,</a:t>
            </a:r>
            <a:r>
              <a:rPr lang="en-US" sz="2400" dirty="0">
                <a:latin typeface="Arial" panose="020B0604020202090204"/>
                <a:cs typeface="Arial" panose="020B0604020202090204"/>
              </a:rPr>
              <a:t> please let me know by reaching me at (contact no) and (email). </a:t>
            </a:r>
            <a:endParaRPr sz="2400" dirty="0">
              <a:latin typeface="Arial" panose="020B0604020202090204"/>
              <a:cs typeface="Arial" panose="020B060402020209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object 46"/>
          <p:cNvSpPr txBox="1"/>
          <p:nvPr/>
        </p:nvSpPr>
        <p:spPr>
          <a:xfrm>
            <a:off x="838200" y="1905000"/>
            <a:ext cx="8073390" cy="2506980"/>
          </a:xfrm>
          <a:prstGeom prst="rect">
            <a:avLst/>
          </a:prstGeom>
        </p:spPr>
        <p:txBody>
          <a:bodyPr vert="horz" wrap="square" lIns="0" tIns="13335" rIns="0" bIns="0" rtlCol="0">
            <a:spAutoFit/>
          </a:bodyPr>
          <a:lstStyle/>
          <a:p>
            <a:pPr marL="12700">
              <a:lnSpc>
                <a:spcPct val="100000"/>
              </a:lnSpc>
              <a:spcBef>
                <a:spcPts val="105"/>
              </a:spcBef>
            </a:pPr>
            <a:r>
              <a:rPr sz="3200" b="1" dirty="0">
                <a:latin typeface="Arial" panose="020B0604020202090204"/>
                <a:cs typeface="Arial" panose="020B0604020202090204"/>
              </a:rPr>
              <a:t>EFFECTIVE JOB APPLICATION</a:t>
            </a:r>
            <a:r>
              <a:rPr sz="3200" b="1" spc="-75" dirty="0">
                <a:latin typeface="Arial" panose="020B0604020202090204"/>
                <a:cs typeface="Arial" panose="020B0604020202090204"/>
              </a:rPr>
              <a:t> </a:t>
            </a:r>
            <a:r>
              <a:rPr sz="3200" b="1" dirty="0">
                <a:latin typeface="Arial" panose="020B0604020202090204"/>
                <a:cs typeface="Arial" panose="020B0604020202090204"/>
              </a:rPr>
              <a:t>LETTER</a:t>
            </a:r>
            <a:endParaRPr sz="3200" dirty="0">
              <a:latin typeface="Arial" panose="020B0604020202090204"/>
              <a:cs typeface="Arial" panose="020B0604020202090204"/>
            </a:endParaRPr>
          </a:p>
          <a:p>
            <a:pPr marL="12700">
              <a:lnSpc>
                <a:spcPct val="100000"/>
              </a:lnSpc>
              <a:spcBef>
                <a:spcPts val="1900"/>
              </a:spcBef>
              <a:tabLst>
                <a:tab pos="622300" algn="l"/>
              </a:tabLst>
            </a:pPr>
            <a:r>
              <a:rPr sz="2150" dirty="0">
                <a:latin typeface="Arial" panose="020B0604020202090204"/>
                <a:cs typeface="Arial" panose="020B0604020202090204"/>
              </a:rPr>
              <a:t>1.	</a:t>
            </a:r>
            <a:r>
              <a:rPr sz="2400" spc="-5" dirty="0">
                <a:latin typeface="Arial" panose="020B0604020202090204"/>
                <a:cs typeface="Arial" panose="020B0604020202090204"/>
              </a:rPr>
              <a:t>Content</a:t>
            </a:r>
            <a:endParaRPr sz="2400" dirty="0">
              <a:latin typeface="Arial" panose="020B0604020202090204"/>
              <a:cs typeface="Arial" panose="020B0604020202090204"/>
            </a:endParaRPr>
          </a:p>
          <a:p>
            <a:pPr marL="622300" indent="-610235">
              <a:lnSpc>
                <a:spcPct val="100000"/>
              </a:lnSpc>
              <a:spcBef>
                <a:spcPts val="290"/>
              </a:spcBef>
              <a:buClr>
                <a:srgbClr val="85D1EB"/>
              </a:buClr>
              <a:buSzPct val="90000"/>
              <a:buFont typeface="Wingdings" panose="05000000000000000000"/>
              <a:buChar char=""/>
              <a:tabLst>
                <a:tab pos="622300" algn="l"/>
                <a:tab pos="622935" algn="l"/>
              </a:tabLst>
            </a:pPr>
            <a:r>
              <a:rPr sz="2400" dirty="0">
                <a:latin typeface="Arial" panose="020B0604020202090204"/>
                <a:cs typeface="Arial" panose="020B0604020202090204"/>
              </a:rPr>
              <a:t>must </a:t>
            </a:r>
            <a:r>
              <a:rPr sz="2400" spc="-10" dirty="0">
                <a:latin typeface="Arial" panose="020B0604020202090204"/>
                <a:cs typeface="Arial" panose="020B0604020202090204"/>
              </a:rPr>
              <a:t>be </a:t>
            </a:r>
            <a:r>
              <a:rPr sz="2400" spc="-5" dirty="0">
                <a:latin typeface="Arial" panose="020B0604020202090204"/>
                <a:cs typeface="Arial" panose="020B0604020202090204"/>
              </a:rPr>
              <a:t>clear, complete and</a:t>
            </a:r>
            <a:r>
              <a:rPr sz="2400" spc="35" dirty="0">
                <a:latin typeface="Arial" panose="020B0604020202090204"/>
                <a:cs typeface="Arial" panose="020B0604020202090204"/>
              </a:rPr>
              <a:t> </a:t>
            </a:r>
            <a:r>
              <a:rPr sz="2400" dirty="0">
                <a:latin typeface="Arial" panose="020B0604020202090204"/>
                <a:cs typeface="Arial" panose="020B0604020202090204"/>
              </a:rPr>
              <a:t>correct</a:t>
            </a:r>
          </a:p>
          <a:p>
            <a:pPr marL="12700">
              <a:lnSpc>
                <a:spcPct val="100000"/>
              </a:lnSpc>
              <a:spcBef>
                <a:spcPts val="1610"/>
              </a:spcBef>
              <a:tabLst>
                <a:tab pos="622300" algn="l"/>
              </a:tabLst>
            </a:pPr>
            <a:r>
              <a:rPr sz="2150" dirty="0">
                <a:latin typeface="Arial" panose="020B0604020202090204"/>
                <a:cs typeface="Arial" panose="020B0604020202090204"/>
              </a:rPr>
              <a:t>2.	</a:t>
            </a:r>
            <a:r>
              <a:rPr sz="2400" spc="-5" dirty="0">
                <a:latin typeface="Arial" panose="020B0604020202090204"/>
                <a:cs typeface="Arial" panose="020B0604020202090204"/>
              </a:rPr>
              <a:t>Language</a:t>
            </a:r>
            <a:r>
              <a:rPr sz="2400" spc="30" dirty="0">
                <a:latin typeface="Arial" panose="020B0604020202090204"/>
                <a:cs typeface="Arial" panose="020B0604020202090204"/>
              </a:rPr>
              <a:t> </a:t>
            </a:r>
            <a:r>
              <a:rPr sz="2400" spc="-5" dirty="0">
                <a:latin typeface="Arial" panose="020B0604020202090204"/>
                <a:cs typeface="Arial" panose="020B0604020202090204"/>
              </a:rPr>
              <a:t>used</a:t>
            </a:r>
            <a:r>
              <a:rPr lang="en-US" sz="2400" spc="-5" dirty="0">
                <a:latin typeface="Arial" panose="020B0604020202090204"/>
                <a:cs typeface="Arial" panose="020B0604020202090204"/>
              </a:rPr>
              <a:t> and expressions/tone</a:t>
            </a:r>
            <a:endParaRPr sz="2400" dirty="0">
              <a:latin typeface="Arial" panose="020B0604020202090204"/>
              <a:cs typeface="Arial" panose="020B0604020202090204"/>
            </a:endParaRPr>
          </a:p>
          <a:p>
            <a:pPr marL="622300" indent="-610235">
              <a:lnSpc>
                <a:spcPct val="100000"/>
              </a:lnSpc>
              <a:spcBef>
                <a:spcPts val="285"/>
              </a:spcBef>
              <a:buClr>
                <a:srgbClr val="85D1EB"/>
              </a:buClr>
              <a:buSzPct val="90000"/>
              <a:buFont typeface="Wingdings" panose="05000000000000000000"/>
              <a:buChar char=""/>
              <a:tabLst>
                <a:tab pos="622300" algn="l"/>
                <a:tab pos="622935" algn="l"/>
              </a:tabLst>
            </a:pPr>
            <a:r>
              <a:rPr sz="2400" dirty="0">
                <a:latin typeface="Arial" panose="020B0604020202090204"/>
                <a:cs typeface="Arial" panose="020B0604020202090204"/>
              </a:rPr>
              <a:t>must </a:t>
            </a:r>
            <a:r>
              <a:rPr sz="2400" spc="-5" dirty="0">
                <a:latin typeface="Arial" panose="020B0604020202090204"/>
                <a:cs typeface="Arial" panose="020B0604020202090204"/>
              </a:rPr>
              <a:t>be </a:t>
            </a:r>
            <a:r>
              <a:rPr sz="2400" dirty="0">
                <a:latin typeface="Arial" panose="020B0604020202090204"/>
                <a:cs typeface="Arial" panose="020B0604020202090204"/>
              </a:rPr>
              <a:t>formal, </a:t>
            </a:r>
            <a:r>
              <a:rPr sz="2400" spc="-5" dirty="0">
                <a:latin typeface="Arial" panose="020B0604020202090204"/>
                <a:cs typeface="Arial" panose="020B0604020202090204"/>
              </a:rPr>
              <a:t>be convincing and sound</a:t>
            </a:r>
            <a:r>
              <a:rPr sz="2400" spc="65" dirty="0">
                <a:latin typeface="Arial" panose="020B0604020202090204"/>
                <a:cs typeface="Arial" panose="020B0604020202090204"/>
              </a:rPr>
              <a:t> </a:t>
            </a:r>
            <a:r>
              <a:rPr sz="2400" spc="-5" dirty="0">
                <a:latin typeface="Arial" panose="020B0604020202090204"/>
                <a:cs typeface="Arial" panose="020B0604020202090204"/>
              </a:rPr>
              <a:t>confident</a:t>
            </a:r>
            <a:endParaRPr sz="2400" dirty="0">
              <a:latin typeface="Arial" panose="020B0604020202090204"/>
              <a:cs typeface="Arial" panose="020B060402020209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4800" y="838200"/>
            <a:ext cx="8534400" cy="4628515"/>
          </a:xfrm>
          <a:prstGeom prst="rect">
            <a:avLst/>
          </a:prstGeom>
        </p:spPr>
        <p:txBody>
          <a:bodyPr vert="horz" wrap="square" lIns="0" tIns="12065" rIns="0" bIns="0" rtlCol="0">
            <a:spAutoFit/>
          </a:bodyPr>
          <a:lstStyle/>
          <a:p>
            <a:pPr marL="12700">
              <a:lnSpc>
                <a:spcPct val="100000"/>
              </a:lnSpc>
              <a:spcBef>
                <a:spcPts val="95"/>
              </a:spcBef>
            </a:pPr>
            <a:r>
              <a:rPr lang="en-US" sz="1300" dirty="0">
                <a:latin typeface="Arial" panose="020B0604020202090204"/>
                <a:cs typeface="Arial" panose="020B0604020202090204"/>
              </a:rPr>
              <a:t>Richard Phua </a:t>
            </a:r>
            <a:endParaRPr sz="1300" dirty="0">
              <a:latin typeface="Arial" panose="020B0604020202090204"/>
              <a:cs typeface="Arial" panose="020B0604020202090204"/>
            </a:endParaRPr>
          </a:p>
          <a:p>
            <a:pPr marL="12700">
              <a:lnSpc>
                <a:spcPct val="100000"/>
              </a:lnSpc>
            </a:pPr>
            <a:r>
              <a:rPr sz="1300" spc="-45" dirty="0">
                <a:latin typeface="Arial" panose="020B0604020202090204"/>
                <a:cs typeface="Arial" panose="020B0604020202090204"/>
              </a:rPr>
              <a:t>118 </a:t>
            </a:r>
            <a:r>
              <a:rPr lang="en-US" sz="1300" dirty="0">
                <a:latin typeface="Arial" panose="020B0604020202090204"/>
                <a:cs typeface="Arial" panose="020B0604020202090204"/>
              </a:rPr>
              <a:t>Garden Street </a:t>
            </a:r>
            <a:r>
              <a:rPr sz="1300" spc="-5" dirty="0">
                <a:latin typeface="Arial" panose="020B0604020202090204"/>
                <a:cs typeface="Arial" panose="020B0604020202090204"/>
              </a:rPr>
              <a:t>8/10</a:t>
            </a:r>
            <a:endParaRPr sz="1300" dirty="0">
              <a:latin typeface="Arial" panose="020B0604020202090204"/>
              <a:cs typeface="Arial" panose="020B0604020202090204"/>
            </a:endParaRPr>
          </a:p>
          <a:p>
            <a:pPr marL="12700" marR="6429375">
              <a:lnSpc>
                <a:spcPct val="100000"/>
              </a:lnSpc>
            </a:pPr>
            <a:r>
              <a:rPr lang="en-US" sz="1300" spc="-5" dirty="0">
                <a:latin typeface="Arial" panose="020B0604020202090204"/>
                <a:cs typeface="Arial" panose="020B0604020202090204"/>
              </a:rPr>
              <a:t>12345 Kuala Lumpur</a:t>
            </a:r>
            <a:endParaRPr sz="1300" dirty="0">
              <a:latin typeface="Arial" panose="020B0604020202090204"/>
              <a:cs typeface="Arial" panose="020B0604020202090204"/>
            </a:endParaRPr>
          </a:p>
          <a:p>
            <a:pPr>
              <a:lnSpc>
                <a:spcPct val="100000"/>
              </a:lnSpc>
              <a:spcBef>
                <a:spcPts val="25"/>
              </a:spcBef>
            </a:pPr>
            <a:endParaRPr sz="1300" dirty="0">
              <a:latin typeface="Arial" panose="020B0604020202090204"/>
              <a:cs typeface="Arial" panose="020B0604020202090204"/>
            </a:endParaRPr>
          </a:p>
          <a:p>
            <a:pPr marL="12700">
              <a:lnSpc>
                <a:spcPct val="100000"/>
              </a:lnSpc>
            </a:pPr>
            <a:r>
              <a:rPr lang="en-US" sz="1300" spc="-5" dirty="0">
                <a:latin typeface="Arial" panose="020B0604020202090204"/>
                <a:cs typeface="Arial" panose="020B0604020202090204"/>
              </a:rPr>
              <a:t>22</a:t>
            </a:r>
            <a:r>
              <a:rPr sz="1300" spc="-5" dirty="0">
                <a:latin typeface="Arial" panose="020B0604020202090204"/>
                <a:cs typeface="Arial" panose="020B0604020202090204"/>
              </a:rPr>
              <a:t> </a:t>
            </a:r>
            <a:r>
              <a:rPr lang="en-US" sz="1300" spc="-5" dirty="0">
                <a:latin typeface="Arial" panose="020B0604020202090204"/>
                <a:cs typeface="Arial" panose="020B0604020202090204"/>
              </a:rPr>
              <a:t>June</a:t>
            </a:r>
            <a:r>
              <a:rPr sz="1300" spc="-5" dirty="0">
                <a:latin typeface="Arial" panose="020B0604020202090204"/>
                <a:cs typeface="Arial" panose="020B0604020202090204"/>
              </a:rPr>
              <a:t> 20</a:t>
            </a:r>
            <a:r>
              <a:rPr lang="en-US" sz="1300" spc="-5" dirty="0">
                <a:latin typeface="Arial" panose="020B0604020202090204"/>
                <a:cs typeface="Arial" panose="020B0604020202090204"/>
              </a:rPr>
              <a:t>26</a:t>
            </a:r>
            <a:endParaRPr sz="1300" dirty="0">
              <a:latin typeface="Arial" panose="020B0604020202090204"/>
              <a:cs typeface="Arial" panose="020B0604020202090204"/>
            </a:endParaRPr>
          </a:p>
          <a:p>
            <a:pPr>
              <a:lnSpc>
                <a:spcPct val="100000"/>
              </a:lnSpc>
              <a:spcBef>
                <a:spcPts val="25"/>
              </a:spcBef>
            </a:pPr>
            <a:endParaRPr sz="1300" dirty="0">
              <a:latin typeface="Arial" panose="020B0604020202090204"/>
              <a:cs typeface="Arial" panose="020B0604020202090204"/>
            </a:endParaRPr>
          </a:p>
          <a:p>
            <a:pPr marL="12700">
              <a:lnSpc>
                <a:spcPct val="100000"/>
              </a:lnSpc>
            </a:pPr>
            <a:r>
              <a:rPr sz="1300" spc="-5" dirty="0">
                <a:latin typeface="Arial" panose="020B0604020202090204"/>
                <a:cs typeface="Arial" panose="020B0604020202090204"/>
              </a:rPr>
              <a:t>Mr</a:t>
            </a:r>
            <a:r>
              <a:rPr lang="en-US" sz="1300" spc="-5" dirty="0">
                <a:latin typeface="Arial" panose="020B0604020202090204"/>
                <a:cs typeface="Arial" panose="020B0604020202090204"/>
              </a:rPr>
              <a:t>. </a:t>
            </a:r>
            <a:r>
              <a:rPr sz="1300" spc="-5" dirty="0">
                <a:latin typeface="Arial" panose="020B0604020202090204"/>
                <a:cs typeface="Arial" panose="020B0604020202090204"/>
              </a:rPr>
              <a:t>Anthony</a:t>
            </a:r>
            <a:r>
              <a:rPr sz="1300" spc="-70" dirty="0">
                <a:latin typeface="Arial" panose="020B0604020202090204"/>
                <a:cs typeface="Arial" panose="020B0604020202090204"/>
              </a:rPr>
              <a:t> </a:t>
            </a:r>
            <a:r>
              <a:rPr sz="1300" spc="-5" dirty="0">
                <a:latin typeface="Arial" panose="020B0604020202090204"/>
                <a:cs typeface="Arial" panose="020B0604020202090204"/>
              </a:rPr>
              <a:t>Lim</a:t>
            </a:r>
            <a:endParaRPr sz="1300" dirty="0">
              <a:latin typeface="Arial" panose="020B0604020202090204"/>
              <a:cs typeface="Arial" panose="020B0604020202090204"/>
            </a:endParaRPr>
          </a:p>
          <a:p>
            <a:pPr marL="12700" marR="5547995">
              <a:lnSpc>
                <a:spcPct val="100000"/>
              </a:lnSpc>
            </a:pPr>
            <a:r>
              <a:rPr sz="1300" spc="-5" dirty="0">
                <a:latin typeface="Arial" panose="020B0604020202090204"/>
                <a:cs typeface="Arial" panose="020B0604020202090204"/>
              </a:rPr>
              <a:t>Human Resource</a:t>
            </a:r>
            <a:r>
              <a:rPr sz="1300" spc="-35" dirty="0">
                <a:latin typeface="Arial" panose="020B0604020202090204"/>
                <a:cs typeface="Arial" panose="020B0604020202090204"/>
              </a:rPr>
              <a:t> </a:t>
            </a:r>
            <a:r>
              <a:rPr sz="1300" spc="-5" dirty="0">
                <a:latin typeface="Arial" panose="020B0604020202090204"/>
                <a:cs typeface="Arial" panose="020B0604020202090204"/>
              </a:rPr>
              <a:t>Manager  </a:t>
            </a:r>
            <a:endParaRPr lang="en-US" sz="1300" spc="-5" dirty="0">
              <a:latin typeface="Arial" panose="020B0604020202090204"/>
              <a:cs typeface="Arial" panose="020B0604020202090204"/>
            </a:endParaRPr>
          </a:p>
          <a:p>
            <a:pPr marL="12700" marR="5547995">
              <a:lnSpc>
                <a:spcPct val="100000"/>
              </a:lnSpc>
            </a:pPr>
            <a:r>
              <a:rPr sz="1300" spc="-5" dirty="0" err="1">
                <a:latin typeface="Arial" panose="020B0604020202090204"/>
                <a:cs typeface="Arial" panose="020B0604020202090204"/>
              </a:rPr>
              <a:t>Hexon</a:t>
            </a:r>
            <a:r>
              <a:rPr sz="1300" spc="5" dirty="0">
                <a:latin typeface="Arial" panose="020B0604020202090204"/>
                <a:cs typeface="Arial" panose="020B0604020202090204"/>
              </a:rPr>
              <a:t> </a:t>
            </a:r>
            <a:r>
              <a:rPr sz="1300" spc="-5" dirty="0">
                <a:latin typeface="Arial" panose="020B0604020202090204"/>
                <a:cs typeface="Arial" panose="020B0604020202090204"/>
              </a:rPr>
              <a:t>Chemicals</a:t>
            </a:r>
            <a:endParaRPr sz="1300" dirty="0">
              <a:latin typeface="Arial" panose="020B0604020202090204"/>
              <a:cs typeface="Arial" panose="020B0604020202090204"/>
            </a:endParaRPr>
          </a:p>
          <a:p>
            <a:pPr marL="12700" marR="6562725">
              <a:lnSpc>
                <a:spcPct val="100000"/>
              </a:lnSpc>
            </a:pPr>
            <a:r>
              <a:rPr sz="1300" spc="-5" dirty="0">
                <a:latin typeface="Arial" panose="020B0604020202090204"/>
                <a:cs typeface="Arial" panose="020B0604020202090204"/>
              </a:rPr>
              <a:t>128 </a:t>
            </a:r>
            <a:r>
              <a:rPr lang="en-US" sz="1300" spc="-5" dirty="0">
                <a:latin typeface="Arial" panose="020B0604020202090204"/>
                <a:cs typeface="Arial" panose="020B0604020202090204"/>
              </a:rPr>
              <a:t>Blossom Street </a:t>
            </a:r>
          </a:p>
          <a:p>
            <a:pPr marL="12700" marR="6562725">
              <a:lnSpc>
                <a:spcPct val="100000"/>
              </a:lnSpc>
            </a:pPr>
            <a:r>
              <a:rPr lang="en-US" sz="1300" spc="-5" dirty="0">
                <a:latin typeface="Arial" panose="020B0604020202090204"/>
                <a:cs typeface="Arial" panose="020B0604020202090204"/>
              </a:rPr>
              <a:t>22222 </a:t>
            </a:r>
            <a:r>
              <a:rPr sz="1300" spc="-5" dirty="0" err="1">
                <a:latin typeface="Arial" panose="020B0604020202090204"/>
                <a:cs typeface="Arial" panose="020B0604020202090204"/>
              </a:rPr>
              <a:t>Kluang</a:t>
            </a:r>
            <a:r>
              <a:rPr sz="1300" spc="-5" dirty="0">
                <a:latin typeface="Arial" panose="020B0604020202090204"/>
                <a:cs typeface="Arial" panose="020B0604020202090204"/>
              </a:rPr>
              <a:t> Johor</a:t>
            </a:r>
            <a:endParaRPr sz="1300" dirty="0">
              <a:latin typeface="Arial" panose="020B0604020202090204"/>
              <a:cs typeface="Arial" panose="020B0604020202090204"/>
            </a:endParaRPr>
          </a:p>
          <a:p>
            <a:pPr>
              <a:lnSpc>
                <a:spcPct val="100000"/>
              </a:lnSpc>
              <a:spcBef>
                <a:spcPts val="25"/>
              </a:spcBef>
            </a:pPr>
            <a:endParaRPr sz="1300" dirty="0">
              <a:latin typeface="Arial" panose="020B0604020202090204"/>
              <a:cs typeface="Arial" panose="020B0604020202090204"/>
            </a:endParaRPr>
          </a:p>
          <a:p>
            <a:pPr marL="12700">
              <a:lnSpc>
                <a:spcPct val="100000"/>
              </a:lnSpc>
            </a:pPr>
            <a:r>
              <a:rPr sz="1300" spc="-5" dirty="0">
                <a:latin typeface="Arial" panose="020B0604020202090204"/>
                <a:cs typeface="Arial" panose="020B0604020202090204"/>
              </a:rPr>
              <a:t>Dear Mr</a:t>
            </a:r>
            <a:r>
              <a:rPr lang="en-US" sz="1300" spc="-5" dirty="0">
                <a:latin typeface="Arial" panose="020B0604020202090204"/>
                <a:cs typeface="Arial" panose="020B0604020202090204"/>
              </a:rPr>
              <a:t>.</a:t>
            </a:r>
            <a:r>
              <a:rPr sz="1300" spc="-5" dirty="0">
                <a:latin typeface="Arial" panose="020B0604020202090204"/>
                <a:cs typeface="Arial" panose="020B0604020202090204"/>
              </a:rPr>
              <a:t> Anthony</a:t>
            </a:r>
            <a:r>
              <a:rPr sz="1300" spc="-75" dirty="0">
                <a:latin typeface="Arial" panose="020B0604020202090204"/>
                <a:cs typeface="Arial" panose="020B0604020202090204"/>
              </a:rPr>
              <a:t> </a:t>
            </a:r>
            <a:r>
              <a:rPr sz="1300" spc="-5" dirty="0">
                <a:latin typeface="Arial" panose="020B0604020202090204"/>
                <a:cs typeface="Arial" panose="020B0604020202090204"/>
              </a:rPr>
              <a:t>Lim</a:t>
            </a:r>
            <a:r>
              <a:rPr lang="en-US" sz="1300" spc="-5" dirty="0">
                <a:latin typeface="Arial" panose="020B0604020202090204"/>
                <a:cs typeface="Arial" panose="020B0604020202090204"/>
              </a:rPr>
              <a:t>,</a:t>
            </a:r>
            <a:endParaRPr sz="1300" dirty="0">
              <a:latin typeface="Arial" panose="020B0604020202090204"/>
              <a:cs typeface="Arial" panose="020B0604020202090204"/>
            </a:endParaRPr>
          </a:p>
          <a:p>
            <a:pPr>
              <a:lnSpc>
                <a:spcPct val="100000"/>
              </a:lnSpc>
              <a:spcBef>
                <a:spcPts val="25"/>
              </a:spcBef>
            </a:pPr>
            <a:endParaRPr sz="1300" dirty="0">
              <a:latin typeface="Arial" panose="020B0604020202090204"/>
              <a:cs typeface="Arial" panose="020B0604020202090204"/>
            </a:endParaRPr>
          </a:p>
          <a:p>
            <a:pPr marL="12700">
              <a:lnSpc>
                <a:spcPct val="100000"/>
              </a:lnSpc>
            </a:pPr>
            <a:r>
              <a:rPr sz="1300" spc="-5" dirty="0">
                <a:latin typeface="Arial" panose="020B0604020202090204"/>
                <a:cs typeface="Arial" panose="020B0604020202090204"/>
              </a:rPr>
              <a:t>Subject: Application for the </a:t>
            </a:r>
            <a:r>
              <a:rPr lang="en-US" sz="1300" spc="-5" dirty="0">
                <a:latin typeface="Arial" panose="020B0604020202090204"/>
                <a:cs typeface="Arial" panose="020B0604020202090204"/>
              </a:rPr>
              <a:t>p</a:t>
            </a:r>
            <a:r>
              <a:rPr sz="1300" spc="-5" dirty="0">
                <a:latin typeface="Arial" panose="020B0604020202090204"/>
                <a:cs typeface="Arial" panose="020B0604020202090204"/>
              </a:rPr>
              <a:t>osition of </a:t>
            </a:r>
            <a:r>
              <a:rPr lang="en-US" sz="1300" spc="-5" dirty="0">
                <a:latin typeface="Arial" panose="020B0604020202090204"/>
                <a:cs typeface="Arial" panose="020B0604020202090204"/>
              </a:rPr>
              <a:t>Senior Technical Officer</a:t>
            </a:r>
            <a:endParaRPr sz="1300" dirty="0">
              <a:latin typeface="Arial" panose="020B0604020202090204"/>
              <a:cs typeface="Arial" panose="020B0604020202090204"/>
            </a:endParaRPr>
          </a:p>
          <a:p>
            <a:pPr>
              <a:lnSpc>
                <a:spcPct val="100000"/>
              </a:lnSpc>
              <a:spcBef>
                <a:spcPts val="20"/>
              </a:spcBef>
            </a:pPr>
            <a:endParaRPr sz="1300" dirty="0">
              <a:latin typeface="Arial" panose="020B0604020202090204"/>
              <a:cs typeface="Arial" panose="020B0604020202090204"/>
            </a:endParaRPr>
          </a:p>
          <a:p>
            <a:pPr algn="just"/>
            <a:r>
              <a:rPr lang="en-US" sz="1300" dirty="0">
                <a:latin typeface="Arial" panose="020B0604020202090204" pitchFamily="34" charset="0"/>
                <a:cs typeface="Arial" panose="020B0604020202090204" pitchFamily="34" charset="0"/>
              </a:rPr>
              <a:t>I am writing to apply for the Senior Technical Officer position advertised during the Career Fair at Metro University. I believe my qualifications and experience make me a competitive candidate for the Assistant Engineer role.</a:t>
            </a:r>
          </a:p>
          <a:p>
            <a:endParaRPr lang="en-US" sz="1300" dirty="0">
              <a:latin typeface="Arial" panose="020B0604020202090204" pitchFamily="34" charset="0"/>
              <a:cs typeface="Arial" panose="020B0604020202090204" pitchFamily="34" charset="0"/>
            </a:endParaRPr>
          </a:p>
          <a:p>
            <a:pPr algn="just"/>
            <a:r>
              <a:rPr lang="en-US" sz="1300" dirty="0">
                <a:latin typeface="Arial" panose="020B0604020202090204" pitchFamily="34" charset="0"/>
                <a:cs typeface="Arial" panose="020B0604020202090204" pitchFamily="34" charset="0"/>
              </a:rPr>
              <a:t>I have three years of experience working as Assistant Sustainability Officer with </a:t>
            </a:r>
            <a:r>
              <a:rPr lang="en-US" sz="1300" dirty="0" err="1">
                <a:latin typeface="Arial" panose="020B0604020202090204" pitchFamily="34" charset="0"/>
                <a:cs typeface="Arial" panose="020B0604020202090204" pitchFamily="34" charset="0"/>
              </a:rPr>
              <a:t>Mutiara</a:t>
            </a:r>
            <a:r>
              <a:rPr lang="en-US" sz="1300" dirty="0">
                <a:latin typeface="Arial" panose="020B0604020202090204" pitchFamily="34" charset="0"/>
                <a:cs typeface="Arial" panose="020B0604020202090204" pitchFamily="34" charset="0"/>
              </a:rPr>
              <a:t> Engineering </a:t>
            </a:r>
            <a:r>
              <a:rPr lang="en-US" sz="1300" dirty="0" err="1">
                <a:latin typeface="Arial" panose="020B0604020202090204" pitchFamily="34" charset="0"/>
                <a:cs typeface="Arial" panose="020B0604020202090204" pitchFamily="34" charset="0"/>
              </a:rPr>
              <a:t>Sdn</a:t>
            </a:r>
            <a:r>
              <a:rPr lang="en-US" sz="1300" dirty="0">
                <a:latin typeface="Arial" panose="020B0604020202090204" pitchFamily="34" charset="0"/>
                <a:cs typeface="Arial" panose="020B0604020202090204" pitchFamily="34" charset="0"/>
              </a:rPr>
              <a:t>. Bhd. During my time there, I was involved in various projects, including promoting an erosion control product. Additionally, I worked as a part-time research assistant at Metro University during two semester breaks while completing my Master’s Degree.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9600" y="685800"/>
            <a:ext cx="8291830" cy="5401310"/>
          </a:xfrm>
          <a:prstGeom prst="rect">
            <a:avLst/>
          </a:prstGeom>
        </p:spPr>
        <p:txBody>
          <a:bodyPr vert="horz" wrap="square" lIns="0" tIns="12700" rIns="0" bIns="0" rtlCol="0">
            <a:spAutoFit/>
          </a:bodyPr>
          <a:lstStyle/>
          <a:p>
            <a:pPr algn="just"/>
            <a:r>
              <a:rPr lang="en-US" sz="1300" dirty="0">
                <a:latin typeface="Arial" panose="020B0604020202090204" pitchFamily="34" charset="0"/>
                <a:cs typeface="Arial" panose="020B0604020202090204" pitchFamily="34" charset="0"/>
              </a:rPr>
              <a:t>One of my key accomplishments was supporting the use of this erosion control product by the government to combat beach erosion along a long stretch of coastline in Port Dickson. This project allowed me to demonstrate my strong communication and planning skills, which contributed to the success of the initiative.</a:t>
            </a:r>
          </a:p>
          <a:p>
            <a:endParaRPr lang="en-US" sz="1300" dirty="0">
              <a:latin typeface="Arial" panose="020B0604020202090204" pitchFamily="34" charset="0"/>
              <a:cs typeface="Arial" panose="020B0604020202090204" pitchFamily="34" charset="0"/>
            </a:endParaRPr>
          </a:p>
          <a:p>
            <a:pPr algn="just"/>
            <a:r>
              <a:rPr lang="en-US" sz="1300" dirty="0">
                <a:latin typeface="Arial" panose="020B0604020202090204" pitchFamily="34" charset="0"/>
                <a:cs typeface="Arial" panose="020B0604020202090204" pitchFamily="34" charset="0"/>
              </a:rPr>
              <a:t>I am excited about the opportunity to join your organization, as I recognize its potential to supply engineering products not only locally but also on an international scale. I believe my strong communication, problem-solving, and teamwork skills would make me a valuable addition to your team. My ability to collaborate with diverse groups, coupled with my adaptability in fast-paced environments, would allow me to contribute effectively to both local and global projects. Additionally, my proactive approach to challenges and dedication to continuous learning align with your organization's goals of growth and innovation. I am eager to leverage my technical expertise and interpersonal skills to help drive success and contribute to your ongoing expansion</a:t>
            </a:r>
          </a:p>
          <a:p>
            <a:endParaRPr lang="en-US" sz="1300" dirty="0">
              <a:latin typeface="Arial" panose="020B0604020202090204" pitchFamily="34" charset="0"/>
              <a:cs typeface="Arial" panose="020B0604020202090204" pitchFamily="34" charset="0"/>
            </a:endParaRPr>
          </a:p>
          <a:p>
            <a:pPr algn="just"/>
            <a:r>
              <a:rPr lang="en-US" sz="1300" dirty="0">
                <a:latin typeface="Arial" panose="020B0604020202090204" pitchFamily="34" charset="0"/>
                <a:cs typeface="Arial" panose="020B0604020202090204" pitchFamily="34" charset="0"/>
              </a:rPr>
              <a:t>Please refer to the enclosed CV and Academic Transcript for your review</a:t>
            </a:r>
            <a:r>
              <a:rPr lang="en-US" sz="1400" dirty="0"/>
              <a:t>. </a:t>
            </a:r>
            <a:r>
              <a:rPr lang="en-US" sz="1300" dirty="0">
                <a:latin typeface="Arial" panose="020B0604020202090204" pitchFamily="34" charset="0"/>
                <a:cs typeface="Arial" panose="020B0604020202090204" pitchFamily="34" charset="0"/>
              </a:rPr>
              <a:t>I look forward to discussing my qualifications further and would welcome the opportunity for an interview session. Please contact me at 012-11111111 or via email at </a:t>
            </a:r>
            <a:r>
              <a:rPr lang="en-US" sz="1300" dirty="0">
                <a:latin typeface="Arial" panose="020B0604020202090204" pitchFamily="34" charset="0"/>
                <a:cs typeface="Arial" panose="020B0604020202090204" pitchFamily="34" charset="0"/>
                <a:hlinkClick r:id="rId2"/>
              </a:rPr>
              <a:t>ahmad@gmail.com</a:t>
            </a:r>
            <a:r>
              <a:rPr lang="en-US" sz="1300" dirty="0">
                <a:latin typeface="Arial" panose="020B0604020202090204" pitchFamily="34" charset="0"/>
                <a:cs typeface="Arial" panose="020B0604020202090204" pitchFamily="34" charset="0"/>
              </a:rPr>
              <a:t>. Thank you for your consideration.</a:t>
            </a:r>
          </a:p>
          <a:p>
            <a:pPr>
              <a:lnSpc>
                <a:spcPct val="100000"/>
              </a:lnSpc>
            </a:pPr>
            <a:endParaRPr sz="1400" dirty="0">
              <a:latin typeface="Arial" panose="020B0604020202090204"/>
              <a:cs typeface="Arial" panose="020B0604020202090204"/>
            </a:endParaRPr>
          </a:p>
          <a:p>
            <a:pPr>
              <a:lnSpc>
                <a:spcPct val="100000"/>
              </a:lnSpc>
              <a:spcBef>
                <a:spcPts val="10"/>
              </a:spcBef>
            </a:pPr>
            <a:endParaRPr sz="1400" dirty="0">
              <a:latin typeface="Arial" panose="020B0604020202090204"/>
              <a:cs typeface="Arial" panose="020B0604020202090204"/>
            </a:endParaRPr>
          </a:p>
          <a:p>
            <a:pPr marL="12700">
              <a:lnSpc>
                <a:spcPts val="2090"/>
              </a:lnSpc>
            </a:pPr>
            <a:r>
              <a:rPr sz="1400" spc="-40" dirty="0">
                <a:latin typeface="Arial" panose="020B0604020202090204"/>
                <a:cs typeface="Arial" panose="020B0604020202090204"/>
              </a:rPr>
              <a:t>Yours</a:t>
            </a:r>
            <a:r>
              <a:rPr sz="1400" spc="5" dirty="0">
                <a:latin typeface="Arial" panose="020B0604020202090204"/>
                <a:cs typeface="Arial" panose="020B0604020202090204"/>
              </a:rPr>
              <a:t> </a:t>
            </a:r>
            <a:r>
              <a:rPr sz="1400" spc="-5" dirty="0">
                <a:latin typeface="Arial" panose="020B0604020202090204"/>
                <a:cs typeface="Arial" panose="020B0604020202090204"/>
              </a:rPr>
              <a:t>sincerely</a:t>
            </a:r>
            <a:r>
              <a:rPr lang="en-US" sz="1400" spc="-5" dirty="0">
                <a:latin typeface="Arial" panose="020B0604020202090204"/>
                <a:cs typeface="Arial" panose="020B0604020202090204"/>
              </a:rPr>
              <a:t>,</a:t>
            </a:r>
            <a:endParaRPr sz="1400" dirty="0">
              <a:latin typeface="Arial" panose="020B0604020202090204"/>
              <a:cs typeface="Arial" panose="020B0604020202090204"/>
            </a:endParaRPr>
          </a:p>
          <a:p>
            <a:pPr marL="12700">
              <a:lnSpc>
                <a:spcPts val="2090"/>
              </a:lnSpc>
            </a:pPr>
            <a:r>
              <a:rPr lang="en-US" sz="1400" i="1" spc="-5" dirty="0">
                <a:latin typeface="Brush Script MT" panose="03060802040406070304" pitchFamily="66" charset="-122"/>
                <a:cs typeface="Chancery Uralic"/>
              </a:rPr>
              <a:t>Richard</a:t>
            </a:r>
            <a:endParaRPr sz="1400" dirty="0">
              <a:latin typeface="Brush Script MT" panose="03060802040406070304" pitchFamily="66" charset="-122"/>
              <a:cs typeface="Chancery Uralic"/>
            </a:endParaRPr>
          </a:p>
          <a:p>
            <a:pPr marL="12700">
              <a:lnSpc>
                <a:spcPct val="100000"/>
              </a:lnSpc>
              <a:spcBef>
                <a:spcPts val="145"/>
              </a:spcBef>
            </a:pPr>
            <a:r>
              <a:rPr lang="en-US" sz="1400" spc="-5" dirty="0">
                <a:latin typeface="Arial" panose="020B0604020202090204"/>
                <a:cs typeface="Arial" panose="020B0604020202090204"/>
              </a:rPr>
              <a:t>Richard Phua</a:t>
            </a:r>
          </a:p>
          <a:p>
            <a:pPr marL="12700">
              <a:lnSpc>
                <a:spcPct val="100000"/>
              </a:lnSpc>
              <a:spcBef>
                <a:spcPts val="145"/>
              </a:spcBef>
            </a:pPr>
            <a:endParaRPr lang="en-US" sz="1400" spc="-5" dirty="0">
              <a:latin typeface="Arial" panose="020B0604020202090204"/>
              <a:cs typeface="Arial" panose="020B0604020202090204"/>
            </a:endParaRPr>
          </a:p>
          <a:p>
            <a:pPr marL="12700">
              <a:lnSpc>
                <a:spcPct val="100000"/>
              </a:lnSpc>
              <a:spcBef>
                <a:spcPts val="145"/>
              </a:spcBef>
            </a:pPr>
            <a:endParaRPr lang="en-US" sz="1400" spc="-5" dirty="0">
              <a:latin typeface="Arial" panose="020B0604020202090204"/>
              <a:cs typeface="Arial" panose="020B0604020202090204"/>
            </a:endParaRPr>
          </a:p>
          <a:p>
            <a:pPr marL="12700">
              <a:lnSpc>
                <a:spcPct val="100000"/>
              </a:lnSpc>
              <a:spcBef>
                <a:spcPts val="145"/>
              </a:spcBef>
            </a:pPr>
            <a:endParaRPr lang="en-US" sz="1400" spc="-5" dirty="0">
              <a:latin typeface="Arial" panose="020B0604020202090204"/>
              <a:cs typeface="Arial" panose="020B0604020202090204"/>
            </a:endParaRPr>
          </a:p>
          <a:p>
            <a:pPr marL="12700">
              <a:lnSpc>
                <a:spcPct val="100000"/>
              </a:lnSpc>
              <a:spcBef>
                <a:spcPts val="145"/>
              </a:spcBef>
            </a:pPr>
            <a:endParaRPr lang="en-US" sz="1400" spc="-5" dirty="0">
              <a:latin typeface="Arial" panose="020B0604020202090204"/>
              <a:cs typeface="Arial" panose="020B0604020202090204"/>
            </a:endParaRPr>
          </a:p>
          <a:p>
            <a:pPr marL="12700">
              <a:lnSpc>
                <a:spcPct val="100000"/>
              </a:lnSpc>
              <a:spcBef>
                <a:spcPts val="145"/>
              </a:spcBef>
            </a:pPr>
            <a:endParaRPr sz="1400" dirty="0">
              <a:latin typeface="Arial" panose="020B0604020202090204"/>
              <a:cs typeface="Arial" panose="020B0604020202090204"/>
            </a:endParaRPr>
          </a:p>
        </p:txBody>
      </p:sp>
      <p:sp>
        <p:nvSpPr>
          <p:cNvPr id="3" name="object 3"/>
          <p:cNvSpPr txBox="1"/>
          <p:nvPr/>
        </p:nvSpPr>
        <p:spPr>
          <a:xfrm>
            <a:off x="609600" y="5410200"/>
            <a:ext cx="2996565" cy="456535"/>
          </a:xfrm>
          <a:prstGeom prst="rect">
            <a:avLst/>
          </a:prstGeom>
        </p:spPr>
        <p:txBody>
          <a:bodyPr vert="horz" wrap="square" lIns="0" tIns="12700" rIns="0" bIns="0" rtlCol="0">
            <a:spAutoFit/>
          </a:bodyPr>
          <a:lstStyle/>
          <a:p>
            <a:pPr marL="12700">
              <a:lnSpc>
                <a:spcPct val="100000"/>
              </a:lnSpc>
              <a:spcBef>
                <a:spcPts val="100"/>
              </a:spcBef>
            </a:pPr>
            <a:r>
              <a:rPr sz="1400" spc="-5" dirty="0">
                <a:latin typeface="Arial" panose="020B0604020202090204"/>
                <a:cs typeface="Arial" panose="020B0604020202090204"/>
              </a:rPr>
              <a:t>Encl: 1) Curriculum</a:t>
            </a:r>
            <a:r>
              <a:rPr sz="1400" spc="10" dirty="0">
                <a:latin typeface="Arial" panose="020B0604020202090204"/>
                <a:cs typeface="Arial" panose="020B0604020202090204"/>
              </a:rPr>
              <a:t> </a:t>
            </a:r>
            <a:r>
              <a:rPr sz="1400" spc="-10" dirty="0">
                <a:latin typeface="Arial" panose="020B0604020202090204"/>
                <a:cs typeface="Arial" panose="020B0604020202090204"/>
              </a:rPr>
              <a:t>Vitae</a:t>
            </a:r>
            <a:endParaRPr lang="en-US" sz="1400" dirty="0">
              <a:latin typeface="Arial" panose="020B0604020202090204"/>
              <a:cs typeface="Arial" panose="020B0604020202090204"/>
            </a:endParaRPr>
          </a:p>
          <a:p>
            <a:pPr marL="12700">
              <a:lnSpc>
                <a:spcPct val="100000"/>
              </a:lnSpc>
              <a:spcBef>
                <a:spcPts val="100"/>
              </a:spcBef>
            </a:pPr>
            <a:r>
              <a:rPr lang="en-US" sz="1400" dirty="0">
                <a:latin typeface="Arial" panose="020B0604020202090204"/>
                <a:cs typeface="Arial" panose="020B0604020202090204"/>
              </a:rPr>
              <a:t>         2) Academic Transcript</a:t>
            </a:r>
            <a:endParaRPr sz="1400" dirty="0">
              <a:latin typeface="Arial" panose="020B0604020202090204"/>
              <a:cs typeface="Arial" panose="020B060402020209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153507" y="837456"/>
            <a:ext cx="2028093" cy="844462"/>
          </a:xfrm>
          <a:prstGeom prst="rect">
            <a:avLst/>
          </a:prstGeom>
        </p:spPr>
        <p:txBody>
          <a:bodyPr vert="horz" wrap="square" lIns="0" tIns="13335" rIns="0" bIns="0" rtlCol="0">
            <a:spAutoFit/>
          </a:bodyPr>
          <a:lstStyle/>
          <a:p>
            <a:pPr marL="12700">
              <a:lnSpc>
                <a:spcPct val="100000"/>
              </a:lnSpc>
              <a:spcBef>
                <a:spcPts val="105"/>
              </a:spcBef>
            </a:pPr>
            <a:r>
              <a:rPr sz="5400" b="1" dirty="0">
                <a:solidFill>
                  <a:schemeClr val="tx1"/>
                </a:solidFill>
                <a:latin typeface="Arial" panose="020B0604020202090204"/>
                <a:cs typeface="Arial" panose="020B0604020202090204"/>
              </a:rPr>
              <a:t>Tips</a:t>
            </a:r>
          </a:p>
        </p:txBody>
      </p:sp>
      <p:sp>
        <p:nvSpPr>
          <p:cNvPr id="124" name="object 124"/>
          <p:cNvSpPr txBox="1"/>
          <p:nvPr/>
        </p:nvSpPr>
        <p:spPr>
          <a:xfrm>
            <a:off x="838200" y="1681918"/>
            <a:ext cx="7239000" cy="4175760"/>
          </a:xfrm>
          <a:prstGeom prst="rect">
            <a:avLst/>
          </a:prstGeom>
        </p:spPr>
        <p:txBody>
          <a:bodyPr vert="horz" wrap="square" lIns="0" tIns="13335" rIns="0" bIns="0" rtlCol="0">
            <a:spAutoFit/>
          </a:bodyPr>
          <a:lstStyle/>
          <a:p>
            <a:pPr marL="12065" algn="just">
              <a:lnSpc>
                <a:spcPct val="100000"/>
              </a:lnSpc>
              <a:spcBef>
                <a:spcPts val="105"/>
              </a:spcBef>
              <a:buClr>
                <a:srgbClr val="85D1EB"/>
              </a:buClr>
              <a:buSzPct val="90000"/>
              <a:tabLst>
                <a:tab pos="356235" algn="l"/>
              </a:tabLst>
            </a:pPr>
            <a:endParaRPr dirty="0">
              <a:latin typeface="Arial" panose="020B0604020202090204"/>
              <a:cs typeface="Arial" panose="020B0604020202090204"/>
            </a:endParaRPr>
          </a:p>
          <a:p>
            <a:pPr marL="285750" indent="-285750">
              <a:lnSpc>
                <a:spcPct val="100000"/>
              </a:lnSpc>
              <a:spcBef>
                <a:spcPts val="25"/>
              </a:spcBef>
              <a:buFont typeface="Arial" panose="020B0604020202090204" pitchFamily="34" charset="0"/>
              <a:buChar char="•"/>
            </a:pPr>
            <a:endParaRPr dirty="0">
              <a:latin typeface="Arial" panose="020B0604020202090204"/>
              <a:cs typeface="Arial" panose="020B0604020202090204"/>
            </a:endParaRPr>
          </a:p>
          <a:p>
            <a:pPr marL="298450" marR="6985" indent="-285750" algn="just">
              <a:lnSpc>
                <a:spcPct val="100000"/>
              </a:lnSpc>
              <a:buFont typeface="Arial" panose="020B0604020202090204" pitchFamily="34" charset="0"/>
              <a:buChar char="•"/>
              <a:tabLst>
                <a:tab pos="428625" algn="l"/>
              </a:tabLst>
            </a:pPr>
            <a:r>
              <a:rPr dirty="0">
                <a:latin typeface="Arial" panose="020B0604020202090204"/>
                <a:cs typeface="Arial" panose="020B0604020202090204"/>
              </a:rPr>
              <a:t>Find out </a:t>
            </a:r>
            <a:r>
              <a:rPr spc="-5" dirty="0">
                <a:latin typeface="Arial" panose="020B0604020202090204"/>
                <a:cs typeface="Arial" panose="020B0604020202090204"/>
              </a:rPr>
              <a:t>the name </a:t>
            </a:r>
            <a:r>
              <a:rPr lang="en-US" spc="-5" dirty="0">
                <a:latin typeface="Arial" panose="020B0604020202090204"/>
                <a:cs typeface="Arial" panose="020B0604020202090204"/>
              </a:rPr>
              <a:t>of </a:t>
            </a:r>
            <a:r>
              <a:rPr dirty="0">
                <a:latin typeface="Arial" panose="020B0604020202090204"/>
                <a:cs typeface="Arial" panose="020B0604020202090204"/>
              </a:rPr>
              <a:t>the individual who will be </a:t>
            </a:r>
            <a:r>
              <a:rPr spc="-5" dirty="0">
                <a:latin typeface="Arial" panose="020B0604020202090204"/>
                <a:cs typeface="Arial" panose="020B0604020202090204"/>
              </a:rPr>
              <a:t>receiving </a:t>
            </a:r>
            <a:r>
              <a:rPr dirty="0">
                <a:latin typeface="Arial" panose="020B0604020202090204"/>
                <a:cs typeface="Arial" panose="020B0604020202090204"/>
              </a:rPr>
              <a:t>your </a:t>
            </a:r>
            <a:r>
              <a:rPr spc="-5" dirty="0">
                <a:latin typeface="Arial" panose="020B0604020202090204"/>
                <a:cs typeface="Arial" panose="020B0604020202090204"/>
              </a:rPr>
              <a:t>letter. </a:t>
            </a:r>
          </a:p>
          <a:p>
            <a:pPr marL="298450" marR="6985" indent="-285750" algn="just">
              <a:lnSpc>
                <a:spcPct val="100000"/>
              </a:lnSpc>
              <a:buFont typeface="Arial" panose="020B0604020202090204" pitchFamily="34" charset="0"/>
              <a:buChar char="•"/>
              <a:tabLst>
                <a:tab pos="428625" algn="l"/>
              </a:tabLst>
            </a:pPr>
            <a:endParaRPr dirty="0">
              <a:latin typeface="Arial" panose="020B0604020202090204"/>
              <a:cs typeface="Arial" panose="020B0604020202090204"/>
            </a:endParaRPr>
          </a:p>
          <a:p>
            <a:pPr marL="297815" indent="-285750" algn="just">
              <a:lnSpc>
                <a:spcPct val="100000"/>
              </a:lnSpc>
              <a:buFont typeface="Arial" panose="020B0604020202090204" pitchFamily="34" charset="0"/>
              <a:buChar char="•"/>
              <a:tabLst>
                <a:tab pos="293370" algn="l"/>
              </a:tabLst>
            </a:pPr>
            <a:r>
              <a:rPr spc="5" dirty="0">
                <a:latin typeface="Arial" panose="020B0604020202090204"/>
                <a:cs typeface="Arial" panose="020B0604020202090204"/>
              </a:rPr>
              <a:t>Use </a:t>
            </a:r>
            <a:r>
              <a:rPr dirty="0">
                <a:latin typeface="Arial" panose="020B0604020202090204"/>
                <a:cs typeface="Arial" panose="020B0604020202090204"/>
              </a:rPr>
              <a:t>a proper business format for your</a:t>
            </a:r>
            <a:r>
              <a:rPr spc="-170" dirty="0">
                <a:latin typeface="Arial" panose="020B0604020202090204"/>
                <a:cs typeface="Arial" panose="020B0604020202090204"/>
              </a:rPr>
              <a:t> </a:t>
            </a:r>
            <a:r>
              <a:rPr dirty="0">
                <a:latin typeface="Arial" panose="020B0604020202090204"/>
                <a:cs typeface="Arial" panose="020B0604020202090204"/>
              </a:rPr>
              <a:t>letter</a:t>
            </a:r>
            <a:r>
              <a:rPr lang="en-US" dirty="0">
                <a:latin typeface="Arial" panose="020B0604020202090204"/>
                <a:cs typeface="Arial" panose="020B0604020202090204"/>
              </a:rPr>
              <a:t>.</a:t>
            </a:r>
            <a:endParaRPr dirty="0">
              <a:latin typeface="Arial" panose="020B0604020202090204"/>
              <a:cs typeface="Arial" panose="020B0604020202090204"/>
            </a:endParaRPr>
          </a:p>
          <a:p>
            <a:pPr marL="285750" indent="-285750">
              <a:lnSpc>
                <a:spcPct val="100000"/>
              </a:lnSpc>
              <a:spcBef>
                <a:spcPts val="25"/>
              </a:spcBef>
              <a:buFont typeface="Arial" panose="020B0604020202090204" pitchFamily="34" charset="0"/>
              <a:buChar char="•"/>
            </a:pPr>
            <a:endParaRPr dirty="0">
              <a:latin typeface="Arial" panose="020B0604020202090204"/>
              <a:cs typeface="Arial" panose="020B0604020202090204"/>
            </a:endParaRPr>
          </a:p>
          <a:p>
            <a:pPr marL="297815" indent="-285750" algn="just">
              <a:lnSpc>
                <a:spcPct val="100000"/>
              </a:lnSpc>
              <a:buFont typeface="Arial" panose="020B0604020202090204" pitchFamily="34" charset="0"/>
              <a:buChar char="•"/>
              <a:tabLst>
                <a:tab pos="400685" algn="l"/>
              </a:tabLst>
            </a:pPr>
            <a:r>
              <a:rPr dirty="0">
                <a:latin typeface="Arial" panose="020B0604020202090204"/>
                <a:cs typeface="Arial" panose="020B0604020202090204"/>
              </a:rPr>
              <a:t>Make </a:t>
            </a:r>
            <a:r>
              <a:rPr spc="-5" dirty="0">
                <a:latin typeface="Arial" panose="020B0604020202090204"/>
                <a:cs typeface="Arial" panose="020B0604020202090204"/>
              </a:rPr>
              <a:t>sure </a:t>
            </a:r>
            <a:r>
              <a:rPr dirty="0">
                <a:latin typeface="Arial" panose="020B0604020202090204"/>
                <a:cs typeface="Arial" panose="020B0604020202090204"/>
              </a:rPr>
              <a:t>the </a:t>
            </a:r>
            <a:r>
              <a:rPr spc="-5" dirty="0">
                <a:latin typeface="Arial" panose="020B0604020202090204"/>
                <a:cs typeface="Arial" panose="020B0604020202090204"/>
              </a:rPr>
              <a:t>letter is </a:t>
            </a:r>
            <a:r>
              <a:rPr dirty="0">
                <a:latin typeface="Arial" panose="020B0604020202090204"/>
                <a:cs typeface="Arial" panose="020B0604020202090204"/>
              </a:rPr>
              <a:t>PERFECT! Spelling, </a:t>
            </a:r>
            <a:r>
              <a:rPr spc="-5" dirty="0">
                <a:latin typeface="Arial" panose="020B0604020202090204"/>
                <a:cs typeface="Arial" panose="020B0604020202090204"/>
              </a:rPr>
              <a:t>punctuation, and</a:t>
            </a:r>
            <a:r>
              <a:rPr lang="en-US" dirty="0">
                <a:latin typeface="Arial" panose="020B0604020202090204"/>
                <a:cs typeface="Arial" panose="020B0604020202090204"/>
              </a:rPr>
              <a:t> </a:t>
            </a:r>
            <a:r>
              <a:rPr dirty="0">
                <a:latin typeface="Arial" panose="020B0604020202090204"/>
                <a:cs typeface="Arial" panose="020B0604020202090204"/>
              </a:rPr>
              <a:t>grammar count. Have someone</a:t>
            </a:r>
            <a:r>
              <a:rPr lang="en-US" dirty="0">
                <a:latin typeface="Arial" panose="020B0604020202090204"/>
                <a:cs typeface="Arial" panose="020B0604020202090204"/>
              </a:rPr>
              <a:t> to</a:t>
            </a:r>
            <a:r>
              <a:rPr dirty="0">
                <a:latin typeface="Arial" panose="020B0604020202090204"/>
                <a:cs typeface="Arial" panose="020B0604020202090204"/>
              </a:rPr>
              <a:t> proofread the </a:t>
            </a:r>
            <a:r>
              <a:rPr spc="-5" dirty="0">
                <a:latin typeface="Arial" panose="020B0604020202090204"/>
                <a:cs typeface="Arial" panose="020B0604020202090204"/>
              </a:rPr>
              <a:t>letter </a:t>
            </a:r>
            <a:r>
              <a:rPr dirty="0">
                <a:latin typeface="Arial" panose="020B0604020202090204"/>
                <a:cs typeface="Arial" panose="020B0604020202090204"/>
              </a:rPr>
              <a:t>before </a:t>
            </a:r>
            <a:r>
              <a:rPr lang="en-US" dirty="0">
                <a:latin typeface="Arial" panose="020B0604020202090204"/>
                <a:cs typeface="Arial" panose="020B0604020202090204"/>
              </a:rPr>
              <a:t>sending</a:t>
            </a:r>
            <a:r>
              <a:rPr spc="-204" dirty="0">
                <a:latin typeface="Arial" panose="020B0604020202090204"/>
                <a:cs typeface="Arial" panose="020B0604020202090204"/>
              </a:rPr>
              <a:t> </a:t>
            </a:r>
            <a:r>
              <a:rPr spc="-5" dirty="0">
                <a:latin typeface="Arial" panose="020B0604020202090204"/>
                <a:cs typeface="Arial" panose="020B0604020202090204"/>
              </a:rPr>
              <a:t>it.</a:t>
            </a:r>
            <a:endParaRPr lang="en-US" spc="-5" dirty="0">
              <a:latin typeface="Arial" panose="020B0604020202090204"/>
              <a:cs typeface="Arial" panose="020B0604020202090204"/>
            </a:endParaRPr>
          </a:p>
          <a:p>
            <a:pPr marL="297815" indent="-285750" algn="just">
              <a:lnSpc>
                <a:spcPct val="100000"/>
              </a:lnSpc>
              <a:buFont typeface="Arial" panose="020B0604020202090204" pitchFamily="34" charset="0"/>
              <a:buChar char="•"/>
              <a:tabLst>
                <a:tab pos="400685" algn="l"/>
              </a:tabLst>
            </a:pPr>
            <a:endParaRPr lang="en-US" spc="-5" dirty="0">
              <a:latin typeface="Arial" panose="020B0604020202090204"/>
              <a:cs typeface="Arial" panose="020B0604020202090204"/>
            </a:endParaRPr>
          </a:p>
          <a:p>
            <a:pPr marL="297815" indent="-285750" algn="just">
              <a:lnSpc>
                <a:spcPct val="100000"/>
              </a:lnSpc>
              <a:buFont typeface="Arial" panose="020B0604020202090204" pitchFamily="34" charset="0"/>
              <a:buChar char="•"/>
              <a:tabLst>
                <a:tab pos="400685" algn="l"/>
              </a:tabLst>
            </a:pPr>
            <a:r>
              <a:rPr lang="en-US" spc="-5" dirty="0">
                <a:latin typeface="Arial" panose="020B0604020202090204"/>
                <a:cs typeface="Arial" panose="020B0604020202090204"/>
              </a:rPr>
              <a:t>Sound upbeat and confident. Sell</a:t>
            </a:r>
            <a:r>
              <a:rPr lang="en-US" spc="75" dirty="0">
                <a:latin typeface="Arial" panose="020B0604020202090204"/>
                <a:cs typeface="Arial" panose="020B0604020202090204"/>
              </a:rPr>
              <a:t> </a:t>
            </a:r>
            <a:r>
              <a:rPr lang="en-US" spc="-5" dirty="0">
                <a:latin typeface="Arial" panose="020B0604020202090204"/>
                <a:cs typeface="Arial" panose="020B0604020202090204"/>
              </a:rPr>
              <a:t>yourself!</a:t>
            </a:r>
          </a:p>
          <a:p>
            <a:pPr marL="12065" algn="just">
              <a:lnSpc>
                <a:spcPct val="100000"/>
              </a:lnSpc>
              <a:tabLst>
                <a:tab pos="400685" algn="l"/>
              </a:tabLst>
            </a:pPr>
            <a:endParaRPr lang="en-US" dirty="0">
              <a:latin typeface="Arial" panose="020B0604020202090204"/>
              <a:cs typeface="Arial" panose="020B0604020202090204"/>
            </a:endParaRPr>
          </a:p>
          <a:p>
            <a:pPr marL="298450" indent="-285750">
              <a:spcBef>
                <a:spcPts val="5"/>
              </a:spcBef>
              <a:buFont typeface="Arial" panose="020B0604020202090204" pitchFamily="34" charset="0"/>
              <a:buChar char="•"/>
            </a:pPr>
            <a:r>
              <a:rPr lang="en-US" spc="-10" dirty="0">
                <a:latin typeface="Arial" panose="020B0604020202090204"/>
                <a:cs typeface="Arial" panose="020B0604020202090204"/>
              </a:rPr>
              <a:t>DON’T </a:t>
            </a:r>
            <a:r>
              <a:rPr lang="en-US" spc="-5" dirty="0">
                <a:latin typeface="Arial" panose="020B0604020202090204"/>
                <a:cs typeface="Arial" panose="020B0604020202090204"/>
              </a:rPr>
              <a:t>mention salary expectations unless if it is required. </a:t>
            </a:r>
            <a:r>
              <a:rPr lang="en-US" dirty="0">
                <a:latin typeface="Arial" panose="020B0604020202090204"/>
                <a:cs typeface="Arial" panose="020B0604020202090204"/>
              </a:rPr>
              <a:t>In </a:t>
            </a:r>
            <a:r>
              <a:rPr lang="en-US" spc="-5" dirty="0">
                <a:latin typeface="Arial" panose="020B0604020202090204"/>
                <a:cs typeface="Arial" panose="020B0604020202090204"/>
              </a:rPr>
              <a:t>that case, </a:t>
            </a:r>
            <a:r>
              <a:rPr lang="en-US" dirty="0">
                <a:latin typeface="Arial" panose="020B0604020202090204"/>
                <a:cs typeface="Arial" panose="020B0604020202090204"/>
              </a:rPr>
              <a:t>the </a:t>
            </a:r>
            <a:r>
              <a:rPr lang="en-US" spc="-5" dirty="0">
                <a:latin typeface="Arial" panose="020B0604020202090204"/>
                <a:cs typeface="Arial" panose="020B0604020202090204"/>
              </a:rPr>
              <a:t>best strategy is </a:t>
            </a:r>
            <a:r>
              <a:rPr lang="en-US" dirty="0">
                <a:latin typeface="Arial" panose="020B0604020202090204"/>
                <a:cs typeface="Arial" panose="020B0604020202090204"/>
              </a:rPr>
              <a:t>to </a:t>
            </a:r>
            <a:r>
              <a:rPr lang="en-US" spc="-5" dirty="0">
                <a:latin typeface="Arial" panose="020B0604020202090204"/>
                <a:cs typeface="Arial" panose="020B0604020202090204"/>
              </a:rPr>
              <a:t>give </a:t>
            </a:r>
            <a:r>
              <a:rPr lang="en-US" dirty="0">
                <a:latin typeface="Arial" panose="020B0604020202090204"/>
                <a:cs typeface="Arial" panose="020B0604020202090204"/>
              </a:rPr>
              <a:t>a </a:t>
            </a:r>
            <a:r>
              <a:rPr lang="en-US" spc="-5" dirty="0">
                <a:latin typeface="Arial" panose="020B0604020202090204"/>
                <a:cs typeface="Arial" panose="020B0604020202090204"/>
              </a:rPr>
              <a:t>range. </a:t>
            </a:r>
          </a:p>
          <a:p>
            <a:pPr marL="12700">
              <a:lnSpc>
                <a:spcPct val="100000"/>
              </a:lnSpc>
              <a:spcBef>
                <a:spcPts val="5"/>
              </a:spcBef>
            </a:pPr>
            <a:endParaRPr dirty="0">
              <a:latin typeface="Arial" panose="020B0604020202090204"/>
              <a:cs typeface="Arial" panose="020B060402020209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805</Words>
  <Application>Microsoft Office PowerPoint</Application>
  <PresentationFormat>On-screen Show (4:3)</PresentationFormat>
  <Paragraphs>81</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Brush Script MT</vt:lpstr>
      <vt:lpstr>Calibri</vt:lpstr>
      <vt:lpstr>Calibri Light</vt:lpstr>
      <vt:lpstr>Wingdings</vt:lpstr>
      <vt:lpstr>Office Theme</vt:lpstr>
      <vt:lpstr>Job Application Letter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FALE 1043 ENGLISH FOR COMMUNCIATION</dc:title>
  <dc:creator>yswong</dc:creator>
  <cp:lastModifiedBy>Akma Safian</cp:lastModifiedBy>
  <cp:revision>25</cp:revision>
  <dcterms:created xsi:type="dcterms:W3CDTF">2025-11-13T05:49:39Z</dcterms:created>
  <dcterms:modified xsi:type="dcterms:W3CDTF">2026-05-18T03:19:38Z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2020-11-02T07:30:00Z</vt:filetime>
  </property>
  <property fmtid="{D5CDD505-2E9C-101B-9397-08002B2CF9AE}" pid="3" name="Creator">
    <vt:lpwstr>Microsoft® PowerPoint® 2016</vt:lpwstr>
  </property>
  <property fmtid="{D5CDD505-2E9C-101B-9397-08002B2CF9AE}" pid="4" name="LastSaved">
    <vt:filetime>2022-11-24T07:30:00Z</vt:filetime>
  </property>
  <property fmtid="{D5CDD505-2E9C-101B-9397-08002B2CF9AE}" pid="5" name="ICV">
    <vt:lpwstr>F54A601BEB62E9147371156901449B6B_43</vt:lpwstr>
  </property>
  <property fmtid="{D5CDD505-2E9C-101B-9397-08002B2CF9AE}" pid="6" name="KSOProductBuildVer">
    <vt:lpwstr>1033-12.1.22554.22554</vt:lpwstr>
  </property>
</Properties>
</file>