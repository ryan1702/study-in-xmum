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76" r:id="rId8"/>
    <p:sldId id="277" r:id="rId9"/>
    <p:sldId id="265" r:id="rId10"/>
    <p:sldId id="266" r:id="rId11"/>
    <p:sldId id="269" r:id="rId12"/>
    <p:sldId id="270" r:id="rId13"/>
    <p:sldId id="272" r:id="rId14"/>
    <p:sldId id="273" r:id="rId15"/>
    <p:sldId id="275" r:id="rId16"/>
  </p:sldIdLst>
  <p:sldSz cx="13004800" cy="9753600"/>
  <p:notesSz cx="13004800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50" d="100"/>
          <a:sy n="50" d="100"/>
        </p:scale>
        <p:origin x="1344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79620" y="812749"/>
            <a:ext cx="3845559" cy="1306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0" i="0">
                <a:solidFill>
                  <a:schemeClr val="bg1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3004292" cy="9753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71623" y="633221"/>
            <a:ext cx="8861552" cy="1671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Verdana" panose="020B0804030504040204"/>
                <a:cs typeface="Verdana" panose="020B08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5400" y="3048000"/>
            <a:ext cx="10464800" cy="5142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6" Type="http://schemas.openxmlformats.org/officeDocument/2006/relationships/slideLayout" Target="../slideLayouts/slideLayout5.xml"/><Relationship Id="rId15" Type="http://schemas.openxmlformats.org/officeDocument/2006/relationships/image" Target="../media/image31.png"/><Relationship Id="rId14" Type="http://schemas.openxmlformats.org/officeDocument/2006/relationships/image" Target="../media/image30.png"/><Relationship Id="rId13" Type="http://schemas.openxmlformats.org/officeDocument/2006/relationships/image" Target="../media/image29.png"/><Relationship Id="rId12" Type="http://schemas.openxmlformats.org/officeDocument/2006/relationships/image" Target="../media/image28.pn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78000" y="3124200"/>
            <a:ext cx="9225915" cy="404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95"/>
              </a:spcBef>
            </a:pPr>
            <a:r>
              <a:rPr sz="8800" spc="-5" dirty="0"/>
              <a:t>Writing </a:t>
            </a:r>
            <a:r>
              <a:rPr sz="8800" dirty="0"/>
              <a:t> </a:t>
            </a:r>
            <a:r>
              <a:rPr sz="8800" spc="-10" dirty="0"/>
              <a:t>Professional</a:t>
            </a:r>
            <a:r>
              <a:rPr sz="8800" spc="35" dirty="0"/>
              <a:t> </a:t>
            </a:r>
            <a:r>
              <a:rPr sz="8800" dirty="0"/>
              <a:t>and </a:t>
            </a:r>
            <a:r>
              <a:rPr sz="8800" spc="-3080" dirty="0"/>
              <a:t> </a:t>
            </a:r>
            <a:r>
              <a:rPr sz="8800" spc="-15" dirty="0"/>
              <a:t>Effective</a:t>
            </a:r>
            <a:r>
              <a:rPr sz="8800" spc="-5" dirty="0"/>
              <a:t> </a:t>
            </a:r>
            <a:r>
              <a:rPr sz="8800" spc="-10" dirty="0"/>
              <a:t>Emails</a:t>
            </a:r>
            <a:endParaRPr sz="8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889" y="812749"/>
            <a:ext cx="1019556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400" spc="-5" dirty="0"/>
              <a:t>Prefatory</a:t>
            </a:r>
            <a:r>
              <a:rPr sz="8400" spc="-95" dirty="0"/>
              <a:t> </a:t>
            </a:r>
            <a:r>
              <a:rPr sz="8400" dirty="0"/>
              <a:t>elements</a:t>
            </a:r>
            <a:endParaRPr sz="8400" dirty="0"/>
          </a:p>
        </p:txBody>
      </p:sp>
      <p:sp>
        <p:nvSpPr>
          <p:cNvPr id="35" name="object 35"/>
          <p:cNvSpPr txBox="1"/>
          <p:nvPr/>
        </p:nvSpPr>
        <p:spPr>
          <a:xfrm>
            <a:off x="939800" y="3429000"/>
            <a:ext cx="10293985" cy="398970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1)</a:t>
            </a:r>
            <a:r>
              <a:rPr sz="3000" spc="-6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b="1" spc="-5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To</a:t>
            </a:r>
            <a:endParaRPr sz="3000" dirty="0">
              <a:latin typeface="Verdana" panose="020B0804030504040204"/>
              <a:cs typeface="Verdana" panose="020B0804030504040204"/>
            </a:endParaRPr>
          </a:p>
          <a:p>
            <a:pPr marL="469900" indent="-457200">
              <a:lnSpc>
                <a:spcPct val="100000"/>
              </a:lnSpc>
              <a:spcBef>
                <a:spcPts val="720"/>
              </a:spcBef>
              <a:buClr>
                <a:srgbClr val="FFFFCC"/>
              </a:buClr>
              <a:buSzPct val="60000"/>
              <a:buFont typeface="Arial MT"/>
              <a:buChar char="•"/>
              <a:tabLst>
                <a:tab pos="469265" algn="l"/>
                <a:tab pos="469900" algn="l"/>
                <a:tab pos="1652270" algn="l"/>
              </a:tabLst>
            </a:pPr>
            <a:r>
              <a:rPr lang="en-US"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ecipient</a:t>
            </a:r>
            <a:r>
              <a:rPr lang="en-US"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’s email</a:t>
            </a:r>
            <a:endParaRPr sz="3000" dirty="0">
              <a:latin typeface="Verdana" panose="020B0804030504040204"/>
              <a:cs typeface="Verdana" panose="020B080403050404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 b="1" spc="-25" dirty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3000" dirty="0">
                <a:solidFill>
                  <a:schemeClr val="bg1"/>
                </a:solidFill>
                <a:latin typeface="Verdana" panose="020B0804030504040204"/>
                <a:cs typeface="Verdana" panose="020B0804030504040204"/>
              </a:rPr>
              <a:t>2)</a:t>
            </a:r>
            <a:r>
              <a:rPr lang="en-US" sz="3000" b="1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b="1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Cc</a:t>
            </a:r>
            <a:r>
              <a:rPr sz="3000" b="1" spc="15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(Carbon</a:t>
            </a:r>
            <a:r>
              <a:rPr sz="3000" spc="-20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copy</a:t>
            </a:r>
            <a:r>
              <a:rPr sz="3000" spc="-15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/</a:t>
            </a:r>
            <a:r>
              <a:rPr sz="3000" spc="-10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courtesy</a:t>
            </a:r>
            <a:r>
              <a:rPr sz="3000" spc="-25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copy)</a:t>
            </a:r>
            <a:endParaRPr sz="3000" dirty="0">
              <a:latin typeface="Verdana" panose="020B0804030504040204"/>
              <a:cs typeface="Verdana" panose="020B0804030504040204"/>
            </a:endParaRPr>
          </a:p>
          <a:p>
            <a:pPr marL="469900" marR="5080" indent="-457200">
              <a:lnSpc>
                <a:spcPct val="100000"/>
              </a:lnSpc>
              <a:spcBef>
                <a:spcPts val="720"/>
              </a:spcBef>
              <a:buClr>
                <a:srgbClr val="FFFFCC"/>
              </a:buClr>
              <a:buSzPct val="60000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If you 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would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like 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to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send a copy of 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an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e-mail 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to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individuals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other 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than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your primary correspondent, </a:t>
            </a:r>
            <a:r>
              <a:rPr sz="3000" spc="-10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you 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should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type 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their e-mail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addresses </a:t>
            </a:r>
            <a:r>
              <a:rPr sz="30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in 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 </a:t>
            </a:r>
            <a:r>
              <a:rPr sz="3000" b="1" i="1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Cc </a:t>
            </a:r>
            <a:r>
              <a:rPr sz="3000" b="1" i="1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(“carbon</a:t>
            </a:r>
            <a:r>
              <a:rPr sz="3000" spc="-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copy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/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courtesy</a:t>
            </a:r>
            <a:r>
              <a:rPr sz="30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copy”) </a:t>
            </a:r>
            <a:r>
              <a:rPr sz="30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field</a:t>
            </a:r>
            <a:r>
              <a:rPr sz="3000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.</a:t>
            </a:r>
            <a:endParaRPr sz="3000" dirty="0"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8324" y="2151888"/>
            <a:ext cx="7956550" cy="1388110"/>
            <a:chOff x="1068324" y="2151888"/>
            <a:chExt cx="7956550" cy="138811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68324" y="2151888"/>
              <a:ext cx="1119377" cy="8999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3540" y="2151888"/>
              <a:ext cx="1463802" cy="8999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7124" y="2151888"/>
              <a:ext cx="6127241" cy="8999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82724" y="2639568"/>
              <a:ext cx="3701034" cy="89992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8353" y="2267204"/>
            <a:ext cx="7307580" cy="99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4400">
              <a:lnSpc>
                <a:spcPct val="100000"/>
              </a:lnSpc>
              <a:spcBef>
                <a:spcPts val="100"/>
              </a:spcBef>
              <a:tabLst>
                <a:tab pos="1841500" algn="l"/>
              </a:tabLst>
            </a:pPr>
            <a:r>
              <a:rPr lang="en-US" sz="3200" dirty="0"/>
              <a:t>3</a:t>
            </a:r>
            <a:r>
              <a:rPr sz="3200" dirty="0"/>
              <a:t>)</a:t>
            </a:r>
            <a:r>
              <a:rPr sz="3200" spc="-5" dirty="0"/>
              <a:t> </a:t>
            </a:r>
            <a:r>
              <a:rPr sz="3200" b="1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Bcc</a:t>
            </a:r>
            <a:r>
              <a:rPr lang="en-US" sz="3200" b="1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spc="-5" dirty="0">
                <a:solidFill>
                  <a:srgbClr val="FDF808"/>
                </a:solidFill>
              </a:rPr>
              <a:t>(Blind Carbon Copy </a:t>
            </a:r>
            <a:r>
              <a:rPr sz="3200" dirty="0">
                <a:solidFill>
                  <a:srgbClr val="FDF808"/>
                </a:solidFill>
              </a:rPr>
              <a:t>/ Blind </a:t>
            </a:r>
            <a:r>
              <a:rPr sz="3200" spc="-1110" dirty="0">
                <a:solidFill>
                  <a:srgbClr val="FDF808"/>
                </a:solidFill>
              </a:rPr>
              <a:t> </a:t>
            </a:r>
            <a:r>
              <a:rPr sz="3200" spc="-5" dirty="0">
                <a:solidFill>
                  <a:srgbClr val="FDF808"/>
                </a:solidFill>
              </a:rPr>
              <a:t>Courtesy</a:t>
            </a:r>
            <a:r>
              <a:rPr sz="3200" spc="-15" dirty="0">
                <a:solidFill>
                  <a:srgbClr val="FDF808"/>
                </a:solidFill>
              </a:rPr>
              <a:t> </a:t>
            </a:r>
            <a:r>
              <a:rPr sz="3200" spc="-5" dirty="0">
                <a:solidFill>
                  <a:srgbClr val="FDF808"/>
                </a:solidFill>
              </a:rPr>
              <a:t>Copy)</a:t>
            </a:r>
            <a:endParaRPr sz="3200">
              <a:latin typeface="Verdana" panose="020B0804030504040204"/>
              <a:cs typeface="Verdana" panose="020B080403050404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91767" y="3813047"/>
            <a:ext cx="10848595" cy="2070354"/>
            <a:chOff x="1191767" y="3813047"/>
            <a:chExt cx="10848595" cy="2070354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1767" y="4020324"/>
              <a:ext cx="357390" cy="4609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6003" y="3813047"/>
              <a:ext cx="869441" cy="7901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55291" y="3813047"/>
              <a:ext cx="7733538" cy="79019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003" y="4239767"/>
              <a:ext cx="8350758" cy="7901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36608" y="4239767"/>
              <a:ext cx="631698" cy="7901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98151" y="4239767"/>
              <a:ext cx="2405633" cy="79019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56003" y="4666487"/>
              <a:ext cx="8356854" cy="79019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42703" y="4666487"/>
              <a:ext cx="1282446" cy="79019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54996" y="4666487"/>
              <a:ext cx="1785366" cy="7901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56003" y="5093207"/>
              <a:ext cx="3097530" cy="7901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83379" y="5093207"/>
              <a:ext cx="1349502" cy="79019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308353" y="3914902"/>
            <a:ext cx="10367645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Clr>
                <a:srgbClr val="FFFFCC"/>
              </a:buClr>
              <a:buSzPct val="59000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If</a:t>
            </a:r>
            <a:r>
              <a:rPr sz="2800" spc="-1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you</a:t>
            </a:r>
            <a:r>
              <a:rPr sz="2800" spc="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do</a:t>
            </a:r>
            <a:r>
              <a:rPr sz="2800" spc="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not</a:t>
            </a:r>
            <a:r>
              <a:rPr sz="2800" spc="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want</a:t>
            </a:r>
            <a:r>
              <a:rPr sz="2800" spc="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to</a:t>
            </a:r>
            <a:r>
              <a:rPr sz="2800" spc="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inform</a:t>
            </a:r>
            <a:r>
              <a:rPr sz="2800" spc="4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your</a:t>
            </a:r>
            <a:r>
              <a:rPr sz="2800" spc="2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primary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correspondent</a:t>
            </a:r>
            <a:r>
              <a:rPr sz="2800" spc="4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that</a:t>
            </a:r>
            <a:r>
              <a:rPr sz="2800" spc="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you</a:t>
            </a:r>
            <a:r>
              <a:rPr sz="2800" spc="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sent</a:t>
            </a:r>
            <a:r>
              <a:rPr sz="2800" spc="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a</a:t>
            </a:r>
            <a:r>
              <a:rPr sz="28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copy</a:t>
            </a:r>
            <a:r>
              <a:rPr sz="2800" spc="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of</a:t>
            </a:r>
            <a:r>
              <a:rPr sz="28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z="28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e-mail,</a:t>
            </a:r>
            <a:r>
              <a:rPr sz="2800" spc="1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then </a:t>
            </a:r>
            <a:r>
              <a:rPr sz="2800" spc="-969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type</a:t>
            </a:r>
            <a:r>
              <a:rPr sz="2800" spc="1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z="2800" spc="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additional</a:t>
            </a:r>
            <a:r>
              <a:rPr sz="2800" spc="5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recipients’</a:t>
            </a:r>
            <a:r>
              <a:rPr sz="2800" spc="5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names</a:t>
            </a:r>
            <a:r>
              <a:rPr sz="2800" spc="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in</a:t>
            </a:r>
            <a:r>
              <a:rPr sz="2800" spc="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</a:t>
            </a:r>
            <a:r>
              <a:rPr sz="2800" spc="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b="1" i="1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Bcc</a:t>
            </a:r>
            <a:r>
              <a:rPr sz="2800" b="1" i="1" spc="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(“blind </a:t>
            </a:r>
            <a:r>
              <a:rPr sz="2800" spc="-969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carbon</a:t>
            </a:r>
            <a:r>
              <a:rPr sz="2800" spc="3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copy”)</a:t>
            </a:r>
            <a:r>
              <a:rPr sz="2800" spc="6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field</a:t>
            </a:r>
            <a:r>
              <a:rPr sz="2800" spc="-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.</a:t>
            </a:r>
            <a:endParaRPr sz="2800" dirty="0"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8324" y="2194560"/>
            <a:ext cx="10549890" cy="3143250"/>
            <a:chOff x="1068324" y="2194560"/>
            <a:chExt cx="10549890" cy="314325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68324" y="2194560"/>
              <a:ext cx="1119377" cy="8999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3540" y="2194560"/>
              <a:ext cx="2257806" cy="8999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7184" y="2194560"/>
              <a:ext cx="718565" cy="8999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5004" y="3015996"/>
              <a:ext cx="404622" cy="5234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5524" y="2779776"/>
              <a:ext cx="1507998" cy="8999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9360" y="2779776"/>
              <a:ext cx="6799326" cy="8999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6568" y="3364992"/>
              <a:ext cx="3074670" cy="8999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37075" y="3364992"/>
              <a:ext cx="2323338" cy="89992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5004" y="4186427"/>
              <a:ext cx="404622" cy="52349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5524" y="3950208"/>
              <a:ext cx="1806702" cy="89992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98063" y="3950208"/>
              <a:ext cx="1280922" cy="8999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44824" y="3950208"/>
              <a:ext cx="718565" cy="8999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29228" y="3950208"/>
              <a:ext cx="7888985" cy="89992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5524" y="4437888"/>
              <a:ext cx="3867150" cy="899922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068324" y="6193535"/>
            <a:ext cx="4208524" cy="899921"/>
            <a:chOff x="1068324" y="6193535"/>
            <a:chExt cx="4208524" cy="899921"/>
          </a:xfrm>
        </p:grpSpPr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8324" y="6193535"/>
              <a:ext cx="1119377" cy="89992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53540" y="6193535"/>
              <a:ext cx="3438905" cy="8999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8283" y="6193535"/>
              <a:ext cx="718565" cy="89992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308353" y="2212949"/>
            <a:ext cx="9892665" cy="58051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US"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4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)</a:t>
            </a:r>
            <a:r>
              <a:rPr sz="3200" spc="-6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b="1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Subject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:</a:t>
            </a:r>
            <a:endParaRPr sz="3200" dirty="0">
              <a:latin typeface="Verdana" panose="020B0804030504040204"/>
              <a:cs typeface="Verdana" panose="020B0804030504040204"/>
            </a:endParaRPr>
          </a:p>
          <a:p>
            <a:pPr marL="440690" marR="2309495" indent="-428625">
              <a:lnSpc>
                <a:spcPct val="120000"/>
              </a:lnSpc>
              <a:buClr>
                <a:srgbClr val="FFFFCC"/>
              </a:buClr>
              <a:buSzPct val="59000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/>
              <a:t>	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This </a:t>
            </a:r>
            <a:r>
              <a:rPr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line describes the 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message as </a:t>
            </a:r>
            <a:r>
              <a:rPr sz="3200" spc="-11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precisely</a:t>
            </a:r>
            <a:r>
              <a:rPr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as</a:t>
            </a:r>
            <a:r>
              <a:rPr sz="3200" spc="-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possible.</a:t>
            </a:r>
            <a:endParaRPr sz="3200" dirty="0">
              <a:latin typeface="Verdana" panose="020B0804030504040204"/>
              <a:cs typeface="Verdana" panose="020B0804030504040204"/>
            </a:endParaRPr>
          </a:p>
          <a:p>
            <a:pPr marL="469900" marR="5080" indent="-457200">
              <a:lnSpc>
                <a:spcPct val="100000"/>
              </a:lnSpc>
              <a:spcBef>
                <a:spcPts val="770"/>
              </a:spcBef>
              <a:buClr>
                <a:srgbClr val="FFFFCC"/>
              </a:buClr>
              <a:buSzPct val="59000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Avoid </a:t>
            </a:r>
            <a:r>
              <a:rPr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one-word </a:t>
            </a:r>
            <a:r>
              <a:rPr sz="32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descriptions </a:t>
            </a:r>
            <a:r>
              <a:rPr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(e.g., 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Important, </a:t>
            </a:r>
            <a:r>
              <a:rPr sz="3200" spc="-11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Help,</a:t>
            </a:r>
            <a:r>
              <a:rPr sz="32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or</a:t>
            </a:r>
            <a:r>
              <a:rPr sz="3200" spc="-2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Urgent)</a:t>
            </a:r>
            <a:endParaRPr sz="3200" dirty="0">
              <a:latin typeface="Verdana" panose="020B0804030504040204"/>
              <a:cs typeface="Verdana" panose="020B0804030504040204"/>
            </a:endParaRPr>
          </a:p>
          <a:p>
            <a:pPr>
              <a:lnSpc>
                <a:spcPct val="100000"/>
              </a:lnSpc>
            </a:pPr>
            <a:endParaRPr sz="3900" dirty="0">
              <a:latin typeface="Verdana" panose="020B0804030504040204"/>
              <a:cs typeface="Verdana" panose="020B080403050404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300" dirty="0">
              <a:latin typeface="Verdana" panose="020B0804030504040204"/>
              <a:cs typeface="Verdana" panose="020B0804030504040204"/>
            </a:endParaRPr>
          </a:p>
          <a:p>
            <a:pPr marL="12700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5</a:t>
            </a:r>
            <a:r>
              <a:rPr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)</a:t>
            </a:r>
            <a:r>
              <a:rPr sz="3200" spc="-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b="1" spc="-5" dirty="0">
                <a:solidFill>
                  <a:srgbClr val="FDF808"/>
                </a:solidFill>
                <a:latin typeface="Verdana" panose="020B0804030504040204"/>
                <a:cs typeface="Verdana" panose="020B0804030504040204"/>
              </a:rPr>
              <a:t>Attachments</a:t>
            </a:r>
            <a:r>
              <a:rPr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:</a:t>
            </a:r>
            <a:endParaRPr sz="3200" dirty="0">
              <a:latin typeface="Verdana" panose="020B0804030504040204"/>
              <a:cs typeface="Verdana" panose="020B0804030504040204"/>
            </a:endParaRPr>
          </a:p>
          <a:p>
            <a:pPr marL="297180" marR="2089150" indent="-285115">
              <a:lnSpc>
                <a:spcPct val="120000"/>
              </a:lnSpc>
              <a:buClr>
                <a:srgbClr val="FFFFCC"/>
              </a:buClr>
              <a:buSzPct val="59000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Attach a file </a:t>
            </a:r>
            <a:r>
              <a:rPr lang="en-US"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that </a:t>
            </a:r>
            <a:r>
              <a:rPr lang="en-US" sz="32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is </a:t>
            </a:r>
            <a:r>
              <a:rPr lang="en-US"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needed </a:t>
            </a:r>
            <a:r>
              <a:rPr lang="en-US" sz="3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with </a:t>
            </a:r>
            <a:r>
              <a:rPr lang="en-US"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 </a:t>
            </a:r>
            <a:r>
              <a:rPr lang="en-US" sz="3200" spc="-11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lang="en-US" sz="3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email. </a:t>
            </a:r>
            <a:r>
              <a:rPr dirty="0"/>
              <a:t>	</a:t>
            </a:r>
            <a:endParaRPr sz="3200" dirty="0"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510" y="812749"/>
            <a:ext cx="865632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400" spc="-10" dirty="0"/>
              <a:t>EMAIL</a:t>
            </a:r>
            <a:r>
              <a:rPr sz="8400" spc="-30" dirty="0"/>
              <a:t> </a:t>
            </a:r>
            <a:r>
              <a:rPr sz="8400" dirty="0"/>
              <a:t>-</a:t>
            </a:r>
            <a:r>
              <a:rPr sz="8400" spc="-50" dirty="0"/>
              <a:t> </a:t>
            </a:r>
            <a:r>
              <a:rPr sz="8400" dirty="0"/>
              <a:t>Subject</a:t>
            </a:r>
            <a:endParaRPr sz="8400"/>
          </a:p>
        </p:txBody>
      </p:sp>
      <p:sp>
        <p:nvSpPr>
          <p:cNvPr id="3" name="object 3"/>
          <p:cNvSpPr txBox="1"/>
          <p:nvPr/>
        </p:nvSpPr>
        <p:spPr>
          <a:xfrm>
            <a:off x="1575053" y="4177029"/>
            <a:ext cx="9474835" cy="1304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5080" indent="-571500">
              <a:lnSpc>
                <a:spcPct val="100000"/>
              </a:lnSpc>
              <a:spcBef>
                <a:spcPts val="100"/>
              </a:spcBef>
              <a:buSzPct val="170000"/>
              <a:buFont typeface="Arial MT"/>
              <a:buChar char="•"/>
              <a:tabLst>
                <a:tab pos="584200" algn="l"/>
                <a:tab pos="1754505" algn="l"/>
              </a:tabLst>
            </a:pPr>
            <a:r>
              <a:rPr sz="4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The	</a:t>
            </a:r>
            <a:r>
              <a:rPr lang="en-US" sz="4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s</a:t>
            </a:r>
            <a:r>
              <a:rPr sz="4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ubject should be </a:t>
            </a:r>
            <a:r>
              <a:rPr sz="4200" spc="-146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4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focused,</a:t>
            </a:r>
            <a:r>
              <a:rPr sz="42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clear</a:t>
            </a:r>
            <a:r>
              <a:rPr sz="4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4200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and</a:t>
            </a:r>
            <a:r>
              <a:rPr sz="4200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informative.</a:t>
            </a:r>
            <a:endParaRPr sz="4200" dirty="0"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558800" y="633221"/>
            <a:ext cx="1188719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/>
              <a:t>Ineffective</a:t>
            </a:r>
            <a:r>
              <a:rPr sz="7200" spc="-10" dirty="0"/>
              <a:t> </a:t>
            </a:r>
            <a:r>
              <a:rPr sz="7200" dirty="0"/>
              <a:t>subject</a:t>
            </a:r>
            <a:r>
              <a:rPr sz="7200" spc="-35" dirty="0"/>
              <a:t> </a:t>
            </a:r>
            <a:r>
              <a:rPr sz="7200" spc="-20" dirty="0"/>
              <a:t>lines</a:t>
            </a:r>
            <a:endParaRPr sz="72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7400" y="2819400"/>
          <a:ext cx="113538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3800"/>
              </a:tblGrid>
              <a:tr h="742950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SUBJECT</a:t>
                      </a:r>
                      <a:endParaRPr lang="en-US" sz="4000" dirty="0"/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Hi Teacher</a:t>
                      </a:r>
                      <a:endParaRPr lang="en-US" sz="2800" dirty="0"/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</a:t>
                      </a:r>
                      <a:endParaRPr lang="en-US" sz="2800" dirty="0"/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We</a:t>
                      </a:r>
                      <a:r>
                        <a:rPr lang="en-US" sz="2800" baseline="0" dirty="0" smtClean="0"/>
                        <a:t> are confuse</a:t>
                      </a:r>
                      <a:endParaRPr lang="en-US" sz="2800" dirty="0"/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Can</a:t>
                      </a:r>
                      <a:r>
                        <a:rPr lang="en-US" sz="2800" baseline="0" dirty="0" smtClean="0"/>
                        <a:t> I write more in the slide</a:t>
                      </a:r>
                      <a:endParaRPr lang="en-US" sz="2800" dirty="0"/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The assignment</a:t>
                      </a:r>
                      <a:endParaRPr lang="en-US" sz="2800" dirty="0"/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(sometimes,</a:t>
                      </a:r>
                      <a:r>
                        <a:rPr lang="en-US" sz="2800" baseline="0" dirty="0" smtClean="0"/>
                        <a:t> students write the whole content at the subject)  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1295400" y="633221"/>
            <a:ext cx="1046479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5" dirty="0"/>
              <a:t>Effective</a:t>
            </a:r>
            <a:r>
              <a:rPr sz="7200" spc="-20" dirty="0"/>
              <a:t> </a:t>
            </a:r>
            <a:r>
              <a:rPr sz="7200" dirty="0"/>
              <a:t>subject</a:t>
            </a:r>
            <a:r>
              <a:rPr sz="7200" spc="-40" dirty="0"/>
              <a:t> </a:t>
            </a:r>
            <a:r>
              <a:rPr sz="7200" spc="-20" dirty="0"/>
              <a:t>lines</a:t>
            </a:r>
            <a:endParaRPr sz="7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87400" y="2667000"/>
          <a:ext cx="11430000" cy="6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SUBJECT</a:t>
                      </a:r>
                      <a:endParaRPr lang="en-US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 on MPU2.2</a:t>
                      </a:r>
                      <a:r>
                        <a:rPr lang="en-US" sz="2800" baseline="0" dirty="0" smtClean="0"/>
                        <a:t> – Number of slides</a:t>
                      </a:r>
                      <a:endParaRPr lang="en-US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Group</a:t>
                      </a:r>
                      <a:r>
                        <a:rPr lang="en-US" sz="2800" baseline="0" dirty="0" smtClean="0"/>
                        <a:t> members issues for ASG 1 (WPP)</a:t>
                      </a:r>
                      <a:endParaRPr lang="en-US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Some questions on Ethos</a:t>
                      </a:r>
                      <a:endParaRPr lang="en-US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Writing</a:t>
                      </a:r>
                      <a:r>
                        <a:rPr lang="en-US" sz="2800" baseline="0" dirty="0" smtClean="0"/>
                        <a:t> for Professional Purposes Assignment 1 Matters </a:t>
                      </a:r>
                      <a:endParaRPr lang="en-US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2800" baseline="0" dirty="0" smtClean="0"/>
                        <a:t>Assignment 2 </a:t>
                      </a:r>
                      <a:r>
                        <a:rPr lang="en-US" sz="2800" baseline="0" dirty="0" smtClean="0"/>
                        <a:t>Grouping issues for </a:t>
                      </a:r>
                      <a:r>
                        <a:rPr lang="en-US" sz="2800" baseline="0" dirty="0" smtClean="0"/>
                        <a:t>MPU2.2</a:t>
                      </a:r>
                      <a:endParaRPr lang="en-US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3322" y="172669"/>
            <a:ext cx="1013333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400" spc="-10" dirty="0" smtClean="0"/>
              <a:t>Greetings</a:t>
            </a:r>
            <a:endParaRPr sz="8400" dirty="0"/>
          </a:p>
        </p:txBody>
      </p:sp>
      <p:sp>
        <p:nvSpPr>
          <p:cNvPr id="3" name="object 3"/>
          <p:cNvSpPr txBox="1"/>
          <p:nvPr/>
        </p:nvSpPr>
        <p:spPr>
          <a:xfrm>
            <a:off x="1575053" y="3872229"/>
            <a:ext cx="10489947" cy="161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SzPct val="170000"/>
              <a:buFont typeface="Arial MT"/>
              <a:buChar char="•"/>
              <a:tabLst>
                <a:tab pos="584200" algn="l"/>
              </a:tabLst>
            </a:pPr>
            <a:r>
              <a:rPr sz="4200" b="1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Dear</a:t>
            </a:r>
            <a:r>
              <a:rPr sz="4200" b="1" spc="-4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4200" b="1" spc="-1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[name</a:t>
            </a:r>
            <a:r>
              <a:rPr sz="4200" b="1" spc="-10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],</a:t>
            </a:r>
            <a:endParaRPr sz="4200" dirty="0">
              <a:latin typeface="Verdana" panose="020B0804030504040204"/>
              <a:cs typeface="Verdana" panose="020B0804030504040204"/>
            </a:endParaRPr>
          </a:p>
          <a:p>
            <a:pPr marL="584200" indent="-571500">
              <a:lnSpc>
                <a:spcPct val="100000"/>
              </a:lnSpc>
              <a:spcBef>
                <a:spcPts val="2400"/>
              </a:spcBef>
              <a:buSzPct val="170000"/>
              <a:buFont typeface="Arial MT"/>
              <a:buChar char="•"/>
              <a:tabLst>
                <a:tab pos="584200" algn="l"/>
                <a:tab pos="5572760" algn="l"/>
              </a:tabLst>
            </a:pPr>
            <a:r>
              <a:rPr sz="4200" b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To </a:t>
            </a:r>
            <a:r>
              <a:rPr sz="4200" b="1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whom</a:t>
            </a:r>
            <a:r>
              <a:rPr sz="4200" b="1" spc="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4200" b="1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it </a:t>
            </a:r>
            <a:r>
              <a:rPr sz="4200" b="1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ma</a:t>
            </a:r>
            <a:r>
              <a:rPr sz="4200" b="1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</a:t>
            </a:r>
            <a:r>
              <a:rPr lang="en-US" sz="4200" b="1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4200" b="1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concern</a:t>
            </a:r>
            <a:r>
              <a:rPr sz="4200" b="1" spc="-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,</a:t>
            </a:r>
            <a:endParaRPr lang="en-US" sz="4200" b="1" spc="-5" dirty="0" smtClean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9500" y="914400"/>
            <a:ext cx="8861552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6840" marR="5080" indent="-187452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Content</a:t>
            </a:r>
            <a:endParaRPr spc="-5" dirty="0"/>
          </a:p>
        </p:txBody>
      </p:sp>
      <p:sp>
        <p:nvSpPr>
          <p:cNvPr id="18" name="TextBox 17"/>
          <p:cNvSpPr txBox="1"/>
          <p:nvPr/>
        </p:nvSpPr>
        <p:spPr>
          <a:xfrm>
            <a:off x="1092200" y="3581400"/>
            <a:ext cx="10972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sz="4400" dirty="0" smtClean="0">
                <a:solidFill>
                  <a:schemeClr val="bg1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Evaluate the situation</a:t>
            </a:r>
            <a:endParaRPr lang="en-US" sz="4400" dirty="0" smtClean="0">
              <a:solidFill>
                <a:schemeClr val="bg1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r>
              <a:rPr lang="en-US" sz="4400" dirty="0" smtClean="0">
                <a:solidFill>
                  <a:schemeClr val="bg1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 </a:t>
            </a:r>
            <a:endParaRPr lang="en-US" sz="4400" dirty="0" smtClean="0">
              <a:solidFill>
                <a:schemeClr val="bg1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sz="4400" dirty="0" smtClean="0">
                <a:solidFill>
                  <a:schemeClr val="bg1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Choose the relevant approach; direct or indirect</a:t>
            </a:r>
            <a:endParaRPr lang="en-US" sz="4400" dirty="0" smtClean="0">
              <a:solidFill>
                <a:schemeClr val="bg1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571500" indent="-571500">
              <a:buFont typeface="Arial" panose="020B0604020202090204" pitchFamily="34" charset="0"/>
              <a:buChar char="•"/>
            </a:pPr>
            <a:endParaRPr lang="en-US" sz="4400" dirty="0" smtClean="0">
              <a:solidFill>
                <a:schemeClr val="bg1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sz="4400" dirty="0" smtClean="0">
                <a:solidFill>
                  <a:schemeClr val="bg1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rPr>
              <a:t>Paragraph: minimum 2, maximum 5</a:t>
            </a:r>
            <a:endParaRPr lang="en-US" sz="4400" dirty="0" smtClean="0">
              <a:solidFill>
                <a:schemeClr val="bg1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  <a:p>
            <a:pPr marL="571500" indent="-571500">
              <a:buFont typeface="Arial" panose="020B0604020202090204" pitchFamily="34" charset="0"/>
              <a:buChar char="•"/>
            </a:pPr>
            <a:endParaRPr lang="en-US" sz="4400" dirty="0">
              <a:solidFill>
                <a:schemeClr val="bg1"/>
              </a:solidFill>
              <a:latin typeface="Verdana" panose="020B0804030504040204" pitchFamily="34" charset="0"/>
              <a:ea typeface="Verdana" panose="020B0804030504040204" pitchFamily="34" charset="0"/>
              <a:cs typeface="Verdana" panose="020B08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5600" y="990600"/>
            <a:ext cx="79908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" dirty="0" smtClean="0"/>
              <a:t>Sign-offs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1143888" y="2895600"/>
            <a:ext cx="10718547" cy="5781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SzPct val="170000"/>
              <a:tabLst>
                <a:tab pos="584200" algn="l"/>
              </a:tabLst>
            </a:pPr>
            <a:r>
              <a:rPr lang="en-US" sz="3200" b="1" spc="-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For email writing, the sign-off is </a:t>
            </a:r>
            <a:r>
              <a:rPr lang="en-US" sz="4000" b="1" spc="-5" dirty="0" smtClean="0">
                <a:solidFill>
                  <a:srgbClr val="FF0000"/>
                </a:solidFill>
                <a:latin typeface="Verdana" panose="020B0804030504040204"/>
                <a:cs typeface="Verdana" panose="020B0804030504040204"/>
              </a:rPr>
              <a:t>not restricted</a:t>
            </a:r>
            <a:r>
              <a:rPr lang="en-US" sz="3200" b="1" spc="-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to only 2 options:</a:t>
            </a:r>
            <a:endParaRPr lang="en-US" sz="3200" b="1" spc="-5" dirty="0" smtClean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  <a:p>
            <a:pPr marL="584200" indent="-571500">
              <a:lnSpc>
                <a:spcPct val="100000"/>
              </a:lnSpc>
              <a:spcBef>
                <a:spcPts val="100"/>
              </a:spcBef>
              <a:buSzPct val="170000"/>
              <a:buFont typeface="Arial MT"/>
              <a:buChar char="•"/>
              <a:tabLst>
                <a:tab pos="584200" algn="l"/>
              </a:tabLst>
            </a:pPr>
            <a:endParaRPr lang="en-US" sz="4200" b="1" spc="-5" dirty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  <a:p>
            <a:pPr marL="584200" indent="-571500">
              <a:lnSpc>
                <a:spcPct val="100000"/>
              </a:lnSpc>
              <a:spcBef>
                <a:spcPts val="2400"/>
              </a:spcBef>
              <a:buSzPct val="170000"/>
              <a:buFont typeface="Arial MT"/>
              <a:buChar char="•"/>
              <a:tabLst>
                <a:tab pos="584200" algn="l"/>
              </a:tabLst>
            </a:pPr>
            <a:r>
              <a:rPr lang="en-US" sz="3200" b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Yours faithfully</a:t>
            </a:r>
            <a:r>
              <a:rPr sz="3200" b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,</a:t>
            </a:r>
            <a:r>
              <a:rPr lang="en-US" sz="3200" b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(</a:t>
            </a:r>
            <a:r>
              <a:rPr lang="en-US" sz="3200" b="1" i="1" u="sng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for general greeting</a:t>
            </a:r>
            <a:r>
              <a:rPr lang="en-US" sz="3200" b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)</a:t>
            </a:r>
            <a:endParaRPr lang="en-US" sz="3200" b="1" dirty="0" smtClean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  <a:p>
            <a:pPr marL="584200" indent="-571500">
              <a:spcBef>
                <a:spcPts val="2400"/>
              </a:spcBef>
              <a:buSzPct val="170000"/>
              <a:buFont typeface="Arial MT"/>
              <a:buChar char="•"/>
              <a:tabLst>
                <a:tab pos="584200" algn="l"/>
              </a:tabLst>
            </a:pPr>
            <a:r>
              <a:rPr lang="en-US" sz="3200" b="1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Yours sincerely, (for specific greeting</a:t>
            </a:r>
            <a:r>
              <a:rPr lang="en-US" sz="3200" b="1" spc="-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)</a:t>
            </a:r>
            <a:endParaRPr sz="3200" dirty="0">
              <a:latin typeface="Verdana" panose="020B0804030504040204"/>
              <a:cs typeface="Verdana" panose="020B0804030504040204"/>
            </a:endParaRPr>
          </a:p>
          <a:p>
            <a:pPr marL="584200" indent="-571500">
              <a:lnSpc>
                <a:spcPct val="100000"/>
              </a:lnSpc>
              <a:spcBef>
                <a:spcPts val="2400"/>
              </a:spcBef>
              <a:buSzPct val="170000"/>
              <a:buFont typeface="Arial MT"/>
              <a:buChar char="•"/>
              <a:tabLst>
                <a:tab pos="584200" algn="l"/>
              </a:tabLst>
            </a:pPr>
            <a:r>
              <a:rPr sz="3200" b="1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Best</a:t>
            </a:r>
            <a:r>
              <a:rPr sz="3200" b="1" spc="-8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Regards</a:t>
            </a:r>
            <a:r>
              <a:rPr sz="3200" b="1" spc="-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,</a:t>
            </a:r>
            <a:r>
              <a:rPr lang="en-US" sz="3200" b="1" spc="-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(for specific greeting)</a:t>
            </a:r>
            <a:endParaRPr sz="3200" dirty="0">
              <a:latin typeface="Verdana" panose="020B0804030504040204"/>
              <a:cs typeface="Verdana" panose="020B0804030504040204"/>
            </a:endParaRPr>
          </a:p>
          <a:p>
            <a:pPr marL="584200" indent="-571500">
              <a:lnSpc>
                <a:spcPct val="100000"/>
              </a:lnSpc>
              <a:spcBef>
                <a:spcPts val="2400"/>
              </a:spcBef>
              <a:buSzPct val="170000"/>
              <a:buFont typeface="Arial MT"/>
              <a:buChar char="•"/>
              <a:tabLst>
                <a:tab pos="584200" algn="l"/>
              </a:tabLst>
            </a:pPr>
            <a:r>
              <a:rPr lang="en-US" sz="3200" b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Regards</a:t>
            </a:r>
            <a:r>
              <a:rPr sz="3200" b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,</a:t>
            </a:r>
            <a:r>
              <a:rPr lang="en-US" sz="3200" b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(for specific greeting)</a:t>
            </a:r>
            <a:endParaRPr lang="en-US" sz="3200" b="1" dirty="0" smtClean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  <a:p>
            <a:pPr marL="584200" indent="-571500">
              <a:lnSpc>
                <a:spcPct val="100000"/>
              </a:lnSpc>
              <a:spcBef>
                <a:spcPts val="2400"/>
              </a:spcBef>
              <a:buSzPct val="170000"/>
              <a:buFont typeface="Arial MT"/>
              <a:buChar char="•"/>
              <a:tabLst>
                <a:tab pos="584200" algn="l"/>
              </a:tabLst>
            </a:pPr>
            <a:r>
              <a:rPr lang="en-US" sz="3200" b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Best wishes, and etc. (for specific greeting)</a:t>
            </a:r>
            <a:endParaRPr sz="3200" dirty="0"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400" y="2606801"/>
            <a:ext cx="11506199" cy="38246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89250">
              <a:lnSpc>
                <a:spcPct val="148000"/>
              </a:lnSpc>
              <a:spcBef>
                <a:spcPts val="95"/>
              </a:spcBef>
            </a:pPr>
            <a:r>
              <a:rPr lang="en-US" sz="3200" b="1" i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Signature (optional)</a:t>
            </a:r>
            <a:endParaRPr lang="en-US" sz="3200" b="1" i="1" dirty="0" smtClean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  <a:p>
            <a:pPr marL="12700" marR="2889250">
              <a:lnSpc>
                <a:spcPct val="148000"/>
              </a:lnSpc>
              <a:spcBef>
                <a:spcPts val="95"/>
              </a:spcBef>
            </a:pPr>
            <a:r>
              <a:rPr lang="en-US" sz="3200" b="1" i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Name (mandatory)</a:t>
            </a:r>
            <a:endParaRPr lang="en-US" sz="3200" b="1" i="1" dirty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  <a:p>
            <a:pPr marL="12700" marR="2889250">
              <a:lnSpc>
                <a:spcPct val="148000"/>
              </a:lnSpc>
              <a:spcBef>
                <a:spcPts val="95"/>
              </a:spcBef>
            </a:pPr>
            <a:r>
              <a:rPr sz="3200" b="1" i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Title</a:t>
            </a:r>
            <a:r>
              <a:rPr lang="en-US" sz="3200" b="1" i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/Position (based on situation)</a:t>
            </a:r>
            <a:endParaRPr sz="3200" dirty="0">
              <a:latin typeface="Verdana" panose="020B0804030504040204"/>
              <a:cs typeface="Verdana" panose="020B0804030504040204"/>
            </a:endParaRPr>
          </a:p>
          <a:p>
            <a:pPr marL="12700" marR="5080">
              <a:spcBef>
                <a:spcPts val="2400"/>
              </a:spcBef>
            </a:pPr>
            <a:r>
              <a:rPr sz="3200" b="1" i="1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Company</a:t>
            </a:r>
            <a:r>
              <a:rPr sz="3200" b="1" i="1" spc="-100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</a:t>
            </a:r>
            <a:r>
              <a:rPr sz="3200" b="1" i="1" spc="-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name </a:t>
            </a:r>
            <a:r>
              <a:rPr lang="en-US" sz="3200" b="1" i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(additional)</a:t>
            </a:r>
            <a:endParaRPr lang="en-US" sz="3200" b="1" i="1" spc="-1420" dirty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  <a:p>
            <a:pPr marL="12700" marR="5080">
              <a:spcBef>
                <a:spcPts val="2400"/>
              </a:spcBef>
            </a:pPr>
            <a:r>
              <a:rPr sz="3200" b="1" i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Phone/Fax</a:t>
            </a:r>
            <a:r>
              <a:rPr lang="en-US" sz="3200" b="1" i="1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 (additional)</a:t>
            </a:r>
            <a:endParaRPr lang="en-US" sz="3200" dirty="0" smtClean="0"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3200" y="527126"/>
            <a:ext cx="982979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spc="-5" dirty="0" smtClean="0"/>
              <a:t>Example of </a:t>
            </a:r>
            <a:r>
              <a:rPr sz="6000" spc="-5" dirty="0" smtClean="0"/>
              <a:t>Good</a:t>
            </a:r>
            <a:r>
              <a:rPr sz="6000" spc="-100" dirty="0" smtClean="0"/>
              <a:t> </a:t>
            </a:r>
            <a:r>
              <a:rPr sz="6000" spc="-5" dirty="0"/>
              <a:t>Email</a:t>
            </a:r>
            <a:endParaRPr sz="600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500" y="1435608"/>
            <a:ext cx="2486406" cy="67741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68399" y="2371762"/>
            <a:ext cx="10134600" cy="5600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lvl="0">
              <a:spcBef>
                <a:spcPts val="100"/>
              </a:spcBef>
            </a:pP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To: nurhidayatulakma.safian@xmu.edu.my</a:t>
            </a:r>
            <a:endParaRPr lang="en-US" sz="2000" spc="-5" dirty="0" smtClean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 lvl="0">
              <a:spcBef>
                <a:spcPts val="100"/>
              </a:spcBef>
            </a:pP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Subject: Inquiry about IELTS classes</a:t>
            </a:r>
            <a:endParaRPr lang="en-US" sz="2000" spc="-5" dirty="0" smtClean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 lvl="0">
              <a:spcBef>
                <a:spcPts val="100"/>
              </a:spcBef>
            </a:pPr>
            <a:endParaRPr lang="en-US" sz="2000" spc="-5" dirty="0" smtClean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 lvl="0">
              <a:spcBef>
                <a:spcPts val="100"/>
              </a:spcBef>
            </a:pPr>
            <a:endParaRPr lang="en-US" sz="2000" spc="-5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 lvl="0">
              <a:spcBef>
                <a:spcPts val="100"/>
              </a:spcBef>
            </a:pP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Dear</a:t>
            </a:r>
            <a:r>
              <a:rPr lang="en-US" sz="2000" spc="-1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Ms.</a:t>
            </a:r>
            <a:r>
              <a:rPr lang="en-US" sz="2000" spc="-4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Akma,</a:t>
            </a:r>
            <a:endParaRPr lang="en-US" sz="2000" dirty="0">
              <a:solidFill>
                <a:prstClr val="black"/>
              </a:solidFill>
              <a:latin typeface="Arial MT"/>
              <a:cs typeface="Arial MT"/>
            </a:endParaRPr>
          </a:p>
          <a:p>
            <a:pPr lvl="0">
              <a:spcBef>
                <a:spcPts val="5"/>
              </a:spcBef>
            </a:pPr>
            <a:endParaRPr lang="en-US" sz="2000" dirty="0">
              <a:solidFill>
                <a:prstClr val="black"/>
              </a:solidFill>
              <a:latin typeface="Arial MT"/>
              <a:cs typeface="Arial MT"/>
            </a:endParaRPr>
          </a:p>
          <a:p>
            <a:pPr marL="12700" lvl="0"/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I’m Yang, a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student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lang="en-US" sz="200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China.</a:t>
            </a:r>
            <a:r>
              <a:rPr lang="en-US" sz="2000" spc="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I’m</a:t>
            </a:r>
            <a:r>
              <a:rPr lang="en-US" sz="2000" spc="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writing</a:t>
            </a:r>
            <a:r>
              <a:rPr lang="en-US" sz="2000" spc="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lang="en-US" sz="2000" spc="-1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enquire about</a:t>
            </a:r>
            <a:r>
              <a:rPr lang="en-US" sz="2000" dirty="0" smtClean="0">
                <a:solidFill>
                  <a:prstClr val="black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rial MT"/>
                <a:cs typeface="Arial MT"/>
              </a:rPr>
              <a:t>the IELTS classes.</a:t>
            </a:r>
            <a:r>
              <a:rPr lang="en-US" sz="2000" dirty="0" smtClean="0">
                <a:solidFill>
                  <a:prstClr val="black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I have a few </a:t>
            </a:r>
            <a:r>
              <a:rPr lang="en-US" sz="2000" spc="-10" dirty="0" smtClean="0">
                <a:solidFill>
                  <a:srgbClr val="FFFFFF"/>
                </a:solidFill>
                <a:latin typeface="Arial MT"/>
                <a:cs typeface="Arial MT"/>
              </a:rPr>
              <a:t>questions:</a:t>
            </a:r>
            <a:endParaRPr lang="en-US" sz="2000" dirty="0" smtClean="0">
              <a:solidFill>
                <a:prstClr val="black"/>
              </a:solidFill>
              <a:latin typeface="Arial MT"/>
              <a:cs typeface="Arial MT"/>
            </a:endParaRPr>
          </a:p>
          <a:p>
            <a:pPr lvl="0">
              <a:spcBef>
                <a:spcPts val="5"/>
              </a:spcBef>
            </a:pPr>
            <a:endParaRPr lang="en-US" sz="2000" dirty="0" smtClean="0">
              <a:solidFill>
                <a:prstClr val="black"/>
              </a:solidFill>
              <a:latin typeface="Arial MT"/>
              <a:cs typeface="Arial MT"/>
            </a:endParaRPr>
          </a:p>
          <a:p>
            <a:pPr marL="1265555" lvl="0" indent="-339090">
              <a:spcBef>
                <a:spcPts val="575"/>
              </a:spcBef>
              <a:buFontTx/>
              <a:buAutoNum type="arabicPeriod"/>
              <a:tabLst>
                <a:tab pos="1266190" algn="l"/>
              </a:tabLst>
            </a:pP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 many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hours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 a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week</a:t>
            </a:r>
            <a:r>
              <a:rPr lang="en-US" sz="2000" spc="1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lang="en-US" sz="2000" spc="-1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courses?</a:t>
            </a:r>
            <a:endParaRPr lang="en-US" sz="2000" dirty="0" smtClean="0">
              <a:solidFill>
                <a:prstClr val="black"/>
              </a:solidFill>
              <a:latin typeface="Arial MT"/>
              <a:cs typeface="Arial MT"/>
            </a:endParaRPr>
          </a:p>
          <a:p>
            <a:pPr marL="1266190" lvl="0" indent="-339725">
              <a:spcBef>
                <a:spcPts val="580"/>
              </a:spcBef>
              <a:buFontTx/>
              <a:buAutoNum type="arabicPeriod"/>
              <a:tabLst>
                <a:tab pos="1266825" algn="l"/>
              </a:tabLst>
            </a:pP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lang="en-US" sz="2000" spc="-1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sort</a:t>
            </a:r>
            <a:r>
              <a:rPr lang="en-US" sz="2000" spc="-1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speaking sessions</a:t>
            </a:r>
            <a:r>
              <a:rPr lang="en-US" sz="2000" spc="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offer?</a:t>
            </a:r>
            <a:endParaRPr lang="en-US" sz="2000" dirty="0" smtClean="0">
              <a:solidFill>
                <a:prstClr val="black"/>
              </a:solidFill>
              <a:latin typeface="Arial MT"/>
              <a:cs typeface="Arial MT"/>
            </a:endParaRPr>
          </a:p>
          <a:p>
            <a:pPr marL="1266190" lvl="0" indent="-339725">
              <a:spcBef>
                <a:spcPts val="575"/>
              </a:spcBef>
              <a:buFontTx/>
              <a:buAutoNum type="arabicPeriod"/>
              <a:tabLst>
                <a:tab pos="1266825" algn="l"/>
              </a:tabLst>
            </a:pP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lang="en-US" sz="2000" spc="-1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session should I register for if I want to take the IELTS exam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?</a:t>
            </a:r>
            <a:endParaRPr lang="en-US" sz="2000" dirty="0" smtClean="0">
              <a:solidFill>
                <a:prstClr val="black"/>
              </a:solidFill>
              <a:latin typeface="Arial MT"/>
              <a:cs typeface="Arial MT"/>
            </a:endParaRPr>
          </a:p>
          <a:p>
            <a:pPr lvl="0">
              <a:spcBef>
                <a:spcPts val="10"/>
              </a:spcBef>
            </a:pPr>
            <a:endParaRPr lang="en-US" sz="2000" dirty="0" smtClean="0">
              <a:solidFill>
                <a:prstClr val="black"/>
              </a:solidFill>
              <a:latin typeface="Arial MT"/>
              <a:cs typeface="Arial MT"/>
            </a:endParaRPr>
          </a:p>
          <a:p>
            <a:pPr marL="12700" marR="298450" lvl="0">
              <a:spcBef>
                <a:spcPts val="5"/>
              </a:spcBef>
            </a:pP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I’m </a:t>
            </a:r>
            <a:r>
              <a:rPr lang="en-US" sz="2000" spc="-10" dirty="0" smtClean="0">
                <a:solidFill>
                  <a:srgbClr val="FFFFFF"/>
                </a:solidFill>
                <a:latin typeface="Arial MT"/>
                <a:cs typeface="Arial MT"/>
              </a:rPr>
              <a:t>hoping</a:t>
            </a:r>
            <a:r>
              <a:rPr lang="en-US" sz="2000" spc="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register for my IELTS soon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, so</a:t>
            </a:r>
            <a:r>
              <a:rPr lang="en-US" sz="2000" spc="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lang="en-US" sz="2000" spc="-1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lang="en-US" sz="2000" spc="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can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get back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lang="en-US" sz="2000" spc="-1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me</a:t>
            </a:r>
            <a:r>
              <a:rPr lang="en-US" sz="2000" spc="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latest by end of this month</a:t>
            </a:r>
            <a:r>
              <a:rPr lang="en-US" sz="2000" spc="-10" dirty="0" smtClean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lang="en-US" sz="2000" spc="1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it </a:t>
            </a:r>
            <a:r>
              <a:rPr lang="en-US" sz="2000" spc="-65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would</a:t>
            </a:r>
            <a:r>
              <a:rPr lang="en-US" sz="2000" spc="1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 great.</a:t>
            </a:r>
            <a:r>
              <a:rPr lang="en-US" sz="2000" spc="5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Thanks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 for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lang="en-US" sz="200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 smtClean="0">
                <a:solidFill>
                  <a:srgbClr val="FFFFFF"/>
                </a:solidFill>
                <a:latin typeface="Arial MT"/>
                <a:cs typeface="Arial MT"/>
              </a:rPr>
              <a:t>help.</a:t>
            </a:r>
            <a:endParaRPr lang="en-US" sz="2000" dirty="0" smtClean="0">
              <a:solidFill>
                <a:prstClr val="black"/>
              </a:solidFill>
              <a:latin typeface="Arial MT"/>
              <a:cs typeface="Arial MT"/>
            </a:endParaRPr>
          </a:p>
          <a:p>
            <a:pPr lvl="0">
              <a:spcBef>
                <a:spcPts val="5"/>
              </a:spcBef>
            </a:pPr>
            <a:endParaRPr lang="en-US" sz="2000" dirty="0">
              <a:solidFill>
                <a:prstClr val="black"/>
              </a:solidFill>
              <a:latin typeface="Arial MT"/>
              <a:cs typeface="Arial MT"/>
            </a:endParaRPr>
          </a:p>
          <a:p>
            <a:pPr marL="12700" lvl="0"/>
            <a:r>
              <a:rPr lang="en-US" sz="2000" spc="-5" dirty="0">
                <a:solidFill>
                  <a:srgbClr val="FFFFFF"/>
                </a:solidFill>
                <a:latin typeface="Arial MT"/>
                <a:cs typeface="Arial MT"/>
              </a:rPr>
              <a:t>Best</a:t>
            </a:r>
            <a:r>
              <a:rPr lang="en-US"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000" spc="-5" dirty="0">
                <a:solidFill>
                  <a:srgbClr val="FFFFFF"/>
                </a:solidFill>
                <a:latin typeface="Arial MT"/>
                <a:cs typeface="Arial MT"/>
              </a:rPr>
              <a:t>regards,</a:t>
            </a:r>
            <a:endParaRPr lang="en-US" sz="2000" dirty="0">
              <a:solidFill>
                <a:prstClr val="black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680203" y="304800"/>
            <a:ext cx="3845559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dirty="0"/>
              <a:t>Format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16000" y="3048000"/>
            <a:ext cx="11658600" cy="3809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100"/>
              </a:spcBef>
            </a:pPr>
            <a:r>
              <a:rPr lang="en-US" sz="4800" spc="6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DON’T </a:t>
            </a:r>
            <a:r>
              <a:rPr lang="en-US" sz="4800" spc="6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type in </a:t>
            </a:r>
            <a:r>
              <a:rPr lang="en-US" sz="4800" spc="6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ALL CAPS:</a:t>
            </a:r>
            <a:endParaRPr lang="en-US" sz="4800" spc="65" dirty="0" smtClean="0">
              <a:solidFill>
                <a:srgbClr val="FFFFFF"/>
              </a:solidFill>
              <a:latin typeface="Verdana" panose="020B0804030504040204"/>
              <a:cs typeface="Verdana" panose="020B0804030504040204"/>
            </a:endParaRPr>
          </a:p>
          <a:p>
            <a:pPr marL="698500" marR="5080" indent="-685800">
              <a:lnSpc>
                <a:spcPct val="132000"/>
              </a:lnSpc>
              <a:spcBef>
                <a:spcPts val="100"/>
              </a:spcBef>
              <a:buFont typeface="Arial" panose="020B0604020202090204" pitchFamily="34" charset="0"/>
              <a:buChar char="•"/>
            </a:pPr>
            <a:r>
              <a:rPr lang="en-US" sz="4800" spc="6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It’s </a:t>
            </a:r>
            <a:r>
              <a:rPr lang="en-US" sz="4800" spc="65" dirty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unprofessional (unless it’s urgent) and can indicate rudeness in writing</a:t>
            </a:r>
            <a:r>
              <a:rPr lang="en-US" sz="4800" spc="65" dirty="0" smtClean="0">
                <a:solidFill>
                  <a:srgbClr val="FFFFFF"/>
                </a:solidFill>
                <a:latin typeface="Verdana" panose="020B0804030504040204"/>
                <a:cs typeface="Verdana" panose="020B0804030504040204"/>
              </a:rPr>
              <a:t>.</a:t>
            </a:r>
            <a:endParaRPr sz="4800" dirty="0">
              <a:latin typeface="Verdana" panose="020B0804030504040204"/>
              <a:cs typeface="Verdana" panose="020B08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4714" y="4195953"/>
            <a:ext cx="76796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400" spc="-5" dirty="0">
                <a:latin typeface="Arial MT"/>
                <a:cs typeface="Arial MT"/>
              </a:rPr>
              <a:t>Happy</a:t>
            </a:r>
            <a:r>
              <a:rPr sz="8400" spc="-40" dirty="0">
                <a:latin typeface="Arial MT"/>
                <a:cs typeface="Arial MT"/>
              </a:rPr>
              <a:t> </a:t>
            </a:r>
            <a:r>
              <a:rPr sz="8400" dirty="0">
                <a:latin typeface="Arial MT"/>
                <a:cs typeface="Arial MT"/>
              </a:rPr>
              <a:t>emailing!</a:t>
            </a:r>
            <a:endParaRPr sz="8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2369</Words>
  <Application>WPS Presentation</Application>
  <PresentationFormat>Custom</PresentationFormat>
  <Paragraphs>111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Verdana</vt:lpstr>
      <vt:lpstr>Arial MT</vt:lpstr>
      <vt:lpstr>Verdana</vt:lpstr>
      <vt:lpstr>Microsoft YaHei</vt:lpstr>
      <vt:lpstr>汉仪旗黑</vt:lpstr>
      <vt:lpstr>Arial Unicode MS</vt:lpstr>
      <vt:lpstr>Calibri</vt:lpstr>
      <vt:lpstr>Helvetica Neue</vt:lpstr>
      <vt:lpstr>Office Theme</vt:lpstr>
      <vt:lpstr>Writing  Professional and  Effective Emails</vt:lpstr>
      <vt:lpstr>Prefatory elements</vt:lpstr>
      <vt:lpstr>3) Bcc (Blind Carbon Copy / Blind  Courtesy Copy)</vt:lpstr>
      <vt:lpstr>PowerPoint 演示文稿</vt:lpstr>
      <vt:lpstr>EMAIL - Subject</vt:lpstr>
      <vt:lpstr>Ineffective subject lines</vt:lpstr>
      <vt:lpstr>Effective subject lines</vt:lpstr>
      <vt:lpstr>Greetings</vt:lpstr>
      <vt:lpstr>Content</vt:lpstr>
      <vt:lpstr>Sign-offs</vt:lpstr>
      <vt:lpstr>PowerPoint 演示文稿</vt:lpstr>
      <vt:lpstr>Example of Good Email</vt:lpstr>
      <vt:lpstr>Format</vt:lpstr>
      <vt:lpstr>Happy emailing!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Email</dc:title>
  <dc:creator>3380</dc:creator>
  <cp:lastModifiedBy>akma safian</cp:lastModifiedBy>
  <cp:revision>23</cp:revision>
  <dcterms:created xsi:type="dcterms:W3CDTF">2025-11-25T04:02:01Z</dcterms:created>
  <dcterms:modified xsi:type="dcterms:W3CDTF">2025-11-25T04:02:01Z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2020-11-03T06:00:00Z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2022-11-30T06:00:00Z</vt:filetime>
  </property>
  <property fmtid="{D5CDD505-2E9C-101B-9397-08002B2CF9AE}" pid="5" name="ICV">
    <vt:lpwstr>64F4AB3E01F193E4E66E15698BDD3F43_43</vt:lpwstr>
  </property>
  <property fmtid="{D5CDD505-2E9C-101B-9397-08002B2CF9AE}" pid="6" name="KSOProductBuildVer">
    <vt:lpwstr>1033-12.1.22554.22554</vt:lpwstr>
  </property>
</Properties>
</file>