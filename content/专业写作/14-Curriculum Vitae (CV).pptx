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0" r:id="rId3"/>
    <p:sldId id="261" r:id="rId4"/>
    <p:sldId id="262" r:id="rId5"/>
    <p:sldId id="264" r:id="rId6"/>
    <p:sldId id="265" r:id="rId7"/>
    <p:sldId id="266" r:id="rId8"/>
    <p:sldId id="285" r:id="rId9"/>
    <p:sldId id="267" r:id="rId10"/>
    <p:sldId id="268" r:id="rId11"/>
    <p:sldId id="283" r:id="rId12"/>
    <p:sldId id="284" r:id="rId13"/>
    <p:sldId id="269" r:id="rId14"/>
    <p:sldId id="270" r:id="rId15"/>
    <p:sldId id="274" r:id="rId16"/>
    <p:sldId id="286" r:id="rId17"/>
    <p:sldId id="276" r:id="rId18"/>
    <p:sldId id="281" r:id="rId19"/>
    <p:sldId id="278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B4AF60A-713C-41BA-9788-4C493DDC0A9C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E328-6AFF-436B-881F-213D56084544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E37674-C1BA-4107-9B06-6D4CAC3A3DF5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victoriann@gmail.com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Anderson@JBC.com" TargetMode="External"/><Relationship Id="rId2" Type="http://schemas.openxmlformats.org/officeDocument/2006/relationships/hyperlink" Target="mailto:Faridah@utm.edu.my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1567846"/>
            <a:ext cx="7435976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Curriculum Vitae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(CV)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/>
          <p:nvPr/>
        </p:nvSpPr>
        <p:spPr>
          <a:xfrm>
            <a:off x="1435102" y="2857499"/>
            <a:ext cx="9461498" cy="3190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7030" indent="-343535">
              <a:lnSpc>
                <a:spcPct val="110000"/>
              </a:lnSpc>
              <a:spcBef>
                <a:spcPts val="2640"/>
              </a:spcBef>
            </a:pPr>
            <a:r>
              <a:rPr sz="2400" dirty="0">
                <a:latin typeface="Arial" panose="020B0604020202090204"/>
                <a:cs typeface="Arial" panose="020B0604020202090204"/>
              </a:rPr>
              <a:t>Most CVs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include </a:t>
            </a:r>
            <a:r>
              <a:rPr sz="2400" dirty="0">
                <a:latin typeface="Arial" panose="020B0604020202090204"/>
                <a:cs typeface="Arial" panose="020B0604020202090204"/>
              </a:rPr>
              <a:t>the following</a:t>
            </a:r>
            <a:r>
              <a:rPr sz="2400" spc="-114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sections:  </a:t>
            </a:r>
            <a:endParaRPr lang="en-US" sz="2400" dirty="0">
              <a:latin typeface="Arial" panose="020B0604020202090204"/>
              <a:cs typeface="Arial" panose="020B0604020202090204"/>
            </a:endParaRPr>
          </a:p>
          <a:p>
            <a:pPr marL="355600" marR="367030" indent="-343535">
              <a:lnSpc>
                <a:spcPct val="110000"/>
              </a:lnSpc>
              <a:spcBef>
                <a:spcPts val="2640"/>
              </a:spcBef>
            </a:pPr>
            <a:r>
              <a:rPr lang="en-US" sz="2400" dirty="0">
                <a:latin typeface="Arial" panose="020B0604020202090204"/>
                <a:cs typeface="Arial" panose="020B0604020202090204"/>
              </a:rPr>
              <a:t>	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PERSONAL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INFORMATION</a:t>
            </a:r>
            <a:r>
              <a:rPr lang="en-US" sz="2000" b="1" u="sng" spc="-5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(compulsory)</a:t>
            </a:r>
          </a:p>
          <a:p>
            <a:pPr marL="355600" marR="5080">
              <a:lnSpc>
                <a:spcPct val="110000"/>
              </a:lnSpc>
            </a:pPr>
            <a:r>
              <a:rPr lang="x-none" sz="2400" spc="-5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EDUCATIONAL BACKGROUND &amp; ACADEMIC QUALIFICATIONS</a:t>
            </a:r>
            <a:r>
              <a:rPr lang="en-US" b="1" u="sng" spc="-1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(compulsory)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355600" marR="2082165">
              <a:lnSpc>
                <a:spcPct val="110000"/>
              </a:lnSpc>
            </a:pPr>
            <a:r>
              <a:rPr lang="en-US" sz="2400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WORK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EXPERIENCE</a:t>
            </a:r>
            <a:r>
              <a:rPr lang="en-US" sz="2000" b="1" u="sng" spc="-5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(compulsory)</a:t>
            </a:r>
          </a:p>
          <a:p>
            <a:pPr marL="355600" marR="2082165">
              <a:lnSpc>
                <a:spcPct val="110000"/>
              </a:lnSpc>
            </a:pPr>
            <a:r>
              <a:rPr lang="en-US" sz="2400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SKILLS</a:t>
            </a:r>
            <a:r>
              <a:rPr lang="en-US" b="1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(</a:t>
            </a:r>
            <a:r>
              <a:rPr lang="en-US" sz="2000" dirty="0">
                <a:latin typeface="Arial" panose="020B0604020202090204"/>
                <a:cs typeface="Arial" panose="020B0604020202090204"/>
              </a:rPr>
              <a:t>hard skill + soft skill)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(compulsory)</a:t>
            </a:r>
          </a:p>
          <a:p>
            <a:pPr marL="355600" marR="2082165">
              <a:lnSpc>
                <a:spcPct val="110000"/>
              </a:lnSpc>
            </a:pPr>
            <a:r>
              <a:rPr lang="x-none" sz="2400" spc="-5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REFERENCES</a:t>
            </a:r>
            <a:r>
              <a:rPr sz="2400" spc="-3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(compulsory)</a:t>
            </a:r>
          </a:p>
        </p:txBody>
      </p:sp>
      <p:sp>
        <p:nvSpPr>
          <p:cNvPr id="44" name="Title 43"/>
          <p:cNvSpPr>
            <a:spLocks noGrp="1"/>
          </p:cNvSpPr>
          <p:nvPr>
            <p:ph type="title"/>
          </p:nvPr>
        </p:nvSpPr>
        <p:spPr>
          <a:xfrm>
            <a:off x="558802" y="1960033"/>
            <a:ext cx="9601196" cy="7704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90204"/>
                <a:cs typeface="Arial" panose="020B0604020202090204"/>
              </a:rPr>
              <a:t>COMPONENTS OF A</a:t>
            </a:r>
            <a:r>
              <a:rPr lang="en-US" b="1" spc="-6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b="1" dirty="0">
                <a:latin typeface="Arial" panose="020B0604020202090204"/>
                <a:cs typeface="Arial" panose="020B0604020202090204"/>
              </a:rPr>
              <a:t>CV</a:t>
            </a:r>
            <a:br>
              <a:rPr lang="en-US" dirty="0">
                <a:latin typeface="Arial" panose="020B0604020202090204"/>
                <a:cs typeface="Arial" panose="020B0604020202090204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 txBox="1"/>
          <p:nvPr/>
        </p:nvSpPr>
        <p:spPr>
          <a:xfrm>
            <a:off x="1309542" y="1977516"/>
            <a:ext cx="9256858" cy="561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dirty="0">
                <a:latin typeface="Arial" panose="020B0604020202090204"/>
                <a:cs typeface="Arial" panose="020B0604020202090204"/>
              </a:rPr>
              <a:t>COMPONENTS OF A CV</a:t>
            </a:r>
            <a:r>
              <a:rPr sz="2800" b="1" spc="-55" dirty="0">
                <a:latin typeface="Arial" panose="020B0604020202090204"/>
                <a:cs typeface="Arial" panose="020B0604020202090204"/>
              </a:rPr>
              <a:t> </a:t>
            </a:r>
            <a:r>
              <a:rPr sz="2000" dirty="0">
                <a:latin typeface="Arial" panose="020B0604020202090204"/>
                <a:cs typeface="Arial" panose="020B0604020202090204"/>
              </a:rPr>
              <a:t> </a:t>
            </a:r>
            <a:endParaRPr lang="en-US" sz="2000" dirty="0">
              <a:latin typeface="Arial" panose="020B0604020202090204"/>
              <a:cs typeface="Arial" panose="020B0604020202090204"/>
            </a:endParaRPr>
          </a:p>
          <a:p>
            <a:pPr marL="355600" marR="5080" indent="-343535">
              <a:lnSpc>
                <a:spcPct val="120000"/>
              </a:lnSpc>
              <a:spcBef>
                <a:spcPts val="2880"/>
              </a:spcBef>
            </a:pPr>
            <a:r>
              <a:rPr lang="en-US" sz="2000" dirty="0">
                <a:latin typeface="Arial" panose="020B0604020202090204" pitchFamily="34" charset="0"/>
                <a:cs typeface="Arial" panose="020B0604020202090204" pitchFamily="34" charset="0"/>
              </a:rPr>
              <a:t>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CAREER OBJECTIVE / STATEMENT OF PROFILE / PROFESSION STATEMENT </a:t>
            </a:r>
            <a:r>
              <a:rPr lang="en-US" sz="2000" dirty="0">
                <a:latin typeface="Arial" panose="020B0604020202090204"/>
                <a:cs typeface="Arial" panose="020B0604020202090204"/>
              </a:rPr>
              <a:t>(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additional)  </a:t>
            </a:r>
            <a:endParaRPr lang="en-US" sz="2000" dirty="0">
              <a:latin typeface="Arial" panose="020B0604020202090204"/>
              <a:cs typeface="Arial" panose="020B0604020202090204"/>
            </a:endParaRPr>
          </a:p>
          <a:p>
            <a:pPr marL="355600" marR="5080" indent="-343535">
              <a:spcBef>
                <a:spcPts val="2880"/>
              </a:spcBef>
            </a:pPr>
            <a:r>
              <a:rPr lang="en-US" sz="2000" dirty="0">
                <a:latin typeface="Arial" panose="020B0604020202090204" pitchFamily="34" charset="0"/>
                <a:cs typeface="Arial" panose="020B0604020202090204" pitchFamily="34" charset="0"/>
              </a:rPr>
              <a:t>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EXTRA-CURRICULAR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ACTIVITIES </a:t>
            </a:r>
            <a:r>
              <a:rPr sz="2000" dirty="0">
                <a:latin typeface="Arial" panose="020B0604020202090204"/>
                <a:cs typeface="Arial" panose="020B0604020202090204"/>
              </a:rPr>
              <a:t>( </a:t>
            </a:r>
            <a:r>
              <a:rPr sz="2000" spc="-5" dirty="0">
                <a:latin typeface="Arial" panose="020B0604020202090204"/>
                <a:cs typeface="Arial" panose="020B0604020202090204"/>
              </a:rPr>
              <a:t>additional)  </a:t>
            </a:r>
            <a:endParaRPr lang="en-US" sz="2000" spc="-5" dirty="0">
              <a:latin typeface="Arial" panose="020B0604020202090204"/>
              <a:cs typeface="Arial" panose="020B0604020202090204"/>
            </a:endParaRPr>
          </a:p>
          <a:p>
            <a:pPr marL="355600" marR="5080" indent="-343535">
              <a:spcBef>
                <a:spcPts val="2880"/>
              </a:spcBef>
            </a:pPr>
            <a:r>
              <a:rPr lang="en-US" sz="2000" spc="-5" dirty="0">
                <a:latin typeface="Arial" panose="020B0604020202090204" pitchFamily="34" charset="0"/>
                <a:cs typeface="Arial" panose="020B0604020202090204" pitchFamily="34" charset="0"/>
              </a:rPr>
              <a:t>■</a:t>
            </a:r>
            <a:r>
              <a:rPr lang="en-US" sz="2000" b="1" u="sng" dirty="0">
                <a:latin typeface="Arial" panose="020B0604020202090204"/>
                <a:cs typeface="Arial" panose="020B0604020202090204"/>
              </a:rPr>
              <a:t>PERSONAL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</a:rPr>
              <a:t>INTERESTS OR HOBBIES</a:t>
            </a:r>
            <a:r>
              <a:rPr lang="en-US" sz="2000" b="1" u="sng" spc="-55" dirty="0">
                <a:latin typeface="Arial" panose="020B0604020202090204"/>
                <a:cs typeface="Arial" panose="020B0604020202090204"/>
              </a:rPr>
              <a:t> </a:t>
            </a:r>
            <a:r>
              <a:rPr sz="2000" spc="-5" dirty="0">
                <a:latin typeface="Arial" panose="020B0604020202090204"/>
                <a:cs typeface="Arial" panose="020B0604020202090204"/>
              </a:rPr>
              <a:t>(additional) </a:t>
            </a:r>
            <a:endParaRPr lang="en-US" sz="2000" spc="-5" dirty="0">
              <a:latin typeface="Arial" panose="020B0604020202090204"/>
              <a:cs typeface="Arial" panose="020B0604020202090204"/>
            </a:endParaRPr>
          </a:p>
          <a:p>
            <a:pPr marL="12065" marR="5080">
              <a:spcBef>
                <a:spcPts val="2880"/>
              </a:spcBef>
            </a:pPr>
            <a:r>
              <a:rPr lang="en-US" sz="2000" spc="-5" dirty="0">
                <a:latin typeface="Arial" panose="020B0604020202090204" pitchFamily="34" charset="0"/>
                <a:cs typeface="Arial" panose="020B0604020202090204" pitchFamily="34" charset="0"/>
              </a:rPr>
              <a:t>■ </a:t>
            </a:r>
            <a:r>
              <a:rPr lang="en-US" sz="2000" b="1" u="sng" spc="-5" dirty="0">
                <a:latin typeface="Arial" panose="020B0604020202090204" pitchFamily="34" charset="0"/>
                <a:cs typeface="Arial" panose="020B0604020202090204" pitchFamily="34" charset="0"/>
              </a:rPr>
              <a:t>SALARY INFORMATION </a:t>
            </a:r>
            <a:r>
              <a:rPr lang="en-US" sz="2000" spc="-5" dirty="0">
                <a:latin typeface="Arial" panose="020B0604020202090204" pitchFamily="34" charset="0"/>
                <a:cs typeface="Arial" panose="020B0604020202090204" pitchFamily="34" charset="0"/>
              </a:rPr>
              <a:t>(additional)</a:t>
            </a:r>
            <a:endParaRPr lang="en-US" sz="2000" spc="-5" dirty="0">
              <a:latin typeface="Arial" panose="020B0604020202090204"/>
              <a:cs typeface="Arial" panose="020B0604020202090204"/>
            </a:endParaRPr>
          </a:p>
          <a:p>
            <a:pPr marL="355600" marR="5080" indent="-343535">
              <a:spcBef>
                <a:spcPts val="2880"/>
              </a:spcBef>
            </a:pPr>
            <a:r>
              <a:rPr lang="en-US" sz="2000" spc="-5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000" b="1" u="sng" spc="-5" dirty="0">
                <a:latin typeface="Arial" panose="020B0604020202090204" pitchFamily="34" charset="0"/>
                <a:cs typeface="Arial" panose="020B0604020202090204" pitchFamily="34" charset="0"/>
              </a:rPr>
              <a:t>VOLUNTARY WORK, PERSONAL </a:t>
            </a:r>
            <a:r>
              <a:rPr lang="en-US" sz="2000" b="1" u="sng" dirty="0">
                <a:latin typeface="Arial" panose="020B0604020202090204" pitchFamily="34" charset="0"/>
                <a:cs typeface="Arial" panose="020B0604020202090204" pitchFamily="34" charset="0"/>
              </a:rPr>
              <a:t>CHARACTERISTICS</a:t>
            </a:r>
            <a:r>
              <a:rPr lang="en-US" sz="2000" b="1" u="sng" spc="-80" dirty="0">
                <a:latin typeface="Arial" panose="020B0604020202090204" pitchFamily="34" charset="0"/>
                <a:cs typeface="Arial" panose="020B0604020202090204" pitchFamily="34" charset="0"/>
              </a:rPr>
              <a:t> and etc.,</a:t>
            </a:r>
            <a:endParaRPr sz="2000" b="1" u="sng" spc="-5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55600" marR="5080" indent="-343535">
              <a:spcBef>
                <a:spcPts val="2880"/>
              </a:spcBef>
            </a:pPr>
            <a:endParaRPr lang="en-US" sz="2000" b="1" u="sng" spc="-5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55600" marR="5080" indent="-343535">
              <a:spcBef>
                <a:spcPts val="2880"/>
              </a:spcBef>
            </a:pPr>
            <a:endParaRPr sz="20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45"/>
          <p:cNvSpPr txBox="1"/>
          <p:nvPr/>
        </p:nvSpPr>
        <p:spPr>
          <a:xfrm>
            <a:off x="1171448" y="1344763"/>
            <a:ext cx="10258552" cy="4610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355600"/>
            <a:endParaRPr lang="en-US" sz="2000" b="1" spc="-5" dirty="0">
              <a:latin typeface="Arial" panose="020B0604020202090204"/>
              <a:cs typeface="Arial" panose="020B0604020202090204"/>
            </a:endParaRPr>
          </a:p>
          <a:p>
            <a:pPr marL="355600"/>
            <a:r>
              <a:rPr lang="en-US" sz="2000" b="1" spc="-5" dirty="0">
                <a:latin typeface="Arial" panose="020B0604020202090204"/>
                <a:cs typeface="Arial" panose="020B0604020202090204"/>
              </a:rPr>
              <a:t>PERSONAL</a:t>
            </a:r>
            <a:r>
              <a:rPr lang="en-US" sz="2000" b="1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b="1" spc="-5" dirty="0">
                <a:latin typeface="Arial" panose="020B0604020202090204"/>
                <a:cs typeface="Arial" panose="020B0604020202090204"/>
              </a:rPr>
              <a:t>INFORMATION</a:t>
            </a:r>
          </a:p>
          <a:p>
            <a:pPr marL="355600"/>
            <a:endParaRPr sz="2000" dirty="0">
              <a:latin typeface="Arial" panose="020B0604020202090204"/>
              <a:cs typeface="Arial" panose="020B0604020202090204"/>
            </a:endParaRP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  <a:tab pos="719455" algn="l"/>
                <a:tab pos="1286510" algn="l"/>
                <a:tab pos="2381250" algn="l"/>
                <a:tab pos="3119120" algn="l"/>
                <a:tab pos="3794125" algn="l"/>
                <a:tab pos="4283710" algn="l"/>
                <a:tab pos="5191760" algn="l"/>
                <a:tab pos="5866765" algn="l"/>
                <a:tab pos="6233160" algn="l"/>
                <a:tab pos="6985000" algn="l"/>
              </a:tabLst>
            </a:pPr>
            <a:r>
              <a:rPr lang="en-US" sz="2400" spc="-5" dirty="0">
                <a:latin typeface="Arial" panose="020B0604020202090204"/>
                <a:cs typeface="Arial" panose="020B0604020202090204"/>
              </a:rPr>
              <a:t>■	</a:t>
            </a:r>
            <a:r>
              <a:rPr spc="-5" dirty="0">
                <a:latin typeface="Arial" panose="020B0604020202090204"/>
                <a:cs typeface="Arial" panose="020B0604020202090204"/>
              </a:rPr>
              <a:t>In	th</a:t>
            </a:r>
            <a:r>
              <a:rPr dirty="0">
                <a:latin typeface="Arial" panose="020B0604020202090204"/>
                <a:cs typeface="Arial" panose="020B0604020202090204"/>
              </a:rPr>
              <a:t>i</a:t>
            </a:r>
            <a:r>
              <a:rPr spc="-5" dirty="0">
                <a:latin typeface="Arial" panose="020B0604020202090204"/>
                <a:cs typeface="Arial" panose="020B0604020202090204"/>
              </a:rPr>
              <a:t>s</a:t>
            </a:r>
            <a:r>
              <a:rPr dirty="0">
                <a:latin typeface="Arial" panose="020B0604020202090204"/>
                <a:cs typeface="Arial" panose="020B0604020202090204"/>
              </a:rPr>
              <a:t>	</a:t>
            </a:r>
            <a:r>
              <a:rPr spc="-5" dirty="0">
                <a:latin typeface="Arial" panose="020B0604020202090204"/>
                <a:cs typeface="Arial" panose="020B0604020202090204"/>
              </a:rPr>
              <a:t>s</a:t>
            </a:r>
            <a:r>
              <a:rPr dirty="0">
                <a:latin typeface="Arial" panose="020B0604020202090204"/>
                <a:cs typeface="Arial" panose="020B0604020202090204"/>
              </a:rPr>
              <a:t>e</a:t>
            </a:r>
            <a:r>
              <a:rPr spc="-5" dirty="0">
                <a:latin typeface="Arial" panose="020B0604020202090204"/>
                <a:cs typeface="Arial" panose="020B0604020202090204"/>
              </a:rPr>
              <a:t>ct</a:t>
            </a:r>
            <a:r>
              <a:rPr spc="-15" dirty="0">
                <a:latin typeface="Arial" panose="020B0604020202090204"/>
                <a:cs typeface="Arial" panose="020B0604020202090204"/>
              </a:rPr>
              <a:t>i</a:t>
            </a:r>
            <a:r>
              <a:rPr spc="-5" dirty="0">
                <a:latin typeface="Arial" panose="020B0604020202090204"/>
                <a:cs typeface="Arial" panose="020B0604020202090204"/>
              </a:rPr>
              <a:t>on,</a:t>
            </a:r>
            <a:r>
              <a:rPr lang="en-US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state</a:t>
            </a:r>
            <a:r>
              <a:rPr lang="en-US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y</a:t>
            </a:r>
            <a:r>
              <a:rPr dirty="0">
                <a:latin typeface="Arial" panose="020B0604020202090204"/>
                <a:cs typeface="Arial" panose="020B0604020202090204"/>
              </a:rPr>
              <a:t>o</a:t>
            </a:r>
            <a:r>
              <a:rPr spc="-5" dirty="0">
                <a:latin typeface="Arial" panose="020B0604020202090204"/>
                <a:cs typeface="Arial" panose="020B0604020202090204"/>
              </a:rPr>
              <a:t>ur</a:t>
            </a:r>
            <a:r>
              <a:rPr lang="en-US" dirty="0">
                <a:latin typeface="Arial" panose="020B0604020202090204"/>
                <a:cs typeface="Arial" panose="020B0604020202090204"/>
              </a:rPr>
              <a:t>:</a:t>
            </a: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  <a:tab pos="719455" algn="l"/>
                <a:tab pos="1286510" algn="l"/>
                <a:tab pos="2381250" algn="l"/>
                <a:tab pos="3119120" algn="l"/>
                <a:tab pos="3794125" algn="l"/>
                <a:tab pos="4283710" algn="l"/>
                <a:tab pos="5191760" algn="l"/>
                <a:tab pos="5866765" algn="l"/>
                <a:tab pos="6233160" algn="l"/>
                <a:tab pos="6985000" algn="l"/>
              </a:tabLst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1) F</a:t>
            </a:r>
            <a:r>
              <a:rPr b="1" spc="-5" dirty="0">
                <a:latin typeface="Arial" panose="020B0604020202090204"/>
                <a:cs typeface="Arial" panose="020B0604020202090204"/>
              </a:rPr>
              <a:t>u</a:t>
            </a:r>
            <a:r>
              <a:rPr b="1" dirty="0">
                <a:latin typeface="Arial" panose="020B0604020202090204"/>
                <a:cs typeface="Arial" panose="020B0604020202090204"/>
              </a:rPr>
              <a:t>l</a:t>
            </a:r>
            <a:r>
              <a:rPr b="1" spc="-5" dirty="0">
                <a:latin typeface="Arial" panose="020B0604020202090204"/>
                <a:cs typeface="Arial" panose="020B0604020202090204"/>
              </a:rPr>
              <a:t>l</a:t>
            </a:r>
            <a:r>
              <a:rPr lang="en-US" b="1" dirty="0">
                <a:latin typeface="Arial" panose="020B0604020202090204"/>
                <a:cs typeface="Arial" panose="020B0604020202090204"/>
              </a:rPr>
              <a:t> </a:t>
            </a:r>
            <a:r>
              <a:rPr b="1" spc="-5" dirty="0">
                <a:latin typeface="Arial" panose="020B0604020202090204"/>
                <a:cs typeface="Arial" panose="020B0604020202090204"/>
              </a:rPr>
              <a:t>na</a:t>
            </a:r>
            <a:r>
              <a:rPr b="1" spc="5" dirty="0">
                <a:latin typeface="Arial" panose="020B0604020202090204"/>
                <a:cs typeface="Arial" panose="020B0604020202090204"/>
              </a:rPr>
              <a:t>m</a:t>
            </a:r>
            <a:r>
              <a:rPr b="1" spc="-5" dirty="0">
                <a:latin typeface="Arial" panose="020B0604020202090204"/>
                <a:cs typeface="Arial" panose="020B0604020202090204"/>
              </a:rPr>
              <a:t>e</a:t>
            </a:r>
            <a:endParaRPr lang="en-US" b="1" spc="-5" dirty="0">
              <a:latin typeface="Arial" panose="020B0604020202090204"/>
              <a:cs typeface="Arial" panose="020B0604020202090204"/>
            </a:endParaRP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  <a:tab pos="719455" algn="l"/>
                <a:tab pos="1286510" algn="l"/>
                <a:tab pos="2381250" algn="l"/>
                <a:tab pos="3119120" algn="l"/>
                <a:tab pos="3794125" algn="l"/>
                <a:tab pos="4283710" algn="l"/>
                <a:tab pos="5191760" algn="l"/>
                <a:tab pos="5866765" algn="l"/>
                <a:tab pos="6233160" algn="l"/>
                <a:tab pos="6985000" algn="l"/>
              </a:tabLst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2) A</a:t>
            </a:r>
            <a:r>
              <a:rPr b="1" spc="-5" dirty="0">
                <a:latin typeface="Arial" panose="020B0604020202090204"/>
                <a:cs typeface="Arial" panose="020B0604020202090204"/>
              </a:rPr>
              <a:t>ddress</a:t>
            </a:r>
            <a:endParaRPr lang="en-US" b="1" spc="-5" dirty="0">
              <a:latin typeface="Arial" panose="020B0604020202090204"/>
              <a:cs typeface="Arial" panose="020B0604020202090204"/>
            </a:endParaRP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  <a:tab pos="719455" algn="l"/>
                <a:tab pos="1286510" algn="l"/>
                <a:tab pos="2381250" algn="l"/>
                <a:tab pos="3119120" algn="l"/>
                <a:tab pos="3794125" algn="l"/>
                <a:tab pos="4283710" algn="l"/>
                <a:tab pos="5191760" algn="l"/>
                <a:tab pos="5866765" algn="l"/>
                <a:tab pos="6233160" algn="l"/>
                <a:tab pos="6985000" algn="l"/>
              </a:tabLst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3) C</a:t>
            </a:r>
            <a:r>
              <a:rPr b="1" spc="-5" dirty="0">
                <a:latin typeface="Arial" panose="020B0604020202090204"/>
                <a:cs typeface="Arial" panose="020B0604020202090204"/>
              </a:rPr>
              <a:t>ontact</a:t>
            </a:r>
            <a:r>
              <a:rPr lang="en-US" b="1" spc="-5" dirty="0">
                <a:latin typeface="Arial" panose="020B0604020202090204"/>
                <a:cs typeface="Arial" panose="020B0604020202090204"/>
              </a:rPr>
              <a:t> </a:t>
            </a:r>
            <a:r>
              <a:rPr b="1" spc="-5" dirty="0">
                <a:latin typeface="Arial" panose="020B0604020202090204"/>
                <a:cs typeface="Arial" panose="020B0604020202090204"/>
              </a:rPr>
              <a:t>number </a:t>
            </a:r>
            <a:endParaRPr lang="en-US" b="1" spc="-5" dirty="0">
              <a:latin typeface="Arial" panose="020B0604020202090204"/>
              <a:cs typeface="Arial" panose="020B0604020202090204"/>
            </a:endParaRP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  <a:tab pos="719455" algn="l"/>
                <a:tab pos="1286510" algn="l"/>
                <a:tab pos="2381250" algn="l"/>
                <a:tab pos="3119120" algn="l"/>
                <a:tab pos="3794125" algn="l"/>
                <a:tab pos="4283710" algn="l"/>
                <a:tab pos="5191760" algn="l"/>
                <a:tab pos="5866765" algn="l"/>
                <a:tab pos="6233160" algn="l"/>
                <a:tab pos="6985000" algn="l"/>
              </a:tabLst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4) E</a:t>
            </a:r>
            <a:r>
              <a:rPr b="1" spc="-5" dirty="0">
                <a:latin typeface="Arial" panose="020B0604020202090204"/>
                <a:cs typeface="Arial" panose="020B0604020202090204"/>
              </a:rPr>
              <a:t>-mail</a:t>
            </a:r>
            <a:r>
              <a:rPr b="1" spc="60" dirty="0">
                <a:latin typeface="Arial" panose="020B0604020202090204"/>
                <a:cs typeface="Arial" panose="020B0604020202090204"/>
              </a:rPr>
              <a:t> </a:t>
            </a:r>
            <a:r>
              <a:rPr b="1" dirty="0">
                <a:latin typeface="Arial" panose="020B0604020202090204"/>
                <a:cs typeface="Arial" panose="020B0604020202090204"/>
              </a:rPr>
              <a:t>address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530"/>
              </a:spcBef>
              <a:buClr>
                <a:srgbClr val="85D1EB"/>
              </a:buClr>
              <a:buSzPct val="89000"/>
              <a:tabLst>
                <a:tab pos="433070" algn="l"/>
                <a:tab pos="43370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■	</a:t>
            </a:r>
            <a:r>
              <a:rPr spc="-5" dirty="0">
                <a:latin typeface="Arial" panose="020B0604020202090204"/>
                <a:cs typeface="Arial" panose="020B0604020202090204"/>
              </a:rPr>
              <a:t>Note that </a:t>
            </a:r>
            <a:r>
              <a:rPr b="1" spc="-5" dirty="0">
                <a:latin typeface="Arial" panose="020B0604020202090204"/>
                <a:cs typeface="Arial" panose="020B0604020202090204"/>
              </a:rPr>
              <a:t>your email address should be</a:t>
            </a:r>
            <a:r>
              <a:rPr b="1" spc="105" dirty="0">
                <a:latin typeface="Arial" panose="020B0604020202090204"/>
                <a:cs typeface="Arial" panose="020B0604020202090204"/>
              </a:rPr>
              <a:t> </a:t>
            </a:r>
            <a:r>
              <a:rPr b="1" dirty="0">
                <a:latin typeface="Arial" panose="020B0604020202090204"/>
                <a:cs typeface="Arial" panose="020B0604020202090204"/>
              </a:rPr>
              <a:t>professional</a:t>
            </a:r>
          </a:p>
          <a:p>
            <a:pPr marL="12065" algn="just">
              <a:spcBef>
                <a:spcPts val="530"/>
              </a:spcBef>
              <a:buClr>
                <a:srgbClr val="85D1EB"/>
              </a:buClr>
              <a:buSzPct val="89000"/>
              <a:tabLst>
                <a:tab pos="433070" algn="l"/>
                <a:tab pos="433705" algn="l"/>
                <a:tab pos="831215" algn="l"/>
                <a:tab pos="1632585" algn="l"/>
                <a:tab pos="2621915" algn="l"/>
                <a:tab pos="3097530" algn="l"/>
                <a:tab pos="3928745" algn="l"/>
                <a:tab pos="5091430" algn="l"/>
                <a:tab pos="5721985" algn="l"/>
                <a:tab pos="6586855" algn="l"/>
                <a:tab pos="777557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■	</a:t>
            </a:r>
            <a:r>
              <a:rPr spc="-5" dirty="0">
                <a:latin typeface="Arial" panose="020B0604020202090204"/>
                <a:cs typeface="Arial" panose="020B0604020202090204"/>
              </a:rPr>
              <a:t>In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other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dirty="0">
                <a:latin typeface="Arial" panose="020B0604020202090204"/>
                <a:cs typeface="Arial" panose="020B0604020202090204"/>
              </a:rPr>
              <a:t>w</a:t>
            </a:r>
            <a:r>
              <a:rPr spc="-5" dirty="0">
                <a:latin typeface="Arial" panose="020B0604020202090204"/>
                <a:cs typeface="Arial" panose="020B0604020202090204"/>
              </a:rPr>
              <a:t>ords,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an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email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a</a:t>
            </a:r>
            <a:r>
              <a:rPr dirty="0">
                <a:latin typeface="Arial" panose="020B0604020202090204"/>
                <a:cs typeface="Arial" panose="020B0604020202090204"/>
              </a:rPr>
              <a:t>d</a:t>
            </a:r>
            <a:r>
              <a:rPr spc="-5" dirty="0">
                <a:latin typeface="Arial" panose="020B0604020202090204"/>
                <a:cs typeface="Arial" panose="020B0604020202090204"/>
              </a:rPr>
              <a:t>d</a:t>
            </a:r>
            <a:r>
              <a:rPr dirty="0">
                <a:latin typeface="Arial" panose="020B0604020202090204"/>
                <a:cs typeface="Arial" panose="020B0604020202090204"/>
              </a:rPr>
              <a:t>r</a:t>
            </a:r>
            <a:r>
              <a:rPr spc="-5" dirty="0">
                <a:latin typeface="Arial" panose="020B0604020202090204"/>
                <a:cs typeface="Arial" panose="020B0604020202090204"/>
              </a:rPr>
              <a:t>e</a:t>
            </a:r>
            <a:r>
              <a:rPr spc="15" dirty="0">
                <a:latin typeface="Arial" panose="020B0604020202090204"/>
                <a:cs typeface="Arial" panose="020B0604020202090204"/>
              </a:rPr>
              <a:t>s</a:t>
            </a:r>
            <a:r>
              <a:rPr spc="-5" dirty="0">
                <a:latin typeface="Arial" panose="020B0604020202090204"/>
                <a:cs typeface="Arial" panose="020B0604020202090204"/>
              </a:rPr>
              <a:t>s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that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reads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 </a:t>
            </a:r>
            <a:r>
              <a:rPr i="1" spc="-5" dirty="0">
                <a:latin typeface="Arial" panose="020B0604020202090204"/>
                <a:cs typeface="Arial" panose="020B0604020202090204"/>
              </a:rPr>
              <a:t>hotc</a:t>
            </a:r>
            <a:r>
              <a:rPr i="1" dirty="0">
                <a:latin typeface="Arial" panose="020B0604020202090204"/>
                <a:cs typeface="Arial" panose="020B0604020202090204"/>
              </a:rPr>
              <a:t>h</a:t>
            </a:r>
            <a:r>
              <a:rPr i="1" spc="-5" dirty="0">
                <a:latin typeface="Arial" panose="020B0604020202090204"/>
                <a:cs typeface="Arial" panose="020B0604020202090204"/>
              </a:rPr>
              <a:t>ick@</a:t>
            </a:r>
            <a:r>
              <a:rPr lang="en-US" i="1" spc="-5" dirty="0">
                <a:latin typeface="Arial" panose="020B0604020202090204"/>
                <a:cs typeface="Arial" panose="020B0604020202090204"/>
              </a:rPr>
              <a:t>gmail</a:t>
            </a:r>
            <a:r>
              <a:rPr i="1" spc="-5" dirty="0">
                <a:latin typeface="Arial" panose="020B0604020202090204"/>
                <a:cs typeface="Arial" panose="020B0604020202090204"/>
              </a:rPr>
              <a:t>.com </a:t>
            </a:r>
            <a:r>
              <a:rPr spc="-5" dirty="0">
                <a:latin typeface="Arial" panose="020B0604020202090204"/>
                <a:cs typeface="Arial" panose="020B0604020202090204"/>
              </a:rPr>
              <a:t>is </a:t>
            </a:r>
            <a:r>
              <a:rPr b="1" spc="-5" dirty="0">
                <a:latin typeface="Arial" panose="020B0604020202090204"/>
                <a:cs typeface="Arial" panose="020B0604020202090204"/>
              </a:rPr>
              <a:t>not</a:t>
            </a:r>
            <a:r>
              <a:rPr b="1" spc="25" dirty="0">
                <a:latin typeface="Arial" panose="020B0604020202090204"/>
                <a:cs typeface="Arial" panose="020B0604020202090204"/>
              </a:rPr>
              <a:t> </a:t>
            </a:r>
            <a:r>
              <a:rPr dirty="0">
                <a:latin typeface="Arial" panose="020B0604020202090204"/>
                <a:cs typeface="Arial" panose="020B0604020202090204"/>
              </a:rPr>
              <a:t>acceptable</a:t>
            </a: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</a:tabLst>
            </a:pPr>
            <a:endParaRPr lang="en-US" spc="-5" dirty="0">
              <a:latin typeface="Arial" panose="020B0604020202090204"/>
              <a:cs typeface="Arial" panose="020B0604020202090204"/>
            </a:endParaRP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** This section should include all the 4 mandatory information and additional information (refer to the job advertisement)</a:t>
            </a:r>
          </a:p>
          <a:p>
            <a:pPr marL="12065">
              <a:buClr>
                <a:srgbClr val="85D1EB"/>
              </a:buClr>
              <a:buSzPct val="89000"/>
              <a:tabLst>
                <a:tab pos="355600" algn="l"/>
                <a:tab pos="356235" algn="l"/>
              </a:tabLst>
            </a:pPr>
            <a:endParaRPr sz="20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65"/>
          <p:cNvSpPr txBox="1"/>
          <p:nvPr/>
        </p:nvSpPr>
        <p:spPr>
          <a:xfrm>
            <a:off x="1181100" y="1049655"/>
            <a:ext cx="10350500" cy="490601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spcBef>
                <a:spcPts val="105"/>
              </a:spcBef>
            </a:pPr>
            <a:endParaRPr lang="en-US" sz="3200" b="1" spc="-5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05"/>
              </a:spcBef>
            </a:pPr>
            <a:endParaRPr lang="en-US" sz="3200" b="1" spc="-5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05"/>
              </a:spcBef>
            </a:pPr>
            <a:r>
              <a:rPr lang="en-US" sz="2000" b="1" spc="-5" dirty="0">
                <a:latin typeface="Arial" panose="020B0604020202090204"/>
                <a:cs typeface="Arial" panose="020B0604020202090204"/>
              </a:rPr>
              <a:t>   EDUCATIONAL</a:t>
            </a:r>
            <a:r>
              <a:rPr lang="en-US" sz="2000" b="1" spc="1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000" b="1" spc="-5" dirty="0">
                <a:latin typeface="Arial" panose="020B0604020202090204"/>
                <a:cs typeface="Arial" panose="020B0604020202090204"/>
              </a:rPr>
              <a:t>BACKGROUND &amp; ACADEMIC QUALIFICATIONS</a:t>
            </a:r>
            <a:endParaRPr lang="en-US" sz="2000" b="1" dirty="0">
              <a:latin typeface="Arial" panose="020B0604020202090204"/>
              <a:cs typeface="Arial" panose="020B0604020202090204"/>
            </a:endParaRPr>
          </a:p>
          <a:p>
            <a:pPr marL="12065" marR="5080">
              <a:lnSpc>
                <a:spcPts val="3020"/>
              </a:lnSpc>
              <a:spcBef>
                <a:spcPts val="230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000" spc="-5" dirty="0">
                <a:latin typeface="Arial" panose="020B0604020202090204"/>
                <a:cs typeface="Arial" panose="020B0604020202090204"/>
              </a:rPr>
              <a:t>■	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Begin </a:t>
            </a:r>
            <a:r>
              <a:rPr sz="1600" dirty="0">
                <a:latin typeface="Arial" panose="020B0604020202090204"/>
                <a:cs typeface="Arial" panose="020B0604020202090204"/>
              </a:rPr>
              <a:t>with 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the most </a:t>
            </a:r>
            <a:r>
              <a:rPr sz="1600" dirty="0">
                <a:latin typeface="Arial" panose="020B0604020202090204"/>
                <a:cs typeface="Arial" panose="020B0604020202090204"/>
              </a:rPr>
              <a:t>current 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information/</a:t>
            </a:r>
            <a:r>
              <a:rPr sz="1600" spc="-10" dirty="0">
                <a:latin typeface="Arial" panose="020B0604020202090204"/>
                <a:cs typeface="Arial" panose="020B0604020202090204"/>
              </a:rPr>
              <a:t>the </a:t>
            </a:r>
            <a:r>
              <a:rPr sz="1600" dirty="0">
                <a:latin typeface="Arial" panose="020B0604020202090204"/>
                <a:cs typeface="Arial" panose="020B0604020202090204"/>
              </a:rPr>
              <a:t>highest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 </a:t>
            </a:r>
            <a:r>
              <a:rPr sz="1600" dirty="0">
                <a:latin typeface="Arial" panose="020B0604020202090204"/>
                <a:cs typeface="Arial" panose="020B0604020202090204"/>
              </a:rPr>
              <a:t>level 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of </a:t>
            </a:r>
            <a:r>
              <a:rPr lang="en-US" sz="1600" spc="-5" dirty="0">
                <a:latin typeface="Arial" panose="020B0604020202090204"/>
                <a:cs typeface="Arial" panose="020B0604020202090204"/>
              </a:rPr>
              <a:t>f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ormal </a:t>
            </a:r>
            <a:r>
              <a:rPr sz="1600" dirty="0">
                <a:latin typeface="Arial" panose="020B0604020202090204"/>
                <a:cs typeface="Arial" panose="020B0604020202090204"/>
              </a:rPr>
              <a:t>education,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 </a:t>
            </a:r>
            <a:r>
              <a:rPr sz="1600" dirty="0">
                <a:latin typeface="Arial" panose="020B0604020202090204"/>
                <a:cs typeface="Arial" panose="020B0604020202090204"/>
              </a:rPr>
              <a:t>then 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work</a:t>
            </a:r>
            <a:r>
              <a:rPr sz="1600" spc="50" dirty="0">
                <a:latin typeface="Arial" panose="020B0604020202090204"/>
                <a:cs typeface="Arial" panose="020B0604020202090204"/>
              </a:rPr>
              <a:t> </a:t>
            </a:r>
            <a:r>
              <a:rPr sz="1600" dirty="0">
                <a:latin typeface="Arial" panose="020B0604020202090204"/>
                <a:cs typeface="Arial" panose="020B0604020202090204"/>
              </a:rPr>
              <a:t>backward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 (reverse chronological order)</a:t>
            </a:r>
            <a:endParaRPr sz="1600"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1620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1600" spc="-5" dirty="0">
                <a:latin typeface="Arial" panose="020B0604020202090204"/>
                <a:cs typeface="Arial" panose="020B0604020202090204"/>
              </a:rPr>
              <a:t>■	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Mention </a:t>
            </a:r>
            <a:r>
              <a:rPr sz="1600" dirty="0">
                <a:latin typeface="Arial" panose="020B0604020202090204"/>
                <a:cs typeface="Arial" panose="020B0604020202090204"/>
              </a:rPr>
              <a:t>year 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(timeline/duration) </a:t>
            </a:r>
            <a:r>
              <a:rPr sz="1600" dirty="0">
                <a:latin typeface="Arial" panose="020B0604020202090204"/>
                <a:cs typeface="Arial" panose="020B0604020202090204"/>
              </a:rPr>
              <a:t>and </a:t>
            </a:r>
            <a:r>
              <a:rPr sz="1600" spc="-5" dirty="0">
                <a:latin typeface="Arial" panose="020B0604020202090204"/>
                <a:cs typeface="Arial" panose="020B0604020202090204"/>
              </a:rPr>
              <a:t>the name </a:t>
            </a:r>
            <a:r>
              <a:rPr sz="1600" dirty="0">
                <a:latin typeface="Arial" panose="020B0604020202090204"/>
                <a:cs typeface="Arial" panose="020B0604020202090204"/>
              </a:rPr>
              <a:t>of</a:t>
            </a:r>
            <a:r>
              <a:rPr sz="1600" spc="65" dirty="0">
                <a:latin typeface="Arial" panose="020B0604020202090204"/>
                <a:cs typeface="Arial" panose="020B0604020202090204"/>
              </a:rPr>
              <a:t> </a:t>
            </a:r>
            <a:r>
              <a:rPr sz="1600" dirty="0">
                <a:latin typeface="Arial" panose="020B0604020202090204"/>
                <a:cs typeface="Arial" panose="020B0604020202090204"/>
              </a:rPr>
              <a:t>institution</a:t>
            </a:r>
            <a:r>
              <a:rPr lang="en-US" sz="1600" dirty="0">
                <a:latin typeface="Arial" panose="020B0604020202090204"/>
                <a:cs typeface="Arial" panose="020B0604020202090204"/>
              </a:rPr>
              <a:t>s</a:t>
            </a:r>
            <a:endParaRPr sz="1600" dirty="0">
              <a:latin typeface="Arial" panose="020B0604020202090204"/>
              <a:cs typeface="Arial" panose="020B0604020202090204"/>
            </a:endParaRPr>
          </a:p>
          <a:p>
            <a:pPr marL="12065" marR="5715">
              <a:lnSpc>
                <a:spcPct val="90000"/>
              </a:lnSpc>
              <a:spcBef>
                <a:spcPts val="199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endParaRPr lang="en-US" sz="1600" dirty="0">
              <a:latin typeface="Arial" panose="020B0604020202090204"/>
              <a:cs typeface="Arial" panose="020B0604020202090204"/>
            </a:endParaRPr>
          </a:p>
          <a:p>
            <a:pPr marL="12065" marR="5715">
              <a:lnSpc>
                <a:spcPct val="90000"/>
              </a:lnSpc>
              <a:spcBef>
                <a:spcPts val="199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1600" b="1" dirty="0">
                <a:latin typeface="Arial" panose="020B0604020202090204"/>
                <a:cs typeface="Arial" panose="020B0604020202090204"/>
              </a:rPr>
              <a:t>**Undergraduate Program/Degree or First Degree = Bachelor Degree</a:t>
            </a:r>
          </a:p>
          <a:p>
            <a:pPr marL="12065" marR="5715">
              <a:lnSpc>
                <a:spcPct val="90000"/>
              </a:lnSpc>
              <a:spcBef>
                <a:spcPts val="199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1600" b="1" dirty="0">
                <a:latin typeface="Arial" panose="020B0604020202090204"/>
                <a:cs typeface="Arial" panose="020B0604020202090204"/>
              </a:rPr>
              <a:t>**Postgraduate Program/Degree = Master’s Degree or Doctorate Degree (PhD)</a:t>
            </a:r>
          </a:p>
          <a:p>
            <a:pPr marL="12065" marR="5715">
              <a:lnSpc>
                <a:spcPct val="90000"/>
              </a:lnSpc>
              <a:spcBef>
                <a:spcPts val="199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1600" b="1" dirty="0">
                <a:latin typeface="Arial" panose="020B0604020202090204"/>
                <a:cs typeface="Arial" panose="020B0604020202090204"/>
              </a:rPr>
              <a:t>**Postgraduate Diploma = a short program that can be taken after completing Bachelor Degree. Postgraduate Diploma is NOT a Postgraduate Program/Degree. Postgraduate diploma is lower than a Master’s Degree qualification. Completed within few months - one year (short course) </a:t>
            </a:r>
            <a:endParaRPr sz="1600" b="1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 txBox="1">
            <a:spLocks noGrp="1"/>
          </p:cNvSpPr>
          <p:nvPr>
            <p:ph idx="1"/>
          </p:nvPr>
        </p:nvSpPr>
        <p:spPr>
          <a:xfrm>
            <a:off x="939800" y="785495"/>
            <a:ext cx="10058400" cy="6423660"/>
          </a:xfrm>
          <a:prstGeom prst="rect">
            <a:avLst/>
          </a:prstGeom>
        </p:spPr>
        <p:txBody>
          <a:bodyPr vert="horz" wrap="square" lIns="0" tIns="292761" rIns="0" bIns="0" rtlCol="0">
            <a:noAutofit/>
          </a:bodyPr>
          <a:lstStyle/>
          <a:p>
            <a:pPr marL="0" indent="0">
              <a:spcBef>
                <a:spcPts val="105"/>
              </a:spcBef>
              <a:buNone/>
            </a:pPr>
            <a:endParaRPr lang="en-US" dirty="0">
              <a:latin typeface="Arial" panose="020B0604020202090204"/>
              <a:cs typeface="Arial" panose="020B0604020202090204"/>
            </a:endParaRPr>
          </a:p>
          <a:p>
            <a:pPr marL="173990" indent="0">
              <a:lnSpc>
                <a:spcPct val="100000"/>
              </a:lnSpc>
              <a:buNone/>
            </a:pPr>
            <a:endParaRPr lang="en-US" b="1" spc="-5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spcBef>
                <a:spcPts val="105"/>
              </a:spcBef>
              <a:buNone/>
            </a:pPr>
            <a:r>
              <a:rPr lang="en-US" sz="2000" b="1" spc="-5" dirty="0">
                <a:solidFill>
                  <a:schemeClr val="tx1"/>
                </a:solidFill>
                <a:latin typeface="Arial" panose="020B0604020202090204"/>
                <a:cs typeface="Arial" panose="020B0604020202090204"/>
              </a:rPr>
              <a:t>     EDUCATIONAL</a:t>
            </a:r>
            <a:r>
              <a:rPr lang="en-US" sz="2000" b="1" spc="15" dirty="0">
                <a:solidFill>
                  <a:schemeClr val="tx1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latin typeface="Arial" panose="020B0604020202090204"/>
                <a:cs typeface="Arial" panose="020B0604020202090204"/>
              </a:rPr>
              <a:t>BACKGROUND &amp; ACADEMIC QUALIFICATIONS</a:t>
            </a:r>
            <a:endParaRPr lang="en-US" sz="2000" b="1" dirty="0">
              <a:solidFill>
                <a:schemeClr val="tx1"/>
              </a:solidFill>
              <a:latin typeface="Arial" panose="020B0604020202090204"/>
              <a:cs typeface="Arial" panose="020B0604020202090204"/>
            </a:endParaRPr>
          </a:p>
          <a:p>
            <a:pPr marL="13335" indent="0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18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Mention </a:t>
            </a:r>
            <a:r>
              <a:rPr sz="18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qualification</a:t>
            </a:r>
            <a:r>
              <a:rPr sz="1800" spc="5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obtained</a:t>
            </a:r>
            <a:r>
              <a:rPr lang="en-US" sz="18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(name of program)</a:t>
            </a:r>
          </a:p>
          <a:p>
            <a:pPr marL="13335" indent="0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■  Include your CGPA details</a:t>
            </a:r>
          </a:p>
          <a:p>
            <a:pPr marL="13335" indent="0">
              <a:lnSpc>
                <a:spcPct val="100000"/>
              </a:lnSpc>
              <a:spcBef>
                <a:spcPts val="2115"/>
              </a:spcBef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r>
              <a:rPr lang="en-US" sz="16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CGPA: </a:t>
            </a:r>
          </a:p>
          <a:p>
            <a:pPr marL="13335" indent="0">
              <a:lnSpc>
                <a:spcPct val="100000"/>
              </a:lnSpc>
              <a:spcBef>
                <a:spcPts val="2115"/>
              </a:spcBef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r>
              <a:rPr lang="en-US" sz="16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First class =  3.6 and above)  (Second class upper = 3.0 to 3.59) (Second class lower = 2.50 to 2.99) </a:t>
            </a:r>
          </a:p>
          <a:p>
            <a:pPr marL="13335" indent="0">
              <a:lnSpc>
                <a:spcPct val="100000"/>
              </a:lnSpc>
              <a:spcBef>
                <a:spcPts val="2115"/>
              </a:spcBef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r>
              <a:rPr lang="en-US" sz="16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(Pass 2.00 to 2.49)</a:t>
            </a:r>
          </a:p>
          <a:p>
            <a:pPr marL="470535" indent="-457200">
              <a:lnSpc>
                <a:spcPct val="100000"/>
              </a:lnSpc>
              <a:spcBef>
                <a:spcPts val="2115"/>
              </a:spcBef>
              <a:buClr>
                <a:srgbClr val="85D1EB"/>
              </a:buClr>
              <a:buSzPct val="89000"/>
              <a:buAutoNum type="arabicParenR"/>
              <a:tabLst>
                <a:tab pos="357505" algn="l"/>
              </a:tabLst>
            </a:pP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indent="0">
              <a:spcBef>
                <a:spcPts val="2115"/>
              </a:spcBef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endParaRPr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indent="0">
              <a:lnSpc>
                <a:spcPct val="100000"/>
              </a:lnSpc>
              <a:spcBef>
                <a:spcPts val="2115"/>
              </a:spcBef>
              <a:buClr>
                <a:srgbClr val="85D1EB"/>
              </a:buClr>
              <a:buSzPct val="89000"/>
              <a:buNone/>
              <a:tabLst>
                <a:tab pos="357505" algn="l"/>
              </a:tabLst>
            </a:pPr>
            <a:endParaRPr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58"/>
          <p:cNvSpPr txBox="1">
            <a:spLocks noGrp="1"/>
          </p:cNvSpPr>
          <p:nvPr>
            <p:ph idx="1"/>
          </p:nvPr>
        </p:nvSpPr>
        <p:spPr>
          <a:xfrm>
            <a:off x="1231900" y="1311910"/>
            <a:ext cx="10058400" cy="5159375"/>
          </a:xfrm>
          <a:prstGeom prst="rect">
            <a:avLst/>
          </a:prstGeom>
        </p:spPr>
        <p:txBody>
          <a:bodyPr vert="horz" wrap="square" lIns="0" tIns="252095" rIns="0" bIns="0" rtlCol="0">
            <a:noAutofit/>
          </a:bodyPr>
          <a:lstStyle/>
          <a:p>
            <a:pPr marL="173990" indent="0">
              <a:lnSpc>
                <a:spcPct val="100000"/>
              </a:lnSpc>
              <a:spcBef>
                <a:spcPts val="1620"/>
              </a:spcBef>
              <a:buNone/>
            </a:pPr>
            <a:endParaRPr lang="en-US" sz="20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73990" indent="0">
              <a:lnSpc>
                <a:spcPct val="100000"/>
              </a:lnSpc>
              <a:spcBef>
                <a:spcPts val="162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WORK</a:t>
            </a:r>
            <a:r>
              <a:rPr lang="en-US" sz="2000" b="1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EXPERIENCE</a:t>
            </a:r>
            <a:endParaRPr lang="en-US" sz="2000" b="1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marR="508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440180" algn="l"/>
                <a:tab pos="1845945" algn="l"/>
                <a:tab pos="3559175" algn="l"/>
                <a:tab pos="5391150" algn="l"/>
                <a:tab pos="6133465" algn="l"/>
                <a:tab pos="6825615" algn="l"/>
                <a:tab pos="7400925" algn="l"/>
              </a:tabLst>
            </a:pPr>
            <a:r>
              <a:rPr lang="en-US" sz="2000" spc="-5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sz="2000" spc="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ilar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to	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ed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u</a:t>
            </a:r>
            <a:r>
              <a:rPr sz="2000" spc="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ational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u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nd,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tart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the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recent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information</a:t>
            </a:r>
            <a:endParaRPr sz="2000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indent="0">
              <a:lnSpc>
                <a:spcPts val="2735"/>
              </a:lnSpc>
              <a:spcBef>
                <a:spcPts val="157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272540" algn="l"/>
                <a:tab pos="2000885" algn="l"/>
                <a:tab pos="2917190" algn="l"/>
                <a:tab pos="3477895" algn="l"/>
                <a:tab pos="4190365" algn="l"/>
                <a:tab pos="4734560" algn="l"/>
                <a:tab pos="5107940" algn="l"/>
                <a:tab pos="6260465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Then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sta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sting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the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</a:t>
            </a:r>
            <a:r>
              <a:rPr sz="2000" spc="-1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x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job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reverse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chro</a:t>
            </a:r>
            <a:r>
              <a:rPr sz="2000" spc="-1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olo</a:t>
            </a:r>
            <a:r>
              <a:rPr sz="2000" spc="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g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ical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order</a:t>
            </a:r>
            <a:endParaRPr sz="2000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indent="0">
              <a:lnSpc>
                <a:spcPct val="100000"/>
              </a:lnSpc>
              <a:spcBef>
                <a:spcPts val="161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Mention when you work</a:t>
            </a:r>
            <a:r>
              <a:rPr sz="2000" spc="5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timeline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sz="2000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3335" marR="635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022985" algn="l"/>
                <a:tab pos="1891030" algn="l"/>
                <a:tab pos="2507615" algn="l"/>
                <a:tab pos="3512820" algn="l"/>
                <a:tab pos="4876165" algn="l"/>
                <a:tab pos="5677535" algn="l"/>
                <a:tab pos="6784340" algn="l"/>
                <a:tab pos="7806055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Fo</a:t>
            </a:r>
            <a:r>
              <a:rPr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each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job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listed,	</a:t>
            </a: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arrange </a:t>
            </a:r>
            <a:r>
              <a:rPr lang="en-US" alt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your relevant job duties in an easy-to-read list</a:t>
            </a:r>
          </a:p>
          <a:p>
            <a:pPr marL="13335" marR="635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022985" algn="l"/>
                <a:tab pos="1891030" algn="l"/>
                <a:tab pos="2507615" algn="l"/>
                <a:tab pos="3512820" algn="l"/>
                <a:tab pos="4876165" algn="l"/>
                <a:tab pos="5677535" algn="l"/>
                <a:tab pos="6784340" algn="l"/>
                <a:tab pos="7806055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**The tense 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of verbs in your job descriptions </a:t>
            </a:r>
            <a:r>
              <a:rPr lang="en-US" sz="2000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should 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 </a:t>
            </a:r>
            <a:r>
              <a:rPr lang="en-US" sz="2000" b="1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past tense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for previous</a:t>
            </a:r>
            <a:r>
              <a:rPr lang="en-US" sz="2000" b="1" spc="-12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jobs/ past employment and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present </a:t>
            </a:r>
            <a:r>
              <a:rPr lang="en-US" sz="2000" b="1" spc="-5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tense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for</a:t>
            </a:r>
            <a:r>
              <a:rPr lang="en-US" sz="2000" b="1" spc="-114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jobs you currently</a:t>
            </a:r>
            <a:r>
              <a:rPr lang="en-US" sz="2000" b="1" spc="-6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hold</a:t>
            </a:r>
          </a:p>
          <a:p>
            <a:pPr marL="13335" marR="635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022985" algn="l"/>
                <a:tab pos="1891030" algn="l"/>
                <a:tab pos="2507615" algn="l"/>
                <a:tab pos="3512820" algn="l"/>
                <a:tab pos="4876165" algn="l"/>
                <a:tab pos="5677535" algn="l"/>
                <a:tab pos="6784340" algn="l"/>
                <a:tab pos="7806055" algn="l"/>
              </a:tabLst>
            </a:pPr>
            <a:endParaRPr sz="2000" u="sng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244600"/>
            <a:ext cx="9601196" cy="4631268"/>
          </a:xfrm>
        </p:spPr>
        <p:txBody>
          <a:bodyPr/>
          <a:lstStyle/>
          <a:p>
            <a:pPr marL="173990" indent="0">
              <a:lnSpc>
                <a:spcPct val="100000"/>
              </a:lnSpc>
              <a:spcBef>
                <a:spcPts val="1620"/>
              </a:spcBef>
              <a:buNone/>
            </a:pP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73990" indent="0">
              <a:lnSpc>
                <a:spcPct val="100000"/>
              </a:lnSpc>
              <a:spcBef>
                <a:spcPts val="1620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SKILLS (Hard Skill &amp; Soft Skill)</a:t>
            </a:r>
          </a:p>
          <a:p>
            <a:pPr marL="13335" marR="508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440180" algn="l"/>
                <a:tab pos="1845945" algn="l"/>
                <a:tab pos="3559175" algn="l"/>
                <a:tab pos="5391150" algn="l"/>
                <a:tab pos="6133465" algn="l"/>
                <a:tab pos="6825615" algn="l"/>
                <a:tab pos="7400925" algn="l"/>
              </a:tabLst>
            </a:pPr>
            <a:r>
              <a:rPr lang="en-US" spc="-5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Hard skills are specific competencies, skills, knowledge, and abilities needed to perform a specific task or role. They can be learned through formal education and professional development.</a:t>
            </a:r>
          </a:p>
          <a:p>
            <a:pPr marL="13335" marR="508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440180" algn="l"/>
                <a:tab pos="1845945" algn="l"/>
                <a:tab pos="3559175" algn="l"/>
                <a:tab pos="5391150" algn="l"/>
                <a:tab pos="6133465" algn="l"/>
                <a:tab pos="6825615" algn="l"/>
                <a:tab pos="7400925" algn="l"/>
              </a:tabLst>
            </a:pP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Hard skills: Language skill, Computer skill, Accounting and etc.</a:t>
            </a:r>
          </a:p>
          <a:p>
            <a:pPr marL="13335" marR="5080" indent="0">
              <a:lnSpc>
                <a:spcPts val="2590"/>
              </a:lnSpc>
              <a:spcBef>
                <a:spcPts val="1940"/>
              </a:spcBef>
              <a:buClr>
                <a:srgbClr val="85D1EB"/>
              </a:buClr>
              <a:buSzPct val="90000"/>
              <a:buNone/>
              <a:tabLst>
                <a:tab pos="356870" algn="l"/>
                <a:tab pos="357505" algn="l"/>
                <a:tab pos="1440180" algn="l"/>
                <a:tab pos="1845945" algn="l"/>
                <a:tab pos="3559175" algn="l"/>
                <a:tab pos="5391150" algn="l"/>
                <a:tab pos="6133465" algn="l"/>
                <a:tab pos="6825615" algn="l"/>
                <a:tab pos="7400925" algn="l"/>
              </a:tabLst>
            </a:pP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Soft skills: Interpersonal skill - leadership skill, critical thinking skill, time management skill and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bject 54"/>
          <p:cNvSpPr txBox="1"/>
          <p:nvPr/>
        </p:nvSpPr>
        <p:spPr>
          <a:xfrm>
            <a:off x="1518158" y="909575"/>
            <a:ext cx="8438642" cy="391795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355600">
              <a:spcBef>
                <a:spcPts val="1705"/>
              </a:spcBef>
            </a:pPr>
            <a:endParaRPr lang="en-US" sz="2400" spc="-5" dirty="0">
              <a:latin typeface="Arial" panose="020B0604020202090204"/>
              <a:cs typeface="Arial" panose="020B0604020202090204"/>
            </a:endParaRPr>
          </a:p>
          <a:p>
            <a:pPr marL="355600">
              <a:spcBef>
                <a:spcPts val="1705"/>
              </a:spcBef>
            </a:pPr>
            <a:r>
              <a:rPr lang="en-US" sz="2400" b="1" spc="-5" dirty="0">
                <a:latin typeface="Arial" panose="020B0604020202090204"/>
                <a:cs typeface="Arial" panose="020B0604020202090204"/>
              </a:rPr>
              <a:t>REFERENCES</a:t>
            </a:r>
            <a:endParaRPr sz="2400" b="1" u="sng"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1610"/>
              </a:spcBef>
              <a:buClr>
                <a:srgbClr val="85D1EB"/>
              </a:buClr>
              <a:buSzPct val="90000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List </a:t>
            </a:r>
            <a:r>
              <a:rPr sz="2400" dirty="0">
                <a:latin typeface="Arial" panose="020B0604020202090204"/>
                <a:cs typeface="Arial" panose="020B0604020202090204"/>
              </a:rPr>
              <a:t>two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names as your</a:t>
            </a:r>
            <a:r>
              <a:rPr sz="2400" spc="15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referees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(number of referees can 	be based on the company’s requirement)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065" marR="5080">
              <a:lnSpc>
                <a:spcPts val="2590"/>
              </a:lnSpc>
              <a:spcBef>
                <a:spcPts val="1805"/>
              </a:spcBef>
              <a:buClr>
                <a:srgbClr val="85D1EB"/>
              </a:buClr>
              <a:buSzPct val="90000"/>
              <a:tabLst>
                <a:tab pos="356235" algn="l"/>
              </a:tabLst>
            </a:pPr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400" dirty="0">
                <a:latin typeface="Arial" panose="020B0604020202090204"/>
                <a:cs typeface="Arial" panose="020B0604020202090204"/>
              </a:rPr>
              <a:t>Choose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lecturers, 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supervisors, or </a:t>
            </a:r>
            <a:r>
              <a:rPr sz="2400" dirty="0">
                <a:latin typeface="Arial" panose="020B0604020202090204"/>
                <a:cs typeface="Arial" panose="020B0604020202090204"/>
              </a:rPr>
              <a:t>previous employers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that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 you 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know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well </a:t>
            </a:r>
            <a:r>
              <a:rPr sz="2400" dirty="0">
                <a:latin typeface="Arial" panose="020B0604020202090204"/>
                <a:cs typeface="Arial" panose="020B0604020202090204"/>
              </a:rPr>
              <a:t>enough 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– for them </a:t>
            </a:r>
            <a:r>
              <a:rPr sz="2400" dirty="0">
                <a:latin typeface="Arial" panose="020B0604020202090204"/>
                <a:cs typeface="Arial" panose="020B0604020202090204"/>
              </a:rPr>
              <a:t>to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write about your qualifications and personal</a:t>
            </a:r>
            <a:r>
              <a:rPr sz="2400" spc="135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qualities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1575"/>
              </a:spcBef>
              <a:buClr>
                <a:srgbClr val="85D1EB"/>
              </a:buClr>
              <a:buSzPct val="90000"/>
              <a:tabLst>
                <a:tab pos="355600" algn="l"/>
                <a:tab pos="356235" algn="l"/>
              </a:tabLst>
            </a:pPr>
            <a:endParaRPr sz="24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/>
          <p:nvPr/>
        </p:nvSpPr>
        <p:spPr>
          <a:xfrm>
            <a:off x="1093636" y="1004884"/>
            <a:ext cx="9794328" cy="524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endParaRPr lang="en-US" sz="3200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05"/>
              </a:spcBef>
            </a:pPr>
            <a:endParaRPr sz="3200" dirty="0">
              <a:latin typeface="Arial" panose="020B0604020202090204"/>
              <a:cs typeface="Arial" panose="020B0604020202090204"/>
            </a:endParaRPr>
          </a:p>
          <a:p>
            <a:pPr marL="355600"/>
            <a:r>
              <a:rPr lang="en-US" sz="2400" b="1" dirty="0">
                <a:latin typeface="Arial" panose="020B0604020202090204"/>
                <a:cs typeface="Arial" panose="020B0604020202090204"/>
              </a:rPr>
              <a:t>EXTRA-CURRICULAR</a:t>
            </a:r>
            <a:r>
              <a:rPr lang="en-US" sz="2400" b="1" spc="2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400" b="1" spc="-5" dirty="0">
                <a:latin typeface="Arial" panose="020B0604020202090204"/>
                <a:cs typeface="Arial" panose="020B0604020202090204"/>
              </a:rPr>
              <a:t>ACTIVITIES (additional)</a:t>
            </a:r>
            <a:endParaRPr sz="2400" b="1" dirty="0">
              <a:latin typeface="Arial" panose="020B0604020202090204"/>
              <a:cs typeface="Arial" panose="020B0604020202090204"/>
            </a:endParaRPr>
          </a:p>
          <a:p>
            <a:pPr marL="12065" marR="5715" algn="just">
              <a:spcBef>
                <a:spcPts val="2400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400" spc="-5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This </a:t>
            </a:r>
            <a:r>
              <a:rPr sz="2400" dirty="0">
                <a:latin typeface="Arial" panose="020B0604020202090204"/>
                <a:cs typeface="Arial" panose="020B0604020202090204"/>
              </a:rPr>
              <a:t>section contains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 </a:t>
            </a:r>
            <a:r>
              <a:rPr sz="2400" dirty="0">
                <a:latin typeface="Arial" panose="020B0604020202090204"/>
                <a:cs typeface="Arial" panose="020B0604020202090204"/>
              </a:rPr>
              <a:t>list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of </a:t>
            </a:r>
            <a:r>
              <a:rPr sz="2400" dirty="0">
                <a:latin typeface="Arial" panose="020B0604020202090204"/>
                <a:cs typeface="Arial" panose="020B0604020202090204"/>
              </a:rPr>
              <a:t>your curricular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activities that </a:t>
            </a:r>
            <a:r>
              <a:rPr sz="2400" dirty="0">
                <a:latin typeface="Arial" panose="020B0604020202090204"/>
                <a:cs typeface="Arial" panose="020B0604020202090204"/>
              </a:rPr>
              <a:t>might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give </a:t>
            </a:r>
            <a:r>
              <a:rPr sz="2400" dirty="0">
                <a:latin typeface="Arial" panose="020B0604020202090204"/>
                <a:cs typeface="Arial" panose="020B0604020202090204"/>
              </a:rPr>
              <a:t>you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an </a:t>
            </a:r>
            <a:r>
              <a:rPr sz="2400" dirty="0">
                <a:latin typeface="Arial" panose="020B0604020202090204"/>
                <a:cs typeface="Arial" panose="020B0604020202090204"/>
              </a:rPr>
              <a:t>additional advantage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065" marR="5080" algn="just">
              <a:spcBef>
                <a:spcPts val="211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400" spc="-5" dirty="0">
                <a:latin typeface="Arial" panose="020B0604020202090204" pitchFamily="34" charset="0"/>
                <a:cs typeface="Arial" panose="020B0604020202090204" pitchFamily="34" charset="0"/>
              </a:rPr>
              <a:t>■	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Arrange</a:t>
            </a:r>
            <a:r>
              <a:rPr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in reverse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chronological</a:t>
            </a:r>
            <a:r>
              <a:rPr sz="2400" spc="30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order</a:t>
            </a:r>
          </a:p>
          <a:p>
            <a:pPr marL="12065" marR="5080" algn="just">
              <a:spcBef>
                <a:spcPts val="211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endParaRPr lang="en-US" sz="2400" dirty="0">
              <a:latin typeface="Arial" panose="020B0604020202090204"/>
              <a:cs typeface="Arial" panose="020B06040202020902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000" dirty="0">
                <a:latin typeface="Arial" panose="020B0604020202090204"/>
                <a:cs typeface="Arial" panose="020B0604020202090204"/>
              </a:rPr>
              <a:t>April 2025 – April 2026 </a:t>
            </a: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000" dirty="0">
                <a:latin typeface="Arial" panose="020B0604020202090204"/>
                <a:cs typeface="Arial" panose="020B0604020202090204"/>
              </a:rPr>
              <a:t>Vice President for Badminton Club</a:t>
            </a: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000" dirty="0">
                <a:latin typeface="Arial" panose="020B0604020202090204"/>
                <a:cs typeface="Arial" panose="020B0604020202090204"/>
              </a:rPr>
              <a:t>- Organized Badminton Tournament (22 November 2025)</a:t>
            </a:r>
          </a:p>
          <a:p>
            <a:pPr marL="12065" marR="5080" algn="just">
              <a:spcBef>
                <a:spcPts val="2115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endParaRPr lang="en-US" sz="20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1" y="635000"/>
            <a:ext cx="9601196" cy="4770968"/>
          </a:xfrm>
        </p:spPr>
        <p:txBody>
          <a:bodyPr>
            <a:normAutofit lnSpcReduction="10000"/>
          </a:bodyPr>
          <a:lstStyle/>
          <a:p>
            <a:pPr marL="12700" lvl="0" indent="0">
              <a:spcBef>
                <a:spcPts val="105"/>
              </a:spcBef>
              <a:spcAft>
                <a:spcPts val="0"/>
              </a:spcAft>
              <a:buClrTx/>
              <a:buSzTx/>
              <a:buNone/>
            </a:pPr>
            <a:endParaRPr lang="en-US" sz="3200" dirty="0">
              <a:solidFill>
                <a:prstClr val="black"/>
              </a:solidFill>
              <a:latin typeface="Arial" panose="020B0604020202090204"/>
              <a:cs typeface="Arial" panose="020B0604020202090204"/>
            </a:endParaRPr>
          </a:p>
          <a:p>
            <a:pPr marL="12700" lvl="0" indent="0">
              <a:spcBef>
                <a:spcPts val="105"/>
              </a:spcBef>
              <a:spcAft>
                <a:spcPts val="0"/>
              </a:spcAft>
              <a:buClrTx/>
              <a:buSzTx/>
              <a:buNone/>
            </a:pPr>
            <a:endParaRPr lang="en-US" sz="3200" dirty="0">
              <a:solidFill>
                <a:prstClr val="black"/>
              </a:solidFill>
              <a:latin typeface="Arial" panose="020B0604020202090204"/>
              <a:cs typeface="Arial" panose="020B0604020202090204"/>
            </a:endParaRPr>
          </a:p>
          <a:p>
            <a:pPr marL="355600" lvl="0" indent="0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90204"/>
                <a:cs typeface="Arial" panose="020B0604020202090204"/>
              </a:rPr>
              <a:t>CAREER OBJECTIVE / STATEMENT OF PROFILE / PROFESSION STATEMENT </a:t>
            </a:r>
            <a:r>
              <a:rPr lang="en-US" b="1" dirty="0">
                <a:solidFill>
                  <a:prstClr val="black"/>
                </a:solidFill>
                <a:latin typeface="Arial" panose="020B0604020202090204"/>
                <a:cs typeface="Arial" panose="020B0604020202090204"/>
              </a:rPr>
              <a:t>(additional)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Career objective/ Statement of Profile/ Profession Statement is a personal statement that consists of: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key skill(s)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experience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what you wish to accomplish via professional work (your goals)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0" y="1181100"/>
            <a:ext cx="10609580" cy="4694555"/>
          </a:xfrm>
        </p:spPr>
        <p:txBody>
          <a:bodyPr/>
          <a:lstStyle/>
          <a:p>
            <a:pPr marL="12700" lvl="0" indent="0">
              <a:spcBef>
                <a:spcPts val="105"/>
              </a:spcBef>
              <a:spcAft>
                <a:spcPts val="0"/>
              </a:spcAft>
              <a:buClrTx/>
              <a:buSzTx/>
              <a:buNone/>
            </a:pPr>
            <a:endParaRPr lang="en-US" sz="3200" dirty="0">
              <a:solidFill>
                <a:prstClr val="black"/>
              </a:solidFill>
              <a:latin typeface="Arial" panose="020B0604020202090204"/>
              <a:cs typeface="Arial" panose="020B0604020202090204"/>
            </a:endParaRPr>
          </a:p>
          <a:p>
            <a:pPr marL="355600" lvl="0" indent="0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90204"/>
                <a:cs typeface="Arial" panose="020B0604020202090204"/>
              </a:rPr>
              <a:t>CAREER OBJECTIVE / STATEMENT OF PROFILE / PROFESSION STATEMENT</a:t>
            </a:r>
          </a:p>
          <a:p>
            <a:pPr marL="355600" lvl="0" indent="0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2000" dirty="0">
              <a:solidFill>
                <a:prstClr val="black"/>
              </a:solidFill>
              <a:latin typeface="Arial" panose="020B0604020202090204"/>
              <a:cs typeface="Arial" panose="020B0604020202090204"/>
            </a:endParaRPr>
          </a:p>
          <a:p>
            <a:pPr marL="355600" lvl="0" indent="0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dirty="0">
                <a:solidFill>
                  <a:prstClr val="black"/>
                </a:solidFill>
                <a:latin typeface="Arial" panose="020B0604020202090204"/>
                <a:cs typeface="Arial" panose="020B0604020202090204"/>
              </a:rPr>
              <a:t>Examples:</a:t>
            </a:r>
          </a:p>
          <a:p>
            <a:pPr marL="812800" lvl="0" indent="-457200"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</a:pPr>
            <a:r>
              <a:rPr lang="en-US" sz="2000" dirty="0">
                <a:solidFill>
                  <a:prstClr val="black"/>
                </a:solidFill>
                <a:latin typeface="Arial" panose="020B0604020202090204"/>
                <a:cs typeface="Arial" panose="020B0604020202090204"/>
              </a:rPr>
              <a:t>A qualified Accountant with 4 years experience in Taxation. Searching for an opportunity to expand my skills in Taxation and other important accounting field with ABC company.  </a:t>
            </a:r>
          </a:p>
          <a:p>
            <a:pPr marL="812800" lvl="0" indent="-457200"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</a:pPr>
            <a:r>
              <a:rPr lang="en-US" sz="2000" dirty="0">
                <a:solidFill>
                  <a:prstClr val="black"/>
                </a:solidFill>
                <a:latin typeface="Arial" panose="020B0604020202090204"/>
                <a:cs typeface="Arial" panose="020B0604020202090204"/>
              </a:rPr>
              <a:t>An enthusiast in programming with more than 6 years of working experience in the related field. Aims for growth in skills especially in software programming.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716280" y="466090"/>
            <a:ext cx="10538460" cy="4225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endParaRPr lang="en-US" sz="3200" b="1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05"/>
              </a:spcBef>
            </a:pPr>
            <a:endParaRPr lang="en-US" sz="3200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05"/>
              </a:spcBef>
            </a:pPr>
            <a:endParaRPr sz="3200" dirty="0">
              <a:latin typeface="Arial" panose="020B0604020202090204"/>
              <a:cs typeface="Arial" panose="020B0604020202090204"/>
            </a:endParaRPr>
          </a:p>
          <a:p>
            <a:pPr marL="355600"/>
            <a:r>
              <a:rPr lang="en-US" sz="2800" b="1" spc="-5" dirty="0">
                <a:latin typeface="Arial" panose="020B0604020202090204"/>
                <a:cs typeface="Arial" panose="020B0604020202090204"/>
              </a:rPr>
              <a:t>PERSONAL</a:t>
            </a:r>
            <a:r>
              <a:rPr lang="en-US" sz="2800" b="1" spc="1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800" b="1" dirty="0">
                <a:latin typeface="Arial" panose="020B0604020202090204"/>
                <a:cs typeface="Arial" panose="020B0604020202090204"/>
              </a:rPr>
              <a:t>CHARACTERISTICS</a:t>
            </a:r>
          </a:p>
          <a:p>
            <a:pPr marL="12065" algn="l">
              <a:spcBef>
                <a:spcPts val="2400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800" dirty="0">
                <a:latin typeface="Arial" panose="020B0604020202090204" pitchFamily="34" charset="0"/>
                <a:cs typeface="Arial" panose="020B0604020202090204" pitchFamily="34" charset="0"/>
              </a:rPr>
              <a:t>■</a:t>
            </a:r>
            <a:r>
              <a:rPr sz="2800" dirty="0">
                <a:latin typeface="Arial" panose="020B0604020202090204"/>
                <a:cs typeface="Arial" panose="020B0604020202090204"/>
              </a:rPr>
              <a:t>List </a:t>
            </a:r>
            <a:r>
              <a:rPr lang="en-US" sz="2800" dirty="0">
                <a:latin typeface="Arial" panose="020B0604020202090204"/>
                <a:cs typeface="Arial" panose="020B0604020202090204"/>
              </a:rPr>
              <a:t>and explain </a:t>
            </a:r>
            <a:r>
              <a:rPr sz="2800" spc="-5" dirty="0">
                <a:latin typeface="Arial" panose="020B0604020202090204"/>
                <a:cs typeface="Arial" panose="020B0604020202090204"/>
              </a:rPr>
              <a:t>your </a:t>
            </a:r>
            <a:r>
              <a:rPr sz="2800" dirty="0">
                <a:latin typeface="Arial" panose="020B0604020202090204"/>
                <a:cs typeface="Arial" panose="020B0604020202090204"/>
              </a:rPr>
              <a:t>strengths </a:t>
            </a:r>
            <a:r>
              <a:rPr sz="2800" spc="-5" dirty="0">
                <a:latin typeface="Arial" panose="020B0604020202090204"/>
                <a:cs typeface="Arial" panose="020B0604020202090204"/>
              </a:rPr>
              <a:t>or personal</a:t>
            </a:r>
            <a:r>
              <a:rPr lang="en-US" sz="2800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800" dirty="0">
                <a:latin typeface="Arial" panose="020B0604020202090204"/>
                <a:cs typeface="Arial" panose="020B0604020202090204"/>
              </a:rPr>
              <a:t>qualities</a:t>
            </a:r>
            <a:r>
              <a:rPr lang="en-US" sz="2800" dirty="0">
                <a:latin typeface="Arial" panose="020B0604020202090204"/>
                <a:cs typeface="Arial" panose="020B0604020202090204"/>
              </a:rPr>
              <a:t>/personality</a:t>
            </a:r>
          </a:p>
          <a:p>
            <a:pPr marL="12065" algn="just">
              <a:spcBef>
                <a:spcPts val="2400"/>
              </a:spcBef>
              <a:buClr>
                <a:srgbClr val="85D1EB"/>
              </a:buClr>
              <a:buSzPct val="89000"/>
              <a:tabLst>
                <a:tab pos="356235" algn="l"/>
              </a:tabLst>
            </a:pPr>
            <a:r>
              <a:rPr lang="en-US" sz="2000" dirty="0">
                <a:latin typeface="Arial" panose="020B0604020202090204"/>
                <a:cs typeface="Arial" panose="020B0604020202090204"/>
              </a:rPr>
              <a:t>My 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colleagues describe me as someone who works well both independently and as part of a team. I can also take on a leadership role when needed. </a:t>
            </a:r>
            <a:r>
              <a:rPr lang="en-US" altLang="en-US" sz="2000" dirty="0">
                <a:latin typeface="Arial" panose="020B0604020202090204"/>
                <a:cs typeface="Arial" panose="020B0604020202090204"/>
              </a:rPr>
              <a:t>All projects under my supervision have been executed successfully. They consistently see me as warm, caring, responsible, self-directed, and capable of working with minimal supervision.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8"/>
          <p:cNvSpPr txBox="1"/>
          <p:nvPr/>
        </p:nvSpPr>
        <p:spPr>
          <a:xfrm>
            <a:off x="1373250" y="2009265"/>
            <a:ext cx="9840850" cy="3160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2400" spc="-5" dirty="0">
                <a:latin typeface="Arial" panose="020B0604020202090204"/>
                <a:cs typeface="Arial" panose="020B0604020202090204"/>
              </a:rPr>
              <a:t>What else do </a:t>
            </a:r>
            <a:r>
              <a:rPr sz="2400" dirty="0">
                <a:latin typeface="Arial" panose="020B0604020202090204"/>
                <a:cs typeface="Arial" panose="020B0604020202090204"/>
              </a:rPr>
              <a:t>you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think </a:t>
            </a:r>
            <a:r>
              <a:rPr sz="2400" dirty="0">
                <a:latin typeface="Arial" panose="020B0604020202090204"/>
                <a:cs typeface="Arial" panose="020B0604020202090204"/>
              </a:rPr>
              <a:t>can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be included in </a:t>
            </a:r>
            <a:r>
              <a:rPr sz="2400" dirty="0">
                <a:latin typeface="Arial" panose="020B0604020202090204"/>
                <a:cs typeface="Arial" panose="020B0604020202090204"/>
              </a:rPr>
              <a:t>a </a:t>
            </a:r>
            <a:r>
              <a:rPr sz="2400" spc="-10" dirty="0">
                <a:latin typeface="Arial" panose="020B0604020202090204"/>
                <a:cs typeface="Arial" panose="020B0604020202090204"/>
              </a:rPr>
              <a:t>CV?</a:t>
            </a:r>
            <a:r>
              <a:rPr sz="2400" spc="105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(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additional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)</a:t>
            </a:r>
            <a:endParaRPr lang="en-US" sz="2400"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1900"/>
              </a:spcBef>
            </a:pPr>
            <a:r>
              <a:rPr lang="x-none" sz="2400" spc="-5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Voluntary work</a:t>
            </a:r>
          </a:p>
          <a:p>
            <a:pPr marL="12700">
              <a:spcBef>
                <a:spcPts val="1900"/>
              </a:spcBef>
            </a:pPr>
            <a:r>
              <a:rPr lang="x-none" sz="2400" spc="-5" dirty="0">
                <a:latin typeface="Arial" panose="020B0604020202090204"/>
                <a:cs typeface="Arial" panose="020B0604020202090204"/>
                <a:sym typeface="+mn-ea"/>
              </a:rPr>
              <a:t>■</a:t>
            </a:r>
            <a:r>
              <a:rPr lang="en-US" sz="2400" spc="-5" dirty="0">
                <a:latin typeface="Arial" panose="020B0604020202090204"/>
                <a:cs typeface="Arial" panose="020B0604020202090204"/>
                <a:sym typeface="+mn-ea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Awards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–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</a:t>
            </a:r>
            <a:r>
              <a:rPr sz="2400" spc="-15" dirty="0">
                <a:latin typeface="Arial" panose="020B0604020202090204"/>
                <a:cs typeface="Arial" panose="020B0604020202090204"/>
              </a:rPr>
              <a:t>n</a:t>
            </a:r>
            <a:r>
              <a:rPr sz="2400" dirty="0">
                <a:latin typeface="Arial" panose="020B0604020202090204"/>
                <a:cs typeface="Arial" panose="020B0604020202090204"/>
              </a:rPr>
              <a:t>y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reco</a:t>
            </a:r>
            <a:r>
              <a:rPr sz="2400" dirty="0">
                <a:latin typeface="Arial" panose="020B0604020202090204"/>
                <a:cs typeface="Arial" panose="020B0604020202090204"/>
              </a:rPr>
              <a:t>g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n</a:t>
            </a:r>
            <a:r>
              <a:rPr sz="2400" spc="-15" dirty="0">
                <a:latin typeface="Arial" panose="020B0604020202090204"/>
                <a:cs typeface="Arial" panose="020B0604020202090204"/>
              </a:rPr>
              <a:t>i</a:t>
            </a:r>
            <a:r>
              <a:rPr sz="2400" dirty="0">
                <a:latin typeface="Arial" panose="020B0604020202090204"/>
                <a:cs typeface="Arial" panose="020B0604020202090204"/>
              </a:rPr>
              <a:t>t</a:t>
            </a:r>
            <a:r>
              <a:rPr sz="2400" spc="5" dirty="0">
                <a:latin typeface="Arial" panose="020B0604020202090204"/>
                <a:cs typeface="Arial" panose="020B0604020202090204"/>
              </a:rPr>
              <a:t>i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on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10" dirty="0">
                <a:latin typeface="Arial" panose="020B0604020202090204"/>
                <a:cs typeface="Arial" panose="020B0604020202090204"/>
              </a:rPr>
              <a:t>o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r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awards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for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dirty="0">
                <a:latin typeface="Arial" panose="020B0604020202090204"/>
                <a:cs typeface="Arial" panose="020B0604020202090204"/>
              </a:rPr>
              <a:t>out</a:t>
            </a:r>
            <a:r>
              <a:rPr sz="2400" spc="-15" dirty="0">
                <a:latin typeface="Arial" panose="020B0604020202090204"/>
                <a:cs typeface="Arial" panose="020B0604020202090204"/>
              </a:rPr>
              <a:t>s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tanding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acad</a:t>
            </a:r>
            <a:r>
              <a:rPr sz="2400" spc="5" dirty="0">
                <a:latin typeface="Arial" panose="020B0604020202090204"/>
                <a:cs typeface="Arial" panose="020B0604020202090204"/>
              </a:rPr>
              <a:t>e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mic  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achievement,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sports,</a:t>
            </a:r>
            <a:r>
              <a:rPr sz="2400" spc="30" dirty="0">
                <a:latin typeface="Arial" panose="020B0604020202090204"/>
                <a:cs typeface="Arial" panose="020B0604020202090204"/>
              </a:rPr>
              <a:t> </a:t>
            </a:r>
            <a:r>
              <a:rPr sz="2400" spc="-5" dirty="0">
                <a:latin typeface="Arial" panose="020B0604020202090204"/>
                <a:cs typeface="Arial" panose="020B0604020202090204"/>
              </a:rPr>
              <a:t>etc.</a:t>
            </a:r>
            <a:endParaRPr lang="en-US" sz="2400" spc="-5"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290"/>
              </a:spcBef>
              <a:buClr>
                <a:srgbClr val="85D1EB"/>
              </a:buClr>
              <a:buSzPct val="90000"/>
              <a:tabLst>
                <a:tab pos="355600" algn="l"/>
                <a:tab pos="356235" algn="l"/>
              </a:tabLst>
            </a:pPr>
            <a:r>
              <a:rPr lang="x-none" sz="2400" spc="-5" dirty="0">
                <a:latin typeface="Arial" panose="020B0604020202090204"/>
                <a:cs typeface="Arial" panose="020B0604020202090204"/>
              </a:rPr>
              <a:t>■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 Information about salaries </a:t>
            </a:r>
            <a:r>
              <a:rPr lang="en-US" sz="2400" dirty="0">
                <a:latin typeface="Arial" panose="020B0604020202090204"/>
                <a:cs typeface="Arial" panose="020B0604020202090204"/>
              </a:rPr>
              <a:t>– past, 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present or</a:t>
            </a:r>
            <a:r>
              <a:rPr lang="en-US" sz="2400" spc="90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z="2400" spc="-5" dirty="0">
                <a:latin typeface="Arial" panose="020B0604020202090204"/>
                <a:cs typeface="Arial" panose="020B0604020202090204"/>
              </a:rPr>
              <a:t>expected (IF 	REQUESTED)</a:t>
            </a:r>
            <a:endParaRPr lang="en-US" sz="2400" dirty="0">
              <a:latin typeface="Arial" panose="020B0604020202090204"/>
              <a:cs typeface="Arial" panose="020B0604020202090204"/>
            </a:endParaRPr>
          </a:p>
          <a:p>
            <a:pPr marL="12065">
              <a:spcBef>
                <a:spcPts val="290"/>
              </a:spcBef>
              <a:buClr>
                <a:srgbClr val="85D1EB"/>
              </a:buClr>
              <a:buSzPct val="90000"/>
              <a:tabLst>
                <a:tab pos="355600" algn="l"/>
                <a:tab pos="356235" algn="l"/>
              </a:tabLst>
            </a:pPr>
            <a:endParaRPr sz="24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71750" y="2912110"/>
            <a:ext cx="6325870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735" marR="664845" algn="ctr">
              <a:spcBef>
                <a:spcPts val="100"/>
              </a:spcBef>
            </a:pPr>
            <a:r>
              <a:rPr lang="en-US" b="1" u="sng" spc="-10" dirty="0">
                <a:latin typeface="Arial" panose="020B0604020202090204"/>
                <a:cs typeface="Arial" panose="020B0604020202090204"/>
              </a:rPr>
              <a:t>PERSONAL INFORMATION</a:t>
            </a:r>
          </a:p>
          <a:p>
            <a:pPr marL="673735" marR="664845" algn="ctr">
              <a:spcBef>
                <a:spcPts val="100"/>
              </a:spcBef>
            </a:pPr>
            <a:r>
              <a:rPr spc="-10" dirty="0">
                <a:latin typeface="Arial" panose="020B0604020202090204"/>
                <a:cs typeface="Arial" panose="020B0604020202090204"/>
              </a:rPr>
              <a:t>Victoria </a:t>
            </a:r>
            <a:r>
              <a:rPr spc="-5" dirty="0">
                <a:latin typeface="Arial" panose="020B0604020202090204"/>
                <a:cs typeface="Arial" panose="020B0604020202090204"/>
              </a:rPr>
              <a:t>Lee </a:t>
            </a:r>
            <a:r>
              <a:rPr dirty="0">
                <a:latin typeface="Arial" panose="020B0604020202090204"/>
                <a:cs typeface="Arial" panose="020B0604020202090204"/>
              </a:rPr>
              <a:t>May</a:t>
            </a:r>
            <a:r>
              <a:rPr spc="-150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Ann  </a:t>
            </a:r>
            <a:endParaRPr lang="en-US" spc="-5" dirty="0">
              <a:latin typeface="Arial" panose="020B0604020202090204"/>
              <a:cs typeface="Arial" panose="020B0604020202090204"/>
            </a:endParaRPr>
          </a:p>
          <a:p>
            <a:pPr marL="673735" marR="664845" algn="ctr">
              <a:spcBef>
                <a:spcPts val="100"/>
              </a:spcBef>
            </a:pPr>
            <a:r>
              <a:rPr spc="-5" dirty="0">
                <a:latin typeface="Arial" panose="020B0604020202090204"/>
                <a:cs typeface="Arial" panose="020B0604020202090204"/>
              </a:rPr>
              <a:t>17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Austin Street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pc="-10" dirty="0">
                <a:latin typeface="Arial" panose="020B0604020202090204"/>
                <a:cs typeface="Arial" panose="020B0604020202090204"/>
              </a:rPr>
              <a:t>          </a:t>
            </a:r>
            <a:r>
              <a:rPr spc="-10" dirty="0">
                <a:latin typeface="Arial" panose="020B0604020202090204"/>
                <a:cs typeface="Arial" panose="020B0604020202090204"/>
              </a:rPr>
              <a:t>81200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Melaka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pc="-50" dirty="0">
                <a:latin typeface="Arial" panose="020B0604020202090204"/>
                <a:cs typeface="Arial" panose="020B0604020202090204"/>
              </a:rPr>
              <a:t> Contact</a:t>
            </a:r>
            <a:r>
              <a:rPr spc="-5" dirty="0">
                <a:latin typeface="Arial" panose="020B0604020202090204"/>
                <a:cs typeface="Arial" panose="020B0604020202090204"/>
              </a:rPr>
              <a:t>:</a:t>
            </a:r>
            <a:r>
              <a:rPr spc="95" dirty="0">
                <a:latin typeface="Arial" panose="020B0604020202090204"/>
                <a:cs typeface="Arial" panose="020B0604020202090204"/>
              </a:rPr>
              <a:t> </a:t>
            </a:r>
            <a:r>
              <a:rPr spc="-10" dirty="0">
                <a:latin typeface="Arial" panose="020B0604020202090204"/>
                <a:cs typeface="Arial" panose="020B0604020202090204"/>
              </a:rPr>
              <a:t>0188888887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                </a:t>
            </a:r>
            <a:r>
              <a:rPr spc="-5" dirty="0">
                <a:latin typeface="Arial" panose="020B0604020202090204"/>
                <a:cs typeface="Arial" panose="020B0604020202090204"/>
              </a:rPr>
              <a:t>E-mail:</a:t>
            </a:r>
            <a:r>
              <a:rPr spc="-10" dirty="0">
                <a:latin typeface="Arial" panose="020B0604020202090204"/>
                <a:cs typeface="Arial" panose="020B0604020202090204"/>
              </a:rPr>
              <a:t> </a:t>
            </a:r>
            <a:r>
              <a:rPr u="heavy" spc="-5" dirty="0">
                <a:uFill>
                  <a:solidFill>
                    <a:srgbClr val="85D1EB"/>
                  </a:solidFill>
                </a:uFill>
                <a:latin typeface="Arial" panose="020B0604020202090204"/>
                <a:cs typeface="Arial" panose="020B0604020202090204"/>
                <a:hlinkClick r:id="rId2"/>
              </a:rPr>
              <a:t>victoria</a:t>
            </a:r>
            <a:r>
              <a:rPr lang="en-US" u="heavy" spc="-5" dirty="0">
                <a:uFill>
                  <a:solidFill>
                    <a:srgbClr val="85D1EB"/>
                  </a:solidFill>
                </a:uFill>
                <a:latin typeface="Arial" panose="020B0604020202090204"/>
                <a:cs typeface="Arial" panose="020B0604020202090204"/>
                <a:hlinkClick r:id="rId2"/>
              </a:rPr>
              <a:t>a</a:t>
            </a:r>
            <a:r>
              <a:rPr u="heavy" spc="-5" dirty="0">
                <a:uFill>
                  <a:solidFill>
                    <a:srgbClr val="85D1EB"/>
                  </a:solidFill>
                </a:uFill>
                <a:latin typeface="Arial" panose="020B0604020202090204"/>
                <a:cs typeface="Arial" panose="020B0604020202090204"/>
                <a:hlinkClick r:id="rId2"/>
              </a:rPr>
              <a:t>nn@gmail.com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3845" y="4131310"/>
            <a:ext cx="4969510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dirty="0">
              <a:latin typeface="Arial" panose="020B0604020202090204"/>
              <a:cs typeface="Arial" panose="020B0604020202090204"/>
            </a:endParaRPr>
          </a:p>
          <a:p>
            <a:pPr marL="12700">
              <a:spcBef>
                <a:spcPts val="5"/>
              </a:spcBef>
              <a:tabLst>
                <a:tab pos="2755900" algn="l"/>
              </a:tabLst>
            </a:pPr>
            <a:r>
              <a:rPr dirty="0">
                <a:latin typeface="Arial" panose="020B0604020202090204"/>
                <a:cs typeface="Arial" panose="020B0604020202090204"/>
              </a:rPr>
              <a:t>		</a:t>
            </a:r>
            <a:endParaRPr lang="en-US" dirty="0">
              <a:latin typeface="Arial" panose="020B0604020202090204"/>
              <a:cs typeface="Arial" panose="020B0604020202090204"/>
            </a:endParaRPr>
          </a:p>
          <a:p>
            <a:pPr marL="12700">
              <a:tabLst>
                <a:tab pos="2755900" algn="l"/>
              </a:tabLst>
            </a:pPr>
            <a:r>
              <a:rPr lang="en-US" dirty="0">
                <a:latin typeface="Arial" panose="020B0604020202090204"/>
                <a:cs typeface="Arial" panose="020B0604020202090204"/>
              </a:rPr>
              <a:t>    Able to start immediately  : Yes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51095" y="1500923"/>
          <a:ext cx="2096643" cy="1207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72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32535" y="1184275"/>
            <a:ext cx="8970645" cy="4042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05"/>
              </a:spcBef>
              <a:buNone/>
            </a:pPr>
            <a:r>
              <a:rPr lang="en-US" sz="2000" b="1" u="sng" spc="-5" dirty="0">
                <a:latin typeface="Arial" panose="020B0604020202090204"/>
                <a:cs typeface="Arial" panose="020B0604020202090204"/>
                <a:sym typeface="+mn-ea"/>
              </a:rPr>
              <a:t>EDUCATIONAL</a:t>
            </a:r>
            <a:r>
              <a:rPr lang="en-US" sz="2000" b="1" u="sng" spc="15" dirty="0">
                <a:latin typeface="Arial" panose="020B0604020202090204"/>
                <a:cs typeface="Arial" panose="020B0604020202090204"/>
                <a:sym typeface="+mn-ea"/>
              </a:rPr>
              <a:t> </a:t>
            </a:r>
            <a:r>
              <a:rPr lang="en-US" sz="2000" b="1" u="sng" spc="-5" dirty="0">
                <a:latin typeface="Arial" panose="020B0604020202090204"/>
                <a:cs typeface="Arial" panose="020B0604020202090204"/>
                <a:sym typeface="+mn-ea"/>
              </a:rPr>
              <a:t>BACKGROUND &amp; ACADEMIC QUALIFICATIONS</a:t>
            </a:r>
          </a:p>
          <a:p>
            <a:pPr marL="0" indent="0">
              <a:spcBef>
                <a:spcPts val="105"/>
              </a:spcBef>
              <a:buNone/>
            </a:pPr>
            <a:endParaRPr lang="en-US" sz="2000" b="1" u="sng" spc="-5" dirty="0">
              <a:latin typeface="Arial" panose="020B0604020202090204"/>
              <a:cs typeface="Arial" panose="020B0604020202090204"/>
              <a:sym typeface="+mn-ea"/>
            </a:endParaRPr>
          </a:p>
          <a:p>
            <a:pPr marL="0" indent="0">
              <a:spcBef>
                <a:spcPts val="105"/>
              </a:spcBef>
              <a:buNone/>
            </a:pPr>
            <a:endParaRPr lang="en-US" sz="2000" b="1" u="sng" spc="-5" dirty="0">
              <a:latin typeface="Arial" panose="020B0604020202090204"/>
              <a:cs typeface="Arial" panose="020B0604020202090204"/>
              <a:sym typeface="+mn-ea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959521"/>
              </p:ext>
            </p:extLst>
          </p:nvPr>
        </p:nvGraphicFramePr>
        <p:xfrm>
          <a:off x="838200" y="1934845"/>
          <a:ext cx="10680700" cy="312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1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6216">
                <a:tc>
                  <a:txBody>
                    <a:bodyPr/>
                    <a:lstStyle/>
                    <a:p>
                      <a:pPr marL="31750">
                        <a:lnSpc>
                          <a:spcPct val="200000"/>
                        </a:lnSpc>
                      </a:pP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r>
                        <a:rPr lang="en-US" sz="1800" spc="-5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25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U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ndergraduate Program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/Bachelor Degree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, 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Metro University</a:t>
                      </a:r>
                      <a:endParaRPr lang="en-US" sz="1800" spc="-10" baseline="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Bachelor</a:t>
                      </a:r>
                      <a:r>
                        <a:rPr lang="en-US" sz="1800" spc="-10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Degree in Science &amp; Technology</a:t>
                      </a:r>
                    </a:p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lang="en-US" sz="1800" spc="-10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CGPA: 4.0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216">
                <a:tc>
                  <a:txBody>
                    <a:bodyPr/>
                    <a:lstStyle/>
                    <a:p>
                      <a:pPr marL="31750">
                        <a:lnSpc>
                          <a:spcPct val="200000"/>
                        </a:lnSpc>
                      </a:pP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19</a:t>
                      </a:r>
                      <a:r>
                        <a:rPr lang="en-US" sz="1800" spc="-5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-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20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Foundation Programme, 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Taylor’s University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Malaysia</a:t>
                      </a:r>
                      <a:endParaRPr lang="en-US" sz="1800" spc="-1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lang="en-US" sz="1800" spc="-1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Foundation</a:t>
                      </a:r>
                      <a:r>
                        <a:rPr lang="en-US" sz="1800" spc="-10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 in Science</a:t>
                      </a:r>
                    </a:p>
                    <a:p>
                      <a:pPr marL="465455">
                        <a:lnSpc>
                          <a:spcPct val="200000"/>
                        </a:lnSpc>
                      </a:pPr>
                      <a:r>
                        <a:rPr lang="en-US" sz="1800" spc="-10" baseline="0" dirty="0">
                          <a:solidFill>
                            <a:schemeClr val="tx1"/>
                          </a:solidFill>
                          <a:latin typeface="Arial" panose="020B0604020202090204"/>
                          <a:cs typeface="Arial" panose="020B0604020202090204"/>
                        </a:rPr>
                        <a:t>CGPA: 4.0</a:t>
                      </a:r>
                      <a:endParaRPr sz="1800" dirty="0">
                        <a:solidFill>
                          <a:schemeClr val="tx1"/>
                        </a:solidFill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6600" y="1484392"/>
            <a:ext cx="314705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January</a:t>
            </a:r>
            <a:r>
              <a:rPr b="1" spc="-5" dirty="0">
                <a:latin typeface="Arial" panose="020B0604020202090204"/>
                <a:cs typeface="Arial" panose="020B0604020202090204"/>
              </a:rPr>
              <a:t> 20</a:t>
            </a:r>
            <a:r>
              <a:rPr lang="en-US" b="1" spc="-5" dirty="0">
                <a:latin typeface="Arial" panose="020B0604020202090204"/>
                <a:cs typeface="Arial" panose="020B0604020202090204"/>
              </a:rPr>
              <a:t>26 </a:t>
            </a:r>
            <a:r>
              <a:rPr b="1" spc="-5" dirty="0">
                <a:latin typeface="Arial" panose="020B0604020202090204"/>
                <a:cs typeface="Arial" panose="020B0604020202090204"/>
              </a:rPr>
              <a:t>-</a:t>
            </a:r>
            <a:r>
              <a:rPr b="1" spc="-25" dirty="0">
                <a:latin typeface="Arial" panose="020B0604020202090204"/>
                <a:cs typeface="Arial" panose="020B0604020202090204"/>
              </a:rPr>
              <a:t> </a:t>
            </a:r>
            <a:r>
              <a:rPr b="1" spc="-5" dirty="0">
                <a:latin typeface="Arial" panose="020B0604020202090204"/>
                <a:cs typeface="Arial" panose="020B0604020202090204"/>
              </a:rPr>
              <a:t>Present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0976" y="1499944"/>
            <a:ext cx="495236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 panose="020B0604020202090204"/>
                <a:cs typeface="Arial" panose="020B0604020202090204"/>
              </a:rPr>
              <a:t>JBC Research</a:t>
            </a:r>
            <a:r>
              <a:rPr b="1" spc="-50" dirty="0">
                <a:latin typeface="Arial" panose="020B0604020202090204"/>
                <a:cs typeface="Arial" panose="020B0604020202090204"/>
              </a:rPr>
              <a:t> </a:t>
            </a:r>
            <a:r>
              <a:rPr b="1" dirty="0">
                <a:latin typeface="Arial" panose="020B0604020202090204"/>
                <a:cs typeface="Arial" panose="020B0604020202090204"/>
              </a:rPr>
              <a:t>Institute</a:t>
            </a:r>
            <a:r>
              <a:rPr lang="en-US" b="1" dirty="0">
                <a:latin typeface="Arial" panose="020B0604020202090204"/>
                <a:cs typeface="Arial" panose="020B0604020202090204"/>
              </a:rPr>
              <a:t> 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700"/>
            <a:r>
              <a:rPr lang="en-US" b="1" spc="-10" dirty="0">
                <a:latin typeface="Arial" panose="020B0604020202090204"/>
                <a:cs typeface="Arial" panose="020B0604020202090204"/>
              </a:rPr>
              <a:t>Software Developer 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0018" y="2403541"/>
            <a:ext cx="7391082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 panose="020B0604020202090204"/>
                <a:cs typeface="Arial" panose="020B0604020202090204"/>
              </a:rPr>
              <a:t>- </a:t>
            </a: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 Develop clean, efficient, and maintainable code in one or more programming languages </a:t>
            </a:r>
            <a:endParaRPr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52400" indent="-140335">
              <a:buChar char="-"/>
              <a:tabLst>
                <a:tab pos="15303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Collaborate with stakeholders</a:t>
            </a:r>
          </a:p>
          <a:p>
            <a:pPr marL="152400" indent="-140335">
              <a:buChar char="-"/>
              <a:tabLst>
                <a:tab pos="15303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Design Software Solutions</a:t>
            </a:r>
          </a:p>
          <a:p>
            <a:pPr marL="152400" indent="-140335">
              <a:buChar char="-"/>
              <a:tabLst>
                <a:tab pos="153035" algn="l"/>
              </a:tabLst>
            </a:pPr>
            <a:r>
              <a:rPr lang="en-US" dirty="0">
                <a:latin typeface="Arial" panose="020B0604020202090204"/>
                <a:cs typeface="Arial" panose="020B0604020202090204"/>
              </a:rPr>
              <a:t>Develop User Interfaces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600" y="4239253"/>
            <a:ext cx="28047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spc="-5" dirty="0">
                <a:latin typeface="Arial" panose="020B0604020202090204"/>
                <a:cs typeface="Arial" panose="020B0604020202090204"/>
              </a:rPr>
              <a:t>June 2025 </a:t>
            </a:r>
            <a:r>
              <a:rPr lang="en-MY" b="1" spc="-5" dirty="0">
                <a:latin typeface="Arial" panose="020B0604020202090204"/>
                <a:cs typeface="Arial" panose="020B0604020202090204"/>
              </a:rPr>
              <a:t>–</a:t>
            </a:r>
            <a:r>
              <a:rPr lang="en-US" b="1" spc="-5" dirty="0">
                <a:latin typeface="Arial" panose="020B0604020202090204"/>
                <a:cs typeface="Arial" panose="020B0604020202090204"/>
              </a:rPr>
              <a:t> November 2025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3834" y="4236706"/>
            <a:ext cx="6509065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spc="-5" dirty="0">
                <a:latin typeface="Arial" panose="020B0604020202090204"/>
                <a:cs typeface="Arial" panose="020B0604020202090204"/>
              </a:rPr>
              <a:t>Faculty </a:t>
            </a:r>
            <a:r>
              <a:rPr b="1" dirty="0">
                <a:latin typeface="Arial" panose="020B0604020202090204"/>
                <a:cs typeface="Arial" panose="020B0604020202090204"/>
              </a:rPr>
              <a:t>of </a:t>
            </a:r>
            <a:r>
              <a:rPr b="1" spc="-5" dirty="0">
                <a:latin typeface="Arial" panose="020B0604020202090204"/>
                <a:cs typeface="Arial" panose="020B0604020202090204"/>
              </a:rPr>
              <a:t>Science</a:t>
            </a:r>
            <a:r>
              <a:rPr lang="en-US" b="1" spc="-5" dirty="0">
                <a:latin typeface="Arial" panose="020B0604020202090204"/>
                <a:cs typeface="Arial" panose="020B0604020202090204"/>
              </a:rPr>
              <a:t> &amp; Technology </a:t>
            </a:r>
            <a:r>
              <a:rPr b="1" dirty="0">
                <a:latin typeface="Arial" panose="020B0604020202090204"/>
                <a:cs typeface="Arial" panose="020B0604020202090204"/>
              </a:rPr>
              <a:t>UTM</a:t>
            </a:r>
            <a:r>
              <a:rPr lang="en-US" b="1" dirty="0">
                <a:latin typeface="Arial" panose="020B0604020202090204"/>
                <a:cs typeface="Arial" panose="020B0604020202090204"/>
              </a:rPr>
              <a:t> </a:t>
            </a:r>
            <a:r>
              <a:rPr b="1" dirty="0">
                <a:latin typeface="Arial" panose="020B0604020202090204"/>
                <a:cs typeface="Arial" panose="020B0604020202090204"/>
              </a:rPr>
              <a:t>  </a:t>
            </a:r>
            <a:endParaRPr lang="en-US" b="1" dirty="0">
              <a:latin typeface="Arial" panose="020B0604020202090204"/>
              <a:cs typeface="Arial" panose="020B0604020202090204"/>
            </a:endParaRPr>
          </a:p>
          <a:p>
            <a:pPr marL="12700" marR="5080">
              <a:spcBef>
                <a:spcPts val="100"/>
              </a:spcBef>
            </a:pPr>
            <a:r>
              <a:rPr b="1" spc="-10" dirty="0">
                <a:latin typeface="Arial" panose="020B0604020202090204"/>
                <a:cs typeface="Arial" panose="020B0604020202090204"/>
              </a:rPr>
              <a:t>Assistant</a:t>
            </a:r>
            <a:r>
              <a:rPr lang="en-US" b="1" spc="-10" dirty="0">
                <a:latin typeface="Arial" panose="020B0604020202090204"/>
                <a:cs typeface="Arial" panose="020B0604020202090204"/>
              </a:rPr>
              <a:t> Software Engineer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0976" y="4869956"/>
            <a:ext cx="660082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0865" lvl="4">
              <a:spcBef>
                <a:spcPts val="100"/>
              </a:spcBef>
              <a:tabLst>
                <a:tab pos="153035" algn="l"/>
              </a:tabLst>
            </a:pPr>
            <a:endParaRPr dirty="0">
              <a:latin typeface="Arial" panose="020B0604020202090204"/>
              <a:cs typeface="Arial" panose="020B0604020202090204"/>
            </a:endParaRPr>
          </a:p>
          <a:p>
            <a:pPr marL="139065" indent="-127000">
              <a:spcBef>
                <a:spcPts val="5"/>
              </a:spcBef>
              <a:buChar char="-"/>
              <a:tabLst>
                <a:tab pos="139700" algn="l"/>
              </a:tabLst>
            </a:pPr>
            <a:r>
              <a:rPr lang="en-US" spc="-10" dirty="0">
                <a:latin typeface="Arial" panose="020B0604020202090204"/>
                <a:cs typeface="Arial" panose="020B0604020202090204"/>
              </a:rPr>
              <a:t>Developed new features or enhancements for existing software applications based on client or business requirements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39065" marR="5080" indent="-127000">
              <a:buChar char="-"/>
              <a:tabLst>
                <a:tab pos="153035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Designed databases or integrated with existing databases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600" y="749300"/>
            <a:ext cx="347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rial" panose="020B0604020202090204" pitchFamily="34" charset="0"/>
                <a:cs typeface="Arial" panose="020B0604020202090204" pitchFamily="34" charset="0"/>
              </a:rPr>
              <a:t>WORK EXPERIENCE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7600" y="1130300"/>
            <a:ext cx="9588500" cy="5072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LANGUAGE SKILLS 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English – fluent in spoken and written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Japanese - beginner (spoken)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French – beginner (spoken)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LANGUAGE SKILLS 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2700">
              <a:spcBef>
                <a:spcPts val="100"/>
              </a:spcBef>
            </a:pPr>
            <a:endParaRPr lang="en-US" dirty="0">
              <a:latin typeface="Arial" panose="020B0604020202090204"/>
              <a:cs typeface="Arial" panose="020B0604020202090204"/>
            </a:endParaRPr>
          </a:p>
          <a:p>
            <a:pPr marL="12700" marR="474345">
              <a:tabLst>
                <a:tab pos="2032000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Spoken Languages </a:t>
            </a:r>
            <a:r>
              <a:rPr lang="en-US" dirty="0">
                <a:latin typeface="Arial" panose="020B0604020202090204"/>
                <a:cs typeface="Arial" panose="020B0604020202090204"/>
              </a:rPr>
              <a:t>: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Bahasa </a:t>
            </a:r>
            <a:r>
              <a:rPr lang="en-US" spc="-10" dirty="0">
                <a:latin typeface="Arial" panose="020B0604020202090204"/>
                <a:cs typeface="Arial" panose="020B0604020202090204"/>
              </a:rPr>
              <a:t>Malaysia,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English, Mandarin, Cantonese, Korean  </a:t>
            </a:r>
          </a:p>
          <a:p>
            <a:pPr marL="12700" marR="474345">
              <a:tabLst>
                <a:tab pos="2032000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Written Languages	</a:t>
            </a:r>
            <a:r>
              <a:rPr lang="en-US" dirty="0">
                <a:latin typeface="Arial" panose="020B0604020202090204"/>
                <a:cs typeface="Arial" panose="020B0604020202090204"/>
              </a:rPr>
              <a:t>: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Bahasa </a:t>
            </a:r>
            <a:r>
              <a:rPr lang="en-US" spc="-10" dirty="0">
                <a:latin typeface="Arial" panose="020B0604020202090204"/>
                <a:cs typeface="Arial" panose="020B0604020202090204"/>
              </a:rPr>
              <a:t>Malaysia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and</a:t>
            </a:r>
            <a:r>
              <a:rPr lang="en-US" spc="55" dirty="0">
                <a:latin typeface="Arial" panose="020B0604020202090204"/>
                <a:cs typeface="Arial" panose="020B0604020202090204"/>
              </a:rPr>
              <a:t> </a:t>
            </a:r>
            <a:r>
              <a:rPr lang="en-US" spc="-5" dirty="0">
                <a:latin typeface="Arial" panose="020B0604020202090204"/>
                <a:cs typeface="Arial" panose="020B0604020202090204"/>
              </a:rPr>
              <a:t>English</a:t>
            </a:r>
          </a:p>
          <a:p>
            <a:pPr marL="12700" marR="474345">
              <a:tabLst>
                <a:tab pos="2032000" algn="l"/>
              </a:tabLst>
            </a:pPr>
            <a:endParaRPr lang="en-US" spc="-5" dirty="0">
              <a:latin typeface="Arial" panose="020B0604020202090204"/>
              <a:cs typeface="Arial" panose="020B0604020202090204"/>
            </a:endParaRPr>
          </a:p>
          <a:p>
            <a:pPr marL="12700" marR="474345">
              <a:tabLst>
                <a:tab pos="2032000" algn="l"/>
              </a:tabLst>
            </a:pPr>
            <a:r>
              <a:rPr lang="en-US" b="1" u="sng" spc="-5" dirty="0">
                <a:latin typeface="Arial" panose="020B0604020202090204"/>
                <a:cs typeface="Arial" panose="020B0604020202090204"/>
              </a:rPr>
              <a:t>LANGUAGE SKILLS</a:t>
            </a:r>
          </a:p>
          <a:p>
            <a:pPr marL="12700" marR="474345">
              <a:tabLst>
                <a:tab pos="2032000" algn="l"/>
              </a:tabLst>
            </a:pPr>
            <a:endParaRPr lang="en-US" b="1" u="sng" spc="-5" dirty="0">
              <a:latin typeface="Arial" panose="020B0604020202090204"/>
              <a:cs typeface="Arial" panose="020B0604020202090204"/>
            </a:endParaRPr>
          </a:p>
          <a:p>
            <a:pPr marL="12700" marR="474345">
              <a:tabLst>
                <a:tab pos="2032000" algn="l"/>
              </a:tabLst>
            </a:pPr>
            <a:r>
              <a:rPr lang="en-US" spc="-5" dirty="0">
                <a:latin typeface="Arial" panose="020B0604020202090204"/>
                <a:cs typeface="Arial" panose="020B0604020202090204"/>
              </a:rPr>
              <a:t>‘BOX FORMAT’				</a:t>
            </a:r>
            <a:r>
              <a:rPr lang="en-US" sz="2000" spc="-5" dirty="0">
                <a:latin typeface="Arial" panose="020B0604020202090204"/>
                <a:cs typeface="Arial" panose="020B0604020202090204"/>
              </a:rPr>
              <a:t>  </a:t>
            </a:r>
            <a:r>
              <a:rPr lang="en-US" sz="2000" spc="-5" dirty="0">
                <a:latin typeface="Arial" panose="020B0604020202090204" pitchFamily="34" charset="0"/>
                <a:cs typeface="Arial" panose="020B0604020202090204" pitchFamily="34" charset="0"/>
              </a:rPr>
              <a:t>			   </a:t>
            </a:r>
            <a:endParaRPr lang="en-US" sz="2000" spc="-5" dirty="0">
              <a:latin typeface="Arial" panose="020B0604020202090204"/>
              <a:cs typeface="Arial" panose="020B0604020202090204"/>
            </a:endParaRP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41" y="1198101"/>
            <a:ext cx="8442325" cy="6383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COMPUTER SKILLS 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Excellent in various software ( Adobe Photoshop, Autodesk, AutoCAD)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INTERPERSONAL SKILLS </a:t>
            </a: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Excellent presentation skills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Excellent leadership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AWARDS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April 2024 – (Best Student)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February 2023 – (Dean’s List)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PERSONAL CHARACTERISTICS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My friends describe me as a person who both works well in a team as well as being  a team leader. Also a warm, caring and out-going person. Able to work with little  supervision, responsible and self-directed.</a:t>
            </a: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12700"/>
            <a:endParaRPr u="sng" dirty="0">
              <a:latin typeface="Arial" panose="020B0604020202090204"/>
              <a:cs typeface="Arial" panose="020B0604020202090204"/>
            </a:endParaRPr>
          </a:p>
          <a:p>
            <a:pPr marL="12700"/>
            <a:endParaRPr lang="en-US" b="1" u="heavy" spc="-5" dirty="0">
              <a:uFill>
                <a:solidFill>
                  <a:srgbClr val="FFFFFF"/>
                </a:solidFill>
              </a:uFill>
              <a:latin typeface="Arial" panose="020B0604020202090204"/>
              <a:cs typeface="Arial" panose="020B0604020202090204"/>
            </a:endParaRPr>
          </a:p>
          <a:p>
            <a:pPr marL="12700"/>
            <a:endParaRPr lang="en-US" b="1" u="heavy" spc="-5" dirty="0">
              <a:uFill>
                <a:solidFill>
                  <a:srgbClr val="FFFFFF"/>
                </a:solidFill>
              </a:uFill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1666241" y="1662260"/>
            <a:ext cx="298577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9350">
              <a:spcBef>
                <a:spcPts val="100"/>
              </a:spcBef>
            </a:pPr>
            <a:r>
              <a:rPr spc="-5" dirty="0">
                <a:latin typeface="Arial" panose="020B0604020202090204"/>
                <a:cs typeface="Arial" panose="020B0604020202090204"/>
              </a:rPr>
              <a:t>Dr Malik  Academic</a:t>
            </a:r>
            <a:r>
              <a:rPr spc="-150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Advisor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700" marR="39370"/>
            <a:r>
              <a:rPr lang="en-US" spc="-5" dirty="0">
                <a:latin typeface="Arial" panose="020B0604020202090204"/>
                <a:cs typeface="Arial" panose="020B0604020202090204"/>
              </a:rPr>
              <a:t>Metro University</a:t>
            </a:r>
          </a:p>
          <a:p>
            <a:pPr marL="12700" marR="39370"/>
            <a:r>
              <a:rPr spc="-5" dirty="0">
                <a:latin typeface="Arial" panose="020B0604020202090204"/>
                <a:cs typeface="Arial" panose="020B0604020202090204"/>
              </a:rPr>
              <a:t>81260</a:t>
            </a:r>
            <a:r>
              <a:rPr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Skudai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700" marR="1203960"/>
            <a:r>
              <a:rPr spc="-5" dirty="0">
                <a:latin typeface="Arial" panose="020B0604020202090204"/>
                <a:cs typeface="Arial" panose="020B0604020202090204"/>
              </a:rPr>
              <a:t>Johor </a:t>
            </a:r>
            <a:r>
              <a:rPr spc="-10" dirty="0">
                <a:latin typeface="Arial" panose="020B0604020202090204"/>
                <a:cs typeface="Arial" panose="020B0604020202090204"/>
              </a:rPr>
              <a:t>Malaysia  </a:t>
            </a:r>
            <a:r>
              <a:rPr spc="-50" dirty="0">
                <a:latin typeface="Arial" panose="020B0604020202090204"/>
                <a:cs typeface="Arial" panose="020B0604020202090204"/>
              </a:rPr>
              <a:t>Tel: </a:t>
            </a:r>
            <a:r>
              <a:rPr spc="-10" dirty="0">
                <a:latin typeface="Arial" panose="020B0604020202090204"/>
                <a:cs typeface="Arial" panose="020B0604020202090204"/>
              </a:rPr>
              <a:t>07-77815321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700"/>
            <a:r>
              <a:rPr spc="-5" dirty="0">
                <a:latin typeface="Arial" panose="020B0604020202090204"/>
                <a:cs typeface="Arial" panose="020B0604020202090204"/>
              </a:rPr>
              <a:t>Email </a:t>
            </a:r>
            <a:r>
              <a:rPr dirty="0">
                <a:latin typeface="Arial" panose="020B0604020202090204"/>
                <a:cs typeface="Arial" panose="020B0604020202090204"/>
              </a:rPr>
              <a:t>:</a:t>
            </a:r>
            <a:r>
              <a:rPr spc="-45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  <a:hlinkClick r:id="rId2"/>
              </a:rPr>
              <a:t>Faridah@utm.edu.</a:t>
            </a:r>
            <a:r>
              <a:rPr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  <a:hlinkClick r:id="rId2"/>
              </a:rPr>
              <a:t>my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49366" y="1662260"/>
            <a:ext cx="29381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marR="1149985" indent="-88900">
              <a:spcBef>
                <a:spcPts val="100"/>
              </a:spcBef>
            </a:pPr>
            <a:r>
              <a:rPr spc="-5" dirty="0">
                <a:latin typeface="Arial" panose="020B0604020202090204"/>
                <a:cs typeface="Arial" panose="020B0604020202090204"/>
              </a:rPr>
              <a:t>William</a:t>
            </a:r>
            <a:r>
              <a:rPr spc="-160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Anderson  Manager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7145" marR="487680" indent="88265"/>
            <a:r>
              <a:rPr spc="-5" dirty="0">
                <a:latin typeface="Arial" panose="020B0604020202090204"/>
                <a:cs typeface="Arial" panose="020B0604020202090204"/>
              </a:rPr>
              <a:t>JBC Research</a:t>
            </a:r>
            <a:r>
              <a:rPr spc="-60" dirty="0">
                <a:latin typeface="Arial" panose="020B0604020202090204"/>
                <a:cs typeface="Arial" panose="020B0604020202090204"/>
              </a:rPr>
              <a:t> </a:t>
            </a:r>
            <a:r>
              <a:rPr dirty="0">
                <a:latin typeface="Arial" panose="020B0604020202090204"/>
                <a:cs typeface="Arial" panose="020B0604020202090204"/>
              </a:rPr>
              <a:t>Institute  </a:t>
            </a:r>
            <a:r>
              <a:rPr spc="-5" dirty="0">
                <a:latin typeface="Arial" panose="020B0604020202090204"/>
                <a:cs typeface="Arial" panose="020B0604020202090204"/>
              </a:rPr>
              <a:t>2/3 Eastern Road  Celcom</a:t>
            </a:r>
            <a:r>
              <a:rPr spc="-25" dirty="0">
                <a:latin typeface="Arial" panose="020B0604020202090204"/>
                <a:cs typeface="Arial" panose="020B0604020202090204"/>
              </a:rPr>
              <a:t> </a:t>
            </a:r>
            <a:r>
              <a:rPr spc="-50" dirty="0">
                <a:latin typeface="Arial" panose="020B0604020202090204"/>
                <a:cs typeface="Arial" panose="020B0604020202090204"/>
              </a:rPr>
              <a:t>Tower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7145"/>
            <a:r>
              <a:rPr spc="-5" dirty="0">
                <a:latin typeface="Arial" panose="020B0604020202090204"/>
                <a:cs typeface="Arial" panose="020B0604020202090204"/>
              </a:rPr>
              <a:t>12345 Kuala</a:t>
            </a:r>
            <a:r>
              <a:rPr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</a:rPr>
              <a:t>Lumpur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2700"/>
            <a:r>
              <a:rPr spc="-50" dirty="0">
                <a:latin typeface="Arial" panose="020B0604020202090204"/>
                <a:cs typeface="Arial" panose="020B0604020202090204"/>
              </a:rPr>
              <a:t>Tel:</a:t>
            </a:r>
            <a:r>
              <a:rPr spc="-5" dirty="0">
                <a:latin typeface="Arial" panose="020B0604020202090204"/>
                <a:cs typeface="Arial" panose="020B0604020202090204"/>
              </a:rPr>
              <a:t> </a:t>
            </a:r>
            <a:r>
              <a:rPr spc="-10" dirty="0">
                <a:latin typeface="Arial" panose="020B0604020202090204"/>
                <a:cs typeface="Arial" panose="020B0604020202090204"/>
              </a:rPr>
              <a:t>03-3458767</a:t>
            </a:r>
            <a:endParaRPr dirty="0">
              <a:latin typeface="Arial" panose="020B0604020202090204"/>
              <a:cs typeface="Arial" panose="020B0604020202090204"/>
            </a:endParaRPr>
          </a:p>
          <a:p>
            <a:pPr marL="105410"/>
            <a:r>
              <a:rPr spc="-5" dirty="0">
                <a:latin typeface="Arial" panose="020B0604020202090204"/>
                <a:cs typeface="Arial" panose="020B0604020202090204"/>
              </a:rPr>
              <a:t>Email:</a:t>
            </a:r>
            <a:r>
              <a:rPr spc="-130" dirty="0">
                <a:latin typeface="Arial" panose="020B0604020202090204"/>
                <a:cs typeface="Arial" panose="020B0604020202090204"/>
              </a:rPr>
              <a:t> </a:t>
            </a:r>
            <a:r>
              <a:rPr spc="-5" dirty="0">
                <a:latin typeface="Arial" panose="020B0604020202090204"/>
                <a:cs typeface="Arial" panose="020B0604020202090204"/>
                <a:hlinkClick r:id="rId3"/>
              </a:rPr>
              <a:t>Anderson@JBC.com</a:t>
            </a:r>
            <a:endParaRPr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66241" y="977900"/>
            <a:ext cx="21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rial" panose="020B0604020202090204" pitchFamily="34" charset="0"/>
                <a:cs typeface="Arial" panose="020B060402020209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10</TotalTime>
  <Words>1188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Garamond</vt:lpstr>
      <vt:lpstr>Wingdings</vt:lpstr>
      <vt:lpstr>Organic</vt:lpstr>
      <vt:lpstr>Curriculum Vitae (CV)</vt:lpstr>
      <vt:lpstr>COMPONENTS OF A CV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Hidayatul Akma Binti Safian</dc:creator>
  <cp:lastModifiedBy>Akma Safian</cp:lastModifiedBy>
  <cp:revision>86</cp:revision>
  <dcterms:created xsi:type="dcterms:W3CDTF">2025-11-25T03:32:35Z</dcterms:created>
  <dcterms:modified xsi:type="dcterms:W3CDTF">2026-06-26T01:24:31Z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070714744C95AC4C69E41B69314E6487_43</vt:lpwstr>
  </property>
  <property fmtid="{D5CDD505-2E9C-101B-9397-08002B2CF9AE}" pid="3" name="KSOProductBuildVer">
    <vt:lpwstr>1033-12.1.22554.22554</vt:lpwstr>
  </property>
</Properties>
</file>