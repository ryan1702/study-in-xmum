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8" r:id="rId2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69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1120" y="60"/>
      </p:cViewPr>
      <p:guideLst>
        <p:guide orient="horz" pos="2969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66620" y="610870"/>
            <a:ext cx="481075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962" y="381762"/>
            <a:ext cx="8229600" cy="1600200"/>
          </a:xfrm>
          <a:custGeom>
            <a:avLst/>
            <a:gdLst/>
            <a:ahLst/>
            <a:cxnLst/>
            <a:rect l="l" t="t" r="r" b="b"/>
            <a:pathLst>
              <a:path w="8229600" h="1600200">
                <a:moveTo>
                  <a:pt x="8229600" y="0"/>
                </a:moveTo>
                <a:lnTo>
                  <a:pt x="0" y="0"/>
                </a:lnTo>
                <a:lnTo>
                  <a:pt x="0" y="1600200"/>
                </a:lnTo>
                <a:lnTo>
                  <a:pt x="8229600" y="1600200"/>
                </a:lnTo>
                <a:lnTo>
                  <a:pt x="8229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962" y="381762"/>
            <a:ext cx="8229600" cy="1600200"/>
          </a:xfrm>
          <a:custGeom>
            <a:avLst/>
            <a:gdLst/>
            <a:ahLst/>
            <a:cxnLst/>
            <a:rect l="l" t="t" r="r" b="b"/>
            <a:pathLst>
              <a:path w="8229600" h="1600200">
                <a:moveTo>
                  <a:pt x="0" y="1600200"/>
                </a:moveTo>
                <a:lnTo>
                  <a:pt x="8229600" y="1600200"/>
                </a:lnTo>
                <a:lnTo>
                  <a:pt x="8229600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12" y="583692"/>
            <a:ext cx="6674358" cy="13388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1264" y="543001"/>
            <a:ext cx="5681471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4034" y="1087881"/>
            <a:ext cx="5535930" cy="4591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828800"/>
            <a:ext cx="7771765" cy="234886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065" marR="5080" indent="3175" algn="ctr">
              <a:lnSpc>
                <a:spcPts val="5830"/>
              </a:lnSpc>
              <a:spcBef>
                <a:spcPts val="835"/>
              </a:spcBef>
            </a:pPr>
            <a:r>
              <a:rPr sz="5400" dirty="0"/>
              <a:t>Planning and </a:t>
            </a:r>
            <a:r>
              <a:rPr sz="5400" spc="5" dirty="0"/>
              <a:t> </a:t>
            </a:r>
            <a:r>
              <a:rPr sz="5400" spc="-15" dirty="0"/>
              <a:t>Developing </a:t>
            </a:r>
            <a:r>
              <a:rPr sz="5400" spc="-50" dirty="0"/>
              <a:t>Written </a:t>
            </a:r>
            <a:r>
              <a:rPr sz="5400" spc="-1210" dirty="0"/>
              <a:t> </a:t>
            </a:r>
            <a:r>
              <a:rPr sz="5400" spc="-5" dirty="0"/>
              <a:t>Business</a:t>
            </a:r>
            <a:r>
              <a:rPr sz="5400" spc="-75" dirty="0"/>
              <a:t> </a:t>
            </a:r>
            <a:r>
              <a:rPr sz="5400" spc="-10" dirty="0"/>
              <a:t>Messages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2001"/>
            <a:ext cx="9144000" cy="6626070"/>
            <a:chOff x="0" y="32001"/>
            <a:chExt cx="9144000" cy="66260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2001"/>
              <a:ext cx="9144000" cy="66260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2003"/>
              <a:ext cx="9144000" cy="1035050"/>
            </a:xfrm>
            <a:custGeom>
              <a:avLst/>
              <a:gdLst/>
              <a:ahLst/>
              <a:cxnLst/>
              <a:rect l="l" t="t" r="r" b="b"/>
              <a:pathLst>
                <a:path w="9144000" h="1035050">
                  <a:moveTo>
                    <a:pt x="9144000" y="0"/>
                  </a:moveTo>
                  <a:lnTo>
                    <a:pt x="0" y="0"/>
                  </a:lnTo>
                  <a:lnTo>
                    <a:pt x="0" y="1034796"/>
                  </a:lnTo>
                  <a:lnTo>
                    <a:pt x="9144000" y="10347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003"/>
              <a:ext cx="9144000" cy="1035050"/>
            </a:xfrm>
            <a:custGeom>
              <a:avLst/>
              <a:gdLst/>
              <a:ahLst/>
              <a:cxnLst/>
              <a:rect l="l" t="t" r="r" b="b"/>
              <a:pathLst>
                <a:path w="9144000" h="1035050">
                  <a:moveTo>
                    <a:pt x="0" y="1034796"/>
                  </a:moveTo>
                  <a:lnTo>
                    <a:pt x="9144000" y="103479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34796"/>
                  </a:lnTo>
                  <a:close/>
                </a:path>
              </a:pathLst>
            </a:custGeom>
            <a:ln w="12192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82040" y="0"/>
            <a:ext cx="7165340" cy="105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00" dirty="0">
                <a:latin typeface="Calibri"/>
                <a:cs typeface="Calibri"/>
              </a:rPr>
              <a:t>Business</a:t>
            </a:r>
            <a:r>
              <a:rPr sz="6800" spc="-75" dirty="0">
                <a:latin typeface="Calibri"/>
                <a:cs typeface="Calibri"/>
              </a:rPr>
              <a:t> </a:t>
            </a:r>
            <a:r>
              <a:rPr sz="6800" spc="-25" dirty="0">
                <a:latin typeface="Calibri"/>
                <a:cs typeface="Calibri"/>
              </a:rPr>
              <a:t>Writing</a:t>
            </a:r>
            <a:endParaRPr sz="68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2057400"/>
            <a:ext cx="2743200" cy="4191000"/>
          </a:xfrm>
          <a:custGeom>
            <a:avLst/>
            <a:gdLst/>
            <a:ahLst/>
            <a:cxnLst/>
            <a:rect l="l" t="t" r="r" b="b"/>
            <a:pathLst>
              <a:path w="2743200" h="4191000">
                <a:moveTo>
                  <a:pt x="0" y="0"/>
                </a:moveTo>
                <a:lnTo>
                  <a:pt x="2743200" y="0"/>
                </a:lnTo>
              </a:path>
              <a:path w="2743200" h="4191000">
                <a:moveTo>
                  <a:pt x="0" y="0"/>
                </a:moveTo>
                <a:lnTo>
                  <a:pt x="0" y="4191000"/>
                </a:lnTo>
              </a:path>
              <a:path w="2743200" h="4191000">
                <a:moveTo>
                  <a:pt x="2743200" y="0"/>
                </a:moveTo>
                <a:lnTo>
                  <a:pt x="2743200" y="4191000"/>
                </a:lnTo>
              </a:path>
              <a:path w="2743200" h="4191000">
                <a:moveTo>
                  <a:pt x="0" y="4122420"/>
                </a:moveTo>
                <a:lnTo>
                  <a:pt x="2743200" y="412242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0007" rIns="0" bIns="0" rtlCol="0">
            <a:spAutoFit/>
          </a:bodyPr>
          <a:lstStyle/>
          <a:p>
            <a:pPr marL="1273810" marR="5080" indent="-951230">
              <a:lnSpc>
                <a:spcPts val="5830"/>
              </a:lnSpc>
              <a:spcBef>
                <a:spcPts val="835"/>
              </a:spcBef>
            </a:pPr>
            <a:r>
              <a:rPr sz="5400" dirty="0">
                <a:solidFill>
                  <a:srgbClr val="000000"/>
                </a:solidFill>
                <a:latin typeface="Calibri Light"/>
                <a:cs typeface="Calibri Light"/>
              </a:rPr>
              <a:t>1.</a:t>
            </a:r>
            <a:r>
              <a:rPr sz="5400" spc="-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5400" spc="-10" dirty="0">
                <a:solidFill>
                  <a:srgbClr val="000000"/>
                </a:solidFill>
                <a:latin typeface="Calibri Light"/>
                <a:cs typeface="Calibri Light"/>
              </a:rPr>
              <a:t>Analyzing</a:t>
            </a:r>
            <a:r>
              <a:rPr sz="5400" spc="-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5400" dirty="0">
                <a:solidFill>
                  <a:srgbClr val="000000"/>
                </a:solidFill>
                <a:latin typeface="Calibri Light"/>
                <a:cs typeface="Calibri Light"/>
              </a:rPr>
              <a:t>the </a:t>
            </a:r>
            <a:r>
              <a:rPr sz="5400" spc="-120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5400" spc="-5" dirty="0">
                <a:solidFill>
                  <a:srgbClr val="000000"/>
                </a:solidFill>
                <a:latin typeface="Calibri Light"/>
                <a:cs typeface="Calibri Light"/>
              </a:rPr>
              <a:t>Situation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3200400"/>
            <a:ext cx="4953000" cy="309326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77950" y="236600"/>
            <a:ext cx="6108700" cy="819150"/>
            <a:chOff x="1377950" y="236600"/>
            <a:chExt cx="6108700" cy="819150"/>
          </a:xfrm>
        </p:grpSpPr>
        <p:sp>
          <p:nvSpPr>
            <p:cNvPr id="5" name="object 5"/>
            <p:cNvSpPr/>
            <p:nvPr/>
          </p:nvSpPr>
          <p:spPr>
            <a:xfrm>
              <a:off x="1384300" y="242950"/>
              <a:ext cx="6096000" cy="793750"/>
            </a:xfrm>
            <a:custGeom>
              <a:avLst/>
              <a:gdLst/>
              <a:ahLst/>
              <a:cxnLst/>
              <a:rect l="l" t="t" r="r" b="b"/>
              <a:pathLst>
                <a:path w="6096000" h="793750">
                  <a:moveTo>
                    <a:pt x="6096000" y="0"/>
                  </a:moveTo>
                  <a:lnTo>
                    <a:pt x="0" y="0"/>
                  </a:lnTo>
                  <a:lnTo>
                    <a:pt x="0" y="793750"/>
                  </a:lnTo>
                  <a:lnTo>
                    <a:pt x="6096000" y="79375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84300" y="236600"/>
              <a:ext cx="6096000" cy="819150"/>
            </a:xfrm>
            <a:custGeom>
              <a:avLst/>
              <a:gdLst/>
              <a:ahLst/>
              <a:cxnLst/>
              <a:rect l="l" t="t" r="r" b="b"/>
              <a:pathLst>
                <a:path w="6096000" h="819150">
                  <a:moveTo>
                    <a:pt x="0" y="0"/>
                  </a:moveTo>
                  <a:lnTo>
                    <a:pt x="0" y="819150"/>
                  </a:lnTo>
                </a:path>
                <a:path w="6096000" h="819150">
                  <a:moveTo>
                    <a:pt x="6096000" y="0"/>
                  </a:moveTo>
                  <a:lnTo>
                    <a:pt x="6096000" y="8191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7950" y="236600"/>
              <a:ext cx="6108700" cy="12700"/>
            </a:xfrm>
            <a:custGeom>
              <a:avLst/>
              <a:gdLst/>
              <a:ahLst/>
              <a:cxnLst/>
              <a:rect l="l" t="t" r="r" b="b"/>
              <a:pathLst>
                <a:path w="6108700" h="12700">
                  <a:moveTo>
                    <a:pt x="0" y="12700"/>
                  </a:moveTo>
                  <a:lnTo>
                    <a:pt x="6108700" y="12700"/>
                  </a:lnTo>
                  <a:lnTo>
                    <a:pt x="61087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7950" y="1036700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700">
                  <a:moveTo>
                    <a:pt x="0" y="0"/>
                  </a:moveTo>
                  <a:lnTo>
                    <a:pt x="6108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90650" y="250316"/>
            <a:ext cx="60833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PLANNING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3273" y="381127"/>
            <a:ext cx="7703820" cy="19812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548005" rIns="0" bIns="0" rtlCol="0">
            <a:spAutoFit/>
          </a:bodyPr>
          <a:lstStyle/>
          <a:p>
            <a:pPr marL="90805" algn="ctr">
              <a:lnSpc>
                <a:spcPct val="100000"/>
              </a:lnSpc>
              <a:spcBef>
                <a:spcPts val="4315"/>
              </a:spcBef>
            </a:pPr>
            <a:r>
              <a:rPr sz="4800" spc="-10" dirty="0">
                <a:solidFill>
                  <a:schemeClr val="tx1"/>
                </a:solidFill>
              </a:rPr>
              <a:t>Analyzing</a:t>
            </a:r>
            <a:r>
              <a:rPr sz="4800" dirty="0">
                <a:solidFill>
                  <a:schemeClr val="tx1"/>
                </a:solidFill>
              </a:rPr>
              <a:t> the</a:t>
            </a:r>
            <a:r>
              <a:rPr sz="4800" spc="-15" dirty="0">
                <a:solidFill>
                  <a:schemeClr val="tx1"/>
                </a:solidFill>
              </a:rPr>
              <a:t> </a:t>
            </a:r>
            <a:r>
              <a:rPr sz="4800" spc="-10" dirty="0">
                <a:solidFill>
                  <a:schemeClr val="tx1"/>
                </a:solidFill>
              </a:rPr>
              <a:t>Situation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789241" y="2515361"/>
            <a:ext cx="7683500" cy="2133600"/>
            <a:chOff x="789241" y="2515361"/>
            <a:chExt cx="7683500" cy="2133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766" y="2515361"/>
              <a:ext cx="3838955" cy="2133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3721" y="2515361"/>
              <a:ext cx="3838955" cy="2133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004" y="2534411"/>
              <a:ext cx="3838956" cy="20939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4004" y="2534411"/>
              <a:ext cx="3839210" cy="2094230"/>
            </a:xfrm>
            <a:custGeom>
              <a:avLst/>
              <a:gdLst/>
              <a:ahLst/>
              <a:cxnLst/>
              <a:rect l="l" t="t" r="r" b="b"/>
              <a:pathLst>
                <a:path w="3839210" h="2094229">
                  <a:moveTo>
                    <a:pt x="0" y="523493"/>
                  </a:moveTo>
                  <a:lnTo>
                    <a:pt x="3315462" y="523493"/>
                  </a:lnTo>
                  <a:lnTo>
                    <a:pt x="3315462" y="0"/>
                  </a:lnTo>
                  <a:lnTo>
                    <a:pt x="3838956" y="1046988"/>
                  </a:lnTo>
                  <a:lnTo>
                    <a:pt x="3315462" y="2093976"/>
                  </a:lnTo>
                  <a:lnTo>
                    <a:pt x="3315462" y="1570482"/>
                  </a:lnTo>
                  <a:lnTo>
                    <a:pt x="0" y="1570482"/>
                  </a:lnTo>
                  <a:lnTo>
                    <a:pt x="0" y="52349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4766" y="2515361"/>
            <a:ext cx="3839210" cy="2133600"/>
          </a:xfrm>
          <a:prstGeom prst="rect">
            <a:avLst/>
          </a:prstGeom>
          <a:ln w="28956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3500">
              <a:latin typeface="Times New Roman" panose="02020503050405090304"/>
              <a:cs typeface="Times New Roman" panose="02020503050405090304"/>
            </a:endParaRPr>
          </a:p>
          <a:p>
            <a:pPr marL="622300" marR="877570" indent="-121920">
              <a:lnSpc>
                <a:spcPct val="100000"/>
              </a:lnSpc>
            </a:pPr>
            <a:r>
              <a:rPr sz="3600" b="1" dirty="0">
                <a:latin typeface="Tahoma" panose="020B0604030504040204"/>
                <a:cs typeface="Tahoma" panose="020B0604030504040204"/>
              </a:rPr>
              <a:t>Who is the </a:t>
            </a:r>
            <a:r>
              <a:rPr sz="3600" b="1" spc="-1040" dirty="0">
                <a:latin typeface="Tahoma" panose="020B0604030504040204"/>
                <a:cs typeface="Tahoma" panose="020B0604030504040204"/>
              </a:rPr>
              <a:t> </a:t>
            </a:r>
            <a:r>
              <a:rPr sz="3600" b="1" dirty="0">
                <a:latin typeface="Tahoma" panose="020B0604030504040204"/>
                <a:cs typeface="Tahoma" panose="020B0604030504040204"/>
              </a:rPr>
              <a:t>audience?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28388" y="2529839"/>
            <a:ext cx="3848100" cy="2103120"/>
            <a:chOff x="4628388" y="2529839"/>
            <a:chExt cx="3848100" cy="210312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32960" y="2534411"/>
              <a:ext cx="3838956" cy="20939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32960" y="2534411"/>
              <a:ext cx="3839210" cy="2094230"/>
            </a:xfrm>
            <a:custGeom>
              <a:avLst/>
              <a:gdLst/>
              <a:ahLst/>
              <a:cxnLst/>
              <a:rect l="l" t="t" r="r" b="b"/>
              <a:pathLst>
                <a:path w="3839209" h="2094229">
                  <a:moveTo>
                    <a:pt x="3838956" y="523493"/>
                  </a:moveTo>
                  <a:lnTo>
                    <a:pt x="523493" y="523493"/>
                  </a:lnTo>
                  <a:lnTo>
                    <a:pt x="523493" y="0"/>
                  </a:lnTo>
                  <a:lnTo>
                    <a:pt x="0" y="1046988"/>
                  </a:lnTo>
                  <a:lnTo>
                    <a:pt x="523493" y="2093976"/>
                  </a:lnTo>
                  <a:lnTo>
                    <a:pt x="523493" y="1570482"/>
                  </a:lnTo>
                  <a:lnTo>
                    <a:pt x="3838956" y="1570482"/>
                  </a:lnTo>
                  <a:lnTo>
                    <a:pt x="3838956" y="52349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33721" y="2515361"/>
            <a:ext cx="3839210" cy="21336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3500">
              <a:latin typeface="Times New Roman" panose="02020503050405090304"/>
              <a:cs typeface="Times New Roman" panose="02020503050405090304"/>
            </a:endParaRPr>
          </a:p>
          <a:p>
            <a:pPr marL="993775" marR="534035" indent="-320675">
              <a:lnSpc>
                <a:spcPct val="100000"/>
              </a:lnSpc>
            </a:pPr>
            <a:r>
              <a:rPr sz="3600" b="1" dirty="0">
                <a:latin typeface="Tahoma" panose="020B0604030504040204"/>
                <a:cs typeface="Tahoma" panose="020B0604030504040204"/>
              </a:rPr>
              <a:t>What</a:t>
            </a:r>
            <a:r>
              <a:rPr sz="3600" b="1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3600" b="1" dirty="0">
                <a:latin typeface="Tahoma" panose="020B0604030504040204"/>
                <a:cs typeface="Tahoma" panose="020B0604030504040204"/>
              </a:rPr>
              <a:t>is</a:t>
            </a:r>
            <a:r>
              <a:rPr sz="3600" b="1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3600" b="1" dirty="0">
                <a:latin typeface="Tahoma" panose="020B0604030504040204"/>
                <a:cs typeface="Tahoma" panose="020B0604030504040204"/>
              </a:rPr>
              <a:t>the </a:t>
            </a:r>
            <a:r>
              <a:rPr sz="3600" b="1" spc="-1040" dirty="0">
                <a:latin typeface="Tahoma" panose="020B0604030504040204"/>
                <a:cs typeface="Tahoma" panose="020B0604030504040204"/>
              </a:rPr>
              <a:t> </a:t>
            </a:r>
            <a:r>
              <a:rPr sz="3600" b="1" spc="-5" dirty="0">
                <a:latin typeface="Tahoma" panose="020B0604030504040204"/>
                <a:cs typeface="Tahoma" panose="020B0604030504040204"/>
              </a:rPr>
              <a:t>purpose?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228600"/>
            <a:ext cx="6000750" cy="234886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algn="ctr">
              <a:lnSpc>
                <a:spcPts val="5830"/>
              </a:lnSpc>
              <a:spcBef>
                <a:spcPts val="835"/>
              </a:spcBef>
            </a:pPr>
            <a:r>
              <a:rPr sz="5400" spc="-30" dirty="0"/>
              <a:t>Analyze</a:t>
            </a:r>
            <a:r>
              <a:rPr sz="5400" spc="-125" dirty="0"/>
              <a:t> </a:t>
            </a:r>
            <a:r>
              <a:rPr sz="5400" spc="-5" dirty="0"/>
              <a:t>Situation- </a:t>
            </a:r>
            <a:r>
              <a:rPr sz="5400" spc="-1205" dirty="0"/>
              <a:t> </a:t>
            </a:r>
            <a:r>
              <a:rPr sz="5400" spc="-20" dirty="0"/>
              <a:t>Understanding </a:t>
            </a:r>
            <a:r>
              <a:rPr sz="5400" spc="-15" dirty="0"/>
              <a:t> </a:t>
            </a:r>
            <a:r>
              <a:rPr sz="5400" spc="-5" dirty="0"/>
              <a:t>Audience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7609458" y="6431381"/>
            <a:ext cx="8274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Chapter </a:t>
            </a:r>
            <a:r>
              <a:rPr sz="1200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1</a:t>
            </a:r>
            <a:r>
              <a:rPr sz="1200" spc="-20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1200" spc="-25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7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3157220"/>
            <a:ext cx="7372985" cy="3472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9320" y="339090"/>
            <a:ext cx="600265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>
                <a:solidFill>
                  <a:srgbClr val="FF0000"/>
                </a:solidFill>
              </a:rPr>
              <a:t>Profile</a:t>
            </a:r>
            <a:r>
              <a:rPr sz="4400" spc="-30" dirty="0">
                <a:solidFill>
                  <a:srgbClr val="FF0000"/>
                </a:solidFill>
              </a:rPr>
              <a:t> </a:t>
            </a:r>
            <a:r>
              <a:rPr sz="4400" spc="-80" dirty="0">
                <a:solidFill>
                  <a:srgbClr val="FF0000"/>
                </a:solidFill>
              </a:rPr>
              <a:t>Your</a:t>
            </a:r>
            <a:r>
              <a:rPr sz="4400" spc="-2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Audience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383540" y="1198016"/>
            <a:ext cx="7465695" cy="515589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b="1" spc="-5" dirty="0">
                <a:latin typeface="Calibri"/>
                <a:cs typeface="Calibri"/>
              </a:rPr>
              <a:t>Identify</a:t>
            </a:r>
            <a:r>
              <a:rPr sz="2500" b="1" spc="-10" dirty="0">
                <a:latin typeface="Calibri"/>
                <a:cs typeface="Calibri"/>
              </a:rPr>
              <a:t> the</a:t>
            </a:r>
            <a:r>
              <a:rPr sz="2500" b="1" spc="-1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primary</a:t>
            </a:r>
            <a:r>
              <a:rPr sz="2500" b="1" spc="-5" dirty="0">
                <a:latin typeface="Calibri"/>
                <a:cs typeface="Calibri"/>
              </a:rPr>
              <a:t> audience</a:t>
            </a:r>
            <a:endParaRPr sz="2500" dirty="0">
              <a:latin typeface="Calibri"/>
              <a:cs typeface="Calibri"/>
            </a:endParaRPr>
          </a:p>
          <a:p>
            <a:pPr marL="698500" marR="99060" lvl="1" indent="-229235">
              <a:lnSpc>
                <a:spcPts val="2700"/>
              </a:lnSpc>
              <a:spcBef>
                <a:spcPts val="545"/>
              </a:spcBef>
              <a:buFont typeface="Arial MT"/>
              <a:buChar char="•"/>
              <a:tabLst>
                <a:tab pos="699135" algn="l"/>
              </a:tabLst>
            </a:pPr>
            <a:r>
              <a:rPr lang="en-US" sz="2500" spc="-5" dirty="0">
                <a:latin typeface="Calibri"/>
                <a:cs typeface="Calibri"/>
              </a:rPr>
              <a:t>Identify your most important audience</a:t>
            </a:r>
          </a:p>
          <a:p>
            <a:pPr marL="469265" marR="99060" lvl="1" indent="0">
              <a:lnSpc>
                <a:spcPts val="2700"/>
              </a:lnSpc>
              <a:spcBef>
                <a:spcPts val="545"/>
              </a:spcBef>
              <a:buFont typeface="Arial MT"/>
              <a:buNone/>
              <a:tabLst>
                <a:tab pos="699135" algn="l"/>
              </a:tabLst>
            </a:pPr>
            <a:endParaRPr sz="25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b="1" spc="-15" dirty="0">
                <a:latin typeface="Calibri"/>
                <a:cs typeface="Calibri"/>
              </a:rPr>
              <a:t>Determine</a:t>
            </a:r>
            <a:r>
              <a:rPr sz="2500" b="1" spc="1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the</a:t>
            </a:r>
            <a:r>
              <a:rPr sz="2500" b="1" spc="5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size</a:t>
            </a:r>
            <a:r>
              <a:rPr sz="2500" b="1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of</a:t>
            </a:r>
            <a:r>
              <a:rPr sz="2500" b="1" spc="1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your</a:t>
            </a:r>
            <a:r>
              <a:rPr sz="2500" b="1" spc="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audience</a:t>
            </a:r>
            <a:endParaRPr sz="2500" dirty="0">
              <a:latin typeface="Calibri"/>
              <a:cs typeface="Calibri"/>
            </a:endParaRPr>
          </a:p>
          <a:p>
            <a:pPr marL="698500" marR="5080" lvl="1" indent="-229235" algn="l">
              <a:lnSpc>
                <a:spcPts val="2700"/>
              </a:lnSpc>
              <a:spcBef>
                <a:spcPts val="545"/>
              </a:spcBef>
              <a:buFont typeface="Arial MT"/>
              <a:buChar char="•"/>
              <a:tabLst>
                <a:tab pos="770255" algn="l"/>
                <a:tab pos="770890" algn="l"/>
              </a:tabLst>
            </a:pPr>
            <a:r>
              <a:rPr dirty="0"/>
              <a:t>	</a:t>
            </a:r>
            <a:r>
              <a:rPr sz="2500" spc="-5" dirty="0">
                <a:latin typeface="Calibri"/>
                <a:cs typeface="Calibri"/>
              </a:rPr>
              <a:t>A report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for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wide distribution </a:t>
            </a:r>
            <a:r>
              <a:rPr sz="2500" spc="-10" dirty="0">
                <a:latin typeface="Calibri"/>
                <a:cs typeface="Calibri"/>
              </a:rPr>
              <a:t>requires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a </a:t>
            </a:r>
            <a:r>
              <a:rPr sz="2500" spc="-10" dirty="0">
                <a:latin typeface="Calibri"/>
                <a:cs typeface="Calibri"/>
              </a:rPr>
              <a:t>more 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formal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style</a:t>
            </a:r>
            <a:r>
              <a:rPr lang="en-US" sz="2500" spc="-10" dirty="0">
                <a:latin typeface="Calibri"/>
                <a:cs typeface="Calibri"/>
              </a:rPr>
              <a:t> and </a:t>
            </a:r>
            <a:r>
              <a:rPr sz="2500" spc="-15" dirty="0">
                <a:latin typeface="Calibri"/>
                <a:cs typeface="Calibri"/>
              </a:rPr>
              <a:t>organization,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than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one 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directed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to </a:t>
            </a:r>
            <a:r>
              <a:rPr sz="2500" spc="-10" dirty="0">
                <a:latin typeface="Calibri"/>
                <a:cs typeface="Calibri"/>
              </a:rPr>
              <a:t>three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or </a:t>
            </a:r>
            <a:r>
              <a:rPr sz="2500" spc="-20" dirty="0">
                <a:latin typeface="Calibri"/>
                <a:cs typeface="Calibri"/>
              </a:rPr>
              <a:t>four</a:t>
            </a:r>
            <a:r>
              <a:rPr sz="2500" spc="-5" dirty="0">
                <a:latin typeface="Calibri"/>
                <a:cs typeface="Calibri"/>
              </a:rPr>
              <a:t> people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in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your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department</a:t>
            </a:r>
          </a:p>
          <a:p>
            <a:pPr marL="698500" marR="5080" lvl="1" indent="-229235" algn="l">
              <a:lnSpc>
                <a:spcPts val="2700"/>
              </a:lnSpc>
              <a:spcBef>
                <a:spcPts val="545"/>
              </a:spcBef>
              <a:buFont typeface="Arial MT"/>
              <a:buChar char="•"/>
              <a:tabLst>
                <a:tab pos="770255" algn="l"/>
                <a:tab pos="770890" algn="l"/>
              </a:tabLst>
            </a:pPr>
            <a:endParaRPr sz="25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b="1" spc="-15" dirty="0">
                <a:latin typeface="Calibri"/>
                <a:cs typeface="Calibri"/>
              </a:rPr>
              <a:t>Determine</a:t>
            </a:r>
            <a:r>
              <a:rPr sz="2500" b="1" spc="1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the</a:t>
            </a:r>
            <a:r>
              <a:rPr sz="2500" b="1" spc="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composition</a:t>
            </a:r>
            <a:r>
              <a:rPr sz="2500" b="1" spc="2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of</a:t>
            </a:r>
            <a:r>
              <a:rPr sz="2500" b="1" spc="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the</a:t>
            </a:r>
            <a:r>
              <a:rPr sz="2500" b="1" spc="10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audience</a:t>
            </a:r>
            <a:endParaRPr sz="2500" dirty="0">
              <a:latin typeface="Calibri"/>
              <a:cs typeface="Calibri"/>
            </a:endParaRPr>
          </a:p>
          <a:p>
            <a:pPr marL="698500" marR="100330" lvl="1" indent="-229235">
              <a:lnSpc>
                <a:spcPct val="90000"/>
              </a:lnSpc>
              <a:spcBef>
                <a:spcPts val="505"/>
              </a:spcBef>
              <a:buFont typeface="Arial MT"/>
              <a:buChar char="•"/>
              <a:tabLst>
                <a:tab pos="770255" algn="l"/>
                <a:tab pos="770890" algn="l"/>
              </a:tabLst>
            </a:pPr>
            <a:r>
              <a:rPr dirty="0"/>
              <a:t>	</a:t>
            </a:r>
            <a:r>
              <a:rPr sz="2500" spc="-10" dirty="0">
                <a:latin typeface="Calibri"/>
                <a:cs typeface="Calibri"/>
              </a:rPr>
              <a:t>Look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for</a:t>
            </a:r>
            <a:r>
              <a:rPr sz="2500" spc="-10" dirty="0">
                <a:latin typeface="Calibri"/>
                <a:cs typeface="Calibri"/>
              </a:rPr>
              <a:t> common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lang="en-US" sz="2500" spc="-15" dirty="0">
                <a:latin typeface="Calibri"/>
                <a:cs typeface="Calibri"/>
              </a:rPr>
              <a:t>grounds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that </a:t>
            </a:r>
            <a:r>
              <a:rPr sz="2500" dirty="0">
                <a:latin typeface="Calibri"/>
                <a:cs typeface="Calibri"/>
              </a:rPr>
              <a:t>tie </a:t>
            </a:r>
            <a:r>
              <a:rPr sz="2500" spc="-5" dirty="0">
                <a:latin typeface="Calibri"/>
                <a:cs typeface="Calibri"/>
              </a:rPr>
              <a:t>audience 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members</a:t>
            </a:r>
            <a:r>
              <a:rPr sz="2500" spc="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together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across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differences</a:t>
            </a:r>
            <a:r>
              <a:rPr sz="2500" spc="3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in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culture, 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education,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status,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or </a:t>
            </a:r>
            <a:r>
              <a:rPr sz="2500" spc="-10" dirty="0">
                <a:latin typeface="Calibri"/>
                <a:cs typeface="Calibri"/>
              </a:rPr>
              <a:t>attitude.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Include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lang="en-US" sz="2500" spc="15" dirty="0">
                <a:latin typeface="Calibri"/>
                <a:cs typeface="Calibri"/>
              </a:rPr>
              <a:t>content/</a:t>
            </a:r>
            <a:r>
              <a:rPr lang="en-US" sz="2500" spc="-5" dirty="0">
                <a:latin typeface="Calibri"/>
                <a:cs typeface="Calibri"/>
              </a:rPr>
              <a:t>example(s)</a:t>
            </a:r>
            <a:r>
              <a:rPr sz="2500" spc="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that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lang="en-US" sz="2500" spc="-10" dirty="0">
                <a:latin typeface="Calibri"/>
                <a:cs typeface="Calibri"/>
              </a:rPr>
              <a:t>they can comprehend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3540" y="1091463"/>
            <a:ext cx="8340090" cy="42367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b="1" spc="-10" dirty="0">
                <a:latin typeface="Calibri"/>
                <a:cs typeface="Calibri"/>
              </a:rPr>
              <a:t>Gauge your</a:t>
            </a:r>
            <a:r>
              <a:rPr sz="2500" b="1" spc="5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audience’s</a:t>
            </a:r>
            <a:r>
              <a:rPr sz="2500" b="1" spc="5" dirty="0">
                <a:latin typeface="Calibri"/>
                <a:cs typeface="Calibri"/>
              </a:rPr>
              <a:t> </a:t>
            </a:r>
            <a:r>
              <a:rPr sz="2500" b="1" spc="-15" dirty="0">
                <a:latin typeface="Calibri"/>
                <a:cs typeface="Calibri"/>
              </a:rPr>
              <a:t>level</a:t>
            </a:r>
            <a:r>
              <a:rPr sz="2500" b="1" spc="2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of</a:t>
            </a:r>
            <a:r>
              <a:rPr sz="2500" b="1" spc="1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understanding</a:t>
            </a:r>
            <a:endParaRPr sz="2500" dirty="0">
              <a:latin typeface="Calibri"/>
              <a:cs typeface="Calibri"/>
            </a:endParaRPr>
          </a:p>
          <a:p>
            <a:pPr marL="698500" marR="120015" lvl="1" indent="-229235" algn="just">
              <a:lnSpc>
                <a:spcPts val="2700"/>
              </a:lnSpc>
              <a:spcBef>
                <a:spcPts val="550"/>
              </a:spcBef>
              <a:buFont typeface="Arial MT"/>
              <a:buChar char="•"/>
              <a:tabLst>
                <a:tab pos="699135" algn="l"/>
              </a:tabLst>
            </a:pPr>
            <a:r>
              <a:rPr sz="2500" spc="-5" dirty="0">
                <a:latin typeface="Calibri"/>
                <a:cs typeface="Calibri"/>
              </a:rPr>
              <a:t>If audience </a:t>
            </a:r>
            <a:r>
              <a:rPr sz="2500" spc="-10" dirty="0">
                <a:latin typeface="Calibri"/>
                <a:cs typeface="Calibri"/>
              </a:rPr>
              <a:t>members </a:t>
            </a:r>
            <a:r>
              <a:rPr sz="2500" spc="-15" dirty="0">
                <a:latin typeface="Calibri"/>
                <a:cs typeface="Calibri"/>
              </a:rPr>
              <a:t>share your general </a:t>
            </a:r>
            <a:r>
              <a:rPr sz="2500" spc="-10" dirty="0">
                <a:latin typeface="Calibri"/>
                <a:cs typeface="Calibri"/>
              </a:rPr>
              <a:t>background, </a:t>
            </a:r>
            <a:r>
              <a:rPr sz="2500" spc="-5" dirty="0">
                <a:latin typeface="Calibri"/>
                <a:cs typeface="Calibri"/>
              </a:rPr>
              <a:t>they </a:t>
            </a:r>
            <a:r>
              <a:rPr sz="2500" spc="-55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will </a:t>
            </a:r>
            <a:r>
              <a:rPr sz="2500" spc="-20" dirty="0">
                <a:latin typeface="Calibri"/>
                <a:cs typeface="Calibri"/>
              </a:rPr>
              <a:t>understand </a:t>
            </a:r>
            <a:r>
              <a:rPr sz="2500" spc="-15" dirty="0">
                <a:latin typeface="Calibri"/>
                <a:cs typeface="Calibri"/>
              </a:rPr>
              <a:t>your </a:t>
            </a:r>
            <a:r>
              <a:rPr sz="2500" spc="-10" dirty="0">
                <a:latin typeface="Calibri"/>
                <a:cs typeface="Calibri"/>
              </a:rPr>
              <a:t>material </a:t>
            </a:r>
            <a:r>
              <a:rPr sz="2500" spc="-5" dirty="0">
                <a:latin typeface="Calibri"/>
                <a:cs typeface="Calibri"/>
              </a:rPr>
              <a:t>without </a:t>
            </a:r>
            <a:r>
              <a:rPr sz="2500" spc="-25" dirty="0">
                <a:latin typeface="Calibri"/>
                <a:cs typeface="Calibri"/>
              </a:rPr>
              <a:t>difficulty. </a:t>
            </a:r>
            <a:r>
              <a:rPr sz="2500" spc="-5" dirty="0">
                <a:latin typeface="Calibri"/>
                <a:cs typeface="Calibri"/>
              </a:rPr>
              <a:t>If </a:t>
            </a:r>
            <a:r>
              <a:rPr sz="2500" spc="-10" dirty="0">
                <a:latin typeface="Calibri"/>
                <a:cs typeface="Calibri"/>
              </a:rPr>
              <a:t>not, </a:t>
            </a:r>
            <a:r>
              <a:rPr sz="2500" spc="-20" dirty="0">
                <a:latin typeface="Calibri"/>
                <a:cs typeface="Calibri"/>
              </a:rPr>
              <a:t>you </a:t>
            </a:r>
            <a:r>
              <a:rPr sz="2500" spc="-55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must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educate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them</a:t>
            </a:r>
            <a:endParaRPr sz="25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31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500" b="1" spc="-10" dirty="0">
                <a:latin typeface="Calibri"/>
                <a:cs typeface="Calibri"/>
              </a:rPr>
              <a:t>Project</a:t>
            </a:r>
            <a:r>
              <a:rPr sz="2500" b="1" spc="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your</a:t>
            </a:r>
            <a:r>
              <a:rPr sz="2500" b="1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audience’s</a:t>
            </a:r>
            <a:r>
              <a:rPr sz="2500" b="1" spc="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expectations</a:t>
            </a:r>
            <a:r>
              <a:rPr sz="2500" b="1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and</a:t>
            </a:r>
            <a:r>
              <a:rPr sz="2500" b="1" spc="-10" dirty="0">
                <a:latin typeface="Calibri"/>
                <a:cs typeface="Calibri"/>
              </a:rPr>
              <a:t> </a:t>
            </a:r>
            <a:r>
              <a:rPr sz="2500" b="1" spc="-15" dirty="0">
                <a:latin typeface="Calibri"/>
                <a:cs typeface="Calibri"/>
              </a:rPr>
              <a:t>preferences</a:t>
            </a:r>
            <a:endParaRPr sz="2500" dirty="0">
              <a:latin typeface="Calibri"/>
              <a:cs typeface="Calibri"/>
            </a:endParaRPr>
          </a:p>
          <a:p>
            <a:pPr marL="698500" marR="5080" lvl="1" indent="-229235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699135" algn="l"/>
              </a:tabLst>
            </a:pPr>
            <a:r>
              <a:rPr sz="2500" spc="-5" dirty="0">
                <a:latin typeface="Calibri"/>
                <a:cs typeface="Calibri"/>
              </a:rPr>
              <a:t>Will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members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of</a:t>
            </a:r>
            <a:r>
              <a:rPr sz="2500" spc="-15" dirty="0">
                <a:latin typeface="Calibri"/>
                <a:cs typeface="Calibri"/>
              </a:rPr>
              <a:t> your</a:t>
            </a:r>
            <a:r>
              <a:rPr sz="2500" spc="-5" dirty="0">
                <a:latin typeface="Calibri"/>
                <a:cs typeface="Calibri"/>
              </a:rPr>
              <a:t> audience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expect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complete</a:t>
            </a:r>
            <a:r>
              <a:rPr sz="2500" spc="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details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or </a:t>
            </a:r>
            <a:r>
              <a:rPr sz="2500" spc="-5" dirty="0">
                <a:latin typeface="Calibri"/>
                <a:cs typeface="Calibri"/>
              </a:rPr>
              <a:t>will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a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summary</a:t>
            </a:r>
            <a:r>
              <a:rPr sz="2500" spc="3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of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the main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points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suffice?</a:t>
            </a:r>
            <a:r>
              <a:rPr sz="2500" spc="3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Do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they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want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an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e-mail </a:t>
            </a:r>
            <a:r>
              <a:rPr sz="2500" dirty="0">
                <a:latin typeface="Calibri"/>
                <a:cs typeface="Calibri"/>
              </a:rPr>
              <a:t>or </a:t>
            </a:r>
            <a:r>
              <a:rPr sz="2500" spc="-5" dirty="0">
                <a:latin typeface="Calibri"/>
                <a:cs typeface="Calibri"/>
              </a:rPr>
              <a:t>will they </a:t>
            </a:r>
            <a:r>
              <a:rPr sz="2500" spc="-10" dirty="0">
                <a:latin typeface="Calibri"/>
                <a:cs typeface="Calibri"/>
              </a:rPr>
              <a:t>expect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a </a:t>
            </a:r>
            <a:r>
              <a:rPr sz="2500" spc="-15" dirty="0">
                <a:latin typeface="Calibri"/>
                <a:cs typeface="Calibri"/>
              </a:rPr>
              <a:t>formal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lang="en-US" sz="2500" spc="-5" dirty="0">
                <a:latin typeface="Calibri"/>
                <a:cs typeface="Calibri"/>
              </a:rPr>
              <a:t>letter</a:t>
            </a:r>
            <a:r>
              <a:rPr sz="2500" spc="-5" dirty="0">
                <a:latin typeface="Calibri"/>
                <a:cs typeface="Calibri"/>
              </a:rPr>
              <a:t>?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509270" y="266065"/>
            <a:ext cx="653351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>
                <a:solidFill>
                  <a:srgbClr val="FF0000"/>
                </a:solidFill>
              </a:rPr>
              <a:t>Profile</a:t>
            </a:r>
            <a:r>
              <a:rPr sz="4400" spc="-30" dirty="0">
                <a:solidFill>
                  <a:srgbClr val="FF0000"/>
                </a:solidFill>
              </a:rPr>
              <a:t> </a:t>
            </a:r>
            <a:r>
              <a:rPr sz="4400" spc="-80" dirty="0">
                <a:solidFill>
                  <a:srgbClr val="FF0000"/>
                </a:solidFill>
              </a:rPr>
              <a:t>Your</a:t>
            </a:r>
            <a:r>
              <a:rPr sz="4400" spc="-2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Audience</a:t>
            </a:r>
            <a:endParaRPr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457200"/>
            <a:ext cx="676529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5" dirty="0"/>
              <a:t>2. </a:t>
            </a:r>
            <a:r>
              <a:rPr sz="4400" spc="-5" dirty="0"/>
              <a:t>Gathering</a:t>
            </a:r>
            <a:r>
              <a:rPr sz="4400" spc="-60" dirty="0"/>
              <a:t> </a:t>
            </a:r>
            <a:r>
              <a:rPr sz="4400" spc="-20" dirty="0"/>
              <a:t>Information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59740" y="1577466"/>
            <a:ext cx="8040370" cy="252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With 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clear</a:t>
            </a:r>
            <a:r>
              <a:rPr sz="2400" spc="-10" dirty="0">
                <a:latin typeface="Calibri"/>
                <a:cs typeface="Calibri"/>
              </a:rPr>
              <a:t> picture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your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audience,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step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15" dirty="0">
                <a:latin typeface="Calibri"/>
                <a:cs typeface="Calibri"/>
              </a:rPr>
              <a:t> to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b="1" spc="-15" dirty="0">
                <a:latin typeface="Calibri"/>
                <a:cs typeface="Calibri"/>
              </a:rPr>
              <a:t>gather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endParaRPr lang="en-US" sz="2400" b="1" spc="-10" dirty="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14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started,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-5" dirty="0">
                <a:latin typeface="Calibri"/>
                <a:cs typeface="Calibri"/>
              </a:rPr>
              <a:t> some </a:t>
            </a:r>
            <a:r>
              <a:rPr sz="2400" spc="-15" dirty="0">
                <a:latin typeface="Calibri"/>
                <a:cs typeface="Calibri"/>
              </a:rPr>
              <a:t>informal </a:t>
            </a:r>
            <a:r>
              <a:rPr sz="2400" spc="-5" dirty="0">
                <a:latin typeface="Calibri"/>
                <a:cs typeface="Calibri"/>
              </a:rPr>
              <a:t>methods,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such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considering </a:t>
            </a:r>
            <a:r>
              <a:rPr sz="2400" b="1" spc="-5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audience’s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perspective;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what they need to know? how much information should be delivered? Focus on psychographics analysis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39355" y="6431381"/>
            <a:ext cx="8915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Chapter </a:t>
            </a:r>
            <a:r>
              <a:rPr sz="1200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1</a:t>
            </a:r>
            <a:r>
              <a:rPr sz="1200" spc="-20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1200" spc="-25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solidFill>
                  <a:srgbClr val="5B9BD4"/>
                </a:solidFill>
                <a:latin typeface="Times New Roman" panose="02020503050405090304"/>
                <a:cs typeface="Times New Roman" panose="02020503050405090304"/>
              </a:rPr>
              <a:t>11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4572000"/>
            <a:ext cx="337870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542925"/>
            <a:ext cx="6795770" cy="1647190"/>
          </a:xfrm>
          <a:prstGeom prst="rect">
            <a:avLst/>
          </a:prstGeom>
        </p:spPr>
        <p:txBody>
          <a:bodyPr vert="horz" wrap="square" lIns="0" tIns="152654" rIns="0" bIns="0" rtlCol="0">
            <a:spAutoFit/>
          </a:bodyPr>
          <a:lstStyle/>
          <a:p>
            <a:pPr marL="1151255" marR="5080" indent="-1059180" algn="ctr">
              <a:lnSpc>
                <a:spcPts val="5830"/>
              </a:lnSpc>
              <a:spcBef>
                <a:spcPts val="835"/>
              </a:spcBef>
            </a:pPr>
            <a:r>
              <a:rPr sz="5400" spc="-5" dirty="0"/>
              <a:t>3.Selecting</a:t>
            </a:r>
            <a:r>
              <a:rPr sz="5400" spc="-60" dirty="0"/>
              <a:t> </a:t>
            </a:r>
            <a:r>
              <a:rPr sz="5400" spc="-15" dirty="0"/>
              <a:t>right </a:t>
            </a:r>
            <a:r>
              <a:rPr sz="5400" spc="-1205" dirty="0"/>
              <a:t> </a:t>
            </a:r>
            <a:r>
              <a:rPr sz="5400" dirty="0"/>
              <a:t>Medium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535938" y="2535682"/>
            <a:ext cx="6034405" cy="168465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065" marR="5080" indent="88900" algn="ctr">
              <a:lnSpc>
                <a:spcPct val="80000"/>
              </a:lnSpc>
              <a:spcBef>
                <a:spcPts val="870"/>
              </a:spcBef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communication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medium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simply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"how" </a:t>
            </a:r>
            <a:r>
              <a:rPr sz="3200" spc="-10" dirty="0">
                <a:latin typeface="Calibri"/>
                <a:cs typeface="Calibri"/>
              </a:rPr>
              <a:t>your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message</a:t>
            </a:r>
            <a:r>
              <a:rPr sz="3200" dirty="0">
                <a:latin typeface="Calibri"/>
                <a:cs typeface="Calibri"/>
              </a:rPr>
              <a:t> is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the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receiver. </a:t>
            </a:r>
            <a:r>
              <a:rPr sz="3200" dirty="0">
                <a:latin typeface="Calibri"/>
                <a:cs typeface="Calibri"/>
              </a:rPr>
              <a:t>It is </a:t>
            </a:r>
            <a:r>
              <a:rPr sz="3200" spc="-10" dirty="0">
                <a:latin typeface="Calibri"/>
                <a:cs typeface="Calibri"/>
              </a:rPr>
              <a:t>often </a:t>
            </a:r>
            <a:r>
              <a:rPr sz="3200" spc="-25" dirty="0">
                <a:latin typeface="Calibri"/>
                <a:cs typeface="Calibri"/>
              </a:rPr>
              <a:t>referred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5" dirty="0">
                <a:latin typeface="Calibri"/>
                <a:cs typeface="Calibri"/>
              </a:rPr>
              <a:t>as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communication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channel</a:t>
            </a:r>
            <a:r>
              <a:rPr sz="240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161925"/>
            <a:ext cx="756793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Selecting</a:t>
            </a:r>
            <a:r>
              <a:rPr sz="4400" spc="-15" dirty="0"/>
              <a:t> </a:t>
            </a:r>
            <a:r>
              <a:rPr sz="4400" dirty="0"/>
              <a:t>the</a:t>
            </a:r>
            <a:r>
              <a:rPr sz="4400" spc="-10" dirty="0"/>
              <a:t> right</a:t>
            </a:r>
            <a:r>
              <a:rPr sz="4400" spc="-15" dirty="0"/>
              <a:t> </a:t>
            </a:r>
            <a:r>
              <a:rPr sz="4400" spc="-5" dirty="0"/>
              <a:t>medium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098542" y="720851"/>
            <a:ext cx="3990340" cy="5448935"/>
            <a:chOff x="2098542" y="720851"/>
            <a:chExt cx="3990340" cy="5448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8542" y="2220462"/>
              <a:ext cx="2430791" cy="24399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1991" y="2944355"/>
              <a:ext cx="2182368" cy="10637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8839" y="2252471"/>
              <a:ext cx="2334768" cy="23347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6619" y="925067"/>
              <a:ext cx="2269236" cy="49971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6182" y="964818"/>
              <a:ext cx="2154987" cy="4884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97807" y="720851"/>
              <a:ext cx="1365503" cy="13655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7244" y="761999"/>
              <a:ext cx="1251203" cy="12512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22875" y="1886712"/>
              <a:ext cx="1365503" cy="13639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2311" y="1926335"/>
              <a:ext cx="1251203" cy="12512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18303" y="3599687"/>
              <a:ext cx="1365503" cy="13639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77739" y="3639312"/>
              <a:ext cx="1251203" cy="12512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97807" y="4805184"/>
              <a:ext cx="1365503" cy="13639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57244" y="4844795"/>
              <a:ext cx="1251203" cy="1251203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xfrm>
            <a:off x="1804035" y="1087755"/>
            <a:ext cx="6559550" cy="459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3979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oral</a:t>
            </a:r>
          </a:p>
          <a:p>
            <a:pPr marL="736600">
              <a:lnSpc>
                <a:spcPct val="100000"/>
              </a:lnSpc>
              <a:spcBef>
                <a:spcPts val="5"/>
              </a:spcBef>
            </a:pPr>
            <a:endParaRPr sz="4500" dirty="0"/>
          </a:p>
          <a:p>
            <a:pPr marL="4361180">
              <a:lnSpc>
                <a:spcPct val="100000"/>
              </a:lnSpc>
            </a:pPr>
            <a:r>
              <a:rPr spc="-5" dirty="0"/>
              <a:t>wr</a:t>
            </a:r>
            <a:r>
              <a:rPr spc="-15" dirty="0"/>
              <a:t>i</a:t>
            </a:r>
            <a:r>
              <a:rPr spc="-60" dirty="0"/>
              <a:t>t</a:t>
            </a:r>
            <a:r>
              <a:rPr spc="-50" dirty="0"/>
              <a:t>t</a:t>
            </a:r>
            <a:r>
              <a:rPr spc="-5" dirty="0"/>
              <a:t>en</a:t>
            </a:r>
          </a:p>
          <a:p>
            <a:pPr marL="736600">
              <a:lnSpc>
                <a:spcPct val="100000"/>
              </a:lnSpc>
              <a:spcBef>
                <a:spcPts val="10"/>
              </a:spcBef>
            </a:pPr>
            <a:endParaRPr sz="2300" dirty="0"/>
          </a:p>
          <a:p>
            <a:pPr marL="749300">
              <a:lnSpc>
                <a:spcPct val="100000"/>
              </a:lnSpc>
            </a:pPr>
            <a:r>
              <a:rPr sz="3500" dirty="0">
                <a:solidFill>
                  <a:schemeClr val="tx1"/>
                </a:solidFill>
              </a:rPr>
              <a:t>Medium</a:t>
            </a:r>
          </a:p>
          <a:p>
            <a:pPr marL="4361180">
              <a:lnSpc>
                <a:spcPct val="100000"/>
              </a:lnSpc>
              <a:spcBef>
                <a:spcPts val="2740"/>
              </a:spcBef>
            </a:pPr>
            <a:r>
              <a:rPr spc="-10" dirty="0"/>
              <a:t>Visual</a:t>
            </a:r>
          </a:p>
          <a:p>
            <a:pPr marL="736600">
              <a:lnSpc>
                <a:spcPct val="100000"/>
              </a:lnSpc>
            </a:pPr>
            <a:endParaRPr spc="-10" dirty="0"/>
          </a:p>
          <a:p>
            <a:pPr marL="3439795">
              <a:lnSpc>
                <a:spcPct val="100000"/>
              </a:lnSpc>
              <a:spcBef>
                <a:spcPts val="2035"/>
              </a:spcBef>
            </a:pPr>
            <a:r>
              <a:rPr spc="-15" dirty="0"/>
              <a:t>electronic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492" y="381761"/>
            <a:ext cx="8561070" cy="1632585"/>
            <a:chOff x="126492" y="381761"/>
            <a:chExt cx="8561070" cy="1632585"/>
          </a:xfrm>
        </p:grpSpPr>
        <p:sp>
          <p:nvSpPr>
            <p:cNvPr id="3" name="object 3"/>
            <p:cNvSpPr/>
            <p:nvPr/>
          </p:nvSpPr>
          <p:spPr>
            <a:xfrm>
              <a:off x="457962" y="381761"/>
              <a:ext cx="8229600" cy="1600200"/>
            </a:xfrm>
            <a:custGeom>
              <a:avLst/>
              <a:gdLst/>
              <a:ahLst/>
              <a:cxnLst/>
              <a:rect l="l" t="t" r="r" b="b"/>
              <a:pathLst>
                <a:path w="8229600" h="1600200">
                  <a:moveTo>
                    <a:pt x="822960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8229600" y="16002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92" y="512063"/>
              <a:ext cx="6552438" cy="150190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50850" y="4326890"/>
            <a:ext cx="1931670" cy="19519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35" dirty="0">
                <a:solidFill>
                  <a:srgbClr val="404040"/>
                </a:solidFill>
                <a:latin typeface="Lucida Sans Unicode"/>
                <a:cs typeface="Lucida Sans Unicode"/>
              </a:rPr>
              <a:t>▶</a:t>
            </a:r>
            <a:r>
              <a:rPr sz="1400" spc="95" dirty="0">
                <a:solidFill>
                  <a:srgbClr val="404040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400" spc="-135" dirty="0">
                <a:solidFill>
                  <a:srgbClr val="404040"/>
                </a:solidFill>
                <a:latin typeface="Lucida Sans Unicode"/>
                <a:cs typeface="Lucida Sans Unicode"/>
              </a:rPr>
              <a:t>▶</a:t>
            </a:r>
            <a:r>
              <a:rPr sz="1400" spc="70" dirty="0">
                <a:solidFill>
                  <a:srgbClr val="404040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Interviews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400" spc="-135" dirty="0">
                <a:solidFill>
                  <a:srgbClr val="404040"/>
                </a:solidFill>
                <a:latin typeface="Lucida Sans Unicode"/>
                <a:cs typeface="Lucida Sans Unicode"/>
              </a:rPr>
              <a:t>▶</a:t>
            </a:r>
            <a:r>
              <a:rPr sz="1400" spc="75" dirty="0">
                <a:solidFill>
                  <a:srgbClr val="404040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Speeches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400" spc="-135" dirty="0">
                <a:solidFill>
                  <a:srgbClr val="404040"/>
                </a:solidFill>
                <a:latin typeface="Lucida Sans Unicode"/>
                <a:cs typeface="Lucida Sans Unicode"/>
              </a:rPr>
              <a:t>▶</a:t>
            </a:r>
            <a:r>
              <a:rPr sz="1400" spc="100" dirty="0">
                <a:solidFill>
                  <a:srgbClr val="404040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Presentations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400" spc="-135" dirty="0">
                <a:solidFill>
                  <a:srgbClr val="404040"/>
                </a:solidFill>
                <a:latin typeface="Lucida Sans Unicode"/>
                <a:cs typeface="Lucida Sans Unicode"/>
              </a:rPr>
              <a:t>▶</a:t>
            </a:r>
            <a:r>
              <a:rPr sz="1400" spc="80" dirty="0">
                <a:solidFill>
                  <a:srgbClr val="404040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Meetings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8055" y="1972055"/>
            <a:ext cx="2077720" cy="1772920"/>
            <a:chOff x="448055" y="1972055"/>
            <a:chExt cx="2077720" cy="177292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961" y="1981961"/>
              <a:ext cx="2057400" cy="1752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7961" y="1981961"/>
              <a:ext cx="2057400" cy="1752600"/>
            </a:xfrm>
            <a:custGeom>
              <a:avLst/>
              <a:gdLst/>
              <a:ahLst/>
              <a:cxnLst/>
              <a:rect l="l" t="t" r="r" b="b"/>
              <a:pathLst>
                <a:path w="2057400" h="1752600">
                  <a:moveTo>
                    <a:pt x="0" y="1752600"/>
                  </a:moveTo>
                  <a:lnTo>
                    <a:pt x="2057400" y="1752600"/>
                  </a:lnTo>
                  <a:lnTo>
                    <a:pt x="2057400" y="0"/>
                  </a:lnTo>
                  <a:lnTo>
                    <a:pt x="0" y="0"/>
                  </a:lnTo>
                  <a:lnTo>
                    <a:pt x="0" y="175260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293" y="2055841"/>
              <a:ext cx="1658737" cy="167962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784475" y="2424760"/>
            <a:ext cx="627951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giving </a:t>
            </a:r>
            <a:r>
              <a:rPr sz="2200" spc="-15" dirty="0">
                <a:latin typeface="Calibri"/>
                <a:cs typeface="Calibri"/>
              </a:rPr>
              <a:t>communicators </a:t>
            </a:r>
            <a:r>
              <a:rPr sz="2200" spc="-5" dirty="0">
                <a:latin typeface="Calibri"/>
                <a:cs typeface="Calibri"/>
              </a:rPr>
              <a:t>or audience the ability </a:t>
            </a:r>
            <a:r>
              <a:rPr sz="2200" b="1" spc="-25" dirty="0">
                <a:latin typeface="Calibri"/>
                <a:cs typeface="Calibri"/>
              </a:rPr>
              <a:t>to 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see, </a:t>
            </a:r>
            <a:r>
              <a:rPr sz="2200" b="1" spc="-35" dirty="0">
                <a:latin typeface="Calibri"/>
                <a:cs typeface="Calibri"/>
              </a:rPr>
              <a:t>hear, </a:t>
            </a:r>
            <a:r>
              <a:rPr sz="2200" b="1" spc="-5" dirty="0">
                <a:latin typeface="Calibri"/>
                <a:cs typeface="Calibri"/>
              </a:rPr>
              <a:t>and </a:t>
            </a:r>
            <a:r>
              <a:rPr sz="2200" b="1" spc="-10" dirty="0">
                <a:latin typeface="Calibri"/>
                <a:cs typeface="Calibri"/>
              </a:rPr>
              <a:t>react </a:t>
            </a:r>
            <a:r>
              <a:rPr sz="2200" b="1" spc="-20" dirty="0">
                <a:latin typeface="Calibri"/>
                <a:cs typeface="Calibri"/>
              </a:rPr>
              <a:t>to </a:t>
            </a:r>
            <a:r>
              <a:rPr sz="2200" b="1" spc="-5" dirty="0">
                <a:latin typeface="Calibri"/>
                <a:cs typeface="Calibri"/>
              </a:rPr>
              <a:t>each </a:t>
            </a:r>
            <a:r>
              <a:rPr sz="2200" b="1" spc="-35" dirty="0">
                <a:latin typeface="Calibri"/>
                <a:cs typeface="Calibri"/>
              </a:rPr>
              <a:t>other, </a:t>
            </a:r>
            <a:r>
              <a:rPr sz="2200" b="1" spc="-10" dirty="0">
                <a:latin typeface="Calibri"/>
                <a:cs typeface="Calibri"/>
              </a:rPr>
              <a:t>traditional </a:t>
            </a:r>
            <a:r>
              <a:rPr sz="2200" b="1" spc="-15" dirty="0">
                <a:latin typeface="Calibri"/>
                <a:cs typeface="Calibri"/>
              </a:rPr>
              <a:t>oral </a:t>
            </a:r>
            <a:r>
              <a:rPr sz="2200" b="1" spc="-10" dirty="0">
                <a:latin typeface="Calibri"/>
                <a:cs typeface="Calibri"/>
              </a:rPr>
              <a:t> communication </a:t>
            </a:r>
            <a:r>
              <a:rPr sz="2200" b="1" spc="-5" dirty="0">
                <a:latin typeface="Calibri"/>
                <a:cs typeface="Calibri"/>
              </a:rPr>
              <a:t>is </a:t>
            </a:r>
            <a:r>
              <a:rPr sz="2200" b="1" spc="-10" dirty="0">
                <a:latin typeface="Calibri"/>
                <a:cs typeface="Calibri"/>
              </a:rPr>
              <a:t>useful for encouraging </a:t>
            </a:r>
            <a:r>
              <a:rPr sz="2200" b="1" spc="-5" dirty="0">
                <a:latin typeface="Calibri"/>
                <a:cs typeface="Calibri"/>
              </a:rPr>
              <a:t>people </a:t>
            </a:r>
            <a:r>
              <a:rPr sz="2200" b="1" spc="-25" dirty="0">
                <a:latin typeface="Calibri"/>
                <a:cs typeface="Calibri"/>
              </a:rPr>
              <a:t>to 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ask questions, </a:t>
            </a:r>
            <a:r>
              <a:rPr sz="2200" b="1" spc="-25" dirty="0">
                <a:latin typeface="Calibri"/>
                <a:cs typeface="Calibri"/>
              </a:rPr>
              <a:t>make </a:t>
            </a:r>
            <a:r>
              <a:rPr sz="2200" b="1" spc="-10" dirty="0">
                <a:latin typeface="Calibri"/>
                <a:cs typeface="Calibri"/>
              </a:rPr>
              <a:t>comments, and work together </a:t>
            </a:r>
            <a:r>
              <a:rPr sz="2200" b="1" spc="-484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to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reach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consensus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or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decision.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2150" dirty="0">
              <a:latin typeface="Calibri"/>
              <a:cs typeface="Calibri"/>
            </a:endParaRPr>
          </a:p>
          <a:p>
            <a:pPr marL="355600" marR="2794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course,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you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 not </a:t>
            </a:r>
            <a:r>
              <a:rPr sz="2200" spc="-15" dirty="0">
                <a:latin typeface="Calibri"/>
                <a:cs typeface="Calibri"/>
              </a:rPr>
              <a:t>want</a:t>
            </a:r>
            <a:r>
              <a:rPr sz="2200" spc="-5" dirty="0">
                <a:latin typeface="Calibri"/>
                <a:cs typeface="Calibri"/>
              </a:rPr>
              <a:t> 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lot</a:t>
            </a:r>
            <a:r>
              <a:rPr sz="2200" dirty="0">
                <a:latin typeface="Calibri"/>
                <a:cs typeface="Calibri"/>
              </a:rPr>
              <a:t> of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questions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or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interaction,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oral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channel</a:t>
            </a:r>
            <a:r>
              <a:rPr sz="2200" spc="-15" dirty="0">
                <a:latin typeface="Calibri"/>
                <a:cs typeface="Calibri"/>
              </a:rPr>
              <a:t> can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dirty="0">
                <a:latin typeface="Calibri"/>
                <a:cs typeface="Calibri"/>
              </a:rPr>
              <a:t>an </a:t>
            </a:r>
            <a:r>
              <a:rPr sz="2200" spc="-10" dirty="0">
                <a:latin typeface="Calibri"/>
                <a:cs typeface="Calibri"/>
              </a:rPr>
              <a:t>unwise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choice.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47801" y="1971801"/>
            <a:ext cx="8249920" cy="4211320"/>
            <a:chOff x="447801" y="1971801"/>
            <a:chExt cx="8249920" cy="4211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961" y="1981961"/>
              <a:ext cx="8229600" cy="4191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961" y="1981961"/>
              <a:ext cx="8229600" cy="4191000"/>
            </a:xfrm>
            <a:custGeom>
              <a:avLst/>
              <a:gdLst/>
              <a:ahLst/>
              <a:cxnLst/>
              <a:rect l="l" t="t" r="r" b="b"/>
              <a:pathLst>
                <a:path w="8229600" h="4191000">
                  <a:moveTo>
                    <a:pt x="0" y="4191000"/>
                  </a:moveTo>
                  <a:lnTo>
                    <a:pt x="8229600" y="4191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419100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5235" y="2182367"/>
              <a:ext cx="7651242" cy="187223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235" y="4096511"/>
              <a:ext cx="7651242" cy="1872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2123" y="2403347"/>
              <a:ext cx="3124200" cy="12192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753361" y="2714625"/>
            <a:ext cx="160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" panose="020B0604020202090204"/>
                <a:cs typeface="Arial" panose="020B0604020202090204"/>
              </a:rPr>
              <a:t>Memos</a:t>
            </a:r>
            <a:endParaRPr sz="36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7676" y="2403348"/>
            <a:ext cx="3124200" cy="12192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815076" y="2714625"/>
            <a:ext cx="155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" panose="020B0604020202090204"/>
                <a:cs typeface="Arial" panose="020B0604020202090204"/>
              </a:rPr>
              <a:t>Let</a:t>
            </a:r>
            <a:r>
              <a:rPr sz="3600" b="1" dirty="0">
                <a:latin typeface="Arial" panose="020B0604020202090204"/>
                <a:cs typeface="Arial" panose="020B0604020202090204"/>
              </a:rPr>
              <a:t>t</a:t>
            </a:r>
            <a:r>
              <a:rPr sz="3600" b="1" spc="-5" dirty="0">
                <a:latin typeface="Arial" panose="020B0604020202090204"/>
                <a:cs typeface="Arial" panose="020B0604020202090204"/>
              </a:rPr>
              <a:t>e</a:t>
            </a:r>
            <a:r>
              <a:rPr sz="3600" b="1" dirty="0">
                <a:latin typeface="Arial" panose="020B0604020202090204"/>
                <a:cs typeface="Arial" panose="020B0604020202090204"/>
              </a:rPr>
              <a:t>r</a:t>
            </a:r>
            <a:r>
              <a:rPr sz="3600" b="1" spc="-5" dirty="0">
                <a:latin typeface="Arial" panose="020B0604020202090204"/>
                <a:cs typeface="Arial" panose="020B0604020202090204"/>
              </a:rPr>
              <a:t>s</a:t>
            </a:r>
            <a:endParaRPr sz="36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2124" y="4530852"/>
            <a:ext cx="3124200" cy="12192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77161" y="4842509"/>
            <a:ext cx="175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" panose="020B0604020202090204"/>
                <a:cs typeface="Arial" panose="020B0604020202090204"/>
              </a:rPr>
              <a:t>Reports</a:t>
            </a:r>
            <a:endParaRPr sz="36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7676" y="4530852"/>
            <a:ext cx="3124200" cy="1219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472176" y="4842509"/>
            <a:ext cx="2235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" panose="020B0604020202090204"/>
                <a:cs typeface="Arial" panose="020B0604020202090204"/>
              </a:rPr>
              <a:t>Proposals</a:t>
            </a:r>
            <a:endParaRPr sz="36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" y="-75947"/>
            <a:ext cx="9119870" cy="1860550"/>
            <a:chOff x="24383" y="359663"/>
            <a:chExt cx="9119870" cy="1860550"/>
          </a:xfrm>
        </p:grpSpPr>
        <p:sp>
          <p:nvSpPr>
            <p:cNvPr id="3" name="object 3"/>
            <p:cNvSpPr/>
            <p:nvPr/>
          </p:nvSpPr>
          <p:spPr>
            <a:xfrm>
              <a:off x="24383" y="359663"/>
              <a:ext cx="9119870" cy="1524000"/>
            </a:xfrm>
            <a:custGeom>
              <a:avLst/>
              <a:gdLst/>
              <a:ahLst/>
              <a:cxnLst/>
              <a:rect l="l" t="t" r="r" b="b"/>
              <a:pathLst>
                <a:path w="9119870" h="1524000">
                  <a:moveTo>
                    <a:pt x="9119616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9119616" y="1524000"/>
                  </a:lnTo>
                  <a:lnTo>
                    <a:pt x="9119616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1263" y="990600"/>
              <a:ext cx="5738622" cy="122910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5600" y="2097023"/>
            <a:ext cx="6096000" cy="41071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1393" y="2601594"/>
            <a:ext cx="2362200" cy="1817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2410" indent="-220345">
              <a:lnSpc>
                <a:spcPct val="100000"/>
              </a:lnSpc>
              <a:spcBef>
                <a:spcPts val="95"/>
              </a:spcBef>
              <a:buSzPct val="95000"/>
              <a:buFont typeface="Wingdings" panose="05000000000000000000"/>
              <a:buChar char=""/>
              <a:tabLst>
                <a:tab pos="233045" algn="l"/>
              </a:tabLst>
            </a:pPr>
            <a:r>
              <a:rPr sz="2200" spc="-10" dirty="0">
                <a:latin typeface="Calibri"/>
                <a:cs typeface="Calibri"/>
              </a:rPr>
              <a:t>Communicate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Fast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 panose="05000000000000000000"/>
              <a:buChar char=""/>
            </a:pPr>
            <a:endParaRPr sz="2500" dirty="0">
              <a:latin typeface="Calibri"/>
              <a:cs typeface="Calibri"/>
            </a:endParaRPr>
          </a:p>
          <a:p>
            <a:pPr marL="232410" indent="-220345">
              <a:lnSpc>
                <a:spcPct val="100000"/>
              </a:lnSpc>
              <a:buSzPct val="95000"/>
              <a:buFont typeface="Wingdings" panose="05000000000000000000"/>
              <a:buChar char=""/>
              <a:tabLst>
                <a:tab pos="233045" algn="l"/>
              </a:tabLst>
            </a:pPr>
            <a:r>
              <a:rPr sz="2200" spc="-5" dirty="0">
                <a:latin typeface="Calibri"/>
                <a:cs typeface="Calibri"/>
              </a:rPr>
              <a:t>Clarify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Complexity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 panose="05000000000000000000"/>
              <a:buChar char=""/>
            </a:pPr>
            <a:endParaRPr sz="2550" dirty="0">
              <a:latin typeface="Calibri"/>
              <a:cs typeface="Calibri"/>
            </a:endParaRPr>
          </a:p>
          <a:p>
            <a:pPr marL="12065">
              <a:lnSpc>
                <a:spcPct val="100000"/>
              </a:lnSpc>
              <a:buSzPct val="95000"/>
              <a:tabLst>
                <a:tab pos="233045" algn="l"/>
              </a:tabLst>
            </a:pP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687" y="457072"/>
            <a:ext cx="7763509" cy="1620520"/>
            <a:chOff x="172212" y="339597"/>
            <a:chExt cx="7763509" cy="1620520"/>
          </a:xfrm>
        </p:grpSpPr>
        <p:sp>
          <p:nvSpPr>
            <p:cNvPr id="3" name="object 3"/>
            <p:cNvSpPr/>
            <p:nvPr/>
          </p:nvSpPr>
          <p:spPr>
            <a:xfrm>
              <a:off x="457962" y="349757"/>
              <a:ext cx="7467600" cy="1600200"/>
            </a:xfrm>
            <a:custGeom>
              <a:avLst/>
              <a:gdLst/>
              <a:ahLst/>
              <a:cxnLst/>
              <a:rect l="l" t="t" r="r" b="b"/>
              <a:pathLst>
                <a:path w="7467600" h="1600200">
                  <a:moveTo>
                    <a:pt x="746760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7467600" y="1600200"/>
                  </a:lnTo>
                  <a:lnTo>
                    <a:pt x="74676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962" y="349757"/>
              <a:ext cx="7467600" cy="1600200"/>
            </a:xfrm>
            <a:custGeom>
              <a:avLst/>
              <a:gdLst/>
              <a:ahLst/>
              <a:cxnLst/>
              <a:rect l="l" t="t" r="r" b="b"/>
              <a:pathLst>
                <a:path w="7467600" h="1600200">
                  <a:moveTo>
                    <a:pt x="0" y="1600200"/>
                  </a:moveTo>
                  <a:lnTo>
                    <a:pt x="7467600" y="1600200"/>
                  </a:lnTo>
                  <a:lnTo>
                    <a:pt x="7467600" y="0"/>
                  </a:lnTo>
                  <a:lnTo>
                    <a:pt x="0" y="0"/>
                  </a:lnTo>
                  <a:lnTo>
                    <a:pt x="0" y="160020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212" y="551688"/>
              <a:ext cx="7227570" cy="133883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44296" y="2227833"/>
            <a:ext cx="3522345" cy="108077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267970" rIns="0" bIns="0" rtlCol="0">
            <a:spAutoFit/>
          </a:bodyPr>
          <a:lstStyle/>
          <a:p>
            <a:pPr marL="659130">
              <a:lnSpc>
                <a:spcPct val="100000"/>
              </a:lnSpc>
              <a:spcBef>
                <a:spcPts val="2110"/>
              </a:spcBef>
            </a:pPr>
            <a:r>
              <a:rPr sz="3200" b="1" spc="-5" dirty="0">
                <a:latin typeface="Tahoma" panose="020B0604030504040204"/>
                <a:cs typeface="Tahoma" panose="020B0604030504040204"/>
              </a:rPr>
              <a:t>Oral</a:t>
            </a:r>
            <a:r>
              <a:rPr sz="3200" b="1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3200" b="1" spc="-5" dirty="0">
                <a:latin typeface="Tahoma" panose="020B0604030504040204"/>
                <a:cs typeface="Tahoma" panose="020B0604030504040204"/>
              </a:rPr>
              <a:t>Media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4296" y="3581272"/>
            <a:ext cx="3522345" cy="1083945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269875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2125"/>
              </a:spcBef>
            </a:pPr>
            <a:r>
              <a:rPr sz="3200" b="1" dirty="0">
                <a:latin typeface="Tahoma" panose="020B0604030504040204"/>
                <a:cs typeface="Tahoma" panose="020B0604030504040204"/>
              </a:rPr>
              <a:t>Written</a:t>
            </a:r>
            <a:r>
              <a:rPr sz="3200" b="1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3200" b="1" spc="-5" dirty="0">
                <a:latin typeface="Tahoma" panose="020B0604030504040204"/>
                <a:cs typeface="Tahoma" panose="020B0604030504040204"/>
              </a:rPr>
              <a:t>Media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4296" y="4938395"/>
            <a:ext cx="3522345" cy="107950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267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05"/>
              </a:spcBef>
            </a:pPr>
            <a:r>
              <a:rPr sz="3200" b="1" dirty="0">
                <a:latin typeface="Tahoma" panose="020B0604030504040204"/>
                <a:cs typeface="Tahoma" panose="020B0604030504040204"/>
              </a:rPr>
              <a:t>Visual</a:t>
            </a:r>
            <a:r>
              <a:rPr sz="3200" b="1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3200" b="1" dirty="0">
                <a:latin typeface="Tahoma" panose="020B0604030504040204"/>
                <a:cs typeface="Tahoma" panose="020B0604030504040204"/>
              </a:rPr>
              <a:t>Media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27803" y="1972055"/>
            <a:ext cx="3408045" cy="4287520"/>
            <a:chOff x="4527803" y="1972055"/>
            <a:chExt cx="3408045" cy="4287520"/>
          </a:xfrm>
        </p:grpSpPr>
        <p:sp>
          <p:nvSpPr>
            <p:cNvPr id="27" name="object 27"/>
            <p:cNvSpPr/>
            <p:nvPr/>
          </p:nvSpPr>
          <p:spPr>
            <a:xfrm>
              <a:off x="4537709" y="1981961"/>
              <a:ext cx="3388360" cy="4267200"/>
            </a:xfrm>
            <a:custGeom>
              <a:avLst/>
              <a:gdLst/>
              <a:ahLst/>
              <a:cxnLst/>
              <a:rect l="l" t="t" r="r" b="b"/>
              <a:pathLst>
                <a:path w="3388359" h="4267200">
                  <a:moveTo>
                    <a:pt x="0" y="4267200"/>
                  </a:moveTo>
                  <a:lnTo>
                    <a:pt x="3387851" y="4267200"/>
                  </a:lnTo>
                  <a:lnTo>
                    <a:pt x="3387851" y="0"/>
                  </a:lnTo>
                  <a:lnTo>
                    <a:pt x="0" y="0"/>
                  </a:lnTo>
                  <a:lnTo>
                    <a:pt x="0" y="426720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2311" y="2136647"/>
              <a:ext cx="2859023" cy="39563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259080"/>
            <a:ext cx="7277100" cy="6838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n-US" sz="3200" spc="-5" dirty="0"/>
            </a:br>
            <a:r>
              <a:rPr lang="en-US" sz="3200" spc="-5" dirty="0"/>
              <a:t>Factors in </a:t>
            </a:r>
            <a:r>
              <a:rPr sz="3200" spc="-5" dirty="0"/>
              <a:t>Choosing</a:t>
            </a:r>
            <a:r>
              <a:rPr sz="3200" spc="-35" dirty="0"/>
              <a:t> </a:t>
            </a:r>
            <a:r>
              <a:rPr sz="3200" dirty="0"/>
              <a:t>the</a:t>
            </a:r>
            <a:r>
              <a:rPr lang="en-US" sz="3200" dirty="0"/>
              <a:t> Appropriate </a:t>
            </a:r>
            <a:r>
              <a:rPr sz="3200" spc="-30" dirty="0"/>
              <a:t> </a:t>
            </a:r>
            <a:r>
              <a:rPr sz="3200" dirty="0"/>
              <a:t>Medium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537831" y="6426809"/>
            <a:ext cx="8991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hap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er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200" spc="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74465" y="1932177"/>
            <a:ext cx="5523865" cy="1503680"/>
            <a:chOff x="3474465" y="1932177"/>
            <a:chExt cx="5523865" cy="1503680"/>
          </a:xfrm>
        </p:grpSpPr>
        <p:sp>
          <p:nvSpPr>
            <p:cNvPr id="5" name="object 5"/>
            <p:cNvSpPr/>
            <p:nvPr/>
          </p:nvSpPr>
          <p:spPr>
            <a:xfrm>
              <a:off x="3480815" y="1938527"/>
              <a:ext cx="5511165" cy="1490980"/>
            </a:xfrm>
            <a:custGeom>
              <a:avLst/>
              <a:gdLst/>
              <a:ahLst/>
              <a:cxnLst/>
              <a:rect l="l" t="t" r="r" b="b"/>
              <a:pathLst>
                <a:path w="5511165" h="1490979">
                  <a:moveTo>
                    <a:pt x="5262372" y="0"/>
                  </a:moveTo>
                  <a:lnTo>
                    <a:pt x="0" y="0"/>
                  </a:lnTo>
                  <a:lnTo>
                    <a:pt x="0" y="1490472"/>
                  </a:lnTo>
                  <a:lnTo>
                    <a:pt x="5262372" y="1490472"/>
                  </a:lnTo>
                  <a:lnTo>
                    <a:pt x="5312425" y="1485423"/>
                  </a:lnTo>
                  <a:lnTo>
                    <a:pt x="5359050" y="1470945"/>
                  </a:lnTo>
                  <a:lnTo>
                    <a:pt x="5401246" y="1448038"/>
                  </a:lnTo>
                  <a:lnTo>
                    <a:pt x="5438013" y="1417701"/>
                  </a:lnTo>
                  <a:lnTo>
                    <a:pt x="5468350" y="1380934"/>
                  </a:lnTo>
                  <a:lnTo>
                    <a:pt x="5491257" y="1338738"/>
                  </a:lnTo>
                  <a:lnTo>
                    <a:pt x="5505735" y="1292113"/>
                  </a:lnTo>
                  <a:lnTo>
                    <a:pt x="5510784" y="1242060"/>
                  </a:lnTo>
                  <a:lnTo>
                    <a:pt x="5510784" y="248412"/>
                  </a:lnTo>
                  <a:lnTo>
                    <a:pt x="5505735" y="198358"/>
                  </a:lnTo>
                  <a:lnTo>
                    <a:pt x="5491257" y="151733"/>
                  </a:lnTo>
                  <a:lnTo>
                    <a:pt x="5468350" y="109537"/>
                  </a:lnTo>
                  <a:lnTo>
                    <a:pt x="5438013" y="72770"/>
                  </a:lnTo>
                  <a:lnTo>
                    <a:pt x="5401246" y="42433"/>
                  </a:lnTo>
                  <a:lnTo>
                    <a:pt x="5359050" y="19526"/>
                  </a:lnTo>
                  <a:lnTo>
                    <a:pt x="5312425" y="5048"/>
                  </a:lnTo>
                  <a:lnTo>
                    <a:pt x="5262372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80815" y="1938527"/>
              <a:ext cx="5511165" cy="1490980"/>
            </a:xfrm>
            <a:custGeom>
              <a:avLst/>
              <a:gdLst/>
              <a:ahLst/>
              <a:cxnLst/>
              <a:rect l="l" t="t" r="r" b="b"/>
              <a:pathLst>
                <a:path w="5511165" h="1490979">
                  <a:moveTo>
                    <a:pt x="5510784" y="248412"/>
                  </a:moveTo>
                  <a:lnTo>
                    <a:pt x="5510784" y="1242060"/>
                  </a:lnTo>
                  <a:lnTo>
                    <a:pt x="5505735" y="1292113"/>
                  </a:lnTo>
                  <a:lnTo>
                    <a:pt x="5491257" y="1338738"/>
                  </a:lnTo>
                  <a:lnTo>
                    <a:pt x="5468350" y="1380934"/>
                  </a:lnTo>
                  <a:lnTo>
                    <a:pt x="5438013" y="1417701"/>
                  </a:lnTo>
                  <a:lnTo>
                    <a:pt x="5401246" y="1448038"/>
                  </a:lnTo>
                  <a:lnTo>
                    <a:pt x="5359050" y="1470945"/>
                  </a:lnTo>
                  <a:lnTo>
                    <a:pt x="5312425" y="1485423"/>
                  </a:lnTo>
                  <a:lnTo>
                    <a:pt x="5262372" y="1490472"/>
                  </a:lnTo>
                  <a:lnTo>
                    <a:pt x="0" y="1490472"/>
                  </a:lnTo>
                  <a:lnTo>
                    <a:pt x="0" y="0"/>
                  </a:lnTo>
                  <a:lnTo>
                    <a:pt x="5262372" y="0"/>
                  </a:lnTo>
                  <a:lnTo>
                    <a:pt x="5312425" y="5048"/>
                  </a:lnTo>
                  <a:lnTo>
                    <a:pt x="5359050" y="19526"/>
                  </a:lnTo>
                  <a:lnTo>
                    <a:pt x="5401246" y="42433"/>
                  </a:lnTo>
                  <a:lnTo>
                    <a:pt x="5438013" y="72770"/>
                  </a:lnTo>
                  <a:lnTo>
                    <a:pt x="5468350" y="109537"/>
                  </a:lnTo>
                  <a:lnTo>
                    <a:pt x="5491257" y="151733"/>
                  </a:lnTo>
                  <a:lnTo>
                    <a:pt x="5505735" y="198358"/>
                  </a:lnTo>
                  <a:lnTo>
                    <a:pt x="5510784" y="248412"/>
                  </a:lnTo>
                  <a:close/>
                </a:path>
              </a:pathLst>
            </a:custGeom>
            <a:ln w="12192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2000" y="1828800"/>
            <a:ext cx="8065135" cy="684530"/>
          </a:xfrm>
          <a:prstGeom prst="rect">
            <a:avLst/>
          </a:prstGeom>
        </p:spPr>
        <p:txBody>
          <a:bodyPr vert="horz" wrap="square" lIns="0" tIns="60960" rIns="0" bIns="0" rtlCol="0">
            <a:noAutofit/>
          </a:bodyPr>
          <a:lstStyle/>
          <a:p>
            <a:pPr marL="12700" marR="5080" indent="0">
              <a:lnSpc>
                <a:spcPts val="3020"/>
              </a:lnSpc>
              <a:spcBef>
                <a:spcPts val="480"/>
              </a:spcBef>
              <a:buFont typeface="Arial MT"/>
              <a:buNone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 </a:t>
            </a:r>
            <a:endParaRPr sz="2800">
              <a:latin typeface="Calibri"/>
              <a:cs typeface="Calibri"/>
            </a:endParaRPr>
          </a:p>
          <a:p>
            <a:pPr marL="3441700" lvl="1" indent="-172720">
              <a:lnSpc>
                <a:spcPct val="100000"/>
              </a:lnSpc>
              <a:spcBef>
                <a:spcPts val="390"/>
              </a:spcBef>
              <a:buChar char="•"/>
              <a:tabLst>
                <a:tab pos="3441700" algn="l"/>
              </a:tabLst>
            </a:pPr>
            <a:r>
              <a:rPr spc="-10" dirty="0">
                <a:latin typeface="Calibri"/>
                <a:cs typeface="Calibri"/>
              </a:rPr>
              <a:t>This </a:t>
            </a:r>
            <a:r>
              <a:rPr spc="-5" dirty="0">
                <a:latin typeface="Calibri"/>
                <a:cs typeface="Calibri"/>
              </a:rPr>
              <a:t>is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medium's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ability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convey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</a:t>
            </a:r>
            <a:r>
              <a:rPr lang="en-US" spc="-5" dirty="0">
                <a:latin typeface="Calibri"/>
                <a:cs typeface="Calibri"/>
              </a:rPr>
              <a:t> message without difficulties. i.e., email or oral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374904" y="1901951"/>
            <a:ext cx="3112135" cy="1564005"/>
            <a:chOff x="374904" y="1901951"/>
            <a:chExt cx="3112135" cy="1564005"/>
          </a:xfrm>
        </p:grpSpPr>
        <p:sp>
          <p:nvSpPr>
            <p:cNvPr id="10" name="object 10"/>
            <p:cNvSpPr/>
            <p:nvPr/>
          </p:nvSpPr>
          <p:spPr>
            <a:xfrm>
              <a:off x="381000" y="1908047"/>
              <a:ext cx="3100070" cy="1551940"/>
            </a:xfrm>
            <a:custGeom>
              <a:avLst/>
              <a:gdLst/>
              <a:ahLst/>
              <a:cxnLst/>
              <a:rect l="l" t="t" r="r" b="b"/>
              <a:pathLst>
                <a:path w="3100070" h="1551939">
                  <a:moveTo>
                    <a:pt x="2841244" y="0"/>
                  </a:moveTo>
                  <a:lnTo>
                    <a:pt x="258572" y="0"/>
                  </a:lnTo>
                  <a:lnTo>
                    <a:pt x="212095" y="4167"/>
                  </a:lnTo>
                  <a:lnTo>
                    <a:pt x="168350" y="16183"/>
                  </a:lnTo>
                  <a:lnTo>
                    <a:pt x="128068" y="35315"/>
                  </a:lnTo>
                  <a:lnTo>
                    <a:pt x="91980" y="60831"/>
                  </a:lnTo>
                  <a:lnTo>
                    <a:pt x="60815" y="92000"/>
                  </a:lnTo>
                  <a:lnTo>
                    <a:pt x="35304" y="128091"/>
                  </a:lnTo>
                  <a:lnTo>
                    <a:pt x="16177" y="168370"/>
                  </a:lnTo>
                  <a:lnTo>
                    <a:pt x="4166" y="212108"/>
                  </a:lnTo>
                  <a:lnTo>
                    <a:pt x="0" y="258572"/>
                  </a:lnTo>
                  <a:lnTo>
                    <a:pt x="0" y="1292860"/>
                  </a:lnTo>
                  <a:lnTo>
                    <a:pt x="4166" y="1339323"/>
                  </a:lnTo>
                  <a:lnTo>
                    <a:pt x="16177" y="1383061"/>
                  </a:lnTo>
                  <a:lnTo>
                    <a:pt x="35304" y="1423340"/>
                  </a:lnTo>
                  <a:lnTo>
                    <a:pt x="60815" y="1459431"/>
                  </a:lnTo>
                  <a:lnTo>
                    <a:pt x="91980" y="1490600"/>
                  </a:lnTo>
                  <a:lnTo>
                    <a:pt x="128068" y="1516116"/>
                  </a:lnTo>
                  <a:lnTo>
                    <a:pt x="168350" y="1535248"/>
                  </a:lnTo>
                  <a:lnTo>
                    <a:pt x="212095" y="1547264"/>
                  </a:lnTo>
                  <a:lnTo>
                    <a:pt x="258572" y="1551431"/>
                  </a:lnTo>
                  <a:lnTo>
                    <a:pt x="2841244" y="1551431"/>
                  </a:lnTo>
                  <a:lnTo>
                    <a:pt x="2887707" y="1547264"/>
                  </a:lnTo>
                  <a:lnTo>
                    <a:pt x="2931445" y="1535248"/>
                  </a:lnTo>
                  <a:lnTo>
                    <a:pt x="2971724" y="1516116"/>
                  </a:lnTo>
                  <a:lnTo>
                    <a:pt x="3007815" y="1490600"/>
                  </a:lnTo>
                  <a:lnTo>
                    <a:pt x="3038984" y="1459431"/>
                  </a:lnTo>
                  <a:lnTo>
                    <a:pt x="3064500" y="1423340"/>
                  </a:lnTo>
                  <a:lnTo>
                    <a:pt x="3083632" y="1383061"/>
                  </a:lnTo>
                  <a:lnTo>
                    <a:pt x="3095648" y="1339323"/>
                  </a:lnTo>
                  <a:lnTo>
                    <a:pt x="3099816" y="1292860"/>
                  </a:lnTo>
                  <a:lnTo>
                    <a:pt x="3099816" y="258572"/>
                  </a:lnTo>
                  <a:lnTo>
                    <a:pt x="3095648" y="212108"/>
                  </a:lnTo>
                  <a:lnTo>
                    <a:pt x="3083632" y="168370"/>
                  </a:lnTo>
                  <a:lnTo>
                    <a:pt x="3064500" y="128091"/>
                  </a:lnTo>
                  <a:lnTo>
                    <a:pt x="3038984" y="92000"/>
                  </a:lnTo>
                  <a:lnTo>
                    <a:pt x="3007815" y="60831"/>
                  </a:lnTo>
                  <a:lnTo>
                    <a:pt x="2971724" y="35315"/>
                  </a:lnTo>
                  <a:lnTo>
                    <a:pt x="2931445" y="16183"/>
                  </a:lnTo>
                  <a:lnTo>
                    <a:pt x="2887707" y="4167"/>
                  </a:lnTo>
                  <a:lnTo>
                    <a:pt x="28412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1000" y="1908047"/>
              <a:ext cx="3100070" cy="1551940"/>
            </a:xfrm>
            <a:custGeom>
              <a:avLst/>
              <a:gdLst/>
              <a:ahLst/>
              <a:cxnLst/>
              <a:rect l="l" t="t" r="r" b="b"/>
              <a:pathLst>
                <a:path w="3100070" h="1551939">
                  <a:moveTo>
                    <a:pt x="0" y="258572"/>
                  </a:moveTo>
                  <a:lnTo>
                    <a:pt x="4166" y="212108"/>
                  </a:lnTo>
                  <a:lnTo>
                    <a:pt x="16177" y="168370"/>
                  </a:lnTo>
                  <a:lnTo>
                    <a:pt x="35304" y="128091"/>
                  </a:lnTo>
                  <a:lnTo>
                    <a:pt x="60815" y="92000"/>
                  </a:lnTo>
                  <a:lnTo>
                    <a:pt x="91980" y="60831"/>
                  </a:lnTo>
                  <a:lnTo>
                    <a:pt x="128068" y="35315"/>
                  </a:lnTo>
                  <a:lnTo>
                    <a:pt x="168350" y="16183"/>
                  </a:lnTo>
                  <a:lnTo>
                    <a:pt x="212095" y="4167"/>
                  </a:lnTo>
                  <a:lnTo>
                    <a:pt x="258572" y="0"/>
                  </a:lnTo>
                  <a:lnTo>
                    <a:pt x="2841244" y="0"/>
                  </a:lnTo>
                  <a:lnTo>
                    <a:pt x="2887707" y="4167"/>
                  </a:lnTo>
                  <a:lnTo>
                    <a:pt x="2931445" y="16183"/>
                  </a:lnTo>
                  <a:lnTo>
                    <a:pt x="2971724" y="35315"/>
                  </a:lnTo>
                  <a:lnTo>
                    <a:pt x="3007815" y="60831"/>
                  </a:lnTo>
                  <a:lnTo>
                    <a:pt x="3038984" y="92000"/>
                  </a:lnTo>
                  <a:lnTo>
                    <a:pt x="3064500" y="128091"/>
                  </a:lnTo>
                  <a:lnTo>
                    <a:pt x="3083632" y="168370"/>
                  </a:lnTo>
                  <a:lnTo>
                    <a:pt x="3095648" y="212108"/>
                  </a:lnTo>
                  <a:lnTo>
                    <a:pt x="3099816" y="258572"/>
                  </a:lnTo>
                  <a:lnTo>
                    <a:pt x="3099816" y="1292860"/>
                  </a:lnTo>
                  <a:lnTo>
                    <a:pt x="3095648" y="1339323"/>
                  </a:lnTo>
                  <a:lnTo>
                    <a:pt x="3083632" y="1383061"/>
                  </a:lnTo>
                  <a:lnTo>
                    <a:pt x="3064500" y="1423340"/>
                  </a:lnTo>
                  <a:lnTo>
                    <a:pt x="3038984" y="1459431"/>
                  </a:lnTo>
                  <a:lnTo>
                    <a:pt x="3007815" y="1490600"/>
                  </a:lnTo>
                  <a:lnTo>
                    <a:pt x="2971724" y="1516116"/>
                  </a:lnTo>
                  <a:lnTo>
                    <a:pt x="2931445" y="1535248"/>
                  </a:lnTo>
                  <a:lnTo>
                    <a:pt x="2887707" y="1547264"/>
                  </a:lnTo>
                  <a:lnTo>
                    <a:pt x="2841244" y="1551431"/>
                  </a:lnTo>
                  <a:lnTo>
                    <a:pt x="258572" y="1551431"/>
                  </a:lnTo>
                  <a:lnTo>
                    <a:pt x="212095" y="1547264"/>
                  </a:lnTo>
                  <a:lnTo>
                    <a:pt x="168350" y="1535248"/>
                  </a:lnTo>
                  <a:lnTo>
                    <a:pt x="128068" y="1516116"/>
                  </a:lnTo>
                  <a:lnTo>
                    <a:pt x="91980" y="1490600"/>
                  </a:lnTo>
                  <a:lnTo>
                    <a:pt x="60815" y="1459431"/>
                  </a:lnTo>
                  <a:lnTo>
                    <a:pt x="35304" y="1423340"/>
                  </a:lnTo>
                  <a:lnTo>
                    <a:pt x="16177" y="1383061"/>
                  </a:lnTo>
                  <a:lnTo>
                    <a:pt x="4166" y="1339323"/>
                  </a:lnTo>
                  <a:lnTo>
                    <a:pt x="0" y="1292860"/>
                  </a:lnTo>
                  <a:lnTo>
                    <a:pt x="0" y="25857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1000" y="2286000"/>
            <a:ext cx="2865120" cy="68389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 indent="202565">
              <a:lnSpc>
                <a:spcPts val="4730"/>
              </a:lnSpc>
              <a:spcBef>
                <a:spcPts val="61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Medi</a:t>
            </a:r>
            <a:r>
              <a:rPr lang="en-US" sz="2400" b="1" spc="-1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richness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74465" y="3590290"/>
            <a:ext cx="5523865" cy="1445260"/>
            <a:chOff x="3474465" y="3590290"/>
            <a:chExt cx="5523865" cy="1445260"/>
          </a:xfrm>
        </p:grpSpPr>
        <p:sp>
          <p:nvSpPr>
            <p:cNvPr id="14" name="object 14"/>
            <p:cNvSpPr/>
            <p:nvPr/>
          </p:nvSpPr>
          <p:spPr>
            <a:xfrm>
              <a:off x="3480815" y="3596640"/>
              <a:ext cx="5511165" cy="1432560"/>
            </a:xfrm>
            <a:custGeom>
              <a:avLst/>
              <a:gdLst/>
              <a:ahLst/>
              <a:cxnLst/>
              <a:rect l="l" t="t" r="r" b="b"/>
              <a:pathLst>
                <a:path w="5511165" h="1432560">
                  <a:moveTo>
                    <a:pt x="5272024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5272024" y="1432560"/>
                  </a:lnTo>
                  <a:lnTo>
                    <a:pt x="5320131" y="1427707"/>
                  </a:lnTo>
                  <a:lnTo>
                    <a:pt x="5364944" y="1413791"/>
                  </a:lnTo>
                  <a:lnTo>
                    <a:pt x="5405500" y="1391773"/>
                  </a:lnTo>
                  <a:lnTo>
                    <a:pt x="5440838" y="1362614"/>
                  </a:lnTo>
                  <a:lnTo>
                    <a:pt x="5469997" y="1327276"/>
                  </a:lnTo>
                  <a:lnTo>
                    <a:pt x="5492015" y="1286720"/>
                  </a:lnTo>
                  <a:lnTo>
                    <a:pt x="5505931" y="1241907"/>
                  </a:lnTo>
                  <a:lnTo>
                    <a:pt x="5510784" y="1193800"/>
                  </a:lnTo>
                  <a:lnTo>
                    <a:pt x="5510784" y="238760"/>
                  </a:lnTo>
                  <a:lnTo>
                    <a:pt x="5505931" y="190652"/>
                  </a:lnTo>
                  <a:lnTo>
                    <a:pt x="5492015" y="145839"/>
                  </a:lnTo>
                  <a:lnTo>
                    <a:pt x="5469997" y="105283"/>
                  </a:lnTo>
                  <a:lnTo>
                    <a:pt x="5440838" y="69945"/>
                  </a:lnTo>
                  <a:lnTo>
                    <a:pt x="5405500" y="40786"/>
                  </a:lnTo>
                  <a:lnTo>
                    <a:pt x="5364944" y="18768"/>
                  </a:lnTo>
                  <a:lnTo>
                    <a:pt x="5320131" y="4852"/>
                  </a:lnTo>
                  <a:lnTo>
                    <a:pt x="5272024" y="0"/>
                  </a:lnTo>
                  <a:close/>
                </a:path>
              </a:pathLst>
            </a:custGeom>
            <a:solidFill>
              <a:srgbClr val="CCF6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80815" y="3596640"/>
              <a:ext cx="5511165" cy="1432560"/>
            </a:xfrm>
            <a:custGeom>
              <a:avLst/>
              <a:gdLst/>
              <a:ahLst/>
              <a:cxnLst/>
              <a:rect l="l" t="t" r="r" b="b"/>
              <a:pathLst>
                <a:path w="5511165" h="1432560">
                  <a:moveTo>
                    <a:pt x="5510784" y="238760"/>
                  </a:moveTo>
                  <a:lnTo>
                    <a:pt x="5510784" y="1193800"/>
                  </a:lnTo>
                  <a:lnTo>
                    <a:pt x="5505931" y="1241907"/>
                  </a:lnTo>
                  <a:lnTo>
                    <a:pt x="5492015" y="1286720"/>
                  </a:lnTo>
                  <a:lnTo>
                    <a:pt x="5469997" y="1327276"/>
                  </a:lnTo>
                  <a:lnTo>
                    <a:pt x="5440838" y="1362614"/>
                  </a:lnTo>
                  <a:lnTo>
                    <a:pt x="5405500" y="1391773"/>
                  </a:lnTo>
                  <a:lnTo>
                    <a:pt x="5364944" y="1413791"/>
                  </a:lnTo>
                  <a:lnTo>
                    <a:pt x="5320131" y="1427707"/>
                  </a:lnTo>
                  <a:lnTo>
                    <a:pt x="5272024" y="1432560"/>
                  </a:lnTo>
                  <a:lnTo>
                    <a:pt x="0" y="1432560"/>
                  </a:lnTo>
                  <a:lnTo>
                    <a:pt x="0" y="0"/>
                  </a:lnTo>
                  <a:lnTo>
                    <a:pt x="5272024" y="0"/>
                  </a:lnTo>
                  <a:lnTo>
                    <a:pt x="5320131" y="4852"/>
                  </a:lnTo>
                  <a:lnTo>
                    <a:pt x="5364944" y="18768"/>
                  </a:lnTo>
                  <a:lnTo>
                    <a:pt x="5405500" y="40786"/>
                  </a:lnTo>
                  <a:lnTo>
                    <a:pt x="5440838" y="69945"/>
                  </a:lnTo>
                  <a:lnTo>
                    <a:pt x="5469997" y="105283"/>
                  </a:lnTo>
                  <a:lnTo>
                    <a:pt x="5492015" y="145839"/>
                  </a:lnTo>
                  <a:lnTo>
                    <a:pt x="5505931" y="190652"/>
                  </a:lnTo>
                  <a:lnTo>
                    <a:pt x="5510784" y="238760"/>
                  </a:lnTo>
                  <a:close/>
                </a:path>
              </a:pathLst>
            </a:custGeom>
            <a:ln w="12192">
              <a:solidFill>
                <a:srgbClr val="CCF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16655" y="3536315"/>
            <a:ext cx="5275580" cy="1500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41300" marR="74930" indent="-228600">
              <a:lnSpc>
                <a:spcPts val="2210"/>
              </a:lnSpc>
              <a:spcBef>
                <a:spcPts val="335"/>
              </a:spcBef>
              <a:buChar char="•"/>
              <a:tabLst>
                <a:tab pos="241300" algn="l"/>
              </a:tabLst>
            </a:pPr>
            <a:r>
              <a:rPr spc="-40" dirty="0">
                <a:latin typeface="Calibri"/>
                <a:cs typeface="Calibri"/>
              </a:rPr>
              <a:t>Your </a:t>
            </a:r>
            <a:r>
              <a:rPr dirty="0">
                <a:latin typeface="Calibri"/>
                <a:cs typeface="Calibri"/>
              </a:rPr>
              <a:t>choice </a:t>
            </a:r>
            <a:r>
              <a:rPr spc="-5" dirty="0">
                <a:latin typeface="Calibri"/>
                <a:cs typeface="Calibri"/>
              </a:rPr>
              <a:t>of </a:t>
            </a:r>
            <a:r>
              <a:rPr dirty="0">
                <a:latin typeface="Calibri"/>
                <a:cs typeface="Calibri"/>
              </a:rPr>
              <a:t>medi</a:t>
            </a:r>
            <a:r>
              <a:rPr lang="en-US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governs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5" dirty="0">
                <a:latin typeface="Calibri"/>
                <a:cs typeface="Calibri"/>
              </a:rPr>
              <a:t>style </a:t>
            </a:r>
            <a:r>
              <a:rPr dirty="0">
                <a:latin typeface="Calibri"/>
                <a:cs typeface="Calibri"/>
              </a:rPr>
              <a:t>and </a:t>
            </a:r>
            <a:r>
              <a:rPr spc="-4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tone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of </a:t>
            </a:r>
            <a:r>
              <a:rPr spc="-10" dirty="0">
                <a:latin typeface="Calibri"/>
                <a:cs typeface="Calibri"/>
              </a:rPr>
              <a:t>your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message</a:t>
            </a:r>
            <a:endParaRPr dirty="0">
              <a:latin typeface="Calibri"/>
              <a:cs typeface="Calibri"/>
            </a:endParaRPr>
          </a:p>
          <a:p>
            <a:pPr marL="241300" marR="5080" indent="-228600">
              <a:lnSpc>
                <a:spcPts val="2200"/>
              </a:lnSpc>
              <a:spcBef>
                <a:spcPts val="350"/>
              </a:spcBef>
              <a:buFont typeface="Calibri"/>
              <a:buChar char="•"/>
              <a:tabLst>
                <a:tab pos="299085" algn="l"/>
                <a:tab pos="299720" algn="l"/>
              </a:tabLst>
            </a:pPr>
            <a:r>
              <a:rPr dirty="0"/>
              <a:t>	</a:t>
            </a:r>
            <a:r>
              <a:rPr spc="-10" dirty="0">
                <a:latin typeface="Calibri"/>
                <a:cs typeface="Calibri"/>
              </a:rPr>
              <a:t>For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example, </a:t>
            </a:r>
            <a:r>
              <a:rPr dirty="0">
                <a:latin typeface="Calibri"/>
                <a:cs typeface="Calibri"/>
              </a:rPr>
              <a:t>a </a:t>
            </a:r>
            <a:r>
              <a:rPr spc="-15" dirty="0">
                <a:latin typeface="Calibri"/>
                <a:cs typeface="Calibri"/>
              </a:rPr>
              <a:t>letter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likely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be </a:t>
            </a:r>
            <a:r>
              <a:rPr spc="-10" dirty="0">
                <a:latin typeface="Calibri"/>
                <a:cs typeface="Calibri"/>
              </a:rPr>
              <a:t>perceived </a:t>
            </a:r>
            <a:r>
              <a:rPr dirty="0">
                <a:latin typeface="Calibri"/>
                <a:cs typeface="Calibri"/>
              </a:rPr>
              <a:t>as a </a:t>
            </a:r>
            <a:r>
              <a:rPr spc="-10" dirty="0">
                <a:latin typeface="Calibri"/>
                <a:cs typeface="Calibri"/>
              </a:rPr>
              <a:t>more formal gesture </a:t>
            </a:r>
            <a:r>
              <a:rPr dirty="0">
                <a:latin typeface="Calibri"/>
                <a:cs typeface="Calibri"/>
              </a:rPr>
              <a:t>than a</a:t>
            </a:r>
            <a:r>
              <a:rPr lang="en-US" dirty="0">
                <a:latin typeface="Calibri"/>
                <a:cs typeface="Calibri"/>
              </a:rPr>
              <a:t>n instant</a:t>
            </a:r>
            <a:r>
              <a:rPr spc="-5" dirty="0">
                <a:latin typeface="Calibri"/>
                <a:cs typeface="Calibri"/>
              </a:rPr>
              <a:t> message</a:t>
            </a:r>
            <a:r>
              <a:rPr lang="en-US" spc="-5" dirty="0">
                <a:latin typeface="Calibri"/>
                <a:cs typeface="Calibri"/>
              </a:rPr>
              <a:t> (IM)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4904" y="3531108"/>
            <a:ext cx="3112135" cy="1564005"/>
            <a:chOff x="374904" y="3531108"/>
            <a:chExt cx="3112135" cy="1564005"/>
          </a:xfrm>
        </p:grpSpPr>
        <p:sp>
          <p:nvSpPr>
            <p:cNvPr id="18" name="object 18"/>
            <p:cNvSpPr/>
            <p:nvPr/>
          </p:nvSpPr>
          <p:spPr>
            <a:xfrm>
              <a:off x="381000" y="3537204"/>
              <a:ext cx="3100070" cy="1551940"/>
            </a:xfrm>
            <a:custGeom>
              <a:avLst/>
              <a:gdLst/>
              <a:ahLst/>
              <a:cxnLst/>
              <a:rect l="l" t="t" r="r" b="b"/>
              <a:pathLst>
                <a:path w="3100070" h="1551939">
                  <a:moveTo>
                    <a:pt x="2841244" y="0"/>
                  </a:moveTo>
                  <a:lnTo>
                    <a:pt x="258572" y="0"/>
                  </a:lnTo>
                  <a:lnTo>
                    <a:pt x="212095" y="4167"/>
                  </a:lnTo>
                  <a:lnTo>
                    <a:pt x="168350" y="16183"/>
                  </a:lnTo>
                  <a:lnTo>
                    <a:pt x="128068" y="35315"/>
                  </a:lnTo>
                  <a:lnTo>
                    <a:pt x="91980" y="60831"/>
                  </a:lnTo>
                  <a:lnTo>
                    <a:pt x="60815" y="92000"/>
                  </a:lnTo>
                  <a:lnTo>
                    <a:pt x="35304" y="128091"/>
                  </a:lnTo>
                  <a:lnTo>
                    <a:pt x="16177" y="168370"/>
                  </a:lnTo>
                  <a:lnTo>
                    <a:pt x="4166" y="212108"/>
                  </a:lnTo>
                  <a:lnTo>
                    <a:pt x="0" y="258572"/>
                  </a:lnTo>
                  <a:lnTo>
                    <a:pt x="0" y="1292860"/>
                  </a:lnTo>
                  <a:lnTo>
                    <a:pt x="4166" y="1339323"/>
                  </a:lnTo>
                  <a:lnTo>
                    <a:pt x="16177" y="1383061"/>
                  </a:lnTo>
                  <a:lnTo>
                    <a:pt x="35304" y="1423340"/>
                  </a:lnTo>
                  <a:lnTo>
                    <a:pt x="60815" y="1459431"/>
                  </a:lnTo>
                  <a:lnTo>
                    <a:pt x="91980" y="1490600"/>
                  </a:lnTo>
                  <a:lnTo>
                    <a:pt x="128068" y="1516116"/>
                  </a:lnTo>
                  <a:lnTo>
                    <a:pt x="168350" y="1535248"/>
                  </a:lnTo>
                  <a:lnTo>
                    <a:pt x="212095" y="1547264"/>
                  </a:lnTo>
                  <a:lnTo>
                    <a:pt x="258572" y="1551432"/>
                  </a:lnTo>
                  <a:lnTo>
                    <a:pt x="2841244" y="1551432"/>
                  </a:lnTo>
                  <a:lnTo>
                    <a:pt x="2887707" y="1547264"/>
                  </a:lnTo>
                  <a:lnTo>
                    <a:pt x="2931445" y="1535248"/>
                  </a:lnTo>
                  <a:lnTo>
                    <a:pt x="2971724" y="1516116"/>
                  </a:lnTo>
                  <a:lnTo>
                    <a:pt x="3007815" y="1490600"/>
                  </a:lnTo>
                  <a:lnTo>
                    <a:pt x="3038984" y="1459431"/>
                  </a:lnTo>
                  <a:lnTo>
                    <a:pt x="3064500" y="1423340"/>
                  </a:lnTo>
                  <a:lnTo>
                    <a:pt x="3083632" y="1383061"/>
                  </a:lnTo>
                  <a:lnTo>
                    <a:pt x="3095648" y="1339323"/>
                  </a:lnTo>
                  <a:lnTo>
                    <a:pt x="3099816" y="1292860"/>
                  </a:lnTo>
                  <a:lnTo>
                    <a:pt x="3099816" y="258572"/>
                  </a:lnTo>
                  <a:lnTo>
                    <a:pt x="3095648" y="212108"/>
                  </a:lnTo>
                  <a:lnTo>
                    <a:pt x="3083632" y="168370"/>
                  </a:lnTo>
                  <a:lnTo>
                    <a:pt x="3064500" y="128091"/>
                  </a:lnTo>
                  <a:lnTo>
                    <a:pt x="3038984" y="92000"/>
                  </a:lnTo>
                  <a:lnTo>
                    <a:pt x="3007815" y="60831"/>
                  </a:lnTo>
                  <a:lnTo>
                    <a:pt x="2971724" y="35315"/>
                  </a:lnTo>
                  <a:lnTo>
                    <a:pt x="2931445" y="16183"/>
                  </a:lnTo>
                  <a:lnTo>
                    <a:pt x="2887707" y="4167"/>
                  </a:lnTo>
                  <a:lnTo>
                    <a:pt x="2841244" y="0"/>
                  </a:lnTo>
                  <a:close/>
                </a:path>
              </a:pathLst>
            </a:custGeom>
            <a:solidFill>
              <a:srgbClr val="22E0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000" y="3537204"/>
              <a:ext cx="3100070" cy="1551940"/>
            </a:xfrm>
            <a:custGeom>
              <a:avLst/>
              <a:gdLst/>
              <a:ahLst/>
              <a:cxnLst/>
              <a:rect l="l" t="t" r="r" b="b"/>
              <a:pathLst>
                <a:path w="3100070" h="1551939">
                  <a:moveTo>
                    <a:pt x="0" y="258572"/>
                  </a:moveTo>
                  <a:lnTo>
                    <a:pt x="4166" y="212108"/>
                  </a:lnTo>
                  <a:lnTo>
                    <a:pt x="16177" y="168370"/>
                  </a:lnTo>
                  <a:lnTo>
                    <a:pt x="35304" y="128091"/>
                  </a:lnTo>
                  <a:lnTo>
                    <a:pt x="60815" y="92000"/>
                  </a:lnTo>
                  <a:lnTo>
                    <a:pt x="91980" y="60831"/>
                  </a:lnTo>
                  <a:lnTo>
                    <a:pt x="128068" y="35315"/>
                  </a:lnTo>
                  <a:lnTo>
                    <a:pt x="168350" y="16183"/>
                  </a:lnTo>
                  <a:lnTo>
                    <a:pt x="212095" y="4167"/>
                  </a:lnTo>
                  <a:lnTo>
                    <a:pt x="258572" y="0"/>
                  </a:lnTo>
                  <a:lnTo>
                    <a:pt x="2841244" y="0"/>
                  </a:lnTo>
                  <a:lnTo>
                    <a:pt x="2887707" y="4167"/>
                  </a:lnTo>
                  <a:lnTo>
                    <a:pt x="2931445" y="16183"/>
                  </a:lnTo>
                  <a:lnTo>
                    <a:pt x="2971724" y="35315"/>
                  </a:lnTo>
                  <a:lnTo>
                    <a:pt x="3007815" y="60831"/>
                  </a:lnTo>
                  <a:lnTo>
                    <a:pt x="3038984" y="92000"/>
                  </a:lnTo>
                  <a:lnTo>
                    <a:pt x="3064500" y="128091"/>
                  </a:lnTo>
                  <a:lnTo>
                    <a:pt x="3083632" y="168370"/>
                  </a:lnTo>
                  <a:lnTo>
                    <a:pt x="3095648" y="212108"/>
                  </a:lnTo>
                  <a:lnTo>
                    <a:pt x="3099816" y="258572"/>
                  </a:lnTo>
                  <a:lnTo>
                    <a:pt x="3099816" y="1292860"/>
                  </a:lnTo>
                  <a:lnTo>
                    <a:pt x="3095648" y="1339323"/>
                  </a:lnTo>
                  <a:lnTo>
                    <a:pt x="3083632" y="1383061"/>
                  </a:lnTo>
                  <a:lnTo>
                    <a:pt x="3064500" y="1423340"/>
                  </a:lnTo>
                  <a:lnTo>
                    <a:pt x="3038984" y="1459431"/>
                  </a:lnTo>
                  <a:lnTo>
                    <a:pt x="3007815" y="1490600"/>
                  </a:lnTo>
                  <a:lnTo>
                    <a:pt x="2971724" y="1516116"/>
                  </a:lnTo>
                  <a:lnTo>
                    <a:pt x="2931445" y="1535248"/>
                  </a:lnTo>
                  <a:lnTo>
                    <a:pt x="2887707" y="1547264"/>
                  </a:lnTo>
                  <a:lnTo>
                    <a:pt x="2841244" y="1551432"/>
                  </a:lnTo>
                  <a:lnTo>
                    <a:pt x="258572" y="1551432"/>
                  </a:lnTo>
                  <a:lnTo>
                    <a:pt x="212095" y="1547264"/>
                  </a:lnTo>
                  <a:lnTo>
                    <a:pt x="168350" y="1535248"/>
                  </a:lnTo>
                  <a:lnTo>
                    <a:pt x="128068" y="1516116"/>
                  </a:lnTo>
                  <a:lnTo>
                    <a:pt x="91980" y="1490600"/>
                  </a:lnTo>
                  <a:lnTo>
                    <a:pt x="60815" y="1459431"/>
                  </a:lnTo>
                  <a:lnTo>
                    <a:pt x="35304" y="1423340"/>
                  </a:lnTo>
                  <a:lnTo>
                    <a:pt x="16177" y="1383061"/>
                  </a:lnTo>
                  <a:lnTo>
                    <a:pt x="4166" y="1339323"/>
                  </a:lnTo>
                  <a:lnTo>
                    <a:pt x="0" y="1292860"/>
                  </a:lnTo>
                  <a:lnTo>
                    <a:pt x="0" y="25857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9740" y="3810000"/>
            <a:ext cx="3136900" cy="902970"/>
          </a:xfrm>
          <a:prstGeom prst="rect">
            <a:avLst/>
          </a:prstGeom>
        </p:spPr>
        <p:txBody>
          <a:bodyPr vert="horz" wrap="square" lIns="0" tIns="78105" rIns="0" bIns="0" rtlCol="0">
            <a:noAutofit/>
          </a:bodyPr>
          <a:lstStyle/>
          <a:p>
            <a:pPr marL="12700" marR="5080" indent="48260">
              <a:lnSpc>
                <a:spcPts val="4730"/>
              </a:lnSpc>
              <a:spcBef>
                <a:spcPts val="615"/>
              </a:spcBef>
            </a:pP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Message </a:t>
            </a:r>
            <a:r>
              <a:rPr sz="2400" b="1" spc="-9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7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ormality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474465" y="5175250"/>
            <a:ext cx="5523865" cy="1535430"/>
            <a:chOff x="3474465" y="5175250"/>
            <a:chExt cx="5523865" cy="1535430"/>
          </a:xfrm>
        </p:grpSpPr>
        <p:sp>
          <p:nvSpPr>
            <p:cNvPr id="22" name="object 22"/>
            <p:cNvSpPr/>
            <p:nvPr/>
          </p:nvSpPr>
          <p:spPr>
            <a:xfrm>
              <a:off x="3480815" y="5181600"/>
              <a:ext cx="5511165" cy="1522730"/>
            </a:xfrm>
            <a:custGeom>
              <a:avLst/>
              <a:gdLst/>
              <a:ahLst/>
              <a:cxnLst/>
              <a:rect l="l" t="t" r="r" b="b"/>
              <a:pathLst>
                <a:path w="5511165" h="1522729">
                  <a:moveTo>
                    <a:pt x="5257038" y="0"/>
                  </a:moveTo>
                  <a:lnTo>
                    <a:pt x="0" y="0"/>
                  </a:lnTo>
                  <a:lnTo>
                    <a:pt x="0" y="1522476"/>
                  </a:lnTo>
                  <a:lnTo>
                    <a:pt x="5257038" y="1522476"/>
                  </a:lnTo>
                  <a:lnTo>
                    <a:pt x="5302633" y="1518387"/>
                  </a:lnTo>
                  <a:lnTo>
                    <a:pt x="5345554" y="1506599"/>
                  </a:lnTo>
                  <a:lnTo>
                    <a:pt x="5385082" y="1487829"/>
                  </a:lnTo>
                  <a:lnTo>
                    <a:pt x="5420499" y="1462794"/>
                  </a:lnTo>
                  <a:lnTo>
                    <a:pt x="5451086" y="1432209"/>
                  </a:lnTo>
                  <a:lnTo>
                    <a:pt x="5476127" y="1396793"/>
                  </a:lnTo>
                  <a:lnTo>
                    <a:pt x="5494902" y="1357260"/>
                  </a:lnTo>
                  <a:lnTo>
                    <a:pt x="5506693" y="1314330"/>
                  </a:lnTo>
                  <a:lnTo>
                    <a:pt x="5510784" y="1268717"/>
                  </a:lnTo>
                  <a:lnTo>
                    <a:pt x="5510784" y="253746"/>
                  </a:lnTo>
                  <a:lnTo>
                    <a:pt x="5506693" y="208150"/>
                  </a:lnTo>
                  <a:lnTo>
                    <a:pt x="5494902" y="165229"/>
                  </a:lnTo>
                  <a:lnTo>
                    <a:pt x="5476127" y="125701"/>
                  </a:lnTo>
                  <a:lnTo>
                    <a:pt x="5451086" y="90284"/>
                  </a:lnTo>
                  <a:lnTo>
                    <a:pt x="5420499" y="59697"/>
                  </a:lnTo>
                  <a:lnTo>
                    <a:pt x="5385082" y="34656"/>
                  </a:lnTo>
                  <a:lnTo>
                    <a:pt x="5345554" y="15881"/>
                  </a:lnTo>
                  <a:lnTo>
                    <a:pt x="5302633" y="4090"/>
                  </a:lnTo>
                  <a:lnTo>
                    <a:pt x="5257038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80815" y="5181600"/>
              <a:ext cx="5511165" cy="1522730"/>
            </a:xfrm>
            <a:custGeom>
              <a:avLst/>
              <a:gdLst/>
              <a:ahLst/>
              <a:cxnLst/>
              <a:rect l="l" t="t" r="r" b="b"/>
              <a:pathLst>
                <a:path w="5511165" h="1522729">
                  <a:moveTo>
                    <a:pt x="5510784" y="253746"/>
                  </a:moveTo>
                  <a:lnTo>
                    <a:pt x="5510784" y="1268717"/>
                  </a:lnTo>
                  <a:lnTo>
                    <a:pt x="5506693" y="1314330"/>
                  </a:lnTo>
                  <a:lnTo>
                    <a:pt x="5494902" y="1357260"/>
                  </a:lnTo>
                  <a:lnTo>
                    <a:pt x="5476127" y="1396793"/>
                  </a:lnTo>
                  <a:lnTo>
                    <a:pt x="5451086" y="1432209"/>
                  </a:lnTo>
                  <a:lnTo>
                    <a:pt x="5420499" y="1462794"/>
                  </a:lnTo>
                  <a:lnTo>
                    <a:pt x="5385082" y="1487829"/>
                  </a:lnTo>
                  <a:lnTo>
                    <a:pt x="5345554" y="1506599"/>
                  </a:lnTo>
                  <a:lnTo>
                    <a:pt x="5302633" y="1518387"/>
                  </a:lnTo>
                  <a:lnTo>
                    <a:pt x="5257038" y="1522476"/>
                  </a:lnTo>
                  <a:lnTo>
                    <a:pt x="0" y="1522476"/>
                  </a:lnTo>
                  <a:lnTo>
                    <a:pt x="0" y="0"/>
                  </a:lnTo>
                  <a:lnTo>
                    <a:pt x="5257038" y="0"/>
                  </a:lnTo>
                  <a:lnTo>
                    <a:pt x="5302633" y="4090"/>
                  </a:lnTo>
                  <a:lnTo>
                    <a:pt x="5345554" y="15881"/>
                  </a:lnTo>
                  <a:lnTo>
                    <a:pt x="5385082" y="34656"/>
                  </a:lnTo>
                  <a:lnTo>
                    <a:pt x="5420499" y="59697"/>
                  </a:lnTo>
                  <a:lnTo>
                    <a:pt x="5451086" y="90284"/>
                  </a:lnTo>
                  <a:lnTo>
                    <a:pt x="5476127" y="125701"/>
                  </a:lnTo>
                  <a:lnTo>
                    <a:pt x="5494902" y="165229"/>
                  </a:lnTo>
                  <a:lnTo>
                    <a:pt x="5506693" y="208150"/>
                  </a:lnTo>
                  <a:lnTo>
                    <a:pt x="5510784" y="253746"/>
                  </a:lnTo>
                  <a:close/>
                </a:path>
              </a:pathLst>
            </a:custGeom>
            <a:ln w="12192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716655" y="5166360"/>
            <a:ext cx="4758055" cy="12172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pc="-15" dirty="0">
                <a:latin typeface="Calibri"/>
                <a:cs typeface="Calibri"/>
              </a:rPr>
              <a:t>Each </a:t>
            </a:r>
            <a:r>
              <a:rPr dirty="0">
                <a:latin typeface="Calibri"/>
                <a:cs typeface="Calibri"/>
              </a:rPr>
              <a:t>medium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has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its own </a:t>
            </a:r>
            <a:r>
              <a:rPr spc="-5" dirty="0">
                <a:latin typeface="Calibri"/>
                <a:cs typeface="Calibri"/>
              </a:rPr>
              <a:t>limitations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6655" y="5621655"/>
            <a:ext cx="5022850" cy="1014095"/>
          </a:xfrm>
          <a:prstGeom prst="rect">
            <a:avLst/>
          </a:prstGeom>
        </p:spPr>
        <p:txBody>
          <a:bodyPr vert="horz" wrap="square" lIns="0" tIns="38735" rIns="0" bIns="0" rtlCol="0">
            <a:noAutofit/>
          </a:bodyPr>
          <a:lstStyle/>
          <a:p>
            <a:pPr marL="241300" marR="5080" indent="-228600">
              <a:lnSpc>
                <a:spcPct val="92000"/>
              </a:lnSpc>
              <a:spcBef>
                <a:spcPts val="305"/>
              </a:spcBef>
              <a:buFont typeface="Calibri"/>
              <a:buChar char="•"/>
              <a:tabLst>
                <a:tab pos="299085" algn="l"/>
                <a:tab pos="299720" algn="l"/>
              </a:tabLst>
            </a:pPr>
            <a:r>
              <a:rPr dirty="0"/>
              <a:t>	</a:t>
            </a:r>
            <a:r>
              <a:rPr spc="-10" dirty="0">
                <a:latin typeface="Calibri"/>
                <a:cs typeface="Calibri"/>
              </a:rPr>
              <a:t>For </a:t>
            </a:r>
            <a:r>
              <a:rPr spc="-5" dirty="0">
                <a:latin typeface="Calibri"/>
                <a:cs typeface="Calibri"/>
              </a:rPr>
              <a:t>instance, </a:t>
            </a:r>
            <a:r>
              <a:rPr dirty="0">
                <a:latin typeface="Calibri"/>
                <a:cs typeface="Calibri"/>
              </a:rPr>
              <a:t>IM is </a:t>
            </a:r>
            <a:r>
              <a:rPr spc="-10" dirty="0">
                <a:latin typeface="Calibri"/>
                <a:cs typeface="Calibri"/>
              </a:rPr>
              <a:t>perfect </a:t>
            </a:r>
            <a:r>
              <a:rPr spc="-15" dirty="0">
                <a:latin typeface="Calibri"/>
                <a:cs typeface="Calibri"/>
              </a:rPr>
              <a:t>for </a:t>
            </a:r>
            <a:r>
              <a:rPr spc="-5" dirty="0">
                <a:latin typeface="Calibri"/>
                <a:cs typeface="Calibri"/>
              </a:rPr>
              <a:t>communicating simple, </a:t>
            </a:r>
            <a:r>
              <a:rPr spc="-15" dirty="0">
                <a:latin typeface="Calibri"/>
                <a:cs typeface="Calibri"/>
              </a:rPr>
              <a:t>straightforward </a:t>
            </a:r>
            <a:r>
              <a:rPr spc="-5" dirty="0">
                <a:latin typeface="Calibri"/>
                <a:cs typeface="Calibri"/>
              </a:rPr>
              <a:t>messages,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5" dirty="0">
                <a:latin typeface="Calibri"/>
                <a:cs typeface="Calibri"/>
              </a:rPr>
              <a:t> is </a:t>
            </a:r>
            <a:r>
              <a:rPr spc="-10" dirty="0">
                <a:latin typeface="Calibri"/>
                <a:cs typeface="Calibri"/>
              </a:rPr>
              <a:t>ineffective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for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sending</a:t>
            </a:r>
            <a:r>
              <a:rPr lang="en-US" spc="-5" dirty="0">
                <a:latin typeface="Calibri"/>
                <a:cs typeface="Calibri"/>
              </a:rPr>
              <a:t> complex information</a:t>
            </a:r>
          </a:p>
        </p:txBody>
      </p:sp>
      <p:grpSp>
        <p:nvGrpSpPr>
          <p:cNvPr id="27" name="object 27"/>
          <p:cNvGrpSpPr/>
          <p:nvPr/>
        </p:nvGrpSpPr>
        <p:grpSpPr>
          <a:xfrm>
            <a:off x="374904" y="5160264"/>
            <a:ext cx="3112135" cy="1565275"/>
            <a:chOff x="374904" y="5160264"/>
            <a:chExt cx="3112135" cy="1565275"/>
          </a:xfrm>
        </p:grpSpPr>
        <p:sp>
          <p:nvSpPr>
            <p:cNvPr id="28" name="object 28"/>
            <p:cNvSpPr/>
            <p:nvPr/>
          </p:nvSpPr>
          <p:spPr>
            <a:xfrm>
              <a:off x="381000" y="5166360"/>
              <a:ext cx="3100070" cy="1553210"/>
            </a:xfrm>
            <a:custGeom>
              <a:avLst/>
              <a:gdLst/>
              <a:ahLst/>
              <a:cxnLst/>
              <a:rect l="l" t="t" r="r" b="b"/>
              <a:pathLst>
                <a:path w="3100070" h="1553209">
                  <a:moveTo>
                    <a:pt x="2840990" y="0"/>
                  </a:moveTo>
                  <a:lnTo>
                    <a:pt x="258826" y="0"/>
                  </a:lnTo>
                  <a:lnTo>
                    <a:pt x="212303" y="4168"/>
                  </a:lnTo>
                  <a:lnTo>
                    <a:pt x="168516" y="16186"/>
                  </a:lnTo>
                  <a:lnTo>
                    <a:pt x="128194" y="35324"/>
                  </a:lnTo>
                  <a:lnTo>
                    <a:pt x="92070" y="60854"/>
                  </a:lnTo>
                  <a:lnTo>
                    <a:pt x="60874" y="92044"/>
                  </a:lnTo>
                  <a:lnTo>
                    <a:pt x="35338" y="128166"/>
                  </a:lnTo>
                  <a:lnTo>
                    <a:pt x="16193" y="168490"/>
                  </a:lnTo>
                  <a:lnTo>
                    <a:pt x="4170" y="212286"/>
                  </a:lnTo>
                  <a:lnTo>
                    <a:pt x="0" y="258825"/>
                  </a:lnTo>
                  <a:lnTo>
                    <a:pt x="0" y="1294130"/>
                  </a:lnTo>
                  <a:lnTo>
                    <a:pt x="4170" y="1340652"/>
                  </a:lnTo>
                  <a:lnTo>
                    <a:pt x="16193" y="1384439"/>
                  </a:lnTo>
                  <a:lnTo>
                    <a:pt x="35338" y="1424761"/>
                  </a:lnTo>
                  <a:lnTo>
                    <a:pt x="60874" y="1460885"/>
                  </a:lnTo>
                  <a:lnTo>
                    <a:pt x="92070" y="1492081"/>
                  </a:lnTo>
                  <a:lnTo>
                    <a:pt x="128194" y="1517617"/>
                  </a:lnTo>
                  <a:lnTo>
                    <a:pt x="168516" y="1536762"/>
                  </a:lnTo>
                  <a:lnTo>
                    <a:pt x="212303" y="1548785"/>
                  </a:lnTo>
                  <a:lnTo>
                    <a:pt x="258826" y="1552955"/>
                  </a:lnTo>
                  <a:lnTo>
                    <a:pt x="2840990" y="1552955"/>
                  </a:lnTo>
                  <a:lnTo>
                    <a:pt x="2887529" y="1548785"/>
                  </a:lnTo>
                  <a:lnTo>
                    <a:pt x="2931325" y="1536762"/>
                  </a:lnTo>
                  <a:lnTo>
                    <a:pt x="2971649" y="1517617"/>
                  </a:lnTo>
                  <a:lnTo>
                    <a:pt x="3007771" y="1492081"/>
                  </a:lnTo>
                  <a:lnTo>
                    <a:pt x="3038961" y="1460885"/>
                  </a:lnTo>
                  <a:lnTo>
                    <a:pt x="3064491" y="1424761"/>
                  </a:lnTo>
                  <a:lnTo>
                    <a:pt x="3083629" y="1384439"/>
                  </a:lnTo>
                  <a:lnTo>
                    <a:pt x="3095647" y="1340652"/>
                  </a:lnTo>
                  <a:lnTo>
                    <a:pt x="3099816" y="1294130"/>
                  </a:lnTo>
                  <a:lnTo>
                    <a:pt x="3099816" y="258825"/>
                  </a:lnTo>
                  <a:lnTo>
                    <a:pt x="3095647" y="212286"/>
                  </a:lnTo>
                  <a:lnTo>
                    <a:pt x="3083629" y="168490"/>
                  </a:lnTo>
                  <a:lnTo>
                    <a:pt x="3064491" y="128166"/>
                  </a:lnTo>
                  <a:lnTo>
                    <a:pt x="3038961" y="92044"/>
                  </a:lnTo>
                  <a:lnTo>
                    <a:pt x="3007771" y="60854"/>
                  </a:lnTo>
                  <a:lnTo>
                    <a:pt x="2971649" y="35324"/>
                  </a:lnTo>
                  <a:lnTo>
                    <a:pt x="2931325" y="16186"/>
                  </a:lnTo>
                  <a:lnTo>
                    <a:pt x="2887529" y="4168"/>
                  </a:lnTo>
                  <a:lnTo>
                    <a:pt x="284099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166360"/>
              <a:ext cx="3100070" cy="1553210"/>
            </a:xfrm>
            <a:custGeom>
              <a:avLst/>
              <a:gdLst/>
              <a:ahLst/>
              <a:cxnLst/>
              <a:rect l="l" t="t" r="r" b="b"/>
              <a:pathLst>
                <a:path w="3100070" h="1553209">
                  <a:moveTo>
                    <a:pt x="0" y="258825"/>
                  </a:moveTo>
                  <a:lnTo>
                    <a:pt x="4170" y="212286"/>
                  </a:lnTo>
                  <a:lnTo>
                    <a:pt x="16193" y="168490"/>
                  </a:lnTo>
                  <a:lnTo>
                    <a:pt x="35338" y="128166"/>
                  </a:lnTo>
                  <a:lnTo>
                    <a:pt x="60874" y="92044"/>
                  </a:lnTo>
                  <a:lnTo>
                    <a:pt x="92070" y="60854"/>
                  </a:lnTo>
                  <a:lnTo>
                    <a:pt x="128194" y="35324"/>
                  </a:lnTo>
                  <a:lnTo>
                    <a:pt x="168516" y="16186"/>
                  </a:lnTo>
                  <a:lnTo>
                    <a:pt x="212303" y="4168"/>
                  </a:lnTo>
                  <a:lnTo>
                    <a:pt x="258826" y="0"/>
                  </a:lnTo>
                  <a:lnTo>
                    <a:pt x="2840990" y="0"/>
                  </a:lnTo>
                  <a:lnTo>
                    <a:pt x="2887529" y="4168"/>
                  </a:lnTo>
                  <a:lnTo>
                    <a:pt x="2931325" y="16186"/>
                  </a:lnTo>
                  <a:lnTo>
                    <a:pt x="2971649" y="35324"/>
                  </a:lnTo>
                  <a:lnTo>
                    <a:pt x="3007771" y="60854"/>
                  </a:lnTo>
                  <a:lnTo>
                    <a:pt x="3038961" y="92044"/>
                  </a:lnTo>
                  <a:lnTo>
                    <a:pt x="3064491" y="128166"/>
                  </a:lnTo>
                  <a:lnTo>
                    <a:pt x="3083629" y="168490"/>
                  </a:lnTo>
                  <a:lnTo>
                    <a:pt x="3095647" y="212286"/>
                  </a:lnTo>
                  <a:lnTo>
                    <a:pt x="3099816" y="258825"/>
                  </a:lnTo>
                  <a:lnTo>
                    <a:pt x="3099816" y="1294130"/>
                  </a:lnTo>
                  <a:lnTo>
                    <a:pt x="3095647" y="1340652"/>
                  </a:lnTo>
                  <a:lnTo>
                    <a:pt x="3083629" y="1384439"/>
                  </a:lnTo>
                  <a:lnTo>
                    <a:pt x="3064491" y="1424761"/>
                  </a:lnTo>
                  <a:lnTo>
                    <a:pt x="3038961" y="1460885"/>
                  </a:lnTo>
                  <a:lnTo>
                    <a:pt x="3007771" y="1492081"/>
                  </a:lnTo>
                  <a:lnTo>
                    <a:pt x="2971649" y="1517617"/>
                  </a:lnTo>
                  <a:lnTo>
                    <a:pt x="2931325" y="1536762"/>
                  </a:lnTo>
                  <a:lnTo>
                    <a:pt x="2887529" y="1548785"/>
                  </a:lnTo>
                  <a:lnTo>
                    <a:pt x="2840990" y="1552955"/>
                  </a:lnTo>
                  <a:lnTo>
                    <a:pt x="258826" y="1552955"/>
                  </a:lnTo>
                  <a:lnTo>
                    <a:pt x="212303" y="1548785"/>
                  </a:lnTo>
                  <a:lnTo>
                    <a:pt x="168516" y="1536762"/>
                  </a:lnTo>
                  <a:lnTo>
                    <a:pt x="128194" y="1517617"/>
                  </a:lnTo>
                  <a:lnTo>
                    <a:pt x="92070" y="1492081"/>
                  </a:lnTo>
                  <a:lnTo>
                    <a:pt x="60874" y="1460885"/>
                  </a:lnTo>
                  <a:lnTo>
                    <a:pt x="35338" y="1424761"/>
                  </a:lnTo>
                  <a:lnTo>
                    <a:pt x="16193" y="1384439"/>
                  </a:lnTo>
                  <a:lnTo>
                    <a:pt x="4170" y="1340652"/>
                  </a:lnTo>
                  <a:lnTo>
                    <a:pt x="0" y="1294130"/>
                  </a:lnTo>
                  <a:lnTo>
                    <a:pt x="0" y="25882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6520" y="5553075"/>
            <a:ext cx="3620135" cy="68453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 indent="487680" algn="l">
              <a:lnSpc>
                <a:spcPts val="4730"/>
              </a:lnSpc>
              <a:spcBef>
                <a:spcPts val="615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Medi</a:t>
            </a:r>
            <a:r>
              <a:rPr lang="en-US" sz="2400" b="1" spc="-10" dirty="0">
                <a:solidFill>
                  <a:srgbClr val="FFFFFF"/>
                </a:solidFill>
                <a:latin typeface="Calibri"/>
                <a:cs typeface="Calibri"/>
              </a:rPr>
              <a:t>um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limi</a:t>
            </a:r>
            <a:r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ta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tions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370834" y="911097"/>
            <a:ext cx="5610860" cy="1846580"/>
            <a:chOff x="3370834" y="911097"/>
            <a:chExt cx="5610860" cy="1846580"/>
          </a:xfrm>
        </p:grpSpPr>
        <p:sp>
          <p:nvSpPr>
            <p:cNvPr id="4" name="object 4"/>
            <p:cNvSpPr/>
            <p:nvPr/>
          </p:nvSpPr>
          <p:spPr>
            <a:xfrm>
              <a:off x="3377184" y="917447"/>
              <a:ext cx="5598160" cy="1833880"/>
            </a:xfrm>
            <a:custGeom>
              <a:avLst/>
              <a:gdLst/>
              <a:ahLst/>
              <a:cxnLst/>
              <a:rect l="l" t="t" r="r" b="b"/>
              <a:pathLst>
                <a:path w="5598159" h="1833880">
                  <a:moveTo>
                    <a:pt x="5292090" y="0"/>
                  </a:moveTo>
                  <a:lnTo>
                    <a:pt x="0" y="0"/>
                  </a:lnTo>
                  <a:lnTo>
                    <a:pt x="0" y="1833372"/>
                  </a:lnTo>
                  <a:lnTo>
                    <a:pt x="5292090" y="1833372"/>
                  </a:lnTo>
                  <a:lnTo>
                    <a:pt x="5341660" y="1829373"/>
                  </a:lnTo>
                  <a:lnTo>
                    <a:pt x="5388681" y="1817796"/>
                  </a:lnTo>
                  <a:lnTo>
                    <a:pt x="5432524" y="1799270"/>
                  </a:lnTo>
                  <a:lnTo>
                    <a:pt x="5472562" y="1774423"/>
                  </a:lnTo>
                  <a:lnTo>
                    <a:pt x="5508164" y="1743884"/>
                  </a:lnTo>
                  <a:lnTo>
                    <a:pt x="5538703" y="1708282"/>
                  </a:lnTo>
                  <a:lnTo>
                    <a:pt x="5563550" y="1668244"/>
                  </a:lnTo>
                  <a:lnTo>
                    <a:pt x="5582076" y="1624401"/>
                  </a:lnTo>
                  <a:lnTo>
                    <a:pt x="5593653" y="1577380"/>
                  </a:lnTo>
                  <a:lnTo>
                    <a:pt x="5597651" y="1527810"/>
                  </a:lnTo>
                  <a:lnTo>
                    <a:pt x="5597651" y="305562"/>
                  </a:lnTo>
                  <a:lnTo>
                    <a:pt x="5593653" y="255991"/>
                  </a:lnTo>
                  <a:lnTo>
                    <a:pt x="5582076" y="208970"/>
                  </a:lnTo>
                  <a:lnTo>
                    <a:pt x="5563550" y="165127"/>
                  </a:lnTo>
                  <a:lnTo>
                    <a:pt x="5538703" y="125089"/>
                  </a:lnTo>
                  <a:lnTo>
                    <a:pt x="5508164" y="89487"/>
                  </a:lnTo>
                  <a:lnTo>
                    <a:pt x="5472562" y="58948"/>
                  </a:lnTo>
                  <a:lnTo>
                    <a:pt x="5432524" y="34101"/>
                  </a:lnTo>
                  <a:lnTo>
                    <a:pt x="5388681" y="15575"/>
                  </a:lnTo>
                  <a:lnTo>
                    <a:pt x="5341660" y="3998"/>
                  </a:lnTo>
                  <a:lnTo>
                    <a:pt x="5292090" y="0"/>
                  </a:lnTo>
                  <a:close/>
                </a:path>
              </a:pathLst>
            </a:custGeom>
            <a:solidFill>
              <a:srgbClr val="E0E0E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77184" y="917447"/>
              <a:ext cx="5598160" cy="1833880"/>
            </a:xfrm>
            <a:custGeom>
              <a:avLst/>
              <a:gdLst/>
              <a:ahLst/>
              <a:cxnLst/>
              <a:rect l="l" t="t" r="r" b="b"/>
              <a:pathLst>
                <a:path w="5598159" h="1833880">
                  <a:moveTo>
                    <a:pt x="5597651" y="305562"/>
                  </a:moveTo>
                  <a:lnTo>
                    <a:pt x="5597651" y="1527810"/>
                  </a:lnTo>
                  <a:lnTo>
                    <a:pt x="5593653" y="1577380"/>
                  </a:lnTo>
                  <a:lnTo>
                    <a:pt x="5582076" y="1624401"/>
                  </a:lnTo>
                  <a:lnTo>
                    <a:pt x="5563550" y="1668244"/>
                  </a:lnTo>
                  <a:lnTo>
                    <a:pt x="5538703" y="1708282"/>
                  </a:lnTo>
                  <a:lnTo>
                    <a:pt x="5508164" y="1743884"/>
                  </a:lnTo>
                  <a:lnTo>
                    <a:pt x="5472562" y="1774423"/>
                  </a:lnTo>
                  <a:lnTo>
                    <a:pt x="5432524" y="1799270"/>
                  </a:lnTo>
                  <a:lnTo>
                    <a:pt x="5388681" y="1817796"/>
                  </a:lnTo>
                  <a:lnTo>
                    <a:pt x="5341660" y="1829373"/>
                  </a:lnTo>
                  <a:lnTo>
                    <a:pt x="5292090" y="1833372"/>
                  </a:lnTo>
                  <a:lnTo>
                    <a:pt x="0" y="1833372"/>
                  </a:lnTo>
                  <a:lnTo>
                    <a:pt x="0" y="0"/>
                  </a:lnTo>
                  <a:lnTo>
                    <a:pt x="5292090" y="0"/>
                  </a:lnTo>
                  <a:lnTo>
                    <a:pt x="5341660" y="3998"/>
                  </a:lnTo>
                  <a:lnTo>
                    <a:pt x="5388681" y="15575"/>
                  </a:lnTo>
                  <a:lnTo>
                    <a:pt x="5432524" y="34101"/>
                  </a:lnTo>
                  <a:lnTo>
                    <a:pt x="5472562" y="58948"/>
                  </a:lnTo>
                  <a:lnTo>
                    <a:pt x="5508164" y="89487"/>
                  </a:lnTo>
                  <a:lnTo>
                    <a:pt x="5538703" y="125089"/>
                  </a:lnTo>
                  <a:lnTo>
                    <a:pt x="5563550" y="165127"/>
                  </a:lnTo>
                  <a:lnTo>
                    <a:pt x="5582076" y="208970"/>
                  </a:lnTo>
                  <a:lnTo>
                    <a:pt x="5593653" y="255991"/>
                  </a:lnTo>
                  <a:lnTo>
                    <a:pt x="5597651" y="305562"/>
                  </a:lnTo>
                  <a:close/>
                </a:path>
              </a:pathLst>
            </a:custGeom>
            <a:ln w="12192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94659" y="917194"/>
            <a:ext cx="5127625" cy="8013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marR="5080" indent="-228600">
              <a:lnSpc>
                <a:spcPct val="920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spc="-5" dirty="0">
                <a:latin typeface="Calibri"/>
                <a:cs typeface="Calibri"/>
              </a:rPr>
              <a:t>Some medi</a:t>
            </a:r>
            <a:r>
              <a:rPr lang="en-US" spc="-5" dirty="0">
                <a:latin typeface="Calibri"/>
                <a:cs typeface="Calibri"/>
              </a:rPr>
              <a:t>ums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establish </a:t>
            </a:r>
            <a:r>
              <a:rPr dirty="0">
                <a:latin typeface="Calibri"/>
                <a:cs typeface="Calibri"/>
              </a:rPr>
              <a:t>a connection </a:t>
            </a:r>
            <a:r>
              <a:rPr spc="-5" dirty="0">
                <a:latin typeface="Calibri"/>
                <a:cs typeface="Calibri"/>
              </a:rPr>
              <a:t>with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audience </a:t>
            </a:r>
            <a:r>
              <a:rPr spc="-15" dirty="0">
                <a:latin typeface="Calibri"/>
                <a:cs typeface="Calibri"/>
              </a:rPr>
              <a:t>faster </a:t>
            </a:r>
            <a:r>
              <a:rPr dirty="0">
                <a:latin typeface="Calibri"/>
                <a:cs typeface="Calibri"/>
              </a:rPr>
              <a:t>than </a:t>
            </a:r>
            <a:r>
              <a:rPr spc="-10" dirty="0">
                <a:latin typeface="Calibri"/>
                <a:cs typeface="Calibri"/>
              </a:rPr>
              <a:t>others, </a:t>
            </a:r>
            <a:r>
              <a:rPr dirty="0">
                <a:latin typeface="Calibri"/>
                <a:cs typeface="Calibri"/>
              </a:rPr>
              <a:t>so choose </a:t>
            </a:r>
            <a:r>
              <a:rPr spc="-5" dirty="0">
                <a:latin typeface="Calibri"/>
                <a:cs typeface="Calibri"/>
              </a:rPr>
              <a:t>wisely </a:t>
            </a:r>
            <a:r>
              <a:rPr dirty="0">
                <a:latin typeface="Calibri"/>
                <a:cs typeface="Calibri"/>
              </a:rPr>
              <a:t>if </a:t>
            </a:r>
            <a:r>
              <a:rPr spc="-4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your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message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0" dirty="0">
                <a:latin typeface="Calibri"/>
                <a:cs typeface="Calibri"/>
              </a:rPr>
              <a:t> urgent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4659" y="1801495"/>
            <a:ext cx="4891405" cy="8013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marR="5080" indent="-228600">
              <a:lnSpc>
                <a:spcPct val="92000"/>
              </a:lnSpc>
              <a:spcBef>
                <a:spcPts val="300"/>
              </a:spcBef>
              <a:buFont typeface="Calibri"/>
              <a:buChar char="•"/>
              <a:tabLst>
                <a:tab pos="299085" algn="l"/>
                <a:tab pos="299720" algn="l"/>
              </a:tabLst>
            </a:pPr>
            <a:r>
              <a:rPr dirty="0"/>
              <a:t>	</a:t>
            </a:r>
            <a:r>
              <a:rPr dirty="0">
                <a:latin typeface="Calibri"/>
                <a:cs typeface="Calibri"/>
              </a:rPr>
              <a:t>If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 message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urgent,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choose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medium </a:t>
            </a:r>
            <a:r>
              <a:rPr spc="-44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that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allows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people</a:t>
            </a:r>
            <a:r>
              <a:rPr spc="-15" dirty="0">
                <a:latin typeface="Calibri"/>
                <a:cs typeface="Calibri"/>
              </a:rPr>
              <a:t> to</a:t>
            </a:r>
            <a:r>
              <a:rPr spc="-5" dirty="0">
                <a:latin typeface="Calibri"/>
                <a:cs typeface="Calibri"/>
              </a:rPr>
              <a:t> respond</a:t>
            </a:r>
            <a:r>
              <a:rPr spc="-15" dirty="0">
                <a:latin typeface="Calibri"/>
                <a:cs typeface="Calibri"/>
              </a:rPr>
              <a:t> at</a:t>
            </a:r>
            <a:r>
              <a:rPr dirty="0">
                <a:latin typeface="Calibri"/>
                <a:cs typeface="Calibri"/>
              </a:rPr>
              <a:t> their </a:t>
            </a:r>
            <a:r>
              <a:rPr spc="-10" dirty="0">
                <a:latin typeface="Calibri"/>
                <a:cs typeface="Calibri"/>
              </a:rPr>
              <a:t>convenience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2504" y="1028700"/>
            <a:ext cx="3161030" cy="1610995"/>
            <a:chOff x="222504" y="1028700"/>
            <a:chExt cx="3161030" cy="1610995"/>
          </a:xfrm>
        </p:grpSpPr>
        <p:sp>
          <p:nvSpPr>
            <p:cNvPr id="9" name="object 9"/>
            <p:cNvSpPr/>
            <p:nvPr/>
          </p:nvSpPr>
          <p:spPr>
            <a:xfrm>
              <a:off x="228600" y="1034795"/>
              <a:ext cx="3148965" cy="1598930"/>
            </a:xfrm>
            <a:custGeom>
              <a:avLst/>
              <a:gdLst/>
              <a:ahLst/>
              <a:cxnLst/>
              <a:rect l="l" t="t" r="r" b="b"/>
              <a:pathLst>
                <a:path w="3148965" h="1598930">
                  <a:moveTo>
                    <a:pt x="2882138" y="0"/>
                  </a:moveTo>
                  <a:lnTo>
                    <a:pt x="266445" y="0"/>
                  </a:lnTo>
                  <a:lnTo>
                    <a:pt x="218551" y="4291"/>
                  </a:lnTo>
                  <a:lnTo>
                    <a:pt x="173474" y="16665"/>
                  </a:lnTo>
                  <a:lnTo>
                    <a:pt x="131965" y="36369"/>
                  </a:lnTo>
                  <a:lnTo>
                    <a:pt x="94777" y="62651"/>
                  </a:lnTo>
                  <a:lnTo>
                    <a:pt x="62664" y="94762"/>
                  </a:lnTo>
                  <a:lnTo>
                    <a:pt x="36377" y="131948"/>
                  </a:lnTo>
                  <a:lnTo>
                    <a:pt x="16669" y="173458"/>
                  </a:lnTo>
                  <a:lnTo>
                    <a:pt x="4292" y="218541"/>
                  </a:lnTo>
                  <a:lnTo>
                    <a:pt x="0" y="266445"/>
                  </a:lnTo>
                  <a:lnTo>
                    <a:pt x="0" y="1332229"/>
                  </a:lnTo>
                  <a:lnTo>
                    <a:pt x="4292" y="1380134"/>
                  </a:lnTo>
                  <a:lnTo>
                    <a:pt x="16669" y="1425217"/>
                  </a:lnTo>
                  <a:lnTo>
                    <a:pt x="36377" y="1466727"/>
                  </a:lnTo>
                  <a:lnTo>
                    <a:pt x="62664" y="1503913"/>
                  </a:lnTo>
                  <a:lnTo>
                    <a:pt x="94777" y="1536024"/>
                  </a:lnTo>
                  <a:lnTo>
                    <a:pt x="131965" y="1562306"/>
                  </a:lnTo>
                  <a:lnTo>
                    <a:pt x="173474" y="1582010"/>
                  </a:lnTo>
                  <a:lnTo>
                    <a:pt x="218551" y="1594384"/>
                  </a:lnTo>
                  <a:lnTo>
                    <a:pt x="266445" y="1598676"/>
                  </a:lnTo>
                  <a:lnTo>
                    <a:pt x="2882138" y="1598676"/>
                  </a:lnTo>
                  <a:lnTo>
                    <a:pt x="2930042" y="1594384"/>
                  </a:lnTo>
                  <a:lnTo>
                    <a:pt x="2975125" y="1582010"/>
                  </a:lnTo>
                  <a:lnTo>
                    <a:pt x="3016635" y="1562306"/>
                  </a:lnTo>
                  <a:lnTo>
                    <a:pt x="3053821" y="1536024"/>
                  </a:lnTo>
                  <a:lnTo>
                    <a:pt x="3085932" y="1503913"/>
                  </a:lnTo>
                  <a:lnTo>
                    <a:pt x="3112214" y="1466727"/>
                  </a:lnTo>
                  <a:lnTo>
                    <a:pt x="3131918" y="1425217"/>
                  </a:lnTo>
                  <a:lnTo>
                    <a:pt x="3144292" y="1380134"/>
                  </a:lnTo>
                  <a:lnTo>
                    <a:pt x="3148584" y="1332229"/>
                  </a:lnTo>
                  <a:lnTo>
                    <a:pt x="3148584" y="266445"/>
                  </a:lnTo>
                  <a:lnTo>
                    <a:pt x="3144292" y="218541"/>
                  </a:lnTo>
                  <a:lnTo>
                    <a:pt x="3131918" y="173458"/>
                  </a:lnTo>
                  <a:lnTo>
                    <a:pt x="3112214" y="131948"/>
                  </a:lnTo>
                  <a:lnTo>
                    <a:pt x="3085932" y="94762"/>
                  </a:lnTo>
                  <a:lnTo>
                    <a:pt x="3053821" y="62651"/>
                  </a:lnTo>
                  <a:lnTo>
                    <a:pt x="3016635" y="36369"/>
                  </a:lnTo>
                  <a:lnTo>
                    <a:pt x="2975125" y="16665"/>
                  </a:lnTo>
                  <a:lnTo>
                    <a:pt x="2930042" y="4291"/>
                  </a:lnTo>
                  <a:lnTo>
                    <a:pt x="288213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00" y="1034795"/>
              <a:ext cx="3148965" cy="1598930"/>
            </a:xfrm>
            <a:custGeom>
              <a:avLst/>
              <a:gdLst/>
              <a:ahLst/>
              <a:cxnLst/>
              <a:rect l="l" t="t" r="r" b="b"/>
              <a:pathLst>
                <a:path w="3148965" h="1598930">
                  <a:moveTo>
                    <a:pt x="0" y="266445"/>
                  </a:moveTo>
                  <a:lnTo>
                    <a:pt x="4292" y="218541"/>
                  </a:lnTo>
                  <a:lnTo>
                    <a:pt x="16669" y="173458"/>
                  </a:lnTo>
                  <a:lnTo>
                    <a:pt x="36377" y="131948"/>
                  </a:lnTo>
                  <a:lnTo>
                    <a:pt x="62664" y="94762"/>
                  </a:lnTo>
                  <a:lnTo>
                    <a:pt x="94777" y="62651"/>
                  </a:lnTo>
                  <a:lnTo>
                    <a:pt x="131965" y="36369"/>
                  </a:lnTo>
                  <a:lnTo>
                    <a:pt x="173474" y="16665"/>
                  </a:lnTo>
                  <a:lnTo>
                    <a:pt x="218551" y="4291"/>
                  </a:lnTo>
                  <a:lnTo>
                    <a:pt x="266445" y="0"/>
                  </a:lnTo>
                  <a:lnTo>
                    <a:pt x="2882138" y="0"/>
                  </a:lnTo>
                  <a:lnTo>
                    <a:pt x="2930042" y="4291"/>
                  </a:lnTo>
                  <a:lnTo>
                    <a:pt x="2975125" y="16665"/>
                  </a:lnTo>
                  <a:lnTo>
                    <a:pt x="3016635" y="36369"/>
                  </a:lnTo>
                  <a:lnTo>
                    <a:pt x="3053821" y="62651"/>
                  </a:lnTo>
                  <a:lnTo>
                    <a:pt x="3085932" y="94762"/>
                  </a:lnTo>
                  <a:lnTo>
                    <a:pt x="3112214" y="131948"/>
                  </a:lnTo>
                  <a:lnTo>
                    <a:pt x="3131918" y="173458"/>
                  </a:lnTo>
                  <a:lnTo>
                    <a:pt x="3144292" y="218541"/>
                  </a:lnTo>
                  <a:lnTo>
                    <a:pt x="3148584" y="266445"/>
                  </a:lnTo>
                  <a:lnTo>
                    <a:pt x="3148584" y="1332229"/>
                  </a:lnTo>
                  <a:lnTo>
                    <a:pt x="3144292" y="1380134"/>
                  </a:lnTo>
                  <a:lnTo>
                    <a:pt x="3131918" y="1425217"/>
                  </a:lnTo>
                  <a:lnTo>
                    <a:pt x="3112214" y="1466727"/>
                  </a:lnTo>
                  <a:lnTo>
                    <a:pt x="3085932" y="1503913"/>
                  </a:lnTo>
                  <a:lnTo>
                    <a:pt x="3053821" y="1536024"/>
                  </a:lnTo>
                  <a:lnTo>
                    <a:pt x="3016635" y="1562306"/>
                  </a:lnTo>
                  <a:lnTo>
                    <a:pt x="2975125" y="1582010"/>
                  </a:lnTo>
                  <a:lnTo>
                    <a:pt x="2930042" y="1594384"/>
                  </a:lnTo>
                  <a:lnTo>
                    <a:pt x="2882138" y="1598676"/>
                  </a:lnTo>
                  <a:lnTo>
                    <a:pt x="266445" y="1598676"/>
                  </a:lnTo>
                  <a:lnTo>
                    <a:pt x="218551" y="1594384"/>
                  </a:lnTo>
                  <a:lnTo>
                    <a:pt x="173474" y="1582010"/>
                  </a:lnTo>
                  <a:lnTo>
                    <a:pt x="131965" y="1562306"/>
                  </a:lnTo>
                  <a:lnTo>
                    <a:pt x="94777" y="1536024"/>
                  </a:lnTo>
                  <a:lnTo>
                    <a:pt x="62664" y="1503913"/>
                  </a:lnTo>
                  <a:lnTo>
                    <a:pt x="36377" y="1466727"/>
                  </a:lnTo>
                  <a:lnTo>
                    <a:pt x="16669" y="1425217"/>
                  </a:lnTo>
                  <a:lnTo>
                    <a:pt x="4292" y="1380134"/>
                  </a:lnTo>
                  <a:lnTo>
                    <a:pt x="0" y="1332229"/>
                  </a:lnTo>
                  <a:lnTo>
                    <a:pt x="0" y="26644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29741" y="1457401"/>
            <a:ext cx="174498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00" b="1" spc="-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ency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70834" y="2825242"/>
            <a:ext cx="5610860" cy="2221230"/>
            <a:chOff x="3370834" y="2825242"/>
            <a:chExt cx="5610860" cy="2221230"/>
          </a:xfrm>
        </p:grpSpPr>
        <p:sp>
          <p:nvSpPr>
            <p:cNvPr id="13" name="object 13"/>
            <p:cNvSpPr/>
            <p:nvPr/>
          </p:nvSpPr>
          <p:spPr>
            <a:xfrm>
              <a:off x="3377184" y="2831592"/>
              <a:ext cx="5598160" cy="2208530"/>
            </a:xfrm>
            <a:custGeom>
              <a:avLst/>
              <a:gdLst/>
              <a:ahLst/>
              <a:cxnLst/>
              <a:rect l="l" t="t" r="r" b="b"/>
              <a:pathLst>
                <a:path w="5598159" h="2208529">
                  <a:moveTo>
                    <a:pt x="5229606" y="0"/>
                  </a:moveTo>
                  <a:lnTo>
                    <a:pt x="0" y="0"/>
                  </a:lnTo>
                  <a:lnTo>
                    <a:pt x="0" y="2208276"/>
                  </a:lnTo>
                  <a:lnTo>
                    <a:pt x="5229606" y="2208276"/>
                  </a:lnTo>
                  <a:lnTo>
                    <a:pt x="5275759" y="2205407"/>
                  </a:lnTo>
                  <a:lnTo>
                    <a:pt x="5320206" y="2197031"/>
                  </a:lnTo>
                  <a:lnTo>
                    <a:pt x="5362600" y="2183494"/>
                  </a:lnTo>
                  <a:lnTo>
                    <a:pt x="5402596" y="2165140"/>
                  </a:lnTo>
                  <a:lnTo>
                    <a:pt x="5439849" y="2142316"/>
                  </a:lnTo>
                  <a:lnTo>
                    <a:pt x="5474013" y="2115366"/>
                  </a:lnTo>
                  <a:lnTo>
                    <a:pt x="5504742" y="2084637"/>
                  </a:lnTo>
                  <a:lnTo>
                    <a:pt x="5531692" y="2050473"/>
                  </a:lnTo>
                  <a:lnTo>
                    <a:pt x="5554516" y="2013220"/>
                  </a:lnTo>
                  <a:lnTo>
                    <a:pt x="5572870" y="1973224"/>
                  </a:lnTo>
                  <a:lnTo>
                    <a:pt x="5586407" y="1930830"/>
                  </a:lnTo>
                  <a:lnTo>
                    <a:pt x="5594783" y="1886383"/>
                  </a:lnTo>
                  <a:lnTo>
                    <a:pt x="5597651" y="1840230"/>
                  </a:lnTo>
                  <a:lnTo>
                    <a:pt x="5597651" y="368046"/>
                  </a:lnTo>
                  <a:lnTo>
                    <a:pt x="5594783" y="321892"/>
                  </a:lnTo>
                  <a:lnTo>
                    <a:pt x="5586407" y="277445"/>
                  </a:lnTo>
                  <a:lnTo>
                    <a:pt x="5572870" y="235051"/>
                  </a:lnTo>
                  <a:lnTo>
                    <a:pt x="5554516" y="195055"/>
                  </a:lnTo>
                  <a:lnTo>
                    <a:pt x="5531692" y="157802"/>
                  </a:lnTo>
                  <a:lnTo>
                    <a:pt x="5504742" y="123638"/>
                  </a:lnTo>
                  <a:lnTo>
                    <a:pt x="5474013" y="92909"/>
                  </a:lnTo>
                  <a:lnTo>
                    <a:pt x="5439849" y="65959"/>
                  </a:lnTo>
                  <a:lnTo>
                    <a:pt x="5402596" y="43135"/>
                  </a:lnTo>
                  <a:lnTo>
                    <a:pt x="5362600" y="24781"/>
                  </a:lnTo>
                  <a:lnTo>
                    <a:pt x="5320206" y="11244"/>
                  </a:lnTo>
                  <a:lnTo>
                    <a:pt x="5275759" y="2868"/>
                  </a:lnTo>
                  <a:lnTo>
                    <a:pt x="5229606" y="0"/>
                  </a:lnTo>
                  <a:close/>
                </a:path>
              </a:pathLst>
            </a:custGeom>
            <a:solidFill>
              <a:srgbClr val="EFD29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77184" y="2831592"/>
              <a:ext cx="5598160" cy="2208530"/>
            </a:xfrm>
            <a:custGeom>
              <a:avLst/>
              <a:gdLst/>
              <a:ahLst/>
              <a:cxnLst/>
              <a:rect l="l" t="t" r="r" b="b"/>
              <a:pathLst>
                <a:path w="5598159" h="2208529">
                  <a:moveTo>
                    <a:pt x="5597651" y="368046"/>
                  </a:moveTo>
                  <a:lnTo>
                    <a:pt x="5597651" y="1840230"/>
                  </a:lnTo>
                  <a:lnTo>
                    <a:pt x="5594783" y="1886383"/>
                  </a:lnTo>
                  <a:lnTo>
                    <a:pt x="5586407" y="1930830"/>
                  </a:lnTo>
                  <a:lnTo>
                    <a:pt x="5572870" y="1973224"/>
                  </a:lnTo>
                  <a:lnTo>
                    <a:pt x="5554516" y="2013220"/>
                  </a:lnTo>
                  <a:lnTo>
                    <a:pt x="5531692" y="2050473"/>
                  </a:lnTo>
                  <a:lnTo>
                    <a:pt x="5504742" y="2084637"/>
                  </a:lnTo>
                  <a:lnTo>
                    <a:pt x="5474013" y="2115366"/>
                  </a:lnTo>
                  <a:lnTo>
                    <a:pt x="5439849" y="2142316"/>
                  </a:lnTo>
                  <a:lnTo>
                    <a:pt x="5402596" y="2165140"/>
                  </a:lnTo>
                  <a:lnTo>
                    <a:pt x="5362600" y="2183494"/>
                  </a:lnTo>
                  <a:lnTo>
                    <a:pt x="5320206" y="2197031"/>
                  </a:lnTo>
                  <a:lnTo>
                    <a:pt x="5275759" y="2205407"/>
                  </a:lnTo>
                  <a:lnTo>
                    <a:pt x="5229606" y="2208276"/>
                  </a:lnTo>
                  <a:lnTo>
                    <a:pt x="0" y="2208276"/>
                  </a:lnTo>
                  <a:lnTo>
                    <a:pt x="0" y="0"/>
                  </a:lnTo>
                  <a:lnTo>
                    <a:pt x="5229606" y="0"/>
                  </a:lnTo>
                  <a:lnTo>
                    <a:pt x="5275759" y="2868"/>
                  </a:lnTo>
                  <a:lnTo>
                    <a:pt x="5320206" y="11244"/>
                  </a:lnTo>
                  <a:lnTo>
                    <a:pt x="5362600" y="24781"/>
                  </a:lnTo>
                  <a:lnTo>
                    <a:pt x="5402596" y="43135"/>
                  </a:lnTo>
                  <a:lnTo>
                    <a:pt x="5439849" y="65959"/>
                  </a:lnTo>
                  <a:lnTo>
                    <a:pt x="5474013" y="92909"/>
                  </a:lnTo>
                  <a:lnTo>
                    <a:pt x="5504742" y="123638"/>
                  </a:lnTo>
                  <a:lnTo>
                    <a:pt x="5531692" y="157802"/>
                  </a:lnTo>
                  <a:lnTo>
                    <a:pt x="5554516" y="195055"/>
                  </a:lnTo>
                  <a:lnTo>
                    <a:pt x="5572870" y="235051"/>
                  </a:lnTo>
                  <a:lnTo>
                    <a:pt x="5586407" y="277445"/>
                  </a:lnTo>
                  <a:lnTo>
                    <a:pt x="5594783" y="321892"/>
                  </a:lnTo>
                  <a:lnTo>
                    <a:pt x="5597651" y="368046"/>
                  </a:lnTo>
                  <a:close/>
                </a:path>
              </a:pathLst>
            </a:custGeom>
            <a:ln w="12192">
              <a:solidFill>
                <a:srgbClr val="EFD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71239" y="3575812"/>
            <a:ext cx="5232400" cy="5372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84785" marR="452120" indent="-172720">
              <a:lnSpc>
                <a:spcPct val="92000"/>
              </a:lnSpc>
              <a:spcBef>
                <a:spcPts val="270"/>
              </a:spcBef>
              <a:buChar char="•"/>
              <a:tabLst>
                <a:tab pos="185420" algn="l"/>
              </a:tabLst>
            </a:pPr>
            <a:r>
              <a:rPr lang="en-US" spc="-5" dirty="0">
                <a:latin typeface="Calibri"/>
                <a:cs typeface="Calibri"/>
              </a:rPr>
              <a:t>Choose a medium that is relevant to the situation and is cost-effective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2504" y="3130295"/>
            <a:ext cx="3161030" cy="1610995"/>
            <a:chOff x="222504" y="3130295"/>
            <a:chExt cx="3161030" cy="1610995"/>
          </a:xfrm>
        </p:grpSpPr>
        <p:sp>
          <p:nvSpPr>
            <p:cNvPr id="17" name="object 17"/>
            <p:cNvSpPr/>
            <p:nvPr/>
          </p:nvSpPr>
          <p:spPr>
            <a:xfrm>
              <a:off x="228600" y="3136391"/>
              <a:ext cx="3148965" cy="1598930"/>
            </a:xfrm>
            <a:custGeom>
              <a:avLst/>
              <a:gdLst/>
              <a:ahLst/>
              <a:cxnLst/>
              <a:rect l="l" t="t" r="r" b="b"/>
              <a:pathLst>
                <a:path w="3148965" h="1598929">
                  <a:moveTo>
                    <a:pt x="2882138" y="0"/>
                  </a:moveTo>
                  <a:lnTo>
                    <a:pt x="266445" y="0"/>
                  </a:lnTo>
                  <a:lnTo>
                    <a:pt x="218551" y="4291"/>
                  </a:lnTo>
                  <a:lnTo>
                    <a:pt x="173474" y="16665"/>
                  </a:lnTo>
                  <a:lnTo>
                    <a:pt x="131965" y="36369"/>
                  </a:lnTo>
                  <a:lnTo>
                    <a:pt x="94777" y="62651"/>
                  </a:lnTo>
                  <a:lnTo>
                    <a:pt x="62664" y="94762"/>
                  </a:lnTo>
                  <a:lnTo>
                    <a:pt x="36377" y="131948"/>
                  </a:lnTo>
                  <a:lnTo>
                    <a:pt x="16669" y="173458"/>
                  </a:lnTo>
                  <a:lnTo>
                    <a:pt x="4292" y="218541"/>
                  </a:lnTo>
                  <a:lnTo>
                    <a:pt x="0" y="266446"/>
                  </a:lnTo>
                  <a:lnTo>
                    <a:pt x="0" y="1332230"/>
                  </a:lnTo>
                  <a:lnTo>
                    <a:pt x="4292" y="1380134"/>
                  </a:lnTo>
                  <a:lnTo>
                    <a:pt x="16669" y="1425217"/>
                  </a:lnTo>
                  <a:lnTo>
                    <a:pt x="36377" y="1466727"/>
                  </a:lnTo>
                  <a:lnTo>
                    <a:pt x="62664" y="1503913"/>
                  </a:lnTo>
                  <a:lnTo>
                    <a:pt x="94777" y="1536024"/>
                  </a:lnTo>
                  <a:lnTo>
                    <a:pt x="131965" y="1562306"/>
                  </a:lnTo>
                  <a:lnTo>
                    <a:pt x="173474" y="1582010"/>
                  </a:lnTo>
                  <a:lnTo>
                    <a:pt x="218551" y="1594384"/>
                  </a:lnTo>
                  <a:lnTo>
                    <a:pt x="266445" y="1598676"/>
                  </a:lnTo>
                  <a:lnTo>
                    <a:pt x="2882138" y="1598676"/>
                  </a:lnTo>
                  <a:lnTo>
                    <a:pt x="2930042" y="1594384"/>
                  </a:lnTo>
                  <a:lnTo>
                    <a:pt x="2975125" y="1582010"/>
                  </a:lnTo>
                  <a:lnTo>
                    <a:pt x="3016635" y="1562306"/>
                  </a:lnTo>
                  <a:lnTo>
                    <a:pt x="3053821" y="1536024"/>
                  </a:lnTo>
                  <a:lnTo>
                    <a:pt x="3085932" y="1503913"/>
                  </a:lnTo>
                  <a:lnTo>
                    <a:pt x="3112214" y="1466727"/>
                  </a:lnTo>
                  <a:lnTo>
                    <a:pt x="3131918" y="1425217"/>
                  </a:lnTo>
                  <a:lnTo>
                    <a:pt x="3144292" y="1380134"/>
                  </a:lnTo>
                  <a:lnTo>
                    <a:pt x="3148584" y="1332230"/>
                  </a:lnTo>
                  <a:lnTo>
                    <a:pt x="3148584" y="266446"/>
                  </a:lnTo>
                  <a:lnTo>
                    <a:pt x="3144292" y="218541"/>
                  </a:lnTo>
                  <a:lnTo>
                    <a:pt x="3131918" y="173458"/>
                  </a:lnTo>
                  <a:lnTo>
                    <a:pt x="3112214" y="131948"/>
                  </a:lnTo>
                  <a:lnTo>
                    <a:pt x="3085932" y="94762"/>
                  </a:lnTo>
                  <a:lnTo>
                    <a:pt x="3053821" y="62651"/>
                  </a:lnTo>
                  <a:lnTo>
                    <a:pt x="3016635" y="36369"/>
                  </a:lnTo>
                  <a:lnTo>
                    <a:pt x="2975125" y="16665"/>
                  </a:lnTo>
                  <a:lnTo>
                    <a:pt x="2930042" y="4291"/>
                  </a:lnTo>
                  <a:lnTo>
                    <a:pt x="2882138" y="0"/>
                  </a:lnTo>
                  <a:close/>
                </a:path>
              </a:pathLst>
            </a:custGeom>
            <a:solidFill>
              <a:srgbClr val="AC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600" y="3136391"/>
              <a:ext cx="3148965" cy="1598930"/>
            </a:xfrm>
            <a:custGeom>
              <a:avLst/>
              <a:gdLst/>
              <a:ahLst/>
              <a:cxnLst/>
              <a:rect l="l" t="t" r="r" b="b"/>
              <a:pathLst>
                <a:path w="3148965" h="1598929">
                  <a:moveTo>
                    <a:pt x="0" y="266446"/>
                  </a:moveTo>
                  <a:lnTo>
                    <a:pt x="4292" y="218541"/>
                  </a:lnTo>
                  <a:lnTo>
                    <a:pt x="16669" y="173458"/>
                  </a:lnTo>
                  <a:lnTo>
                    <a:pt x="36377" y="131948"/>
                  </a:lnTo>
                  <a:lnTo>
                    <a:pt x="62664" y="94762"/>
                  </a:lnTo>
                  <a:lnTo>
                    <a:pt x="94777" y="62651"/>
                  </a:lnTo>
                  <a:lnTo>
                    <a:pt x="131965" y="36369"/>
                  </a:lnTo>
                  <a:lnTo>
                    <a:pt x="173474" y="16665"/>
                  </a:lnTo>
                  <a:lnTo>
                    <a:pt x="218551" y="4291"/>
                  </a:lnTo>
                  <a:lnTo>
                    <a:pt x="266445" y="0"/>
                  </a:lnTo>
                  <a:lnTo>
                    <a:pt x="2882138" y="0"/>
                  </a:lnTo>
                  <a:lnTo>
                    <a:pt x="2930042" y="4291"/>
                  </a:lnTo>
                  <a:lnTo>
                    <a:pt x="2975125" y="16665"/>
                  </a:lnTo>
                  <a:lnTo>
                    <a:pt x="3016635" y="36369"/>
                  </a:lnTo>
                  <a:lnTo>
                    <a:pt x="3053821" y="62651"/>
                  </a:lnTo>
                  <a:lnTo>
                    <a:pt x="3085932" y="94762"/>
                  </a:lnTo>
                  <a:lnTo>
                    <a:pt x="3112214" y="131948"/>
                  </a:lnTo>
                  <a:lnTo>
                    <a:pt x="3131918" y="173458"/>
                  </a:lnTo>
                  <a:lnTo>
                    <a:pt x="3144292" y="218541"/>
                  </a:lnTo>
                  <a:lnTo>
                    <a:pt x="3148584" y="266446"/>
                  </a:lnTo>
                  <a:lnTo>
                    <a:pt x="3148584" y="1332230"/>
                  </a:lnTo>
                  <a:lnTo>
                    <a:pt x="3144292" y="1380134"/>
                  </a:lnTo>
                  <a:lnTo>
                    <a:pt x="3131918" y="1425217"/>
                  </a:lnTo>
                  <a:lnTo>
                    <a:pt x="3112214" y="1466727"/>
                  </a:lnTo>
                  <a:lnTo>
                    <a:pt x="3085932" y="1503913"/>
                  </a:lnTo>
                  <a:lnTo>
                    <a:pt x="3053821" y="1536024"/>
                  </a:lnTo>
                  <a:lnTo>
                    <a:pt x="3016635" y="1562306"/>
                  </a:lnTo>
                  <a:lnTo>
                    <a:pt x="2975125" y="1582010"/>
                  </a:lnTo>
                  <a:lnTo>
                    <a:pt x="2930042" y="1594384"/>
                  </a:lnTo>
                  <a:lnTo>
                    <a:pt x="2882138" y="1598676"/>
                  </a:lnTo>
                  <a:lnTo>
                    <a:pt x="266445" y="1598676"/>
                  </a:lnTo>
                  <a:lnTo>
                    <a:pt x="218551" y="1594384"/>
                  </a:lnTo>
                  <a:lnTo>
                    <a:pt x="173474" y="1582010"/>
                  </a:lnTo>
                  <a:lnTo>
                    <a:pt x="131965" y="1562306"/>
                  </a:lnTo>
                  <a:lnTo>
                    <a:pt x="94777" y="1536024"/>
                  </a:lnTo>
                  <a:lnTo>
                    <a:pt x="62664" y="1503913"/>
                  </a:lnTo>
                  <a:lnTo>
                    <a:pt x="36377" y="1466727"/>
                  </a:lnTo>
                  <a:lnTo>
                    <a:pt x="16669" y="1425217"/>
                  </a:lnTo>
                  <a:lnTo>
                    <a:pt x="4292" y="1380134"/>
                  </a:lnTo>
                  <a:lnTo>
                    <a:pt x="0" y="1332230"/>
                  </a:lnTo>
                  <a:lnTo>
                    <a:pt x="0" y="26644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333627" y="3559302"/>
            <a:ext cx="93853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2800" b="1" spc="-6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76929" y="5138673"/>
            <a:ext cx="5621020" cy="1561465"/>
            <a:chOff x="3376929" y="5138673"/>
            <a:chExt cx="5621020" cy="1561465"/>
          </a:xfrm>
        </p:grpSpPr>
        <p:sp>
          <p:nvSpPr>
            <p:cNvPr id="21" name="object 21"/>
            <p:cNvSpPr/>
            <p:nvPr/>
          </p:nvSpPr>
          <p:spPr>
            <a:xfrm>
              <a:off x="3383279" y="5145023"/>
              <a:ext cx="5608320" cy="1548765"/>
            </a:xfrm>
            <a:custGeom>
              <a:avLst/>
              <a:gdLst/>
              <a:ahLst/>
              <a:cxnLst/>
              <a:rect l="l" t="t" r="r" b="b"/>
              <a:pathLst>
                <a:path w="5608320" h="1548765">
                  <a:moveTo>
                    <a:pt x="5350256" y="0"/>
                  </a:moveTo>
                  <a:lnTo>
                    <a:pt x="0" y="0"/>
                  </a:lnTo>
                  <a:lnTo>
                    <a:pt x="0" y="1548383"/>
                  </a:lnTo>
                  <a:lnTo>
                    <a:pt x="5350256" y="1548383"/>
                  </a:lnTo>
                  <a:lnTo>
                    <a:pt x="5396635" y="1544226"/>
                  </a:lnTo>
                  <a:lnTo>
                    <a:pt x="5440290" y="1532238"/>
                  </a:lnTo>
                  <a:lnTo>
                    <a:pt x="5480492" y="1513149"/>
                  </a:lnTo>
                  <a:lnTo>
                    <a:pt x="5516510" y="1487688"/>
                  </a:lnTo>
                  <a:lnTo>
                    <a:pt x="5547616" y="1456585"/>
                  </a:lnTo>
                  <a:lnTo>
                    <a:pt x="5573079" y="1420567"/>
                  </a:lnTo>
                  <a:lnTo>
                    <a:pt x="5592171" y="1380364"/>
                  </a:lnTo>
                  <a:lnTo>
                    <a:pt x="5604161" y="1336705"/>
                  </a:lnTo>
                  <a:lnTo>
                    <a:pt x="5608320" y="1290320"/>
                  </a:lnTo>
                  <a:lnTo>
                    <a:pt x="5608320" y="258063"/>
                  </a:lnTo>
                  <a:lnTo>
                    <a:pt x="5604161" y="211684"/>
                  </a:lnTo>
                  <a:lnTo>
                    <a:pt x="5592171" y="168029"/>
                  </a:lnTo>
                  <a:lnTo>
                    <a:pt x="5573079" y="127827"/>
                  </a:lnTo>
                  <a:lnTo>
                    <a:pt x="5547616" y="91809"/>
                  </a:lnTo>
                  <a:lnTo>
                    <a:pt x="5516510" y="60703"/>
                  </a:lnTo>
                  <a:lnTo>
                    <a:pt x="5480492" y="35240"/>
                  </a:lnTo>
                  <a:lnTo>
                    <a:pt x="5440290" y="16148"/>
                  </a:lnTo>
                  <a:lnTo>
                    <a:pt x="5396635" y="4158"/>
                  </a:lnTo>
                  <a:lnTo>
                    <a:pt x="5350256" y="0"/>
                  </a:lnTo>
                  <a:close/>
                </a:path>
              </a:pathLst>
            </a:custGeom>
            <a:solidFill>
              <a:srgbClr val="FFC55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83279" y="5145023"/>
              <a:ext cx="5608320" cy="1548765"/>
            </a:xfrm>
            <a:custGeom>
              <a:avLst/>
              <a:gdLst/>
              <a:ahLst/>
              <a:cxnLst/>
              <a:rect l="l" t="t" r="r" b="b"/>
              <a:pathLst>
                <a:path w="5608320" h="1548765">
                  <a:moveTo>
                    <a:pt x="5608320" y="258063"/>
                  </a:moveTo>
                  <a:lnTo>
                    <a:pt x="5608320" y="1290320"/>
                  </a:lnTo>
                  <a:lnTo>
                    <a:pt x="5604161" y="1336705"/>
                  </a:lnTo>
                  <a:lnTo>
                    <a:pt x="5592171" y="1380364"/>
                  </a:lnTo>
                  <a:lnTo>
                    <a:pt x="5573079" y="1420567"/>
                  </a:lnTo>
                  <a:lnTo>
                    <a:pt x="5547616" y="1456585"/>
                  </a:lnTo>
                  <a:lnTo>
                    <a:pt x="5516510" y="1487688"/>
                  </a:lnTo>
                  <a:lnTo>
                    <a:pt x="5480492" y="1513149"/>
                  </a:lnTo>
                  <a:lnTo>
                    <a:pt x="5440290" y="1532238"/>
                  </a:lnTo>
                  <a:lnTo>
                    <a:pt x="5396635" y="1544226"/>
                  </a:lnTo>
                  <a:lnTo>
                    <a:pt x="5350256" y="1548383"/>
                  </a:lnTo>
                  <a:lnTo>
                    <a:pt x="0" y="1548383"/>
                  </a:lnTo>
                  <a:lnTo>
                    <a:pt x="0" y="0"/>
                  </a:lnTo>
                  <a:lnTo>
                    <a:pt x="5350256" y="0"/>
                  </a:lnTo>
                  <a:lnTo>
                    <a:pt x="5396635" y="4158"/>
                  </a:lnTo>
                  <a:lnTo>
                    <a:pt x="5440290" y="16148"/>
                  </a:lnTo>
                  <a:lnTo>
                    <a:pt x="5480492" y="35240"/>
                  </a:lnTo>
                  <a:lnTo>
                    <a:pt x="5516510" y="60703"/>
                  </a:lnTo>
                  <a:lnTo>
                    <a:pt x="5547616" y="91809"/>
                  </a:lnTo>
                  <a:lnTo>
                    <a:pt x="5573079" y="127827"/>
                  </a:lnTo>
                  <a:lnTo>
                    <a:pt x="5592171" y="168029"/>
                  </a:lnTo>
                  <a:lnTo>
                    <a:pt x="5604161" y="211684"/>
                  </a:lnTo>
                  <a:lnTo>
                    <a:pt x="5608320" y="258063"/>
                  </a:lnTo>
                  <a:close/>
                </a:path>
              </a:pathLst>
            </a:custGeom>
            <a:ln w="12192">
              <a:solidFill>
                <a:srgbClr val="FFC5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39795" y="5220461"/>
            <a:ext cx="5206365" cy="166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ts val="2065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pc="-20" dirty="0">
                <a:latin typeface="Calibri"/>
                <a:cs typeface="Calibri"/>
              </a:rPr>
              <a:t>Make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sure to</a:t>
            </a:r>
            <a:r>
              <a:rPr spc="-5" dirty="0">
                <a:latin typeface="Calibri"/>
                <a:cs typeface="Calibri"/>
              </a:rPr>
              <a:t> consider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which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medi</a:t>
            </a:r>
            <a:r>
              <a:rPr lang="en-US"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your</a:t>
            </a:r>
            <a:r>
              <a:rPr spc="-5" dirty="0">
                <a:latin typeface="Calibri"/>
                <a:cs typeface="Calibri"/>
              </a:rPr>
              <a:t> audience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prefers</a:t>
            </a:r>
          </a:p>
          <a:p>
            <a:pPr marL="12065" indent="0">
              <a:lnSpc>
                <a:spcPts val="2065"/>
              </a:lnSpc>
              <a:spcBef>
                <a:spcPts val="100"/>
              </a:spcBef>
              <a:buNone/>
              <a:tabLst>
                <a:tab pos="185420" algn="l"/>
              </a:tabLst>
            </a:pPr>
            <a:endParaRPr dirty="0">
              <a:latin typeface="Calibri"/>
              <a:cs typeface="Calibri"/>
            </a:endParaRPr>
          </a:p>
          <a:p>
            <a:pPr marL="184785" marR="5080" indent="-172720">
              <a:lnSpc>
                <a:spcPct val="91000"/>
              </a:lnSpc>
              <a:spcBef>
                <a:spcPts val="345"/>
              </a:spcBef>
              <a:buFontTx/>
              <a:buChar char="•"/>
              <a:tabLst>
                <a:tab pos="185420" algn="l"/>
              </a:tabLst>
            </a:pPr>
            <a:r>
              <a:rPr lang="en-US" spc="-10" dirty="0">
                <a:latin typeface="Calibri"/>
                <a:cs typeface="Calibri"/>
              </a:rPr>
              <a:t>Analyse </a:t>
            </a:r>
            <a:r>
              <a:rPr lang="en-US" dirty="0">
                <a:cs typeface="Calibri"/>
              </a:rPr>
              <a:t>your alternatives accordingly to suit your audience needs</a:t>
            </a:r>
          </a:p>
          <a:p>
            <a:pPr marL="12065" marR="5080">
              <a:lnSpc>
                <a:spcPct val="91000"/>
              </a:lnSpc>
              <a:spcBef>
                <a:spcPts val="345"/>
              </a:spcBef>
              <a:tabLst>
                <a:tab pos="185420" algn="l"/>
              </a:tabLst>
            </a:pPr>
            <a:endParaRPr dirty="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2504" y="5113020"/>
            <a:ext cx="3167380" cy="1610995"/>
            <a:chOff x="222504" y="5113020"/>
            <a:chExt cx="3167380" cy="1610995"/>
          </a:xfrm>
        </p:grpSpPr>
        <p:sp>
          <p:nvSpPr>
            <p:cNvPr id="25" name="object 25"/>
            <p:cNvSpPr/>
            <p:nvPr/>
          </p:nvSpPr>
          <p:spPr>
            <a:xfrm>
              <a:off x="228600" y="5119116"/>
              <a:ext cx="3154680" cy="1598930"/>
            </a:xfrm>
            <a:custGeom>
              <a:avLst/>
              <a:gdLst/>
              <a:ahLst/>
              <a:cxnLst/>
              <a:rect l="l" t="t" r="r" b="b"/>
              <a:pathLst>
                <a:path w="3154679" h="1598929">
                  <a:moveTo>
                    <a:pt x="2888234" y="0"/>
                  </a:moveTo>
                  <a:lnTo>
                    <a:pt x="266445" y="0"/>
                  </a:lnTo>
                  <a:lnTo>
                    <a:pt x="218551" y="4291"/>
                  </a:lnTo>
                  <a:lnTo>
                    <a:pt x="173474" y="16665"/>
                  </a:lnTo>
                  <a:lnTo>
                    <a:pt x="131965" y="36369"/>
                  </a:lnTo>
                  <a:lnTo>
                    <a:pt x="94777" y="62651"/>
                  </a:lnTo>
                  <a:lnTo>
                    <a:pt x="62664" y="94762"/>
                  </a:lnTo>
                  <a:lnTo>
                    <a:pt x="36377" y="131948"/>
                  </a:lnTo>
                  <a:lnTo>
                    <a:pt x="16669" y="173458"/>
                  </a:lnTo>
                  <a:lnTo>
                    <a:pt x="4292" y="218541"/>
                  </a:lnTo>
                  <a:lnTo>
                    <a:pt x="0" y="266445"/>
                  </a:lnTo>
                  <a:lnTo>
                    <a:pt x="0" y="1332229"/>
                  </a:lnTo>
                  <a:lnTo>
                    <a:pt x="4292" y="1380124"/>
                  </a:lnTo>
                  <a:lnTo>
                    <a:pt x="16669" y="1425201"/>
                  </a:lnTo>
                  <a:lnTo>
                    <a:pt x="36377" y="1466710"/>
                  </a:lnTo>
                  <a:lnTo>
                    <a:pt x="62664" y="1503898"/>
                  </a:lnTo>
                  <a:lnTo>
                    <a:pt x="94777" y="1536011"/>
                  </a:lnTo>
                  <a:lnTo>
                    <a:pt x="131965" y="1562298"/>
                  </a:lnTo>
                  <a:lnTo>
                    <a:pt x="173474" y="1582006"/>
                  </a:lnTo>
                  <a:lnTo>
                    <a:pt x="218551" y="1594383"/>
                  </a:lnTo>
                  <a:lnTo>
                    <a:pt x="266445" y="1598675"/>
                  </a:lnTo>
                  <a:lnTo>
                    <a:pt x="2888234" y="1598675"/>
                  </a:lnTo>
                  <a:lnTo>
                    <a:pt x="2936138" y="1594383"/>
                  </a:lnTo>
                  <a:lnTo>
                    <a:pt x="2981221" y="1582006"/>
                  </a:lnTo>
                  <a:lnTo>
                    <a:pt x="3022731" y="1562298"/>
                  </a:lnTo>
                  <a:lnTo>
                    <a:pt x="3059917" y="1536011"/>
                  </a:lnTo>
                  <a:lnTo>
                    <a:pt x="3092028" y="1503898"/>
                  </a:lnTo>
                  <a:lnTo>
                    <a:pt x="3118310" y="1466710"/>
                  </a:lnTo>
                  <a:lnTo>
                    <a:pt x="3138014" y="1425201"/>
                  </a:lnTo>
                  <a:lnTo>
                    <a:pt x="3150388" y="1380124"/>
                  </a:lnTo>
                  <a:lnTo>
                    <a:pt x="3154679" y="1332229"/>
                  </a:lnTo>
                  <a:lnTo>
                    <a:pt x="3154679" y="266445"/>
                  </a:lnTo>
                  <a:lnTo>
                    <a:pt x="3150388" y="218541"/>
                  </a:lnTo>
                  <a:lnTo>
                    <a:pt x="3138014" y="173458"/>
                  </a:lnTo>
                  <a:lnTo>
                    <a:pt x="3118310" y="131948"/>
                  </a:lnTo>
                  <a:lnTo>
                    <a:pt x="3092028" y="94762"/>
                  </a:lnTo>
                  <a:lnTo>
                    <a:pt x="3059917" y="62651"/>
                  </a:lnTo>
                  <a:lnTo>
                    <a:pt x="3022731" y="36369"/>
                  </a:lnTo>
                  <a:lnTo>
                    <a:pt x="2981221" y="16665"/>
                  </a:lnTo>
                  <a:lnTo>
                    <a:pt x="2936138" y="4291"/>
                  </a:lnTo>
                  <a:lnTo>
                    <a:pt x="2888234" y="0"/>
                  </a:lnTo>
                  <a:close/>
                </a:path>
              </a:pathLst>
            </a:custGeom>
            <a:solidFill>
              <a:srgbClr val="B4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8600" y="5119116"/>
              <a:ext cx="3154680" cy="1598930"/>
            </a:xfrm>
            <a:custGeom>
              <a:avLst/>
              <a:gdLst/>
              <a:ahLst/>
              <a:cxnLst/>
              <a:rect l="l" t="t" r="r" b="b"/>
              <a:pathLst>
                <a:path w="3154679" h="1598929">
                  <a:moveTo>
                    <a:pt x="0" y="266445"/>
                  </a:moveTo>
                  <a:lnTo>
                    <a:pt x="4292" y="218541"/>
                  </a:lnTo>
                  <a:lnTo>
                    <a:pt x="16669" y="173458"/>
                  </a:lnTo>
                  <a:lnTo>
                    <a:pt x="36377" y="131948"/>
                  </a:lnTo>
                  <a:lnTo>
                    <a:pt x="62664" y="94762"/>
                  </a:lnTo>
                  <a:lnTo>
                    <a:pt x="94777" y="62651"/>
                  </a:lnTo>
                  <a:lnTo>
                    <a:pt x="131965" y="36369"/>
                  </a:lnTo>
                  <a:lnTo>
                    <a:pt x="173474" y="16665"/>
                  </a:lnTo>
                  <a:lnTo>
                    <a:pt x="218551" y="4291"/>
                  </a:lnTo>
                  <a:lnTo>
                    <a:pt x="266445" y="0"/>
                  </a:lnTo>
                  <a:lnTo>
                    <a:pt x="2888234" y="0"/>
                  </a:lnTo>
                  <a:lnTo>
                    <a:pt x="2936138" y="4291"/>
                  </a:lnTo>
                  <a:lnTo>
                    <a:pt x="2981221" y="16665"/>
                  </a:lnTo>
                  <a:lnTo>
                    <a:pt x="3022731" y="36369"/>
                  </a:lnTo>
                  <a:lnTo>
                    <a:pt x="3059917" y="62651"/>
                  </a:lnTo>
                  <a:lnTo>
                    <a:pt x="3092028" y="94762"/>
                  </a:lnTo>
                  <a:lnTo>
                    <a:pt x="3118310" y="131948"/>
                  </a:lnTo>
                  <a:lnTo>
                    <a:pt x="3138014" y="173458"/>
                  </a:lnTo>
                  <a:lnTo>
                    <a:pt x="3150388" y="218541"/>
                  </a:lnTo>
                  <a:lnTo>
                    <a:pt x="3154679" y="266445"/>
                  </a:lnTo>
                  <a:lnTo>
                    <a:pt x="3154679" y="1332229"/>
                  </a:lnTo>
                  <a:lnTo>
                    <a:pt x="3150388" y="1380124"/>
                  </a:lnTo>
                  <a:lnTo>
                    <a:pt x="3138014" y="1425201"/>
                  </a:lnTo>
                  <a:lnTo>
                    <a:pt x="3118310" y="1466710"/>
                  </a:lnTo>
                  <a:lnTo>
                    <a:pt x="3092028" y="1503898"/>
                  </a:lnTo>
                  <a:lnTo>
                    <a:pt x="3059917" y="1536011"/>
                  </a:lnTo>
                  <a:lnTo>
                    <a:pt x="3022731" y="1562298"/>
                  </a:lnTo>
                  <a:lnTo>
                    <a:pt x="2981221" y="1582006"/>
                  </a:lnTo>
                  <a:lnTo>
                    <a:pt x="2936138" y="1594383"/>
                  </a:lnTo>
                  <a:lnTo>
                    <a:pt x="2888234" y="1598675"/>
                  </a:lnTo>
                  <a:lnTo>
                    <a:pt x="266445" y="1598675"/>
                  </a:lnTo>
                  <a:lnTo>
                    <a:pt x="218551" y="1594383"/>
                  </a:lnTo>
                  <a:lnTo>
                    <a:pt x="173474" y="1582006"/>
                  </a:lnTo>
                  <a:lnTo>
                    <a:pt x="131965" y="1562298"/>
                  </a:lnTo>
                  <a:lnTo>
                    <a:pt x="94777" y="1536011"/>
                  </a:lnTo>
                  <a:lnTo>
                    <a:pt x="62664" y="1503898"/>
                  </a:lnTo>
                  <a:lnTo>
                    <a:pt x="36377" y="1466710"/>
                  </a:lnTo>
                  <a:lnTo>
                    <a:pt x="16669" y="1425201"/>
                  </a:lnTo>
                  <a:lnTo>
                    <a:pt x="4292" y="1380124"/>
                  </a:lnTo>
                  <a:lnTo>
                    <a:pt x="0" y="1332229"/>
                  </a:lnTo>
                  <a:lnTo>
                    <a:pt x="0" y="266445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62228" y="5252262"/>
            <a:ext cx="2503170" cy="12001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252730">
              <a:lnSpc>
                <a:spcPts val="4390"/>
              </a:lnSpc>
              <a:spcBef>
                <a:spcPts val="585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Audience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spc="-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8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ences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42925"/>
            <a:ext cx="8171815" cy="94678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187575" marR="5080" indent="-1871980">
              <a:lnSpc>
                <a:spcPts val="6480"/>
              </a:lnSpc>
              <a:spcBef>
                <a:spcPts val="915"/>
              </a:spcBef>
            </a:pPr>
            <a:r>
              <a:rPr sz="4800" spc="-30" dirty="0"/>
              <a:t>4.Organizing your </a:t>
            </a:r>
            <a:r>
              <a:rPr sz="4800" spc="-1340" dirty="0"/>
              <a:t> </a:t>
            </a:r>
            <a:r>
              <a:rPr sz="4800" spc="-5" dirty="0"/>
              <a:t>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99" y="2362200"/>
            <a:ext cx="7467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2800" dirty="0"/>
              <a:t>Make sure to arrange your content accordingly. The organization is crucial in order to compose a comprehensive document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 dirty="0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2800" dirty="0"/>
              <a:t>Content: Short? Long? It will be based on your initial analysis of the situation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2235" y="1981200"/>
            <a:ext cx="8788400" cy="33940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 algn="l">
              <a:lnSpc>
                <a:spcPts val="2700"/>
              </a:lnSpc>
              <a:spcBef>
                <a:spcPts val="435"/>
              </a:spcBef>
              <a:buFont typeface="Arial MT"/>
              <a:buChar char="•"/>
              <a:tabLst>
                <a:tab pos="313055" algn="l"/>
              </a:tabLst>
            </a:pPr>
            <a:r>
              <a:rPr dirty="0"/>
              <a:t>	</a:t>
            </a:r>
            <a:r>
              <a:rPr sz="2500" spc="-10" dirty="0">
                <a:latin typeface="Calibri"/>
                <a:cs typeface="Calibri"/>
              </a:rPr>
              <a:t>Once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you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have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lang="en-US" sz="2500" spc="-5" dirty="0">
                <a:latin typeface="Calibri"/>
                <a:cs typeface="Calibri"/>
              </a:rPr>
              <a:t>clear direction of the document/message</a:t>
            </a:r>
            <a:r>
              <a:rPr sz="2500" spc="-5" dirty="0">
                <a:latin typeface="Calibri"/>
                <a:cs typeface="Calibri"/>
              </a:rPr>
              <a:t>,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lang="en-US" sz="2500" dirty="0">
                <a:latin typeface="Calibri"/>
                <a:cs typeface="Calibri"/>
              </a:rPr>
              <a:t>now it is time to:</a:t>
            </a:r>
          </a:p>
          <a:p>
            <a:pPr marL="241300" marR="5080" indent="-228600" algn="just">
              <a:lnSpc>
                <a:spcPts val="2700"/>
              </a:lnSpc>
              <a:spcBef>
                <a:spcPts val="435"/>
              </a:spcBef>
              <a:buFont typeface="Arial MT"/>
              <a:buChar char="•"/>
              <a:tabLst>
                <a:tab pos="313055" algn="l"/>
              </a:tabLst>
            </a:pPr>
            <a:endParaRPr lang="en-US" sz="2500" dirty="0">
              <a:latin typeface="Calibri"/>
              <a:cs typeface="Calibri"/>
            </a:endParaRPr>
          </a:p>
          <a:p>
            <a:pPr marL="698500" marR="5080" lvl="1" indent="-228600" algn="l">
              <a:lnSpc>
                <a:spcPts val="2700"/>
              </a:lnSpc>
              <a:spcBef>
                <a:spcPts val="435"/>
              </a:spcBef>
              <a:buFont typeface="Arial MT"/>
              <a:buChar char="•"/>
              <a:tabLst>
                <a:tab pos="313055" algn="l"/>
              </a:tabLst>
            </a:pPr>
            <a:r>
              <a:rPr lang="en-US" sz="2500" dirty="0">
                <a:latin typeface="Calibri"/>
                <a:cs typeface="Calibri"/>
              </a:rPr>
              <a:t> </a:t>
            </a:r>
            <a:r>
              <a:rPr sz="2500" b="1" i="1" dirty="0">
                <a:latin typeface="Calibri"/>
                <a:cs typeface="Calibri"/>
              </a:rPr>
              <a:t>adapt</a:t>
            </a:r>
            <a:r>
              <a:rPr lang="en-US" sz="2500" b="1" i="1" spc="5" dirty="0">
                <a:latin typeface="Calibri"/>
                <a:cs typeface="Calibri"/>
              </a:rPr>
              <a:t> </a:t>
            </a:r>
            <a:r>
              <a:rPr sz="2500" b="1" i="1" spc="-20" dirty="0">
                <a:latin typeface="Calibri"/>
                <a:cs typeface="Calibri"/>
              </a:rPr>
              <a:t>to</a:t>
            </a:r>
            <a:r>
              <a:rPr sz="2500" b="1" i="1" spc="-15" dirty="0">
                <a:latin typeface="Calibri"/>
                <a:cs typeface="Calibri"/>
              </a:rPr>
              <a:t> your </a:t>
            </a:r>
            <a:r>
              <a:rPr sz="2500" b="1" i="1" spc="-5" dirty="0">
                <a:latin typeface="Calibri"/>
                <a:cs typeface="Calibri"/>
              </a:rPr>
              <a:t>audience</a:t>
            </a:r>
            <a:r>
              <a:rPr lang="en-US" sz="2500" b="1" i="1" spc="-10" dirty="0">
                <a:latin typeface="Calibri"/>
                <a:cs typeface="Calibri"/>
              </a:rPr>
              <a:t> – </a:t>
            </a:r>
            <a:r>
              <a:rPr lang="en-US" sz="2500" i="1" spc="-10" dirty="0">
                <a:latin typeface="Calibri"/>
                <a:cs typeface="Calibri"/>
              </a:rPr>
              <a:t>your choice of words should match your audience</a:t>
            </a:r>
            <a:endParaRPr lang="en-US" sz="2500" b="1" i="1" spc="-10" dirty="0">
              <a:latin typeface="Calibri"/>
              <a:cs typeface="Calibri"/>
            </a:endParaRPr>
          </a:p>
          <a:p>
            <a:pPr marL="469900" marR="5080" lvl="1" indent="0" algn="just">
              <a:lnSpc>
                <a:spcPts val="2700"/>
              </a:lnSpc>
              <a:spcBef>
                <a:spcPts val="435"/>
              </a:spcBef>
              <a:buFont typeface="Arial MT"/>
              <a:buNone/>
              <a:tabLst>
                <a:tab pos="313055" algn="l"/>
              </a:tabLst>
            </a:pPr>
            <a:endParaRPr lang="en-US" sz="2500" dirty="0">
              <a:latin typeface="Calibri"/>
              <a:cs typeface="Calibri"/>
            </a:endParaRPr>
          </a:p>
          <a:p>
            <a:pPr marL="698500" marR="5080" lvl="1" indent="-228600" algn="l">
              <a:lnSpc>
                <a:spcPts val="2700"/>
              </a:lnSpc>
              <a:spcBef>
                <a:spcPts val="435"/>
              </a:spcBef>
              <a:buFont typeface="Arial MT"/>
              <a:buChar char="•"/>
              <a:tabLst>
                <a:tab pos="313055" algn="l"/>
              </a:tabLst>
            </a:pPr>
            <a:r>
              <a:rPr lang="en-US" sz="2500" b="1" i="1" spc="-10" dirty="0">
                <a:latin typeface="Calibri"/>
                <a:cs typeface="Calibri"/>
              </a:rPr>
              <a:t>c</a:t>
            </a:r>
            <a:r>
              <a:rPr sz="2500" b="1" i="1" spc="-10" dirty="0">
                <a:latin typeface="Calibri"/>
                <a:cs typeface="Calibri"/>
              </a:rPr>
              <a:t>ompose </a:t>
            </a:r>
            <a:r>
              <a:rPr sz="2500" b="1" i="1" spc="-5" dirty="0">
                <a:latin typeface="Calibri"/>
                <a:cs typeface="Calibri"/>
              </a:rPr>
              <a:t>your </a:t>
            </a:r>
            <a:r>
              <a:rPr sz="2500" b="1" i="1" dirty="0">
                <a:latin typeface="Calibri"/>
                <a:cs typeface="Calibri"/>
              </a:rPr>
              <a:t>message </a:t>
            </a:r>
            <a:r>
              <a:rPr sz="2500" spc="-15" dirty="0">
                <a:latin typeface="Calibri"/>
                <a:cs typeface="Calibri"/>
              </a:rPr>
              <a:t>by </a:t>
            </a:r>
            <a:r>
              <a:rPr lang="en-US" sz="2500" spc="-5" dirty="0">
                <a:latin typeface="Calibri"/>
                <a:cs typeface="Calibri"/>
              </a:rPr>
              <a:t>using the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555" dirty="0">
                <a:latin typeface="Calibri"/>
                <a:cs typeface="Calibri"/>
              </a:rPr>
              <a:t> </a:t>
            </a:r>
            <a:r>
              <a:rPr lang="en-US" sz="2500" spc="-15" dirty="0">
                <a:latin typeface="Calibri"/>
                <a:cs typeface="Calibri"/>
              </a:rPr>
              <a:t>relevant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lang="en-US" sz="2500" spc="-20" dirty="0">
                <a:latin typeface="Calibri"/>
                <a:cs typeface="Calibri"/>
              </a:rPr>
              <a:t>approach</a:t>
            </a:r>
            <a:r>
              <a:rPr sz="2500" spc="-20" dirty="0">
                <a:latin typeface="Calibri"/>
                <a:cs typeface="Calibri"/>
              </a:rPr>
              <a:t>, </a:t>
            </a:r>
            <a:r>
              <a:rPr sz="2500" spc="-10" dirty="0">
                <a:latin typeface="Calibri"/>
                <a:cs typeface="Calibri"/>
              </a:rPr>
              <a:t>creating </a:t>
            </a:r>
            <a:r>
              <a:rPr sz="2500" spc="-15" dirty="0">
                <a:latin typeface="Calibri"/>
                <a:cs typeface="Calibri"/>
              </a:rPr>
              <a:t>effective </a:t>
            </a:r>
            <a:r>
              <a:rPr sz="2500" spc="-10" dirty="0">
                <a:latin typeface="Calibri"/>
                <a:cs typeface="Calibri"/>
              </a:rPr>
              <a:t>sentences, </a:t>
            </a:r>
            <a:r>
              <a:rPr sz="2500" dirty="0">
                <a:latin typeface="Calibri"/>
                <a:cs typeface="Calibri"/>
              </a:rPr>
              <a:t>and </a:t>
            </a:r>
            <a:r>
              <a:rPr sz="2500" spc="-10" dirty="0">
                <a:latin typeface="Calibri"/>
                <a:cs typeface="Calibri"/>
              </a:rPr>
              <a:t>developing </a:t>
            </a:r>
            <a:r>
              <a:rPr sz="2500" spc="-15" dirty="0">
                <a:latin typeface="Calibri"/>
                <a:cs typeface="Calibri"/>
              </a:rPr>
              <a:t>coherent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paragraphs</a:t>
            </a:r>
            <a:endParaRPr sz="25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17650" y="519176"/>
            <a:ext cx="6108700" cy="605155"/>
            <a:chOff x="1517650" y="519176"/>
            <a:chExt cx="6108700" cy="605155"/>
          </a:xfrm>
        </p:grpSpPr>
        <p:sp>
          <p:nvSpPr>
            <p:cNvPr id="6" name="object 6"/>
            <p:cNvSpPr/>
            <p:nvPr/>
          </p:nvSpPr>
          <p:spPr>
            <a:xfrm>
              <a:off x="1524000" y="525462"/>
              <a:ext cx="6096000" cy="579755"/>
            </a:xfrm>
            <a:custGeom>
              <a:avLst/>
              <a:gdLst/>
              <a:ahLst/>
              <a:cxnLst/>
              <a:rect l="l" t="t" r="r" b="b"/>
              <a:pathLst>
                <a:path w="6096000" h="579755">
                  <a:moveTo>
                    <a:pt x="609600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6096000" y="579437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4000" y="519176"/>
              <a:ext cx="6096000" cy="605155"/>
            </a:xfrm>
            <a:custGeom>
              <a:avLst/>
              <a:gdLst/>
              <a:ahLst/>
              <a:cxnLst/>
              <a:rect l="l" t="t" r="r" b="b"/>
              <a:pathLst>
                <a:path w="6096000" h="605155">
                  <a:moveTo>
                    <a:pt x="0" y="0"/>
                  </a:moveTo>
                  <a:lnTo>
                    <a:pt x="0" y="604774"/>
                  </a:lnTo>
                </a:path>
                <a:path w="6096000" h="605155">
                  <a:moveTo>
                    <a:pt x="6096000" y="0"/>
                  </a:moveTo>
                  <a:lnTo>
                    <a:pt x="6096000" y="60477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17650" y="519176"/>
              <a:ext cx="6108700" cy="12700"/>
            </a:xfrm>
            <a:custGeom>
              <a:avLst/>
              <a:gdLst/>
              <a:ahLst/>
              <a:cxnLst/>
              <a:rect l="l" t="t" r="r" b="b"/>
              <a:pathLst>
                <a:path w="6108700" h="12700">
                  <a:moveTo>
                    <a:pt x="0" y="12700"/>
                  </a:moveTo>
                  <a:lnTo>
                    <a:pt x="6108700" y="12700"/>
                  </a:lnTo>
                  <a:lnTo>
                    <a:pt x="61087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17650" y="1104900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700">
                  <a:moveTo>
                    <a:pt x="0" y="0"/>
                  </a:moveTo>
                  <a:lnTo>
                    <a:pt x="6108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30350" y="532891"/>
            <a:ext cx="60833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WRITING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725" y="2209546"/>
            <a:ext cx="8211184" cy="2275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485"/>
              </a:lnSpc>
              <a:spcBef>
                <a:spcPts val="242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300" b="1" i="1" spc="-10" dirty="0">
                <a:latin typeface="Calibri"/>
                <a:cs typeface="Calibri"/>
              </a:rPr>
              <a:t>Re</a:t>
            </a:r>
            <a:r>
              <a:rPr sz="2300" b="1" i="1" spc="-10" dirty="0">
                <a:latin typeface="Calibri"/>
                <a:cs typeface="Calibri"/>
              </a:rPr>
              <a:t>vise</a:t>
            </a:r>
            <a:r>
              <a:rPr sz="2300" b="1" i="1" spc="-15" dirty="0">
                <a:latin typeface="Calibri"/>
                <a:cs typeface="Calibri"/>
              </a:rPr>
              <a:t> </a:t>
            </a:r>
            <a:r>
              <a:rPr sz="2300" b="1" i="1" spc="-5" dirty="0">
                <a:latin typeface="Calibri"/>
                <a:cs typeface="Calibri"/>
              </a:rPr>
              <a:t>your</a:t>
            </a:r>
            <a:r>
              <a:rPr sz="2300" b="1" i="1" spc="20" dirty="0">
                <a:latin typeface="Calibri"/>
                <a:cs typeface="Calibri"/>
              </a:rPr>
              <a:t> </a:t>
            </a:r>
            <a:r>
              <a:rPr sz="2300" b="1" i="1" spc="-5" dirty="0">
                <a:latin typeface="Calibri"/>
                <a:cs typeface="Calibri"/>
              </a:rPr>
              <a:t>message</a:t>
            </a:r>
            <a:r>
              <a:rPr sz="2300" b="1" i="1" spc="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to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make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sure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lang="en-US" sz="2300" dirty="0">
                <a:latin typeface="Calibri"/>
                <a:cs typeface="Calibri"/>
              </a:rPr>
              <a:t> </a:t>
            </a:r>
            <a:r>
              <a:rPr lang="en-US" sz="2300" spc="-35" dirty="0">
                <a:latin typeface="Calibri"/>
                <a:cs typeface="Calibri"/>
              </a:rPr>
              <a:t>comprehensive (purpose, approach, content and etc.,)</a:t>
            </a:r>
            <a:endParaRPr sz="2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400" dirty="0">
              <a:latin typeface="Calibri"/>
              <a:cs typeface="Calibri"/>
            </a:endParaRPr>
          </a:p>
          <a:p>
            <a:pPr marL="241300" marR="400050" indent="-228600">
              <a:lnSpc>
                <a:spcPts val="2210"/>
              </a:lnSpc>
              <a:buFont typeface="Arial MT"/>
              <a:buChar char="•"/>
              <a:tabLst>
                <a:tab pos="241300" algn="l"/>
              </a:tabLst>
            </a:pPr>
            <a:r>
              <a:rPr sz="2300" b="1" i="1" spc="-5" dirty="0">
                <a:latin typeface="Calibri"/>
                <a:cs typeface="Calibri"/>
              </a:rPr>
              <a:t>Proofread </a:t>
            </a:r>
            <a:r>
              <a:rPr sz="2300" b="1" dirty="0">
                <a:latin typeface="Calibri"/>
                <a:cs typeface="Calibri"/>
              </a:rPr>
              <a:t>the</a:t>
            </a:r>
            <a:r>
              <a:rPr sz="2300" b="1" spc="10" dirty="0">
                <a:latin typeface="Calibri"/>
                <a:cs typeface="Calibri"/>
              </a:rPr>
              <a:t> </a:t>
            </a:r>
            <a:r>
              <a:rPr sz="2300" b="1" spc="-5" dirty="0">
                <a:latin typeface="Calibri"/>
                <a:cs typeface="Calibri"/>
              </a:rPr>
              <a:t>final</a:t>
            </a:r>
            <a:r>
              <a:rPr sz="2300" b="1" spc="-10" dirty="0">
                <a:latin typeface="Calibri"/>
                <a:cs typeface="Calibri"/>
              </a:rPr>
              <a:t> </a:t>
            </a:r>
            <a:r>
              <a:rPr sz="2300" b="1" spc="-5" dirty="0">
                <a:latin typeface="Calibri"/>
                <a:cs typeface="Calibri"/>
              </a:rPr>
              <a:t>product</a:t>
            </a:r>
            <a:r>
              <a:rPr sz="2300" b="1" spc="1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for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typos,</a:t>
            </a:r>
            <a:r>
              <a:rPr lang="en-US" sz="2300" dirty="0">
                <a:latin typeface="Calibri"/>
                <a:cs typeface="Calibri"/>
              </a:rPr>
              <a:t> </a:t>
            </a:r>
            <a:r>
              <a:rPr lang="en-US" sz="2300" spc="5" dirty="0">
                <a:latin typeface="Calibri"/>
                <a:cs typeface="Calibri"/>
              </a:rPr>
              <a:t>and format</a:t>
            </a:r>
            <a:endParaRPr sz="2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 MT"/>
              <a:buChar char="•"/>
            </a:pPr>
            <a:endParaRPr sz="3400" dirty="0">
              <a:latin typeface="Calibri"/>
              <a:cs typeface="Calibri"/>
            </a:endParaRPr>
          </a:p>
          <a:p>
            <a:pPr marL="241300" marR="565150" indent="-228600">
              <a:lnSpc>
                <a:spcPts val="2210"/>
              </a:lnSpc>
              <a:buFont typeface="Arial MT"/>
              <a:buChar char="•"/>
              <a:tabLst>
                <a:tab pos="241300" algn="l"/>
              </a:tabLst>
            </a:pPr>
            <a:r>
              <a:rPr sz="2300" spc="-25" dirty="0">
                <a:latin typeface="Calibri"/>
                <a:cs typeface="Calibri"/>
              </a:rPr>
              <a:t>Finally,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b="1" i="1" spc="-10" dirty="0">
                <a:latin typeface="Calibri"/>
                <a:cs typeface="Calibri"/>
              </a:rPr>
              <a:t>distribute</a:t>
            </a:r>
            <a:r>
              <a:rPr sz="2300" b="1" i="1" spc="-5" dirty="0">
                <a:latin typeface="Calibri"/>
                <a:cs typeface="Calibri"/>
              </a:rPr>
              <a:t> your</a:t>
            </a:r>
            <a:r>
              <a:rPr sz="2300" b="1" i="1" spc="10" dirty="0">
                <a:latin typeface="Calibri"/>
                <a:cs typeface="Calibri"/>
              </a:rPr>
              <a:t> </a:t>
            </a:r>
            <a:r>
              <a:rPr sz="2300" b="1" i="1" spc="-5" dirty="0">
                <a:latin typeface="Calibri"/>
                <a:cs typeface="Calibri"/>
              </a:rPr>
              <a:t>message</a:t>
            </a:r>
            <a:endParaRPr sz="23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17650" y="462026"/>
            <a:ext cx="6108700" cy="605155"/>
            <a:chOff x="1517650" y="462026"/>
            <a:chExt cx="6108700" cy="605155"/>
          </a:xfrm>
        </p:grpSpPr>
        <p:sp>
          <p:nvSpPr>
            <p:cNvPr id="4" name="object 4"/>
            <p:cNvSpPr/>
            <p:nvPr/>
          </p:nvSpPr>
          <p:spPr>
            <a:xfrm>
              <a:off x="1524000" y="468312"/>
              <a:ext cx="6096000" cy="579755"/>
            </a:xfrm>
            <a:custGeom>
              <a:avLst/>
              <a:gdLst/>
              <a:ahLst/>
              <a:cxnLst/>
              <a:rect l="l" t="t" r="r" b="b"/>
              <a:pathLst>
                <a:path w="6096000" h="579755">
                  <a:moveTo>
                    <a:pt x="609600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6096000" y="579437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4000" y="462026"/>
              <a:ext cx="6096000" cy="605155"/>
            </a:xfrm>
            <a:custGeom>
              <a:avLst/>
              <a:gdLst/>
              <a:ahLst/>
              <a:cxnLst/>
              <a:rect l="l" t="t" r="r" b="b"/>
              <a:pathLst>
                <a:path w="6096000" h="605155">
                  <a:moveTo>
                    <a:pt x="0" y="0"/>
                  </a:moveTo>
                  <a:lnTo>
                    <a:pt x="0" y="604774"/>
                  </a:lnTo>
                </a:path>
                <a:path w="6096000" h="605155">
                  <a:moveTo>
                    <a:pt x="6096000" y="0"/>
                  </a:moveTo>
                  <a:lnTo>
                    <a:pt x="6096000" y="60477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7650" y="462026"/>
              <a:ext cx="6108700" cy="12700"/>
            </a:xfrm>
            <a:custGeom>
              <a:avLst/>
              <a:gdLst/>
              <a:ahLst/>
              <a:cxnLst/>
              <a:rect l="l" t="t" r="r" b="b"/>
              <a:pathLst>
                <a:path w="6108700" h="12700">
                  <a:moveTo>
                    <a:pt x="0" y="12700"/>
                  </a:moveTo>
                  <a:lnTo>
                    <a:pt x="6108700" y="12700"/>
                  </a:lnTo>
                  <a:lnTo>
                    <a:pt x="61087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17650" y="1047750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700">
                  <a:moveTo>
                    <a:pt x="0" y="0"/>
                  </a:moveTo>
                  <a:lnTo>
                    <a:pt x="6108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30350" y="475310"/>
            <a:ext cx="60833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COMPLETING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677</Words>
  <Application>Microsoft Office PowerPoint</Application>
  <PresentationFormat>On-screen Show (4:3)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MT</vt:lpstr>
      <vt:lpstr>Calibri</vt:lpstr>
      <vt:lpstr>Calibri Light</vt:lpstr>
      <vt:lpstr>Lucida Sans Unicode</vt:lpstr>
      <vt:lpstr>Tahoma</vt:lpstr>
      <vt:lpstr>Times New Roman</vt:lpstr>
      <vt:lpstr>Wingdings</vt:lpstr>
      <vt:lpstr>Office Theme</vt:lpstr>
      <vt:lpstr>Planning and  Developing Written  Business Messages</vt:lpstr>
      <vt:lpstr>Business Writing</vt:lpstr>
      <vt:lpstr>PLANNING</vt:lpstr>
      <vt:lpstr>Analyzing the Situation</vt:lpstr>
      <vt:lpstr>Analyze Situation-  Understanding  Audience</vt:lpstr>
      <vt:lpstr>Profile Your Audience</vt:lpstr>
      <vt:lpstr>Profile Your Audience</vt:lpstr>
      <vt:lpstr>2. Gathering Information</vt:lpstr>
      <vt:lpstr>3.Selecting right  Medium</vt:lpstr>
      <vt:lpstr>Selecting the right medium</vt:lpstr>
      <vt:lpstr>PowerPoint Presentation</vt:lpstr>
      <vt:lpstr>PowerPoint Presentation</vt:lpstr>
      <vt:lpstr>PowerPoint Presentation</vt:lpstr>
      <vt:lpstr>PowerPoint Presentation</vt:lpstr>
      <vt:lpstr> Factors in Choosing the Appropriate  Medium</vt:lpstr>
      <vt:lpstr>PowerPoint Presentation</vt:lpstr>
      <vt:lpstr>4.Organizing your  Ideas</vt:lpstr>
      <vt:lpstr>WRITING</vt:lpstr>
      <vt:lpstr>COMPLETING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Business Messages</dc:title>
  <dc:subject>Excellence in Business Communication, 9e</dc:subject>
  <dc:creator>Myles A. Hassell</dc:creator>
  <cp:lastModifiedBy>Akma Safian</cp:lastModifiedBy>
  <cp:revision>21</cp:revision>
  <dcterms:created xsi:type="dcterms:W3CDTF">2025-11-05T03:12:04Z</dcterms:created>
  <dcterms:modified xsi:type="dcterms:W3CDTF">2026-05-18T01:44:15Z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2020-10-20T22:30:00Z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2023-02-08T22:30:00Z</vt:filetime>
  </property>
  <property fmtid="{D5CDD505-2E9C-101B-9397-08002B2CF9AE}" pid="5" name="ICV">
    <vt:lpwstr>744E343315862E642AC00A69304B2F80_43</vt:lpwstr>
  </property>
  <property fmtid="{D5CDD505-2E9C-101B-9397-08002B2CF9AE}" pid="6" name="KSOProductBuildVer">
    <vt:lpwstr>1033-12.1.22554.22554</vt:lpwstr>
  </property>
</Properties>
</file>