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78" r:id="rId4"/>
    <p:sldId id="279" r:id="rId5"/>
    <p:sldId id="258" r:id="rId6"/>
    <p:sldId id="259" r:id="rId7"/>
    <p:sldId id="283" r:id="rId8"/>
    <p:sldId id="260" r:id="rId9"/>
    <p:sldId id="261" r:id="rId10"/>
    <p:sldId id="285" r:id="rId11"/>
    <p:sldId id="286" r:id="rId12"/>
    <p:sldId id="275" r:id="rId13"/>
    <p:sldId id="270" r:id="rId14"/>
    <p:sldId id="284" r:id="rId15"/>
    <p:sldId id="281" r:id="rId16"/>
    <p:sldId id="272" r:id="rId17"/>
    <p:sldId id="273" r:id="rId18"/>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26" autoAdjust="0"/>
    <p:restoredTop sz="86429" autoAdjust="0"/>
  </p:normalViewPr>
  <p:slideViewPr>
    <p:cSldViewPr showGuides="1">
      <p:cViewPr varScale="1">
        <p:scale>
          <a:sx n="66" d="100"/>
          <a:sy n="66" d="100"/>
        </p:scale>
        <p:origin x="576" y="44"/>
      </p:cViewPr>
      <p:guideLst>
        <p:guide orient="horz" pos="2880"/>
        <p:guide pos="2160"/>
      </p:guideLst>
    </p:cSldViewPr>
  </p:slideViewPr>
  <p:outlineViewPr>
    <p:cViewPr>
      <p:scale>
        <a:sx n="33" d="100"/>
        <a:sy n="33" d="100"/>
      </p:scale>
      <p:origin x="0" y="-4908"/>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5/18/2026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819400" y="2183897"/>
            <a:ext cx="5715000" cy="689291"/>
          </a:xfrm>
          <a:prstGeom prst="rect">
            <a:avLst/>
          </a:prstGeom>
        </p:spPr>
        <p:txBody>
          <a:bodyPr vert="horz" wrap="square" lIns="0" tIns="12065" rIns="0" bIns="0" rtlCol="0">
            <a:spAutoFit/>
          </a:bodyPr>
          <a:lstStyle/>
          <a:p>
            <a:pPr marL="12700" algn="ctr">
              <a:lnSpc>
                <a:spcPct val="100000"/>
              </a:lnSpc>
              <a:spcBef>
                <a:spcPts val="95"/>
              </a:spcBef>
            </a:pPr>
            <a:r>
              <a:rPr spc="-10" dirty="0">
                <a:latin typeface="Cambria" panose="02040503050406030204" pitchFamily="18" charset="0"/>
                <a:ea typeface="Cambria" panose="02040503050406030204" pitchFamily="18" charset="0"/>
              </a:rPr>
              <a:t>BAD </a:t>
            </a:r>
            <a:r>
              <a:rPr spc="-5" dirty="0">
                <a:latin typeface="Cambria" panose="02040503050406030204" pitchFamily="18" charset="0"/>
                <a:ea typeface="Cambria" panose="02040503050406030204" pitchFamily="18" charset="0"/>
              </a:rPr>
              <a:t>NEWS</a:t>
            </a:r>
            <a:r>
              <a:rPr spc="-35" dirty="0">
                <a:latin typeface="Cambria" panose="02040503050406030204" pitchFamily="18" charset="0"/>
                <a:ea typeface="Cambria" panose="02040503050406030204" pitchFamily="18" charset="0"/>
              </a:rPr>
              <a:t> </a:t>
            </a:r>
            <a:r>
              <a:rPr spc="-5" dirty="0">
                <a:latin typeface="Cambria" panose="02040503050406030204" pitchFamily="18" charset="0"/>
                <a:ea typeface="Cambria" panose="02040503050406030204" pitchFamily="18" charset="0"/>
              </a:rPr>
              <a:t>MESSAGES</a:t>
            </a:r>
          </a:p>
        </p:txBody>
      </p:sp>
      <p:sp>
        <p:nvSpPr>
          <p:cNvPr id="4" name="object 4"/>
          <p:cNvSpPr txBox="1"/>
          <p:nvPr/>
        </p:nvSpPr>
        <p:spPr>
          <a:xfrm>
            <a:off x="2362200" y="3364230"/>
            <a:ext cx="5943600" cy="446276"/>
          </a:xfrm>
          <a:prstGeom prst="rect">
            <a:avLst/>
          </a:prstGeom>
        </p:spPr>
        <p:txBody>
          <a:bodyPr vert="horz" wrap="square" lIns="0" tIns="106680" rIns="0" bIns="0" rtlCol="0">
            <a:spAutoFit/>
          </a:bodyPr>
          <a:lstStyle/>
          <a:p>
            <a:pPr marR="7620" algn="r">
              <a:lnSpc>
                <a:spcPct val="100000"/>
              </a:lnSpc>
              <a:spcBef>
                <a:spcPts val="840"/>
              </a:spcBef>
              <a:tabLst>
                <a:tab pos="342265" algn="l"/>
                <a:tab pos="342900" algn="l"/>
              </a:tabLst>
            </a:pPr>
            <a:r>
              <a:rPr sz="2200" dirty="0">
                <a:latin typeface="Cambria" panose="02040503050406030204" pitchFamily="18" charset="0"/>
                <a:ea typeface="Cambria" panose="02040503050406030204" pitchFamily="18" charset="0"/>
                <a:cs typeface="URW Gothic"/>
              </a:rPr>
              <a:t>Deliver</a:t>
            </a:r>
            <a:r>
              <a:rPr lang="en-US" sz="2200" dirty="0">
                <a:latin typeface="Cambria" panose="02040503050406030204" pitchFamily="18" charset="0"/>
                <a:ea typeface="Cambria" panose="02040503050406030204" pitchFamily="18" charset="0"/>
                <a:cs typeface="URW Gothic"/>
              </a:rPr>
              <a:t>ing</a:t>
            </a:r>
            <a:r>
              <a:rPr sz="2200" dirty="0">
                <a:latin typeface="Cambria" panose="02040503050406030204" pitchFamily="18" charset="0"/>
                <a:ea typeface="Cambria" panose="02040503050406030204" pitchFamily="18" charset="0"/>
                <a:cs typeface="URW Gothic"/>
              </a:rPr>
              <a:t> </a:t>
            </a:r>
            <a:r>
              <a:rPr sz="2200" spc="-10" dirty="0">
                <a:latin typeface="Cambria" panose="02040503050406030204" pitchFamily="18" charset="0"/>
                <a:ea typeface="Cambria" panose="02040503050406030204" pitchFamily="18" charset="0"/>
                <a:cs typeface="URW Gothic"/>
              </a:rPr>
              <a:t>Bad</a:t>
            </a:r>
            <a:r>
              <a:rPr sz="2200" spc="-95" dirty="0">
                <a:latin typeface="Cambria" panose="02040503050406030204" pitchFamily="18" charset="0"/>
                <a:ea typeface="Cambria" panose="02040503050406030204" pitchFamily="18" charset="0"/>
                <a:cs typeface="URW Gothic"/>
              </a:rPr>
              <a:t> </a:t>
            </a:r>
            <a:r>
              <a:rPr sz="2200" spc="-5" dirty="0">
                <a:latin typeface="Cambria" panose="02040503050406030204" pitchFamily="18" charset="0"/>
                <a:ea typeface="Cambria" panose="02040503050406030204" pitchFamily="18" charset="0"/>
                <a:cs typeface="URW Gothic"/>
              </a:rPr>
              <a:t>news</a:t>
            </a:r>
            <a:r>
              <a:rPr lang="en-US" sz="2200" dirty="0">
                <a:latin typeface="Cambria" panose="02040503050406030204" pitchFamily="18" charset="0"/>
                <a:ea typeface="Cambria" panose="02040503050406030204" pitchFamily="18" charset="0"/>
                <a:cs typeface="URW Gothic"/>
              </a:rPr>
              <a:t> (</a:t>
            </a:r>
            <a:r>
              <a:rPr sz="2200" dirty="0">
                <a:latin typeface="Cambria" panose="02040503050406030204" pitchFamily="18" charset="0"/>
                <a:ea typeface="Cambria" panose="02040503050406030204" pitchFamily="18" charset="0"/>
                <a:cs typeface="URW Gothic"/>
              </a:rPr>
              <a:t>Negative</a:t>
            </a:r>
            <a:r>
              <a:rPr sz="2200" spc="-100" dirty="0">
                <a:latin typeface="Cambria" panose="02040503050406030204" pitchFamily="18" charset="0"/>
                <a:ea typeface="Cambria" panose="02040503050406030204" pitchFamily="18" charset="0"/>
                <a:cs typeface="URW Gothic"/>
              </a:rPr>
              <a:t> </a:t>
            </a:r>
            <a:r>
              <a:rPr lang="en-US" sz="2200" spc="-5" dirty="0">
                <a:latin typeface="Cambria" panose="02040503050406030204" pitchFamily="18" charset="0"/>
                <a:ea typeface="Cambria" panose="02040503050406030204" pitchFamily="18" charset="0"/>
                <a:cs typeface="URW Gothic"/>
              </a:rPr>
              <a:t>Messages)</a:t>
            </a:r>
            <a:endParaRPr sz="2200" dirty="0">
              <a:latin typeface="Cambria" panose="02040503050406030204" pitchFamily="18" charset="0"/>
              <a:ea typeface="Cambria" panose="02040503050406030204" pitchFamily="18" charset="0"/>
              <a:cs typeface="URW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1752600" y="525233"/>
            <a:ext cx="8295894" cy="575157"/>
          </a:xfrm>
          <a:prstGeom prst="rect">
            <a:avLst/>
          </a:prstGeom>
        </p:spPr>
        <p:txBody>
          <a:bodyPr vert="horz" wrap="square" lIns="0" tIns="74295" rIns="0" bIns="0" rtlCol="0">
            <a:spAutoFit/>
          </a:bodyPr>
          <a:lstStyle/>
          <a:p>
            <a:pPr marL="12700" marR="5080" indent="1322705">
              <a:lnSpc>
                <a:spcPts val="3890"/>
              </a:lnSpc>
              <a:spcBef>
                <a:spcPts val="585"/>
              </a:spcBef>
            </a:pPr>
            <a:r>
              <a:rPr lang="en-US" sz="3600" dirty="0">
                <a:latin typeface="Cambria" panose="02040503050406030204" pitchFamily="18" charset="0"/>
                <a:ea typeface="Cambria" panose="02040503050406030204" pitchFamily="18" charset="0"/>
              </a:rPr>
              <a:t>Goals in Delivering Bad-News</a:t>
            </a:r>
            <a:endParaRPr sz="3600" dirty="0">
              <a:latin typeface="Cambria" panose="02040503050406030204" pitchFamily="18" charset="0"/>
              <a:ea typeface="Cambria" panose="02040503050406030204" pitchFamily="18" charset="0"/>
            </a:endParaRPr>
          </a:p>
        </p:txBody>
      </p:sp>
      <p:sp>
        <p:nvSpPr>
          <p:cNvPr id="8" name="object 8"/>
          <p:cNvSpPr txBox="1"/>
          <p:nvPr/>
        </p:nvSpPr>
        <p:spPr>
          <a:xfrm>
            <a:off x="1220825" y="1755139"/>
            <a:ext cx="4214495" cy="730250"/>
          </a:xfrm>
          <a:prstGeom prst="rect">
            <a:avLst/>
          </a:prstGeom>
        </p:spPr>
        <p:txBody>
          <a:bodyPr vert="horz" wrap="square" lIns="0" tIns="89535" rIns="0" bIns="0" rtlCol="0">
            <a:spAutoFit/>
          </a:bodyPr>
          <a:lstStyle/>
          <a:p>
            <a:pPr marL="12700" marR="5080">
              <a:lnSpc>
                <a:spcPts val="2500"/>
              </a:lnSpc>
              <a:spcBef>
                <a:spcPts val="705"/>
              </a:spcBef>
            </a:pPr>
            <a:r>
              <a:rPr sz="2600" dirty="0">
                <a:latin typeface="Cambria" panose="02040503050406030204" pitchFamily="18" charset="0"/>
                <a:ea typeface="Cambria" panose="02040503050406030204" pitchFamily="18" charset="0"/>
                <a:cs typeface="Times New Roman" panose="02020503050405090304"/>
              </a:rPr>
              <a:t>When delivering bad news,</a:t>
            </a:r>
            <a:r>
              <a:rPr sz="2600" spc="-140" dirty="0">
                <a:latin typeface="Cambria" panose="02040503050406030204" pitchFamily="18" charset="0"/>
                <a:ea typeface="Cambria" panose="02040503050406030204" pitchFamily="18" charset="0"/>
                <a:cs typeface="Times New Roman" panose="02020503050405090304"/>
              </a:rPr>
              <a:t> </a:t>
            </a:r>
            <a:r>
              <a:rPr sz="2600" spc="5" dirty="0">
                <a:latin typeface="Cambria" panose="02040503050406030204" pitchFamily="18" charset="0"/>
                <a:ea typeface="Cambria" panose="02040503050406030204" pitchFamily="18" charset="0"/>
                <a:cs typeface="Times New Roman" panose="02020503050405090304"/>
              </a:rPr>
              <a:t>you </a:t>
            </a:r>
            <a:r>
              <a:rPr sz="2600" dirty="0">
                <a:latin typeface="Cambria" panose="02040503050406030204" pitchFamily="18" charset="0"/>
                <a:ea typeface="Cambria" panose="02040503050406030204" pitchFamily="18" charset="0"/>
                <a:cs typeface="Times New Roman" panose="02020503050405090304"/>
              </a:rPr>
              <a:t>have five </a:t>
            </a:r>
            <a:r>
              <a:rPr sz="2600" spc="-10" dirty="0">
                <a:latin typeface="Cambria" panose="02040503050406030204" pitchFamily="18" charset="0"/>
                <a:ea typeface="Cambria" panose="02040503050406030204" pitchFamily="18" charset="0"/>
                <a:cs typeface="Times New Roman" panose="02020503050405090304"/>
              </a:rPr>
              <a:t>main</a:t>
            </a:r>
            <a:r>
              <a:rPr sz="2600" spc="-30" dirty="0">
                <a:latin typeface="Cambria" panose="02040503050406030204" pitchFamily="18" charset="0"/>
                <a:ea typeface="Cambria" panose="02040503050406030204" pitchFamily="18" charset="0"/>
                <a:cs typeface="Times New Roman" panose="02020503050405090304"/>
              </a:rPr>
              <a:t> </a:t>
            </a:r>
            <a:r>
              <a:rPr sz="2600" dirty="0">
                <a:latin typeface="Cambria" panose="02040503050406030204" pitchFamily="18" charset="0"/>
                <a:ea typeface="Cambria" panose="02040503050406030204" pitchFamily="18" charset="0"/>
                <a:cs typeface="Times New Roman" panose="02020503050405090304"/>
              </a:rPr>
              <a:t>goals:</a:t>
            </a:r>
          </a:p>
        </p:txBody>
      </p:sp>
      <p:sp>
        <p:nvSpPr>
          <p:cNvPr id="9" name="object 9"/>
          <p:cNvSpPr txBox="1"/>
          <p:nvPr/>
        </p:nvSpPr>
        <p:spPr>
          <a:xfrm>
            <a:off x="1341119" y="2540507"/>
            <a:ext cx="2025650" cy="1214755"/>
          </a:xfrm>
          <a:prstGeom prst="rect">
            <a:avLst/>
          </a:prstGeom>
          <a:solidFill>
            <a:srgbClr val="EB7712"/>
          </a:solidFill>
        </p:spPr>
        <p:txBody>
          <a:bodyPr vert="horz" wrap="square" lIns="0" tIns="635" rIns="0" bIns="0" rtlCol="0">
            <a:spAutoFit/>
          </a:bodyPr>
          <a:lstStyle/>
          <a:p>
            <a:pPr>
              <a:lnSpc>
                <a:spcPct val="100000"/>
              </a:lnSpc>
              <a:spcBef>
                <a:spcPts val="5"/>
              </a:spcBef>
            </a:pPr>
            <a:endParaRPr sz="2250">
              <a:latin typeface="Times New Roman" panose="02020503050405090304"/>
              <a:cs typeface="Times New Roman" panose="02020503050405090304"/>
            </a:endParaRPr>
          </a:p>
          <a:p>
            <a:pPr marL="635" algn="ctr">
              <a:lnSpc>
                <a:spcPts val="2070"/>
              </a:lnSpc>
              <a:spcBef>
                <a:spcPts val="5"/>
              </a:spcBef>
            </a:pPr>
            <a:r>
              <a:rPr sz="1800" dirty="0">
                <a:solidFill>
                  <a:srgbClr val="FFFFFF"/>
                </a:solidFill>
                <a:latin typeface="URW Gothic"/>
                <a:cs typeface="URW Gothic"/>
              </a:rPr>
              <a:t>Convey</a:t>
            </a:r>
            <a:r>
              <a:rPr sz="1800" spc="-30" dirty="0">
                <a:solidFill>
                  <a:srgbClr val="FFFFFF"/>
                </a:solidFill>
                <a:latin typeface="URW Gothic"/>
                <a:cs typeface="URW Gothic"/>
              </a:rPr>
              <a:t> </a:t>
            </a:r>
            <a:r>
              <a:rPr sz="1800" spc="-10" dirty="0">
                <a:solidFill>
                  <a:srgbClr val="FFFFFF"/>
                </a:solidFill>
                <a:latin typeface="URW Gothic"/>
                <a:cs typeface="URW Gothic"/>
              </a:rPr>
              <a:t>the</a:t>
            </a:r>
            <a:endParaRPr sz="1800">
              <a:latin typeface="URW Gothic"/>
              <a:cs typeface="URW Gothic"/>
            </a:endParaRPr>
          </a:p>
          <a:p>
            <a:pPr marL="1270" algn="ctr">
              <a:lnSpc>
                <a:spcPts val="2070"/>
              </a:lnSpc>
            </a:pPr>
            <a:r>
              <a:rPr sz="1800" spc="-5" dirty="0">
                <a:solidFill>
                  <a:srgbClr val="FFFFFF"/>
                </a:solidFill>
                <a:latin typeface="URW Gothic"/>
                <a:cs typeface="URW Gothic"/>
              </a:rPr>
              <a:t>message</a:t>
            </a:r>
            <a:endParaRPr sz="1800">
              <a:latin typeface="URW Gothic"/>
              <a:cs typeface="URW Gothic"/>
            </a:endParaRPr>
          </a:p>
        </p:txBody>
      </p:sp>
      <p:sp>
        <p:nvSpPr>
          <p:cNvPr id="10" name="object 10"/>
          <p:cNvSpPr txBox="1"/>
          <p:nvPr/>
        </p:nvSpPr>
        <p:spPr>
          <a:xfrm>
            <a:off x="3569208" y="2540507"/>
            <a:ext cx="2025650" cy="1214755"/>
          </a:xfrm>
          <a:prstGeom prst="rect">
            <a:avLst/>
          </a:prstGeom>
          <a:solidFill>
            <a:srgbClr val="EBBC30"/>
          </a:solidFill>
        </p:spPr>
        <p:txBody>
          <a:bodyPr vert="horz" wrap="square" lIns="0" tIns="635" rIns="0" bIns="0" rtlCol="0">
            <a:spAutoFit/>
          </a:bodyPr>
          <a:lstStyle/>
          <a:p>
            <a:pPr>
              <a:lnSpc>
                <a:spcPct val="100000"/>
              </a:lnSpc>
              <a:spcBef>
                <a:spcPts val="5"/>
              </a:spcBef>
            </a:pPr>
            <a:endParaRPr sz="2250">
              <a:latin typeface="Times New Roman" panose="02020503050405090304"/>
              <a:cs typeface="Times New Roman" panose="02020503050405090304"/>
            </a:endParaRPr>
          </a:p>
          <a:p>
            <a:pPr algn="ctr">
              <a:lnSpc>
                <a:spcPts val="2070"/>
              </a:lnSpc>
              <a:spcBef>
                <a:spcPts val="5"/>
              </a:spcBef>
            </a:pPr>
            <a:r>
              <a:rPr sz="1800" dirty="0">
                <a:solidFill>
                  <a:srgbClr val="FFFFFF"/>
                </a:solidFill>
                <a:latin typeface="URW Gothic"/>
                <a:cs typeface="URW Gothic"/>
              </a:rPr>
              <a:t>Gain</a:t>
            </a:r>
            <a:endParaRPr sz="1800">
              <a:latin typeface="URW Gothic"/>
              <a:cs typeface="URW Gothic"/>
            </a:endParaRPr>
          </a:p>
          <a:p>
            <a:pPr marL="635" algn="ctr">
              <a:lnSpc>
                <a:spcPts val="2070"/>
              </a:lnSpc>
            </a:pPr>
            <a:r>
              <a:rPr sz="1800" spc="-10" dirty="0">
                <a:solidFill>
                  <a:srgbClr val="FFFFFF"/>
                </a:solidFill>
                <a:latin typeface="URW Gothic"/>
                <a:cs typeface="URW Gothic"/>
              </a:rPr>
              <a:t>acceptance</a:t>
            </a:r>
            <a:endParaRPr sz="1800">
              <a:latin typeface="URW Gothic"/>
              <a:cs typeface="URW Gothic"/>
            </a:endParaRPr>
          </a:p>
        </p:txBody>
      </p:sp>
      <p:sp>
        <p:nvSpPr>
          <p:cNvPr id="11" name="object 11"/>
          <p:cNvSpPr txBox="1"/>
          <p:nvPr/>
        </p:nvSpPr>
        <p:spPr>
          <a:xfrm>
            <a:off x="1341119" y="3957828"/>
            <a:ext cx="2025650" cy="1214755"/>
          </a:xfrm>
          <a:prstGeom prst="rect">
            <a:avLst/>
          </a:prstGeom>
          <a:solidFill>
            <a:srgbClr val="92CE49"/>
          </a:solidFill>
        </p:spPr>
        <p:txBody>
          <a:bodyPr vert="horz" wrap="square" lIns="0" tIns="0" rIns="0" bIns="0" rtlCol="0">
            <a:spAutoFit/>
          </a:bodyPr>
          <a:lstStyle/>
          <a:p>
            <a:pPr>
              <a:lnSpc>
                <a:spcPct val="100000"/>
              </a:lnSpc>
            </a:pPr>
            <a:endParaRPr sz="2450">
              <a:latin typeface="Times New Roman" panose="02020503050405090304"/>
              <a:cs typeface="Times New Roman" panose="02020503050405090304"/>
            </a:endParaRPr>
          </a:p>
          <a:p>
            <a:pPr marL="542925" marR="516890" indent="-17145">
              <a:lnSpc>
                <a:spcPts val="1980"/>
              </a:lnSpc>
            </a:pPr>
            <a:r>
              <a:rPr sz="1800" spc="5" dirty="0">
                <a:solidFill>
                  <a:srgbClr val="FFFFFF"/>
                </a:solidFill>
                <a:latin typeface="URW Gothic"/>
                <a:cs typeface="URW Gothic"/>
              </a:rPr>
              <a:t>M</a:t>
            </a:r>
            <a:r>
              <a:rPr sz="1800" spc="-10" dirty="0">
                <a:solidFill>
                  <a:srgbClr val="FFFFFF"/>
                </a:solidFill>
                <a:latin typeface="URW Gothic"/>
                <a:cs typeface="URW Gothic"/>
              </a:rPr>
              <a:t>a</a:t>
            </a:r>
            <a:r>
              <a:rPr sz="1800" spc="20" dirty="0">
                <a:solidFill>
                  <a:srgbClr val="FFFFFF"/>
                </a:solidFill>
                <a:latin typeface="URW Gothic"/>
                <a:cs typeface="URW Gothic"/>
              </a:rPr>
              <a:t>i</a:t>
            </a:r>
            <a:r>
              <a:rPr sz="1800" spc="-15" dirty="0">
                <a:solidFill>
                  <a:srgbClr val="FFFFFF"/>
                </a:solidFill>
                <a:latin typeface="URW Gothic"/>
                <a:cs typeface="URW Gothic"/>
              </a:rPr>
              <a:t>n</a:t>
            </a:r>
            <a:r>
              <a:rPr sz="1800" spc="-20" dirty="0">
                <a:solidFill>
                  <a:srgbClr val="FFFFFF"/>
                </a:solidFill>
                <a:latin typeface="URW Gothic"/>
                <a:cs typeface="URW Gothic"/>
              </a:rPr>
              <a:t>t</a:t>
            </a:r>
            <a:r>
              <a:rPr sz="1800" spc="-10" dirty="0">
                <a:solidFill>
                  <a:srgbClr val="FFFFFF"/>
                </a:solidFill>
                <a:latin typeface="URW Gothic"/>
                <a:cs typeface="URW Gothic"/>
              </a:rPr>
              <a:t>a</a:t>
            </a:r>
            <a:r>
              <a:rPr sz="1800" spc="20" dirty="0">
                <a:solidFill>
                  <a:srgbClr val="FFFFFF"/>
                </a:solidFill>
                <a:latin typeface="URW Gothic"/>
                <a:cs typeface="URW Gothic"/>
              </a:rPr>
              <a:t>i</a:t>
            </a:r>
            <a:r>
              <a:rPr sz="1800" spc="-5" dirty="0">
                <a:solidFill>
                  <a:srgbClr val="FFFFFF"/>
                </a:solidFill>
                <a:latin typeface="URW Gothic"/>
                <a:cs typeface="URW Gothic"/>
              </a:rPr>
              <a:t>n  goodwill</a:t>
            </a:r>
            <a:endParaRPr sz="1800">
              <a:latin typeface="URW Gothic"/>
              <a:cs typeface="URW Gothic"/>
            </a:endParaRPr>
          </a:p>
        </p:txBody>
      </p:sp>
      <p:sp>
        <p:nvSpPr>
          <p:cNvPr id="12" name="object 12"/>
          <p:cNvSpPr txBox="1"/>
          <p:nvPr/>
        </p:nvSpPr>
        <p:spPr>
          <a:xfrm>
            <a:off x="3569208" y="3957828"/>
            <a:ext cx="2025650" cy="1214755"/>
          </a:xfrm>
          <a:prstGeom prst="rect">
            <a:avLst/>
          </a:prstGeom>
          <a:solidFill>
            <a:srgbClr val="50CFB4"/>
          </a:solidFill>
        </p:spPr>
        <p:txBody>
          <a:bodyPr vert="horz" wrap="square" lIns="0" tIns="226060" rIns="0" bIns="0" rtlCol="0">
            <a:spAutoFit/>
          </a:bodyPr>
          <a:lstStyle/>
          <a:p>
            <a:pPr marL="203835" marR="194310" algn="ctr">
              <a:lnSpc>
                <a:spcPct val="92000"/>
              </a:lnSpc>
              <a:spcBef>
                <a:spcPts val="1780"/>
              </a:spcBef>
            </a:pPr>
            <a:r>
              <a:rPr sz="1800" spc="-5" dirty="0">
                <a:solidFill>
                  <a:srgbClr val="FFFFFF"/>
                </a:solidFill>
                <a:latin typeface="URW Gothic"/>
                <a:cs typeface="URW Gothic"/>
              </a:rPr>
              <a:t>Promote</a:t>
            </a:r>
            <a:r>
              <a:rPr sz="1800" spc="-45" dirty="0">
                <a:solidFill>
                  <a:srgbClr val="FFFFFF"/>
                </a:solidFill>
                <a:latin typeface="URW Gothic"/>
                <a:cs typeface="URW Gothic"/>
              </a:rPr>
              <a:t> </a:t>
            </a:r>
            <a:r>
              <a:rPr sz="1800" spc="-5" dirty="0">
                <a:solidFill>
                  <a:srgbClr val="FFFFFF"/>
                </a:solidFill>
                <a:latin typeface="URW Gothic"/>
                <a:cs typeface="URW Gothic"/>
              </a:rPr>
              <a:t>good  </a:t>
            </a:r>
            <a:r>
              <a:rPr sz="1800" spc="-10" dirty="0">
                <a:solidFill>
                  <a:srgbClr val="FFFFFF"/>
                </a:solidFill>
                <a:latin typeface="URW Gothic"/>
                <a:cs typeface="URW Gothic"/>
              </a:rPr>
              <a:t>corporate  </a:t>
            </a:r>
            <a:r>
              <a:rPr sz="1800" dirty="0">
                <a:solidFill>
                  <a:srgbClr val="FFFFFF"/>
                </a:solidFill>
                <a:latin typeface="URW Gothic"/>
                <a:cs typeface="URW Gothic"/>
              </a:rPr>
              <a:t>image</a:t>
            </a:r>
            <a:endParaRPr sz="1800">
              <a:latin typeface="URW Gothic"/>
              <a:cs typeface="URW Gothic"/>
            </a:endParaRPr>
          </a:p>
        </p:txBody>
      </p:sp>
      <p:sp>
        <p:nvSpPr>
          <p:cNvPr id="13" name="object 13"/>
          <p:cNvSpPr txBox="1"/>
          <p:nvPr/>
        </p:nvSpPr>
        <p:spPr>
          <a:xfrm>
            <a:off x="2455164" y="5375147"/>
            <a:ext cx="2025650" cy="1214755"/>
          </a:xfrm>
          <a:prstGeom prst="rect">
            <a:avLst/>
          </a:prstGeom>
          <a:solidFill>
            <a:srgbClr val="0D8EC5"/>
          </a:solidFill>
        </p:spPr>
        <p:txBody>
          <a:bodyPr vert="horz" wrap="square" lIns="0" tIns="0" rIns="0" bIns="0" rtlCol="0">
            <a:spAutoFit/>
          </a:bodyPr>
          <a:lstStyle/>
          <a:p>
            <a:pPr>
              <a:lnSpc>
                <a:spcPct val="100000"/>
              </a:lnSpc>
            </a:pPr>
            <a:endParaRPr sz="2450">
              <a:latin typeface="Times New Roman" panose="02020503050405090304"/>
              <a:cs typeface="Times New Roman" panose="02020503050405090304"/>
            </a:endParaRPr>
          </a:p>
          <a:p>
            <a:pPr marL="85725" marR="77470" indent="100330">
              <a:lnSpc>
                <a:spcPts val="1980"/>
              </a:lnSpc>
            </a:pPr>
            <a:r>
              <a:rPr sz="1800" dirty="0">
                <a:solidFill>
                  <a:srgbClr val="FFFFFF"/>
                </a:solidFill>
                <a:latin typeface="URW Gothic"/>
                <a:cs typeface="URW Gothic"/>
              </a:rPr>
              <a:t>Minimize </a:t>
            </a:r>
            <a:r>
              <a:rPr sz="1800" spc="-5" dirty="0">
                <a:solidFill>
                  <a:srgbClr val="FFFFFF"/>
                </a:solidFill>
                <a:latin typeface="URW Gothic"/>
                <a:cs typeface="URW Gothic"/>
              </a:rPr>
              <a:t>future  co</a:t>
            </a:r>
            <a:r>
              <a:rPr sz="1800" spc="-15" dirty="0">
                <a:solidFill>
                  <a:srgbClr val="FFFFFF"/>
                </a:solidFill>
                <a:latin typeface="URW Gothic"/>
                <a:cs typeface="URW Gothic"/>
              </a:rPr>
              <a:t>r</a:t>
            </a:r>
            <a:r>
              <a:rPr sz="1800" spc="-5" dirty="0">
                <a:solidFill>
                  <a:srgbClr val="FFFFFF"/>
                </a:solidFill>
                <a:latin typeface="URW Gothic"/>
                <a:cs typeface="URW Gothic"/>
              </a:rPr>
              <a:t>r</a:t>
            </a:r>
            <a:r>
              <a:rPr sz="1800" spc="-15" dirty="0">
                <a:solidFill>
                  <a:srgbClr val="FFFFFF"/>
                </a:solidFill>
                <a:latin typeface="URW Gothic"/>
                <a:cs typeface="URW Gothic"/>
              </a:rPr>
              <a:t>e</a:t>
            </a:r>
            <a:r>
              <a:rPr sz="1800" spc="-5" dirty="0">
                <a:solidFill>
                  <a:srgbClr val="FFFFFF"/>
                </a:solidFill>
                <a:latin typeface="URW Gothic"/>
                <a:cs typeface="URW Gothic"/>
              </a:rPr>
              <a:t>s</a:t>
            </a:r>
            <a:r>
              <a:rPr sz="1800" spc="-10" dirty="0">
                <a:solidFill>
                  <a:srgbClr val="FFFFFF"/>
                </a:solidFill>
                <a:latin typeface="URW Gothic"/>
                <a:cs typeface="URW Gothic"/>
              </a:rPr>
              <a:t>p</a:t>
            </a:r>
            <a:r>
              <a:rPr sz="1800" spc="-5" dirty="0">
                <a:solidFill>
                  <a:srgbClr val="FFFFFF"/>
                </a:solidFill>
                <a:latin typeface="URW Gothic"/>
                <a:cs typeface="URW Gothic"/>
              </a:rPr>
              <a:t>o</a:t>
            </a:r>
            <a:r>
              <a:rPr sz="1800" spc="-15" dirty="0">
                <a:solidFill>
                  <a:srgbClr val="FFFFFF"/>
                </a:solidFill>
                <a:latin typeface="URW Gothic"/>
                <a:cs typeface="URW Gothic"/>
              </a:rPr>
              <a:t>n</a:t>
            </a:r>
            <a:r>
              <a:rPr sz="1800" spc="-10" dirty="0">
                <a:solidFill>
                  <a:srgbClr val="FFFFFF"/>
                </a:solidFill>
                <a:latin typeface="URW Gothic"/>
                <a:cs typeface="URW Gothic"/>
              </a:rPr>
              <a:t>de</a:t>
            </a:r>
            <a:r>
              <a:rPr sz="1800" spc="-15" dirty="0">
                <a:solidFill>
                  <a:srgbClr val="FFFFFF"/>
                </a:solidFill>
                <a:latin typeface="URW Gothic"/>
                <a:cs typeface="URW Gothic"/>
              </a:rPr>
              <a:t>n</a:t>
            </a:r>
            <a:r>
              <a:rPr sz="1800" spc="-5" dirty="0">
                <a:solidFill>
                  <a:srgbClr val="FFFFFF"/>
                </a:solidFill>
                <a:latin typeface="URW Gothic"/>
                <a:cs typeface="URW Gothic"/>
              </a:rPr>
              <a:t>ce</a:t>
            </a:r>
            <a:endParaRPr sz="1800">
              <a:latin typeface="URW Gothic"/>
              <a:cs typeface="URW Gothic"/>
            </a:endParaRPr>
          </a:p>
        </p:txBody>
      </p:sp>
      <p:sp>
        <p:nvSpPr>
          <p:cNvPr id="14" name="object 14"/>
          <p:cNvSpPr txBox="1"/>
          <p:nvPr/>
        </p:nvSpPr>
        <p:spPr>
          <a:xfrm>
            <a:off x="6251828" y="2707004"/>
            <a:ext cx="4703445" cy="1871980"/>
          </a:xfrm>
          <a:prstGeom prst="rect">
            <a:avLst/>
          </a:prstGeom>
        </p:spPr>
        <p:txBody>
          <a:bodyPr vert="horz" wrap="square" lIns="0" tIns="45719" rIns="0" bIns="0" rtlCol="0">
            <a:spAutoFit/>
          </a:bodyPr>
          <a:lstStyle/>
          <a:p>
            <a:pPr marL="241300" marR="5080" indent="-228600">
              <a:lnSpc>
                <a:spcPct val="90000"/>
              </a:lnSpc>
              <a:spcBef>
                <a:spcPts val="360"/>
              </a:spcBef>
              <a:buFont typeface="Arial" panose="020B0604020202090204"/>
              <a:buChar char="•"/>
              <a:tabLst>
                <a:tab pos="240665" algn="l"/>
                <a:tab pos="241300" algn="l"/>
              </a:tabLst>
            </a:pPr>
            <a:r>
              <a:rPr sz="2200" spc="-5" dirty="0">
                <a:latin typeface="Cambria" panose="02040503050406030204" pitchFamily="18" charset="0"/>
                <a:ea typeface="Cambria" panose="02040503050406030204" pitchFamily="18" charset="0"/>
                <a:cs typeface="Times New Roman" panose="02020503050405090304"/>
              </a:rPr>
              <a:t>Whatever </a:t>
            </a:r>
            <a:r>
              <a:rPr sz="2200" dirty="0">
                <a:latin typeface="Cambria" panose="02040503050406030204" pitchFamily="18" charset="0"/>
                <a:ea typeface="Cambria" panose="02040503050406030204" pitchFamily="18" charset="0"/>
                <a:cs typeface="Times New Roman" panose="02020503050405090304"/>
              </a:rPr>
              <a:t>the </a:t>
            </a:r>
            <a:r>
              <a:rPr sz="2200" spc="-5" dirty="0">
                <a:latin typeface="Cambria" panose="02040503050406030204" pitchFamily="18" charset="0"/>
                <a:ea typeface="Cambria" panose="02040503050406030204" pitchFamily="18" charset="0"/>
                <a:cs typeface="Times New Roman" panose="02020503050405090304"/>
              </a:rPr>
              <a:t>details </a:t>
            </a:r>
            <a:r>
              <a:rPr sz="2200" dirty="0">
                <a:latin typeface="Cambria" panose="02040503050406030204" pitchFamily="18" charset="0"/>
                <a:ea typeface="Cambria" panose="02040503050406030204" pitchFamily="18" charset="0"/>
                <a:cs typeface="Times New Roman" panose="02020503050405090304"/>
              </a:rPr>
              <a:t>of your </a:t>
            </a:r>
            <a:r>
              <a:rPr sz="2200" spc="-5" dirty="0">
                <a:latin typeface="Cambria" panose="02040503050406030204" pitchFamily="18" charset="0"/>
                <a:ea typeface="Cambria" panose="02040503050406030204" pitchFamily="18" charset="0"/>
                <a:cs typeface="Times New Roman" panose="02020503050405090304"/>
              </a:rPr>
              <a:t>particular </a:t>
            </a:r>
            <a:r>
              <a:rPr sz="2200" spc="-10" dirty="0">
                <a:latin typeface="Cambria" panose="02040503050406030204" pitchFamily="18" charset="0"/>
                <a:ea typeface="Cambria" panose="02040503050406030204" pitchFamily="18" charset="0"/>
                <a:cs typeface="Times New Roman" panose="02020503050405090304"/>
              </a:rPr>
              <a:t>message, </a:t>
            </a:r>
            <a:r>
              <a:rPr sz="2200" spc="-5" dirty="0">
                <a:latin typeface="Cambria" panose="02040503050406030204" pitchFamily="18" charset="0"/>
                <a:ea typeface="Cambria" panose="02040503050406030204" pitchFamily="18" charset="0"/>
                <a:cs typeface="Times New Roman" panose="02020503050405090304"/>
              </a:rPr>
              <a:t>when </a:t>
            </a:r>
            <a:r>
              <a:rPr sz="2200" dirty="0">
                <a:latin typeface="Cambria" panose="02040503050406030204" pitchFamily="18" charset="0"/>
                <a:ea typeface="Cambria" panose="02040503050406030204" pitchFamily="18" charset="0"/>
                <a:cs typeface="Times New Roman" panose="02020503050405090304"/>
              </a:rPr>
              <a:t>you </a:t>
            </a:r>
            <a:r>
              <a:rPr sz="2200" spc="-5" dirty="0">
                <a:latin typeface="Cambria" panose="02040503050406030204" pitchFamily="18" charset="0"/>
                <a:ea typeface="Cambria" panose="02040503050406030204" pitchFamily="18" charset="0"/>
                <a:cs typeface="Times New Roman" panose="02020503050405090304"/>
              </a:rPr>
              <a:t>have bad news, </a:t>
            </a:r>
            <a:r>
              <a:rPr sz="2200" dirty="0">
                <a:latin typeface="Cambria" panose="02040503050406030204" pitchFamily="18" charset="0"/>
                <a:ea typeface="Cambria" panose="02040503050406030204" pitchFamily="18" charset="0"/>
                <a:cs typeface="Times New Roman" panose="02020503050405090304"/>
              </a:rPr>
              <a:t>you </a:t>
            </a:r>
            <a:r>
              <a:rPr sz="2200" spc="-5" dirty="0">
                <a:latin typeface="Cambria" panose="02040503050406030204" pitchFamily="18" charset="0"/>
                <a:ea typeface="Cambria" panose="02040503050406030204" pitchFamily="18" charset="0"/>
                <a:cs typeface="Times New Roman" panose="02020503050405090304"/>
              </a:rPr>
              <a:t>want </a:t>
            </a:r>
            <a:r>
              <a:rPr sz="2200" dirty="0">
                <a:latin typeface="Cambria" panose="02040503050406030204" pitchFamily="18" charset="0"/>
                <a:ea typeface="Cambria" panose="02040503050406030204" pitchFamily="18" charset="0"/>
                <a:cs typeface="Times New Roman" panose="02020503050405090304"/>
              </a:rPr>
              <a:t>your </a:t>
            </a:r>
            <a:r>
              <a:rPr sz="2200" spc="-5" dirty="0">
                <a:latin typeface="Cambria" panose="02040503050406030204" pitchFamily="18" charset="0"/>
                <a:ea typeface="Cambria" panose="02040503050406030204" pitchFamily="18" charset="0"/>
                <a:cs typeface="Times New Roman" panose="02020503050405090304"/>
              </a:rPr>
              <a:t>readers to feel that </a:t>
            </a:r>
            <a:r>
              <a:rPr sz="2200" dirty="0">
                <a:latin typeface="Cambria" panose="02040503050406030204" pitchFamily="18" charset="0"/>
                <a:ea typeface="Cambria" panose="02040503050406030204" pitchFamily="18" charset="0"/>
                <a:cs typeface="Times New Roman" panose="02020503050405090304"/>
              </a:rPr>
              <a:t>they </a:t>
            </a:r>
            <a:r>
              <a:rPr sz="2200" spc="-5" dirty="0">
                <a:latin typeface="Cambria" panose="02040503050406030204" pitchFamily="18" charset="0"/>
                <a:ea typeface="Cambria" panose="02040503050406030204" pitchFamily="18" charset="0"/>
                <a:cs typeface="Times New Roman" panose="02020503050405090304"/>
              </a:rPr>
              <a:t>have been taken seriously and to agree that </a:t>
            </a:r>
            <a:r>
              <a:rPr sz="2200" dirty="0">
                <a:latin typeface="Cambria" panose="02040503050406030204" pitchFamily="18" charset="0"/>
                <a:ea typeface="Cambria" panose="02040503050406030204" pitchFamily="18" charset="0"/>
                <a:cs typeface="Times New Roman" panose="02020503050405090304"/>
              </a:rPr>
              <a:t>your </a:t>
            </a:r>
            <a:r>
              <a:rPr sz="2200" spc="-5" dirty="0">
                <a:latin typeface="Cambria" panose="02040503050406030204" pitchFamily="18" charset="0"/>
                <a:ea typeface="Cambria" panose="02040503050406030204" pitchFamily="18" charset="0"/>
                <a:cs typeface="Times New Roman" panose="02020503050405090304"/>
              </a:rPr>
              <a:t>news is fair and</a:t>
            </a:r>
            <a:r>
              <a:rPr sz="2200" spc="-15" dirty="0">
                <a:latin typeface="Cambria" panose="02040503050406030204" pitchFamily="18" charset="0"/>
                <a:ea typeface="Cambria" panose="02040503050406030204" pitchFamily="18" charset="0"/>
                <a:cs typeface="Times New Roman" panose="02020503050405090304"/>
              </a:rPr>
              <a:t> </a:t>
            </a:r>
            <a:r>
              <a:rPr sz="2200" spc="-5" dirty="0">
                <a:latin typeface="Cambria" panose="02040503050406030204" pitchFamily="18" charset="0"/>
                <a:ea typeface="Cambria" panose="02040503050406030204" pitchFamily="18" charset="0"/>
                <a:cs typeface="Times New Roman" panose="02020503050405090304"/>
              </a:rPr>
              <a:t>reasonable.</a:t>
            </a:r>
            <a:endParaRPr sz="2200" dirty="0">
              <a:latin typeface="Cambria" panose="02040503050406030204" pitchFamily="18" charset="0"/>
              <a:ea typeface="Cambria" panose="02040503050406030204" pitchFamily="18" charset="0"/>
              <a:cs typeface="Times New Roman" panose="0202050305040509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346" y="685800"/>
            <a:ext cx="6016878" cy="635000"/>
          </a:xfrm>
        </p:spPr>
        <p:txBody>
          <a:bodyPr>
            <a:normAutofit fontScale="90000"/>
          </a:bodyPr>
          <a:lstStyle/>
          <a:p>
            <a:r>
              <a:rPr lang="en-US" b="1" dirty="0">
                <a:latin typeface="Cambria" panose="02040503050406030204" pitchFamily="18" charset="0"/>
                <a:ea typeface="Cambria" panose="02040503050406030204" pitchFamily="18" charset="0"/>
              </a:rPr>
              <a:t>BASIC GUIDELINES</a:t>
            </a:r>
          </a:p>
        </p:txBody>
      </p:sp>
      <p:sp>
        <p:nvSpPr>
          <p:cNvPr id="3" name="Content Placeholder 2"/>
          <p:cNvSpPr>
            <a:spLocks noGrp="1"/>
          </p:cNvSpPr>
          <p:nvPr>
            <p:ph sz="half" idx="1"/>
          </p:nvPr>
        </p:nvSpPr>
        <p:spPr>
          <a:xfrm>
            <a:off x="623046" y="1905000"/>
            <a:ext cx="10817479" cy="3754874"/>
          </a:xfrm>
        </p:spPr>
        <p:txBody>
          <a:bodyPr/>
          <a:lstStyle/>
          <a:p>
            <a:r>
              <a:rPr lang="en-US" sz="2800" dirty="0">
                <a:latin typeface="Cambria" panose="02040503050406030204" pitchFamily="18" charset="0"/>
                <a:ea typeface="Cambria" panose="02040503050406030204" pitchFamily="18" charset="0"/>
                <a:cs typeface="Times New Roman" panose="02020503050405090304" pitchFamily="18" charset="0"/>
              </a:rPr>
              <a:t>In general, bad news messages should be written using indirect approach</a:t>
            </a:r>
          </a:p>
          <a:p>
            <a:endParaRPr lang="en-US" sz="2800" dirty="0">
              <a:latin typeface="Cambria" panose="02040503050406030204" pitchFamily="18" charset="0"/>
              <a:ea typeface="Cambria" panose="02040503050406030204" pitchFamily="18" charset="0"/>
              <a:cs typeface="Times New Roman" panose="02020503050405090304" pitchFamily="18" charset="0"/>
            </a:endParaRPr>
          </a:p>
          <a:p>
            <a:r>
              <a:rPr lang="en-US" sz="2800" dirty="0">
                <a:latin typeface="Cambria" panose="02040503050406030204" pitchFamily="18" charset="0"/>
                <a:ea typeface="Cambria" panose="02040503050406030204" pitchFamily="18" charset="0"/>
                <a:cs typeface="Times New Roman" panose="02020503050405090304" pitchFamily="18" charset="0"/>
              </a:rPr>
              <a:t>Politeness strategy is crucial in order to develop negative/bad news messages document</a:t>
            </a:r>
          </a:p>
          <a:p>
            <a:endParaRPr lang="en-US" sz="2800" dirty="0">
              <a:latin typeface="Cambria" panose="02040503050406030204" pitchFamily="18" charset="0"/>
              <a:ea typeface="Cambria" panose="02040503050406030204" pitchFamily="18" charset="0"/>
              <a:cs typeface="Times New Roman" panose="02020503050405090304" pitchFamily="18" charset="0"/>
            </a:endParaRPr>
          </a:p>
          <a:p>
            <a:pPr marL="0" indent="0">
              <a:buNone/>
            </a:pPr>
            <a:endParaRPr lang="en-US" sz="2400" dirty="0">
              <a:latin typeface="Times New Roman" panose="02020503050405090304" pitchFamily="18" charset="0"/>
              <a:cs typeface="Times New Roman" panose="02020503050405090304" pitchFamily="18" charset="0"/>
            </a:endParaRPr>
          </a:p>
          <a:p>
            <a:pPr marL="685800" indent="-685800">
              <a:buFont typeface="Arial" panose="020B0604020202090204" pitchFamily="34" charset="0"/>
              <a:buChar char="•"/>
            </a:pPr>
            <a:endParaRPr lang="en-US" sz="24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61855" y="2209800"/>
            <a:ext cx="10896600" cy="2154436"/>
          </a:xfrm>
        </p:spPr>
        <p:txBody>
          <a:bodyPr>
            <a:normAutofit fontScale="92500"/>
          </a:bodyPr>
          <a:lstStyle/>
          <a:p>
            <a:pPr marL="342900" indent="-342900">
              <a:buFont typeface="Arial" panose="020B0604020202090204" pitchFamily="34" charset="0"/>
              <a:buChar char="•"/>
            </a:pPr>
            <a:r>
              <a:rPr lang="en-US" sz="2800" dirty="0">
                <a:latin typeface="Cambria" panose="02040503050406030204" pitchFamily="18" charset="0"/>
                <a:ea typeface="Cambria" panose="02040503050406030204" pitchFamily="18" charset="0"/>
                <a:cs typeface="Times New Roman" panose="02020503050405090304" pitchFamily="18" charset="0"/>
              </a:rPr>
              <a:t>However, for some cases, bad news messages should be written using direct approach</a:t>
            </a:r>
          </a:p>
          <a:p>
            <a:pPr marL="342900" indent="-342900">
              <a:buFont typeface="Arial" panose="020B0604020202090204" pitchFamily="34" charset="0"/>
              <a:buChar char="•"/>
            </a:pPr>
            <a:endParaRPr lang="en-US" sz="2800" dirty="0">
              <a:latin typeface="Cambria" panose="02040503050406030204" pitchFamily="18" charset="0"/>
              <a:ea typeface="Cambria" panose="02040503050406030204" pitchFamily="18" charset="0"/>
              <a:cs typeface="Times New Roman" panose="02020503050405090304" pitchFamily="18" charset="0"/>
            </a:endParaRPr>
          </a:p>
          <a:p>
            <a:pPr marL="342900" indent="-342900">
              <a:buFont typeface="Arial" panose="020B0604020202090204" pitchFamily="34" charset="0"/>
              <a:buChar char="•"/>
            </a:pPr>
            <a:r>
              <a:rPr lang="en-US" sz="2800" dirty="0">
                <a:latin typeface="Cambria" panose="02040503050406030204" pitchFamily="18" charset="0"/>
                <a:ea typeface="Cambria" panose="02040503050406030204" pitchFamily="18" charset="0"/>
                <a:cs typeface="Times New Roman" panose="02020503050405090304" pitchFamily="18" charset="0"/>
              </a:rPr>
              <a:t>Writers have to evaluate the situation and if it is relevant, the negative news document should be composed using the direct approach</a:t>
            </a:r>
          </a:p>
        </p:txBody>
      </p:sp>
      <p:sp>
        <p:nvSpPr>
          <p:cNvPr id="2" name="TextBox 1"/>
          <p:cNvSpPr txBox="1"/>
          <p:nvPr/>
        </p:nvSpPr>
        <p:spPr>
          <a:xfrm>
            <a:off x="3038355" y="762000"/>
            <a:ext cx="5943600" cy="707886"/>
          </a:xfrm>
          <a:prstGeom prst="rect">
            <a:avLst/>
          </a:prstGeom>
          <a:noFill/>
        </p:spPr>
        <p:txBody>
          <a:bodyPr wrap="square" rtlCol="0">
            <a:spAutoFit/>
          </a:bodyPr>
          <a:lstStyle/>
          <a:p>
            <a:r>
              <a:rPr lang="en-US" sz="4000" b="1" dirty="0">
                <a:latin typeface="Cambria" panose="02040503050406030204" pitchFamily="18" charset="0"/>
                <a:ea typeface="Cambria" panose="02040503050406030204" pitchFamily="18" charset="0"/>
              </a:rPr>
              <a:t>BASIC GUIDELINES</a:t>
            </a:r>
            <a:endParaRPr lang="en-US" sz="4000" dirty="0">
              <a:latin typeface="Cambria" panose="02040503050406030204" pitchFamily="18" charset="0"/>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42464" y="816583"/>
            <a:ext cx="8573135" cy="689291"/>
          </a:xfrm>
          <a:prstGeom prst="rect">
            <a:avLst/>
          </a:prstGeom>
        </p:spPr>
        <p:txBody>
          <a:bodyPr vert="horz" wrap="square" lIns="0" tIns="12065" rIns="0" bIns="0" rtlCol="0">
            <a:spAutoFit/>
          </a:bodyPr>
          <a:lstStyle/>
          <a:p>
            <a:pPr marL="12700">
              <a:lnSpc>
                <a:spcPct val="100000"/>
              </a:lnSpc>
              <a:spcBef>
                <a:spcPts val="95"/>
              </a:spcBef>
            </a:pPr>
            <a:r>
              <a:rPr b="1" spc="-10" dirty="0">
                <a:latin typeface="Cambria" panose="02040503050406030204" pitchFamily="18" charset="0"/>
                <a:ea typeface="Cambria" panose="02040503050406030204" pitchFamily="18" charset="0"/>
              </a:rPr>
              <a:t>EFFECTIVE </a:t>
            </a:r>
            <a:r>
              <a:rPr b="1" spc="-5" dirty="0">
                <a:latin typeface="Cambria" panose="02040503050406030204" pitchFamily="18" charset="0"/>
                <a:ea typeface="Cambria" panose="02040503050406030204" pitchFamily="18" charset="0"/>
              </a:rPr>
              <a:t>BAD NEWS</a:t>
            </a:r>
            <a:r>
              <a:rPr b="1" dirty="0">
                <a:latin typeface="Cambria" panose="02040503050406030204" pitchFamily="18" charset="0"/>
                <a:ea typeface="Cambria" panose="02040503050406030204" pitchFamily="18" charset="0"/>
              </a:rPr>
              <a:t> </a:t>
            </a:r>
            <a:r>
              <a:rPr b="1" spc="-5" dirty="0">
                <a:latin typeface="Cambria" panose="02040503050406030204" pitchFamily="18" charset="0"/>
                <a:ea typeface="Cambria" panose="02040503050406030204" pitchFamily="18" charset="0"/>
              </a:rPr>
              <a:t>MESSAGE</a:t>
            </a:r>
          </a:p>
        </p:txBody>
      </p:sp>
      <p:sp>
        <p:nvSpPr>
          <p:cNvPr id="3" name="object 3"/>
          <p:cNvSpPr txBox="1"/>
          <p:nvPr/>
        </p:nvSpPr>
        <p:spPr>
          <a:xfrm>
            <a:off x="992530" y="2087117"/>
            <a:ext cx="9832975" cy="2235227"/>
          </a:xfrm>
          <a:prstGeom prst="rect">
            <a:avLst/>
          </a:prstGeom>
        </p:spPr>
        <p:txBody>
          <a:bodyPr vert="horz" wrap="square" lIns="0" tIns="49530" rIns="0" bIns="0" rtlCol="0">
            <a:spAutoFit/>
          </a:bodyPr>
          <a:lstStyle/>
          <a:p>
            <a:pPr>
              <a:lnSpc>
                <a:spcPct val="100000"/>
              </a:lnSpc>
              <a:spcBef>
                <a:spcPts val="30"/>
              </a:spcBef>
            </a:pPr>
            <a:endParaRPr sz="3000" dirty="0">
              <a:latin typeface="Times New Roman" panose="02020503050405090304"/>
              <a:cs typeface="Times New Roman" panose="02020503050405090304"/>
            </a:endParaRPr>
          </a:p>
          <a:p>
            <a:pPr marL="1206500" lvl="1" indent="-280035">
              <a:lnSpc>
                <a:spcPct val="100000"/>
              </a:lnSpc>
              <a:buSzPct val="96000"/>
              <a:buFont typeface="Wingdings" panose="05000000000000000000"/>
              <a:buChar char=""/>
              <a:tabLst>
                <a:tab pos="1207135" algn="l"/>
              </a:tabLst>
            </a:pPr>
            <a:r>
              <a:rPr lang="en-US" sz="2800" spc="-5" dirty="0">
                <a:latin typeface="Cambria" panose="02040503050406030204" pitchFamily="18" charset="0"/>
                <a:ea typeface="Cambria" panose="02040503050406030204" pitchFamily="18" charset="0"/>
                <a:cs typeface="Times New Roman" panose="02020503050405090304"/>
              </a:rPr>
              <a:t>Clearly justify the reasons</a:t>
            </a:r>
          </a:p>
          <a:p>
            <a:pPr marL="1206500" lvl="1" indent="-280035">
              <a:lnSpc>
                <a:spcPct val="100000"/>
              </a:lnSpc>
              <a:buSzPct val="96000"/>
              <a:buFont typeface="Wingdings" panose="05000000000000000000"/>
              <a:buChar char=""/>
              <a:tabLst>
                <a:tab pos="1207135" algn="l"/>
              </a:tabLst>
            </a:pPr>
            <a:r>
              <a:rPr lang="en-US" sz="2800" spc="-5" dirty="0">
                <a:latin typeface="Cambria" panose="02040503050406030204" pitchFamily="18" charset="0"/>
                <a:ea typeface="Cambria" panose="02040503050406030204" pitchFamily="18" charset="0"/>
                <a:cs typeface="Times New Roman" panose="02020503050405090304"/>
              </a:rPr>
              <a:t>Adopt the accurate approach</a:t>
            </a:r>
          </a:p>
          <a:p>
            <a:pPr marL="1206500" lvl="1" indent="-280035">
              <a:lnSpc>
                <a:spcPct val="100000"/>
              </a:lnSpc>
              <a:buSzPct val="96000"/>
              <a:buFont typeface="Wingdings" panose="05000000000000000000"/>
              <a:buChar char=""/>
              <a:tabLst>
                <a:tab pos="1207135" algn="l"/>
              </a:tabLst>
            </a:pPr>
            <a:r>
              <a:rPr lang="en-US" sz="2800" spc="-5" dirty="0">
                <a:latin typeface="Cambria" panose="02040503050406030204" pitchFamily="18" charset="0"/>
                <a:ea typeface="Cambria" panose="02040503050406030204" pitchFamily="18" charset="0"/>
                <a:cs typeface="Times New Roman" panose="02020503050405090304"/>
              </a:rPr>
              <a:t>Be clear (content)</a:t>
            </a:r>
          </a:p>
          <a:p>
            <a:pPr marL="1206500" lvl="1" indent="-280035">
              <a:lnSpc>
                <a:spcPct val="100000"/>
              </a:lnSpc>
              <a:buSzPct val="96000"/>
              <a:buFont typeface="Wingdings" panose="05000000000000000000"/>
              <a:buChar char=""/>
              <a:tabLst>
                <a:tab pos="1207135" algn="l"/>
              </a:tabLst>
            </a:pPr>
            <a:endParaRPr sz="2800" dirty="0">
              <a:latin typeface="Times New Roman" panose="02020503050405090304"/>
              <a:cs typeface="Times New Roman" panose="02020503050405090304"/>
            </a:endParaRPr>
          </a:p>
        </p:txBody>
      </p:sp>
      <p:grpSp>
        <p:nvGrpSpPr>
          <p:cNvPr id="4" name="object 4"/>
          <p:cNvGrpSpPr/>
          <p:nvPr/>
        </p:nvGrpSpPr>
        <p:grpSpPr>
          <a:xfrm>
            <a:off x="2503551" y="4102986"/>
            <a:ext cx="6026150" cy="2411095"/>
            <a:chOff x="2801111" y="4180332"/>
            <a:chExt cx="6026150" cy="2411095"/>
          </a:xfrm>
        </p:grpSpPr>
        <p:sp>
          <p:nvSpPr>
            <p:cNvPr id="5" name="object 5"/>
            <p:cNvSpPr/>
            <p:nvPr/>
          </p:nvSpPr>
          <p:spPr>
            <a:xfrm>
              <a:off x="2801111" y="4180332"/>
              <a:ext cx="6026150" cy="2411095"/>
            </a:xfrm>
            <a:custGeom>
              <a:avLst/>
              <a:gdLst/>
              <a:ahLst/>
              <a:cxnLst/>
              <a:rect l="l" t="t" r="r" b="b"/>
              <a:pathLst>
                <a:path w="6026150" h="2411095">
                  <a:moveTo>
                    <a:pt x="1205484" y="0"/>
                  </a:moveTo>
                  <a:lnTo>
                    <a:pt x="0" y="1004570"/>
                  </a:lnTo>
                  <a:lnTo>
                    <a:pt x="1205484" y="2009127"/>
                  </a:lnTo>
                  <a:lnTo>
                    <a:pt x="1205484" y="1607312"/>
                  </a:lnTo>
                  <a:lnTo>
                    <a:pt x="2824607" y="1607312"/>
                  </a:lnTo>
                  <a:lnTo>
                    <a:pt x="2824607" y="1908683"/>
                  </a:lnTo>
                  <a:lnTo>
                    <a:pt x="2834209" y="1940437"/>
                  </a:lnTo>
                  <a:lnTo>
                    <a:pt x="2860947" y="1968013"/>
                  </a:lnTo>
                  <a:lnTo>
                    <a:pt x="2901718" y="1989759"/>
                  </a:lnTo>
                  <a:lnTo>
                    <a:pt x="2953419" y="2004019"/>
                  </a:lnTo>
                  <a:lnTo>
                    <a:pt x="3012948" y="2009140"/>
                  </a:lnTo>
                  <a:lnTo>
                    <a:pt x="4820412" y="2009140"/>
                  </a:lnTo>
                  <a:lnTo>
                    <a:pt x="4820412" y="2410968"/>
                  </a:lnTo>
                  <a:lnTo>
                    <a:pt x="6025895" y="1406398"/>
                  </a:lnTo>
                  <a:lnTo>
                    <a:pt x="4820412" y="401828"/>
                  </a:lnTo>
                  <a:lnTo>
                    <a:pt x="4820412" y="803656"/>
                  </a:lnTo>
                  <a:lnTo>
                    <a:pt x="3012948" y="803656"/>
                  </a:lnTo>
                  <a:lnTo>
                    <a:pt x="2953419" y="798536"/>
                  </a:lnTo>
                  <a:lnTo>
                    <a:pt x="2901718" y="784278"/>
                  </a:lnTo>
                  <a:lnTo>
                    <a:pt x="2860947" y="762535"/>
                  </a:lnTo>
                  <a:lnTo>
                    <a:pt x="2834209" y="734958"/>
                  </a:lnTo>
                  <a:lnTo>
                    <a:pt x="2824607" y="703199"/>
                  </a:lnTo>
                  <a:lnTo>
                    <a:pt x="2834209" y="671439"/>
                  </a:lnTo>
                  <a:lnTo>
                    <a:pt x="2860947" y="643862"/>
                  </a:lnTo>
                  <a:lnTo>
                    <a:pt x="2901718" y="622119"/>
                  </a:lnTo>
                  <a:lnTo>
                    <a:pt x="2953419" y="607861"/>
                  </a:lnTo>
                  <a:lnTo>
                    <a:pt x="3072476" y="597622"/>
                  </a:lnTo>
                  <a:lnTo>
                    <a:pt x="3124177" y="583364"/>
                  </a:lnTo>
                  <a:lnTo>
                    <a:pt x="3164948" y="561621"/>
                  </a:lnTo>
                  <a:lnTo>
                    <a:pt x="3191686" y="534044"/>
                  </a:lnTo>
                  <a:lnTo>
                    <a:pt x="3201289" y="502285"/>
                  </a:lnTo>
                  <a:lnTo>
                    <a:pt x="3191686" y="470525"/>
                  </a:lnTo>
                  <a:lnTo>
                    <a:pt x="3164948" y="442948"/>
                  </a:lnTo>
                  <a:lnTo>
                    <a:pt x="3124177" y="421205"/>
                  </a:lnTo>
                  <a:lnTo>
                    <a:pt x="3072476" y="406947"/>
                  </a:lnTo>
                  <a:lnTo>
                    <a:pt x="3012948" y="401828"/>
                  </a:lnTo>
                  <a:lnTo>
                    <a:pt x="1205484" y="401828"/>
                  </a:lnTo>
                  <a:lnTo>
                    <a:pt x="1205484" y="0"/>
                  </a:lnTo>
                  <a:close/>
                </a:path>
              </a:pathLst>
            </a:custGeom>
            <a:solidFill>
              <a:srgbClr val="92CE49"/>
            </a:solidFill>
          </p:spPr>
          <p:txBody>
            <a:bodyPr wrap="square" lIns="0" tIns="0" rIns="0" bIns="0" rtlCol="0"/>
            <a:lstStyle/>
            <a:p>
              <a:endParaRPr/>
            </a:p>
          </p:txBody>
        </p:sp>
        <p:sp>
          <p:nvSpPr>
            <p:cNvPr id="6" name="object 6"/>
            <p:cNvSpPr/>
            <p:nvPr/>
          </p:nvSpPr>
          <p:spPr>
            <a:xfrm>
              <a:off x="5625719" y="4682617"/>
              <a:ext cx="377190" cy="301625"/>
            </a:xfrm>
            <a:custGeom>
              <a:avLst/>
              <a:gdLst/>
              <a:ahLst/>
              <a:cxnLst/>
              <a:rect l="l" t="t" r="r" b="b"/>
              <a:pathLst>
                <a:path w="377189" h="301625">
                  <a:moveTo>
                    <a:pt x="376681" y="0"/>
                  </a:moveTo>
                  <a:lnTo>
                    <a:pt x="340341" y="59336"/>
                  </a:lnTo>
                  <a:lnTo>
                    <a:pt x="299570" y="81079"/>
                  </a:lnTo>
                  <a:lnTo>
                    <a:pt x="247869" y="95337"/>
                  </a:lnTo>
                  <a:lnTo>
                    <a:pt x="128812" y="105576"/>
                  </a:lnTo>
                  <a:lnTo>
                    <a:pt x="77111" y="119834"/>
                  </a:lnTo>
                  <a:lnTo>
                    <a:pt x="36340" y="141577"/>
                  </a:lnTo>
                  <a:lnTo>
                    <a:pt x="9602" y="169154"/>
                  </a:lnTo>
                  <a:lnTo>
                    <a:pt x="0" y="200913"/>
                  </a:lnTo>
                  <a:lnTo>
                    <a:pt x="9602" y="232673"/>
                  </a:lnTo>
                  <a:lnTo>
                    <a:pt x="36340" y="260250"/>
                  </a:lnTo>
                  <a:lnTo>
                    <a:pt x="77111" y="281993"/>
                  </a:lnTo>
                  <a:lnTo>
                    <a:pt x="128812" y="296251"/>
                  </a:lnTo>
                  <a:lnTo>
                    <a:pt x="188340" y="301370"/>
                  </a:lnTo>
                  <a:lnTo>
                    <a:pt x="376681" y="301370"/>
                  </a:lnTo>
                  <a:lnTo>
                    <a:pt x="376681" y="0"/>
                  </a:lnTo>
                  <a:close/>
                </a:path>
              </a:pathLst>
            </a:custGeom>
            <a:solidFill>
              <a:srgbClr val="75A63A"/>
            </a:solidFill>
          </p:spPr>
          <p:txBody>
            <a:bodyPr wrap="square" lIns="0" tIns="0" rIns="0" bIns="0" rtlCol="0"/>
            <a:lstStyle/>
            <a:p>
              <a:endParaRPr/>
            </a:p>
          </p:txBody>
        </p:sp>
        <p:sp>
          <p:nvSpPr>
            <p:cNvPr id="7" name="object 7"/>
            <p:cNvSpPr/>
            <p:nvPr/>
          </p:nvSpPr>
          <p:spPr>
            <a:xfrm>
              <a:off x="5625719" y="4682617"/>
              <a:ext cx="377190" cy="1105535"/>
            </a:xfrm>
            <a:custGeom>
              <a:avLst/>
              <a:gdLst/>
              <a:ahLst/>
              <a:cxnLst/>
              <a:rect l="l" t="t" r="r" b="b"/>
              <a:pathLst>
                <a:path w="377189" h="1105535">
                  <a:moveTo>
                    <a:pt x="376681" y="0"/>
                  </a:moveTo>
                  <a:lnTo>
                    <a:pt x="376681" y="301370"/>
                  </a:lnTo>
                </a:path>
                <a:path w="377189" h="1105535">
                  <a:moveTo>
                    <a:pt x="0" y="200913"/>
                  </a:moveTo>
                  <a:lnTo>
                    <a:pt x="0" y="1105026"/>
                  </a:lnTo>
                </a:path>
              </a:pathLst>
            </a:custGeom>
            <a:ln w="12192">
              <a:solidFill>
                <a:srgbClr val="FFFFFF"/>
              </a:solidFill>
            </a:ln>
          </p:spPr>
          <p:txBody>
            <a:bodyPr wrap="square" lIns="0" tIns="0" rIns="0" bIns="0" rtlCol="0"/>
            <a:lstStyle/>
            <a:p>
              <a:endParaRPr/>
            </a:p>
          </p:txBody>
        </p:sp>
      </p:grpSp>
      <p:sp>
        <p:nvSpPr>
          <p:cNvPr id="8" name="object 8"/>
          <p:cNvSpPr txBox="1"/>
          <p:nvPr/>
        </p:nvSpPr>
        <p:spPr>
          <a:xfrm>
            <a:off x="3456938" y="4139489"/>
            <a:ext cx="1993900" cy="1431160"/>
          </a:xfrm>
          <a:prstGeom prst="rect">
            <a:avLst/>
          </a:prstGeom>
        </p:spPr>
        <p:txBody>
          <a:bodyPr vert="horz" wrap="square" lIns="0" tIns="58419" rIns="0" bIns="0" rtlCol="0">
            <a:spAutoFit/>
          </a:bodyPr>
          <a:lstStyle/>
          <a:p>
            <a:pPr marL="12700" marR="5080" indent="415925">
              <a:lnSpc>
                <a:spcPts val="3420"/>
              </a:lnSpc>
              <a:spcBef>
                <a:spcPts val="460"/>
              </a:spcBef>
            </a:pPr>
            <a:endParaRPr lang="en-US" sz="3100" spc="-5" dirty="0">
              <a:solidFill>
                <a:srgbClr val="FFFFFF"/>
              </a:solidFill>
              <a:latin typeface="URW Gothic"/>
              <a:cs typeface="URW Gothic"/>
            </a:endParaRPr>
          </a:p>
          <a:p>
            <a:pPr marL="12700" marR="5080" indent="415925">
              <a:lnSpc>
                <a:spcPts val="3420"/>
              </a:lnSpc>
              <a:spcBef>
                <a:spcPts val="460"/>
              </a:spcBef>
            </a:pPr>
            <a:r>
              <a:rPr sz="3100" spc="-5" dirty="0">
                <a:solidFill>
                  <a:srgbClr val="FFFFFF"/>
                </a:solidFill>
                <a:latin typeface="URW Gothic"/>
                <a:cs typeface="URW Gothic"/>
              </a:rPr>
              <a:t>Direct  Approach</a:t>
            </a:r>
            <a:endParaRPr sz="3100" dirty="0">
              <a:latin typeface="URW Gothic"/>
              <a:cs typeface="URW Gothic"/>
            </a:endParaRPr>
          </a:p>
        </p:txBody>
      </p:sp>
      <p:sp>
        <p:nvSpPr>
          <p:cNvPr id="9" name="object 9"/>
          <p:cNvSpPr txBox="1"/>
          <p:nvPr/>
        </p:nvSpPr>
        <p:spPr>
          <a:xfrm>
            <a:off x="5994272" y="4592953"/>
            <a:ext cx="1991995" cy="1431160"/>
          </a:xfrm>
          <a:prstGeom prst="rect">
            <a:avLst/>
          </a:prstGeom>
        </p:spPr>
        <p:txBody>
          <a:bodyPr vert="horz" wrap="square" lIns="0" tIns="58419" rIns="0" bIns="0" rtlCol="0">
            <a:spAutoFit/>
          </a:bodyPr>
          <a:lstStyle/>
          <a:p>
            <a:pPr marL="12700" marR="5080" indent="263525">
              <a:lnSpc>
                <a:spcPts val="3420"/>
              </a:lnSpc>
              <a:spcBef>
                <a:spcPts val="460"/>
              </a:spcBef>
            </a:pPr>
            <a:endParaRPr lang="en-US" sz="3100" spc="-10" dirty="0">
              <a:solidFill>
                <a:srgbClr val="FFFFFF"/>
              </a:solidFill>
              <a:latin typeface="URW Gothic"/>
              <a:cs typeface="URW Gothic"/>
            </a:endParaRPr>
          </a:p>
          <a:p>
            <a:pPr marL="12700" marR="5080" indent="263525">
              <a:lnSpc>
                <a:spcPts val="3420"/>
              </a:lnSpc>
              <a:spcBef>
                <a:spcPts val="460"/>
              </a:spcBef>
            </a:pPr>
            <a:r>
              <a:rPr sz="3100" spc="-10" dirty="0">
                <a:solidFill>
                  <a:srgbClr val="FFFFFF"/>
                </a:solidFill>
                <a:latin typeface="URW Gothic"/>
                <a:cs typeface="URW Gothic"/>
              </a:rPr>
              <a:t>Indirect  </a:t>
            </a:r>
            <a:r>
              <a:rPr sz="3100" spc="-5" dirty="0">
                <a:solidFill>
                  <a:srgbClr val="FFFFFF"/>
                </a:solidFill>
                <a:latin typeface="URW Gothic"/>
                <a:cs typeface="URW Gothic"/>
              </a:rPr>
              <a:t>Approach</a:t>
            </a:r>
            <a:endParaRPr sz="3100" dirty="0">
              <a:latin typeface="URW Gothic"/>
              <a:cs typeface="URW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7"/>
          <p:cNvGrpSpPr/>
          <p:nvPr/>
        </p:nvGrpSpPr>
        <p:grpSpPr>
          <a:xfrm>
            <a:off x="2133600" y="2665476"/>
            <a:ext cx="7954645" cy="2544445"/>
            <a:chOff x="2133600" y="2665476"/>
            <a:chExt cx="7954645" cy="2544445"/>
          </a:xfrm>
        </p:grpSpPr>
        <p:sp>
          <p:nvSpPr>
            <p:cNvPr id="8" name="object 8"/>
            <p:cNvSpPr/>
            <p:nvPr/>
          </p:nvSpPr>
          <p:spPr>
            <a:xfrm>
              <a:off x="2153411" y="2685288"/>
              <a:ext cx="2650998" cy="2524506"/>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2263139" y="2712720"/>
              <a:ext cx="2430017" cy="2484881"/>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133600" y="2665476"/>
              <a:ext cx="2641600" cy="2514600"/>
            </a:xfrm>
            <a:custGeom>
              <a:avLst/>
              <a:gdLst/>
              <a:ahLst/>
              <a:cxnLst/>
              <a:rect l="l" t="t" r="r" b="b"/>
              <a:pathLst>
                <a:path w="2641600" h="2514600">
                  <a:moveTo>
                    <a:pt x="2641092" y="0"/>
                  </a:moveTo>
                  <a:lnTo>
                    <a:pt x="0" y="0"/>
                  </a:lnTo>
                  <a:lnTo>
                    <a:pt x="0" y="2514600"/>
                  </a:lnTo>
                  <a:lnTo>
                    <a:pt x="2641092" y="2514600"/>
                  </a:lnTo>
                  <a:lnTo>
                    <a:pt x="2641092" y="0"/>
                  </a:lnTo>
                  <a:close/>
                </a:path>
              </a:pathLst>
            </a:custGeom>
            <a:solidFill>
              <a:srgbClr val="FFFFFF"/>
            </a:solidFill>
          </p:spPr>
          <p:txBody>
            <a:bodyPr wrap="square" lIns="0" tIns="0" rIns="0" bIns="0" rtlCol="0"/>
            <a:lstStyle/>
            <a:p>
              <a:endParaRPr/>
            </a:p>
          </p:txBody>
        </p:sp>
        <p:sp>
          <p:nvSpPr>
            <p:cNvPr id="11" name="object 11"/>
            <p:cNvSpPr/>
            <p:nvPr/>
          </p:nvSpPr>
          <p:spPr>
            <a:xfrm>
              <a:off x="4794504" y="2685288"/>
              <a:ext cx="2652522" cy="2524506"/>
            </a:xfrm>
            <a:prstGeom prst="rect">
              <a:avLst/>
            </a:prstGeom>
            <a:blipFill>
              <a:blip r:embed="rId4" cstate="print"/>
              <a:stretch>
                <a:fillRect/>
              </a:stretch>
            </a:blipFill>
          </p:spPr>
          <p:txBody>
            <a:bodyPr wrap="square" lIns="0" tIns="0" rIns="0" bIns="0" rtlCol="0"/>
            <a:lstStyle/>
            <a:p>
              <a:endParaRPr/>
            </a:p>
          </p:txBody>
        </p:sp>
        <p:sp>
          <p:nvSpPr>
            <p:cNvPr id="12" name="object 12"/>
            <p:cNvSpPr/>
            <p:nvPr/>
          </p:nvSpPr>
          <p:spPr>
            <a:xfrm>
              <a:off x="5029200" y="2712720"/>
              <a:ext cx="2181605" cy="2484881"/>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4774692" y="2665476"/>
              <a:ext cx="2642870" cy="2514600"/>
            </a:xfrm>
            <a:custGeom>
              <a:avLst/>
              <a:gdLst/>
              <a:ahLst/>
              <a:cxnLst/>
              <a:rect l="l" t="t" r="r" b="b"/>
              <a:pathLst>
                <a:path w="2642870" h="2514600">
                  <a:moveTo>
                    <a:pt x="2642616" y="0"/>
                  </a:moveTo>
                  <a:lnTo>
                    <a:pt x="0" y="0"/>
                  </a:lnTo>
                  <a:lnTo>
                    <a:pt x="0" y="2514600"/>
                  </a:lnTo>
                  <a:lnTo>
                    <a:pt x="2642616" y="2514600"/>
                  </a:lnTo>
                  <a:lnTo>
                    <a:pt x="2642616" y="0"/>
                  </a:lnTo>
                  <a:close/>
                </a:path>
              </a:pathLst>
            </a:custGeom>
            <a:solidFill>
              <a:srgbClr val="FFFFFF"/>
            </a:solidFill>
          </p:spPr>
          <p:txBody>
            <a:bodyPr wrap="square" lIns="0" tIns="0" rIns="0" bIns="0" rtlCol="0"/>
            <a:lstStyle/>
            <a:p>
              <a:endParaRPr/>
            </a:p>
          </p:txBody>
        </p:sp>
        <p:sp>
          <p:nvSpPr>
            <p:cNvPr id="14" name="object 14"/>
            <p:cNvSpPr/>
            <p:nvPr/>
          </p:nvSpPr>
          <p:spPr>
            <a:xfrm>
              <a:off x="7437120" y="2685288"/>
              <a:ext cx="2650998" cy="2524506"/>
            </a:xfrm>
            <a:prstGeom prst="rect">
              <a:avLst/>
            </a:prstGeom>
            <a:blipFill>
              <a:blip r:embed="rId2" cstate="print"/>
              <a:stretch>
                <a:fillRect/>
              </a:stretch>
            </a:blipFill>
          </p:spPr>
          <p:txBody>
            <a:bodyPr wrap="square" lIns="0" tIns="0" rIns="0" bIns="0" rtlCol="0"/>
            <a:lstStyle/>
            <a:p>
              <a:endParaRPr/>
            </a:p>
          </p:txBody>
        </p:sp>
        <p:sp>
          <p:nvSpPr>
            <p:cNvPr id="15" name="object 15"/>
            <p:cNvSpPr/>
            <p:nvPr/>
          </p:nvSpPr>
          <p:spPr>
            <a:xfrm>
              <a:off x="7684008" y="2712720"/>
              <a:ext cx="2157222" cy="2484881"/>
            </a:xfrm>
            <a:prstGeom prst="rect">
              <a:avLst/>
            </a:prstGeom>
            <a:blipFill>
              <a:blip r:embed="rId6" cstate="print"/>
              <a:stretch>
                <a:fillRect/>
              </a:stretch>
            </a:blipFill>
          </p:spPr>
          <p:txBody>
            <a:bodyPr wrap="square" lIns="0" tIns="0" rIns="0" bIns="0" rtlCol="0"/>
            <a:lstStyle/>
            <a:p>
              <a:endParaRPr/>
            </a:p>
          </p:txBody>
        </p:sp>
        <p:sp>
          <p:nvSpPr>
            <p:cNvPr id="16" name="object 16"/>
            <p:cNvSpPr/>
            <p:nvPr/>
          </p:nvSpPr>
          <p:spPr>
            <a:xfrm>
              <a:off x="7417308" y="2665476"/>
              <a:ext cx="2641600" cy="2514600"/>
            </a:xfrm>
            <a:custGeom>
              <a:avLst/>
              <a:gdLst/>
              <a:ahLst/>
              <a:cxnLst/>
              <a:rect l="l" t="t" r="r" b="b"/>
              <a:pathLst>
                <a:path w="2641600" h="2514600">
                  <a:moveTo>
                    <a:pt x="2641092" y="0"/>
                  </a:moveTo>
                  <a:lnTo>
                    <a:pt x="0" y="0"/>
                  </a:lnTo>
                  <a:lnTo>
                    <a:pt x="0" y="2514600"/>
                  </a:lnTo>
                  <a:lnTo>
                    <a:pt x="2641092" y="2514600"/>
                  </a:lnTo>
                  <a:lnTo>
                    <a:pt x="2641092" y="0"/>
                  </a:lnTo>
                  <a:close/>
                </a:path>
              </a:pathLst>
            </a:custGeom>
            <a:solidFill>
              <a:srgbClr val="FFFFFF"/>
            </a:solidFill>
          </p:spPr>
          <p:txBody>
            <a:bodyPr wrap="square" lIns="0" tIns="0" rIns="0" bIns="0" rtlCol="0"/>
            <a:lstStyle/>
            <a:p>
              <a:endParaRPr/>
            </a:p>
          </p:txBody>
        </p:sp>
      </p:grpSp>
      <p:grpSp>
        <p:nvGrpSpPr>
          <p:cNvPr id="17" name="object 17"/>
          <p:cNvGrpSpPr/>
          <p:nvPr/>
        </p:nvGrpSpPr>
        <p:grpSpPr>
          <a:xfrm>
            <a:off x="2133600" y="1981200"/>
            <a:ext cx="7924800" cy="396240"/>
            <a:chOff x="2133600" y="1981200"/>
            <a:chExt cx="7924800" cy="396240"/>
          </a:xfrm>
        </p:grpSpPr>
        <p:sp>
          <p:nvSpPr>
            <p:cNvPr id="18" name="object 18"/>
            <p:cNvSpPr/>
            <p:nvPr/>
          </p:nvSpPr>
          <p:spPr>
            <a:xfrm>
              <a:off x="2133600" y="2095500"/>
              <a:ext cx="7924800" cy="228600"/>
            </a:xfrm>
            <a:custGeom>
              <a:avLst/>
              <a:gdLst/>
              <a:ahLst/>
              <a:cxnLst/>
              <a:rect l="l" t="t" r="r" b="b"/>
              <a:pathLst>
                <a:path w="7924800" h="228600">
                  <a:moveTo>
                    <a:pt x="7696200" y="0"/>
                  </a:moveTo>
                  <a:lnTo>
                    <a:pt x="7696200" y="228600"/>
                  </a:lnTo>
                  <a:lnTo>
                    <a:pt x="7848600" y="152400"/>
                  </a:lnTo>
                  <a:lnTo>
                    <a:pt x="7734300" y="152400"/>
                  </a:lnTo>
                  <a:lnTo>
                    <a:pt x="7734300" y="76200"/>
                  </a:lnTo>
                  <a:lnTo>
                    <a:pt x="7848600" y="76200"/>
                  </a:lnTo>
                  <a:lnTo>
                    <a:pt x="7696200" y="0"/>
                  </a:lnTo>
                  <a:close/>
                </a:path>
                <a:path w="7924800" h="228600">
                  <a:moveTo>
                    <a:pt x="7696200" y="76200"/>
                  </a:moveTo>
                  <a:lnTo>
                    <a:pt x="0" y="76200"/>
                  </a:lnTo>
                  <a:lnTo>
                    <a:pt x="0" y="152400"/>
                  </a:lnTo>
                  <a:lnTo>
                    <a:pt x="7696200" y="152400"/>
                  </a:lnTo>
                  <a:lnTo>
                    <a:pt x="7696200" y="76200"/>
                  </a:lnTo>
                  <a:close/>
                </a:path>
                <a:path w="7924800" h="228600">
                  <a:moveTo>
                    <a:pt x="7848600" y="76200"/>
                  </a:moveTo>
                  <a:lnTo>
                    <a:pt x="7734300" y="76200"/>
                  </a:lnTo>
                  <a:lnTo>
                    <a:pt x="7734300" y="152400"/>
                  </a:lnTo>
                  <a:lnTo>
                    <a:pt x="7848600" y="152400"/>
                  </a:lnTo>
                  <a:lnTo>
                    <a:pt x="7924800" y="114300"/>
                  </a:lnTo>
                  <a:lnTo>
                    <a:pt x="7848600" y="76200"/>
                  </a:lnTo>
                  <a:close/>
                </a:path>
              </a:pathLst>
            </a:custGeom>
            <a:solidFill>
              <a:srgbClr val="000000"/>
            </a:solidFill>
          </p:spPr>
          <p:txBody>
            <a:bodyPr wrap="square" lIns="0" tIns="0" rIns="0" bIns="0" rtlCol="0"/>
            <a:lstStyle/>
            <a:p>
              <a:endParaRPr/>
            </a:p>
          </p:txBody>
        </p:sp>
        <p:sp>
          <p:nvSpPr>
            <p:cNvPr id="19" name="object 19"/>
            <p:cNvSpPr/>
            <p:nvPr/>
          </p:nvSpPr>
          <p:spPr>
            <a:xfrm>
              <a:off x="4724400" y="1981200"/>
              <a:ext cx="2665730" cy="396240"/>
            </a:xfrm>
            <a:custGeom>
              <a:avLst/>
              <a:gdLst/>
              <a:ahLst/>
              <a:cxnLst/>
              <a:rect l="l" t="t" r="r" b="b"/>
              <a:pathLst>
                <a:path w="2665729" h="396239">
                  <a:moveTo>
                    <a:pt x="2665476" y="0"/>
                  </a:moveTo>
                  <a:lnTo>
                    <a:pt x="0" y="0"/>
                  </a:lnTo>
                  <a:lnTo>
                    <a:pt x="0" y="396239"/>
                  </a:lnTo>
                  <a:lnTo>
                    <a:pt x="2665476" y="396239"/>
                  </a:lnTo>
                  <a:lnTo>
                    <a:pt x="2665476" y="0"/>
                  </a:lnTo>
                  <a:close/>
                </a:path>
              </a:pathLst>
            </a:custGeom>
            <a:solidFill>
              <a:srgbClr val="FFFFFF"/>
            </a:solidFill>
          </p:spPr>
          <p:txBody>
            <a:bodyPr wrap="square" lIns="0" tIns="0" rIns="0" bIns="0" rtlCol="0"/>
            <a:lstStyle/>
            <a:p>
              <a:endParaRPr/>
            </a:p>
          </p:txBody>
        </p:sp>
      </p:grpSp>
      <p:sp>
        <p:nvSpPr>
          <p:cNvPr id="20" name="object 20"/>
          <p:cNvSpPr txBox="1"/>
          <p:nvPr/>
        </p:nvSpPr>
        <p:spPr>
          <a:xfrm>
            <a:off x="4803775" y="2007235"/>
            <a:ext cx="2508250" cy="330835"/>
          </a:xfrm>
          <a:prstGeom prst="rect">
            <a:avLst/>
          </a:prstGeom>
        </p:spPr>
        <p:txBody>
          <a:bodyPr vert="horz" wrap="square" lIns="0" tIns="13335" rIns="0" bIns="0" rtlCol="0">
            <a:spAutoFit/>
          </a:bodyPr>
          <a:lstStyle/>
          <a:p>
            <a:pPr marL="12700">
              <a:lnSpc>
                <a:spcPct val="100000"/>
              </a:lnSpc>
              <a:spcBef>
                <a:spcPts val="105"/>
              </a:spcBef>
            </a:pPr>
            <a:r>
              <a:rPr sz="2000" b="1" spc="-5" dirty="0">
                <a:latin typeface="Arial" panose="020B0604020202090204"/>
                <a:cs typeface="Arial" panose="020B0604020202090204"/>
              </a:rPr>
              <a:t>Flow </a:t>
            </a:r>
            <a:r>
              <a:rPr sz="2000" b="1" dirty="0">
                <a:latin typeface="Arial" panose="020B0604020202090204"/>
                <a:cs typeface="Arial" panose="020B0604020202090204"/>
              </a:rPr>
              <a:t>of the</a:t>
            </a:r>
            <a:r>
              <a:rPr sz="2000" b="1" spc="-100" dirty="0">
                <a:latin typeface="Arial" panose="020B0604020202090204"/>
                <a:cs typeface="Arial" panose="020B0604020202090204"/>
              </a:rPr>
              <a:t> </a:t>
            </a:r>
            <a:r>
              <a:rPr sz="2000" b="1" dirty="0">
                <a:latin typeface="Arial" panose="020B0604020202090204"/>
                <a:cs typeface="Arial" panose="020B0604020202090204"/>
              </a:rPr>
              <a:t>Message</a:t>
            </a:r>
            <a:endParaRPr sz="2000" dirty="0">
              <a:latin typeface="Arial" panose="020B0604020202090204"/>
              <a:cs typeface="Arial" panose="020B0604020202090204"/>
            </a:endParaRPr>
          </a:p>
        </p:txBody>
      </p:sp>
      <p:sp>
        <p:nvSpPr>
          <p:cNvPr id="21" name="object 21"/>
          <p:cNvSpPr/>
          <p:nvPr/>
        </p:nvSpPr>
        <p:spPr>
          <a:xfrm>
            <a:off x="4419600" y="5410200"/>
            <a:ext cx="3374390" cy="396240"/>
          </a:xfrm>
          <a:custGeom>
            <a:avLst/>
            <a:gdLst/>
            <a:ahLst/>
            <a:cxnLst/>
            <a:rect l="l" t="t" r="r" b="b"/>
            <a:pathLst>
              <a:path w="3374390" h="396239">
                <a:moveTo>
                  <a:pt x="3374136" y="0"/>
                </a:moveTo>
                <a:lnTo>
                  <a:pt x="0" y="0"/>
                </a:lnTo>
                <a:lnTo>
                  <a:pt x="0" y="396240"/>
                </a:lnTo>
                <a:lnTo>
                  <a:pt x="3374136" y="396240"/>
                </a:lnTo>
                <a:lnTo>
                  <a:pt x="3374136" y="0"/>
                </a:lnTo>
                <a:close/>
              </a:path>
            </a:pathLst>
          </a:custGeom>
          <a:solidFill>
            <a:srgbClr val="FFFFFF"/>
          </a:solidFill>
        </p:spPr>
        <p:txBody>
          <a:bodyPr wrap="square" lIns="0" tIns="0" rIns="0" bIns="0" rtlCol="0"/>
          <a:lstStyle/>
          <a:p>
            <a:endParaRPr/>
          </a:p>
        </p:txBody>
      </p:sp>
      <p:graphicFrame>
        <p:nvGraphicFramePr>
          <p:cNvPr id="22" name="object 22"/>
          <p:cNvGraphicFramePr>
            <a:graphicFrameLocks noGrp="1"/>
          </p:cNvGraphicFramePr>
          <p:nvPr/>
        </p:nvGraphicFramePr>
        <p:xfrm>
          <a:off x="2095500" y="2660904"/>
          <a:ext cx="7925435" cy="2978214"/>
        </p:xfrm>
        <a:graphic>
          <a:graphicData uri="http://schemas.openxmlformats.org/drawingml/2006/table">
            <a:tbl>
              <a:tblPr firstRow="1" bandRow="1">
                <a:tableStyleId>{2D5ABB26-0587-4C30-8999-92F81FD0307C}</a:tableStyleId>
              </a:tblPr>
              <a:tblGrid>
                <a:gridCol w="1321435">
                  <a:extLst>
                    <a:ext uri="{9D8B030D-6E8A-4147-A177-3AD203B41FA5}">
                      <a16:colId xmlns:a16="http://schemas.microsoft.com/office/drawing/2014/main" val="20000"/>
                    </a:ext>
                  </a:extLst>
                </a:gridCol>
                <a:gridCol w="1320165">
                  <a:extLst>
                    <a:ext uri="{9D8B030D-6E8A-4147-A177-3AD203B41FA5}">
                      <a16:colId xmlns:a16="http://schemas.microsoft.com/office/drawing/2014/main" val="20001"/>
                    </a:ext>
                  </a:extLst>
                </a:gridCol>
                <a:gridCol w="2642870">
                  <a:extLst>
                    <a:ext uri="{9D8B030D-6E8A-4147-A177-3AD203B41FA5}">
                      <a16:colId xmlns:a16="http://schemas.microsoft.com/office/drawing/2014/main" val="20002"/>
                    </a:ext>
                  </a:extLst>
                </a:gridCol>
                <a:gridCol w="1320800">
                  <a:extLst>
                    <a:ext uri="{9D8B030D-6E8A-4147-A177-3AD203B41FA5}">
                      <a16:colId xmlns:a16="http://schemas.microsoft.com/office/drawing/2014/main" val="20003"/>
                    </a:ext>
                  </a:extLst>
                </a:gridCol>
                <a:gridCol w="1320165">
                  <a:extLst>
                    <a:ext uri="{9D8B030D-6E8A-4147-A177-3AD203B41FA5}">
                      <a16:colId xmlns:a16="http://schemas.microsoft.com/office/drawing/2014/main" val="20004"/>
                    </a:ext>
                  </a:extLst>
                </a:gridCol>
              </a:tblGrid>
              <a:tr h="2514600">
                <a:tc gridSpan="2">
                  <a:txBody>
                    <a:bodyPr/>
                    <a:lstStyle/>
                    <a:p>
                      <a:pPr marL="1270" algn="ctr">
                        <a:lnSpc>
                          <a:spcPct val="100000"/>
                        </a:lnSpc>
                        <a:spcBef>
                          <a:spcPts val="1050"/>
                        </a:spcBef>
                      </a:pPr>
                      <a:r>
                        <a:rPr sz="2400" b="1" dirty="0">
                          <a:latin typeface="Arial" panose="020B0604020202090204"/>
                          <a:cs typeface="Arial" panose="020B0604020202090204"/>
                        </a:rPr>
                        <a:t>Bad</a:t>
                      </a:r>
                      <a:r>
                        <a:rPr sz="2400" b="1" spc="-45" dirty="0">
                          <a:latin typeface="Arial" panose="020B0604020202090204"/>
                          <a:cs typeface="Arial" panose="020B0604020202090204"/>
                        </a:rPr>
                        <a:t> </a:t>
                      </a:r>
                      <a:r>
                        <a:rPr sz="2400" b="1" dirty="0">
                          <a:latin typeface="Arial" panose="020B0604020202090204"/>
                          <a:cs typeface="Arial" panose="020B0604020202090204"/>
                        </a:rPr>
                        <a:t>News</a:t>
                      </a:r>
                      <a:r>
                        <a:rPr lang="en-US" sz="2400" b="1" dirty="0">
                          <a:latin typeface="Arial" panose="020B0604020202090204"/>
                          <a:cs typeface="Arial" panose="020B0604020202090204"/>
                        </a:rPr>
                        <a:t> (P)</a:t>
                      </a:r>
                      <a:endParaRPr sz="2400" dirty="0">
                        <a:latin typeface="Arial" panose="020B0604020202090204"/>
                        <a:cs typeface="Arial" panose="020B0604020202090204"/>
                      </a:endParaRPr>
                    </a:p>
                    <a:p>
                      <a:pPr>
                        <a:lnSpc>
                          <a:spcPct val="100000"/>
                        </a:lnSpc>
                      </a:pPr>
                      <a:endParaRPr sz="3600" dirty="0">
                        <a:latin typeface="Times New Roman" panose="02020503050405090304"/>
                        <a:cs typeface="Times New Roman" panose="02020503050405090304"/>
                      </a:endParaRPr>
                    </a:p>
                    <a:p>
                      <a:pPr>
                        <a:lnSpc>
                          <a:spcPct val="100000"/>
                        </a:lnSpc>
                      </a:pPr>
                      <a:endParaRPr sz="3600" dirty="0">
                        <a:latin typeface="Times New Roman" panose="02020503050405090304"/>
                        <a:cs typeface="Times New Roman" panose="02020503050405090304"/>
                      </a:endParaRPr>
                    </a:p>
                    <a:p>
                      <a:pPr>
                        <a:lnSpc>
                          <a:spcPct val="100000"/>
                        </a:lnSpc>
                        <a:spcBef>
                          <a:spcPts val="15"/>
                        </a:spcBef>
                      </a:pPr>
                      <a:endParaRPr sz="2850" dirty="0">
                        <a:latin typeface="Times New Roman" panose="02020503050405090304"/>
                        <a:cs typeface="Times New Roman" panose="02020503050405090304"/>
                      </a:endParaRPr>
                    </a:p>
                    <a:p>
                      <a:pPr marL="1270" algn="ctr">
                        <a:lnSpc>
                          <a:spcPct val="100000"/>
                        </a:lnSpc>
                      </a:pPr>
                      <a:r>
                        <a:rPr sz="1800" b="1" i="1" spc="-5" dirty="0">
                          <a:latin typeface="Arial" panose="020B0604020202090204"/>
                          <a:cs typeface="Arial" panose="020B0604020202090204"/>
                        </a:rPr>
                        <a:t>Step</a:t>
                      </a:r>
                      <a:r>
                        <a:rPr sz="1800" b="1" i="1" dirty="0">
                          <a:latin typeface="Arial" panose="020B0604020202090204"/>
                          <a:cs typeface="Arial" panose="020B0604020202090204"/>
                        </a:rPr>
                        <a:t> </a:t>
                      </a:r>
                      <a:r>
                        <a:rPr sz="1800" b="1" i="1" spc="-5" dirty="0">
                          <a:latin typeface="Arial" panose="020B0604020202090204"/>
                          <a:cs typeface="Arial" panose="020B0604020202090204"/>
                        </a:rPr>
                        <a:t>1</a:t>
                      </a:r>
                      <a:endParaRPr sz="1800" dirty="0">
                        <a:latin typeface="Arial" panose="020B0604020202090204"/>
                        <a:cs typeface="Arial" panose="020B0604020202090204"/>
                      </a:endParaRPr>
                    </a:p>
                  </a:txBody>
                  <a:tcPr marL="0" marR="0" marT="13335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hMerge="1">
                  <a:txBody>
                    <a:bodyPr/>
                    <a:lstStyle/>
                    <a:p>
                      <a:endParaRPr lang="en-US"/>
                    </a:p>
                  </a:txBody>
                  <a:tcPr marL="0" marR="0" marT="0" marB="0"/>
                </a:tc>
                <a:tc>
                  <a:txBody>
                    <a:bodyPr/>
                    <a:lstStyle/>
                    <a:p>
                      <a:pPr marL="3175" algn="ctr">
                        <a:lnSpc>
                          <a:spcPct val="100000"/>
                        </a:lnSpc>
                        <a:spcBef>
                          <a:spcPts val="1050"/>
                        </a:spcBef>
                      </a:pPr>
                      <a:r>
                        <a:rPr sz="2400" b="1" spc="-5" dirty="0">
                          <a:latin typeface="Arial" panose="020B0604020202090204"/>
                          <a:cs typeface="Arial" panose="020B0604020202090204"/>
                        </a:rPr>
                        <a:t>Reasons</a:t>
                      </a:r>
                      <a:r>
                        <a:rPr lang="en-US" sz="2400" b="1" spc="-5" dirty="0">
                          <a:latin typeface="Arial" panose="020B0604020202090204"/>
                          <a:cs typeface="Arial" panose="020B0604020202090204"/>
                        </a:rPr>
                        <a:t> (D)</a:t>
                      </a:r>
                      <a:endParaRPr sz="2400" dirty="0">
                        <a:latin typeface="Arial" panose="020B0604020202090204"/>
                        <a:cs typeface="Arial" panose="020B0604020202090204"/>
                      </a:endParaRPr>
                    </a:p>
                    <a:p>
                      <a:pPr>
                        <a:lnSpc>
                          <a:spcPct val="100000"/>
                        </a:lnSpc>
                      </a:pPr>
                      <a:endParaRPr sz="3600" dirty="0">
                        <a:latin typeface="Times New Roman" panose="02020503050405090304"/>
                        <a:cs typeface="Times New Roman" panose="02020503050405090304"/>
                      </a:endParaRPr>
                    </a:p>
                    <a:p>
                      <a:pPr>
                        <a:lnSpc>
                          <a:spcPct val="100000"/>
                        </a:lnSpc>
                      </a:pPr>
                      <a:endParaRPr sz="3600" dirty="0">
                        <a:latin typeface="Times New Roman" panose="02020503050405090304"/>
                        <a:cs typeface="Times New Roman" panose="02020503050405090304"/>
                      </a:endParaRPr>
                    </a:p>
                    <a:p>
                      <a:pPr>
                        <a:lnSpc>
                          <a:spcPct val="100000"/>
                        </a:lnSpc>
                        <a:spcBef>
                          <a:spcPts val="15"/>
                        </a:spcBef>
                      </a:pPr>
                      <a:endParaRPr sz="2850" dirty="0">
                        <a:latin typeface="Times New Roman" panose="02020503050405090304"/>
                        <a:cs typeface="Times New Roman" panose="02020503050405090304"/>
                      </a:endParaRPr>
                    </a:p>
                    <a:p>
                      <a:pPr marL="635" algn="ctr">
                        <a:lnSpc>
                          <a:spcPct val="100000"/>
                        </a:lnSpc>
                      </a:pPr>
                      <a:r>
                        <a:rPr sz="1800" b="1" i="1" spc="-5" dirty="0">
                          <a:latin typeface="Arial" panose="020B0604020202090204"/>
                          <a:cs typeface="Arial" panose="020B0604020202090204"/>
                        </a:rPr>
                        <a:t>Step 2</a:t>
                      </a:r>
                      <a:endParaRPr sz="1800" dirty="0">
                        <a:latin typeface="Arial" panose="020B0604020202090204"/>
                        <a:cs typeface="Arial" panose="020B0604020202090204"/>
                      </a:endParaRPr>
                    </a:p>
                  </a:txBody>
                  <a:tcPr marL="0" marR="0" marT="13335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gridSpan="2">
                  <a:txBody>
                    <a:bodyPr/>
                    <a:lstStyle/>
                    <a:p>
                      <a:pPr marL="767715" marR="587375" indent="-280670" algn="l">
                        <a:lnSpc>
                          <a:spcPct val="100000"/>
                        </a:lnSpc>
                        <a:spcBef>
                          <a:spcPts val="1050"/>
                        </a:spcBef>
                      </a:pPr>
                      <a:r>
                        <a:rPr sz="2400" b="1" dirty="0">
                          <a:latin typeface="Arial" panose="020B0604020202090204"/>
                          <a:cs typeface="Arial" panose="020B0604020202090204"/>
                        </a:rPr>
                        <a:t>Po</a:t>
                      </a:r>
                      <a:r>
                        <a:rPr lang="en-US" sz="2400" b="1" spc="-15" dirty="0">
                          <a:latin typeface="Arial" panose="020B0604020202090204"/>
                          <a:cs typeface="Arial" panose="020B0604020202090204"/>
                        </a:rPr>
                        <a:t>lite</a:t>
                      </a:r>
                      <a:r>
                        <a:rPr lang="en-US" sz="2400" b="1" spc="0" baseline="0" dirty="0">
                          <a:latin typeface="Arial" panose="020B0604020202090204"/>
                          <a:cs typeface="Arial" panose="020B0604020202090204"/>
                        </a:rPr>
                        <a:t> </a:t>
                      </a:r>
                      <a:r>
                        <a:rPr sz="2400" b="1" dirty="0">
                          <a:latin typeface="Arial" panose="020B0604020202090204"/>
                          <a:cs typeface="Arial" panose="020B0604020202090204"/>
                        </a:rPr>
                        <a:t>Close</a:t>
                      </a:r>
                      <a:r>
                        <a:rPr lang="en-US" sz="2400" b="1" dirty="0">
                          <a:latin typeface="Arial" panose="020B0604020202090204"/>
                          <a:cs typeface="Arial" panose="020B0604020202090204"/>
                        </a:rPr>
                        <a:t>(A)</a:t>
                      </a:r>
                      <a:endParaRPr sz="2400" dirty="0">
                        <a:latin typeface="Arial" panose="020B0604020202090204"/>
                        <a:cs typeface="Arial" panose="020B0604020202090204"/>
                      </a:endParaRPr>
                    </a:p>
                    <a:p>
                      <a:pPr algn="ctr">
                        <a:lnSpc>
                          <a:spcPct val="100000"/>
                        </a:lnSpc>
                      </a:pPr>
                      <a:endParaRPr sz="3600" dirty="0">
                        <a:latin typeface="Times New Roman" panose="02020503050405090304"/>
                        <a:cs typeface="Times New Roman" panose="02020503050405090304"/>
                      </a:endParaRPr>
                    </a:p>
                    <a:p>
                      <a:pPr>
                        <a:lnSpc>
                          <a:spcPct val="100000"/>
                        </a:lnSpc>
                        <a:spcBef>
                          <a:spcPts val="25"/>
                        </a:spcBef>
                      </a:pPr>
                      <a:endParaRPr sz="3100" dirty="0">
                        <a:latin typeface="Times New Roman" panose="02020503050405090304"/>
                        <a:cs typeface="Times New Roman" panose="02020503050405090304"/>
                      </a:endParaRPr>
                    </a:p>
                    <a:p>
                      <a:pPr marL="635" algn="ctr">
                        <a:lnSpc>
                          <a:spcPct val="100000"/>
                        </a:lnSpc>
                      </a:pPr>
                      <a:r>
                        <a:rPr sz="1800" b="1" i="1" spc="-5" dirty="0">
                          <a:latin typeface="Arial" panose="020B0604020202090204"/>
                          <a:cs typeface="Arial" panose="020B0604020202090204"/>
                        </a:rPr>
                        <a:t>Step 3</a:t>
                      </a:r>
                      <a:endParaRPr sz="1800" dirty="0">
                        <a:latin typeface="Arial" panose="020B0604020202090204"/>
                        <a:cs typeface="Arial" panose="020B0604020202090204"/>
                      </a:endParaRPr>
                    </a:p>
                  </a:txBody>
                  <a:tcPr marL="0" marR="0" marT="13335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hMerge="1">
                  <a:txBody>
                    <a:bodyPr/>
                    <a:lstStyle/>
                    <a:p>
                      <a:endParaRPr lang="en-US"/>
                    </a:p>
                  </a:txBody>
                  <a:tcPr marL="0" marR="0" marT="0" marB="0"/>
                </a:tc>
                <a:extLst>
                  <a:ext uri="{0D108BD9-81ED-4DB2-BD59-A6C34878D82A}">
                    <a16:rowId xmlns:a16="http://schemas.microsoft.com/office/drawing/2014/main" val="10000"/>
                  </a:ext>
                </a:extLst>
              </a:tr>
              <a:tr h="453885">
                <a:tc>
                  <a:txBody>
                    <a:bodyPr/>
                    <a:lstStyle/>
                    <a:p>
                      <a:pPr>
                        <a:lnSpc>
                          <a:spcPct val="100000"/>
                        </a:lnSpc>
                      </a:pPr>
                      <a:endParaRPr sz="2600">
                        <a:latin typeface="Times New Roman" panose="02020503050405090304"/>
                        <a:cs typeface="Times New Roman" panose="02020503050405090304"/>
                      </a:endParaRPr>
                    </a:p>
                  </a:txBody>
                  <a:tcPr marL="0" marR="0" marT="0" marB="0">
                    <a:lnR w="76200">
                      <a:solidFill>
                        <a:srgbClr val="000000"/>
                      </a:solidFill>
                      <a:prstDash val="solid"/>
                    </a:lnR>
                    <a:lnT w="9525">
                      <a:solidFill>
                        <a:srgbClr val="000000"/>
                      </a:solidFill>
                      <a:prstDash val="solid"/>
                    </a:lnT>
                    <a:lnB w="76200">
                      <a:solidFill>
                        <a:srgbClr val="000000"/>
                      </a:solidFill>
                      <a:prstDash val="solid"/>
                    </a:lnB>
                  </a:tcPr>
                </a:tc>
                <a:tc gridSpan="3">
                  <a:txBody>
                    <a:bodyPr/>
                    <a:lstStyle/>
                    <a:p>
                      <a:pPr>
                        <a:lnSpc>
                          <a:spcPct val="100000"/>
                        </a:lnSpc>
                      </a:pPr>
                      <a:endParaRPr sz="1850" dirty="0">
                        <a:latin typeface="Times New Roman" panose="02020503050405090304"/>
                        <a:cs typeface="Times New Roman" panose="02020503050405090304"/>
                      </a:endParaRPr>
                    </a:p>
                    <a:p>
                      <a:pPr marL="21590" algn="ctr">
                        <a:lnSpc>
                          <a:spcPts val="1345"/>
                        </a:lnSpc>
                      </a:pPr>
                      <a:endParaRPr sz="2000" dirty="0">
                        <a:latin typeface="Arial" panose="020B0604020202090204"/>
                        <a:cs typeface="Arial" panose="020B0604020202090204"/>
                      </a:endParaRPr>
                    </a:p>
                  </a:txBody>
                  <a:tcPr marL="0" marR="0" marT="0" marB="0">
                    <a:lnL w="76200">
                      <a:solidFill>
                        <a:srgbClr val="000000"/>
                      </a:solidFill>
                      <a:prstDash val="solid"/>
                    </a:lnL>
                    <a:lnR w="76200">
                      <a:solidFill>
                        <a:srgbClr val="000000"/>
                      </a:solidFill>
                      <a:prstDash val="solid"/>
                    </a:lnR>
                    <a:lnT w="9525">
                      <a:solidFill>
                        <a:srgbClr val="000000"/>
                      </a:solidFill>
                      <a:prstDash val="solid"/>
                    </a:lnT>
                    <a:lnB w="76200">
                      <a:solidFill>
                        <a:srgbClr val="000000"/>
                      </a:solidFill>
                      <a:prstDash val="solid"/>
                    </a:lnB>
                  </a:tcPr>
                </a:tc>
                <a:tc hMerge="1">
                  <a:txBody>
                    <a:bodyPr/>
                    <a:lstStyle/>
                    <a:p>
                      <a:endParaRPr lang="en-US"/>
                    </a:p>
                  </a:txBody>
                  <a:tcPr marL="0" marR="0" marT="0" marB="0"/>
                </a:tc>
                <a:tc hMerge="1">
                  <a:txBody>
                    <a:bodyPr/>
                    <a:lstStyle/>
                    <a:p>
                      <a:endParaRPr lang="en-US"/>
                    </a:p>
                  </a:txBody>
                  <a:tcPr marL="0" marR="0" marT="0" marB="0"/>
                </a:tc>
                <a:tc>
                  <a:txBody>
                    <a:bodyPr/>
                    <a:lstStyle/>
                    <a:p>
                      <a:pPr>
                        <a:lnSpc>
                          <a:spcPct val="100000"/>
                        </a:lnSpc>
                      </a:pPr>
                      <a:endParaRPr sz="2600" dirty="0">
                        <a:latin typeface="Times New Roman" panose="02020503050405090304"/>
                        <a:cs typeface="Times New Roman" panose="02020503050405090304"/>
                      </a:endParaRPr>
                    </a:p>
                  </a:txBody>
                  <a:tcPr marL="0" marR="0" marT="0" marB="0">
                    <a:lnL w="76200">
                      <a:solidFill>
                        <a:srgbClr val="000000"/>
                      </a:solidFill>
                      <a:prstDash val="solid"/>
                    </a:lnL>
                    <a:lnT w="9525">
                      <a:solidFill>
                        <a:srgbClr val="000000"/>
                      </a:solidFill>
                      <a:prstDash val="solid"/>
                    </a:lnT>
                    <a:lnB w="76200">
                      <a:solidFill>
                        <a:srgbClr val="000000"/>
                      </a:solidFill>
                      <a:prstDash val="solid"/>
                    </a:lnB>
                  </a:tcPr>
                </a:tc>
                <a:extLst>
                  <a:ext uri="{0D108BD9-81ED-4DB2-BD59-A6C34878D82A}">
                    <a16:rowId xmlns:a16="http://schemas.microsoft.com/office/drawing/2014/main" val="10001"/>
                  </a:ext>
                </a:extLst>
              </a:tr>
            </a:tbl>
          </a:graphicData>
        </a:graphic>
      </p:graphicFrame>
      <p:sp>
        <p:nvSpPr>
          <p:cNvPr id="23" name="Title 22"/>
          <p:cNvSpPr>
            <a:spLocks noGrp="1"/>
          </p:cNvSpPr>
          <p:nvPr>
            <p:ph type="title"/>
          </p:nvPr>
        </p:nvSpPr>
        <p:spPr>
          <a:xfrm>
            <a:off x="2890773" y="326816"/>
            <a:ext cx="6432044" cy="1231106"/>
          </a:xfrm>
        </p:spPr>
        <p:txBody>
          <a:bodyPr/>
          <a:lstStyle/>
          <a:p>
            <a:r>
              <a:rPr lang="en-US" b="1" dirty="0">
                <a:latin typeface="Cambria" panose="02040503050406030204" pitchFamily="18" charset="0"/>
                <a:ea typeface="Cambria" panose="02040503050406030204" pitchFamily="18" charset="0"/>
              </a:rPr>
              <a:t>THE DIRECT APPROACH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7"/>
          <p:cNvGrpSpPr/>
          <p:nvPr/>
        </p:nvGrpSpPr>
        <p:grpSpPr>
          <a:xfrm>
            <a:off x="2133600" y="2667000"/>
            <a:ext cx="7980680" cy="2544445"/>
            <a:chOff x="2133600" y="2667000"/>
            <a:chExt cx="7980680" cy="2544445"/>
          </a:xfrm>
        </p:grpSpPr>
        <p:sp>
          <p:nvSpPr>
            <p:cNvPr id="8" name="object 8"/>
            <p:cNvSpPr/>
            <p:nvPr/>
          </p:nvSpPr>
          <p:spPr>
            <a:xfrm>
              <a:off x="2153411" y="2686811"/>
              <a:ext cx="1991106" cy="2524506"/>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2133600" y="2667000"/>
              <a:ext cx="1981200" cy="2514600"/>
            </a:xfrm>
            <a:custGeom>
              <a:avLst/>
              <a:gdLst/>
              <a:ahLst/>
              <a:cxnLst/>
              <a:rect l="l" t="t" r="r" b="b"/>
              <a:pathLst>
                <a:path w="1981200" h="2514600">
                  <a:moveTo>
                    <a:pt x="1981200" y="0"/>
                  </a:moveTo>
                  <a:lnTo>
                    <a:pt x="0" y="0"/>
                  </a:lnTo>
                  <a:lnTo>
                    <a:pt x="0" y="2514600"/>
                  </a:lnTo>
                  <a:lnTo>
                    <a:pt x="1981200" y="2514600"/>
                  </a:lnTo>
                  <a:lnTo>
                    <a:pt x="1981200" y="0"/>
                  </a:lnTo>
                  <a:close/>
                </a:path>
              </a:pathLst>
            </a:custGeom>
            <a:solidFill>
              <a:srgbClr val="FFFFFF"/>
            </a:solidFill>
          </p:spPr>
          <p:txBody>
            <a:bodyPr wrap="square" lIns="0" tIns="0" rIns="0" bIns="0" rtlCol="0"/>
            <a:lstStyle/>
            <a:p>
              <a:endParaRPr/>
            </a:p>
          </p:txBody>
        </p:sp>
        <p:sp>
          <p:nvSpPr>
            <p:cNvPr id="10" name="object 10"/>
            <p:cNvSpPr/>
            <p:nvPr/>
          </p:nvSpPr>
          <p:spPr>
            <a:xfrm>
              <a:off x="4134611" y="2686811"/>
              <a:ext cx="1991106" cy="2524506"/>
            </a:xfrm>
            <a:prstGeom prst="rect">
              <a:avLst/>
            </a:prstGeom>
            <a:blipFill>
              <a:blip r:embed="rId2" cstate="print"/>
              <a:stretch>
                <a:fillRect/>
              </a:stretch>
            </a:blipFill>
          </p:spPr>
          <p:txBody>
            <a:bodyPr wrap="square" lIns="0" tIns="0" rIns="0" bIns="0" rtlCol="0"/>
            <a:lstStyle/>
            <a:p>
              <a:endParaRPr/>
            </a:p>
          </p:txBody>
        </p:sp>
        <p:sp>
          <p:nvSpPr>
            <p:cNvPr id="11" name="object 11"/>
            <p:cNvSpPr/>
            <p:nvPr/>
          </p:nvSpPr>
          <p:spPr>
            <a:xfrm>
              <a:off x="4038600" y="2775204"/>
              <a:ext cx="2181605" cy="2362962"/>
            </a:xfrm>
            <a:prstGeom prst="rect">
              <a:avLst/>
            </a:prstGeom>
            <a:blipFill>
              <a:blip r:embed="rId3" cstate="print"/>
              <a:stretch>
                <a:fillRect/>
              </a:stretch>
            </a:blipFill>
          </p:spPr>
          <p:txBody>
            <a:bodyPr wrap="square" lIns="0" tIns="0" rIns="0" bIns="0" rtlCol="0"/>
            <a:lstStyle/>
            <a:p>
              <a:endParaRPr/>
            </a:p>
          </p:txBody>
        </p:sp>
        <p:sp>
          <p:nvSpPr>
            <p:cNvPr id="12" name="object 12"/>
            <p:cNvSpPr/>
            <p:nvPr/>
          </p:nvSpPr>
          <p:spPr>
            <a:xfrm>
              <a:off x="4114800" y="2667000"/>
              <a:ext cx="1981200" cy="2514600"/>
            </a:xfrm>
            <a:custGeom>
              <a:avLst/>
              <a:gdLst/>
              <a:ahLst/>
              <a:cxnLst/>
              <a:rect l="l" t="t" r="r" b="b"/>
              <a:pathLst>
                <a:path w="1981200" h="2514600">
                  <a:moveTo>
                    <a:pt x="1981200" y="0"/>
                  </a:moveTo>
                  <a:lnTo>
                    <a:pt x="0" y="0"/>
                  </a:lnTo>
                  <a:lnTo>
                    <a:pt x="0" y="2514600"/>
                  </a:lnTo>
                  <a:lnTo>
                    <a:pt x="1981200" y="2514600"/>
                  </a:lnTo>
                  <a:lnTo>
                    <a:pt x="1981200" y="0"/>
                  </a:lnTo>
                  <a:close/>
                </a:path>
              </a:pathLst>
            </a:custGeom>
            <a:solidFill>
              <a:srgbClr val="FFFFFF"/>
            </a:solidFill>
          </p:spPr>
          <p:txBody>
            <a:bodyPr wrap="square" lIns="0" tIns="0" rIns="0" bIns="0" rtlCol="0"/>
            <a:lstStyle/>
            <a:p>
              <a:endParaRPr/>
            </a:p>
          </p:txBody>
        </p:sp>
        <p:sp>
          <p:nvSpPr>
            <p:cNvPr id="13" name="object 13"/>
            <p:cNvSpPr/>
            <p:nvPr/>
          </p:nvSpPr>
          <p:spPr>
            <a:xfrm>
              <a:off x="6115811" y="2686811"/>
              <a:ext cx="1991106" cy="2524506"/>
            </a:xfrm>
            <a:prstGeom prst="rect">
              <a:avLst/>
            </a:prstGeom>
            <a:blipFill>
              <a:blip r:embed="rId2" cstate="print"/>
              <a:stretch>
                <a:fillRect/>
              </a:stretch>
            </a:blipFill>
          </p:spPr>
          <p:txBody>
            <a:bodyPr wrap="square" lIns="0" tIns="0" rIns="0" bIns="0" rtlCol="0"/>
            <a:lstStyle/>
            <a:p>
              <a:endParaRPr/>
            </a:p>
          </p:txBody>
        </p:sp>
        <p:sp>
          <p:nvSpPr>
            <p:cNvPr id="14" name="object 14"/>
            <p:cNvSpPr/>
            <p:nvPr/>
          </p:nvSpPr>
          <p:spPr>
            <a:xfrm>
              <a:off x="6096000" y="2667000"/>
              <a:ext cx="1981200" cy="2514600"/>
            </a:xfrm>
            <a:custGeom>
              <a:avLst/>
              <a:gdLst/>
              <a:ahLst/>
              <a:cxnLst/>
              <a:rect l="l" t="t" r="r" b="b"/>
              <a:pathLst>
                <a:path w="1981200" h="2514600">
                  <a:moveTo>
                    <a:pt x="1981200" y="0"/>
                  </a:moveTo>
                  <a:lnTo>
                    <a:pt x="0" y="0"/>
                  </a:lnTo>
                  <a:lnTo>
                    <a:pt x="0" y="2514600"/>
                  </a:lnTo>
                  <a:lnTo>
                    <a:pt x="1981200" y="2514600"/>
                  </a:lnTo>
                  <a:lnTo>
                    <a:pt x="1981200" y="0"/>
                  </a:lnTo>
                  <a:close/>
                </a:path>
              </a:pathLst>
            </a:custGeom>
            <a:solidFill>
              <a:srgbClr val="FFFFFF"/>
            </a:solidFill>
          </p:spPr>
          <p:txBody>
            <a:bodyPr wrap="square" lIns="0" tIns="0" rIns="0" bIns="0" rtlCol="0"/>
            <a:lstStyle/>
            <a:p>
              <a:endParaRPr/>
            </a:p>
          </p:txBody>
        </p:sp>
        <p:sp>
          <p:nvSpPr>
            <p:cNvPr id="15" name="object 15"/>
            <p:cNvSpPr/>
            <p:nvPr/>
          </p:nvSpPr>
          <p:spPr>
            <a:xfrm>
              <a:off x="8097011" y="2686811"/>
              <a:ext cx="1991105" cy="2524506"/>
            </a:xfrm>
            <a:prstGeom prst="rect">
              <a:avLst/>
            </a:prstGeom>
            <a:blipFill>
              <a:blip r:embed="rId2" cstate="print"/>
              <a:stretch>
                <a:fillRect/>
              </a:stretch>
            </a:blipFill>
          </p:spPr>
          <p:txBody>
            <a:bodyPr wrap="square" lIns="0" tIns="0" rIns="0" bIns="0" rtlCol="0"/>
            <a:lstStyle/>
            <a:p>
              <a:endParaRPr/>
            </a:p>
          </p:txBody>
        </p:sp>
        <p:sp>
          <p:nvSpPr>
            <p:cNvPr id="16" name="object 16"/>
            <p:cNvSpPr/>
            <p:nvPr/>
          </p:nvSpPr>
          <p:spPr>
            <a:xfrm>
              <a:off x="8068055" y="2744723"/>
              <a:ext cx="2045970" cy="2423922"/>
            </a:xfrm>
            <a:prstGeom prst="rect">
              <a:avLst/>
            </a:prstGeom>
            <a:blipFill>
              <a:blip r:embed="rId4" cstate="print"/>
              <a:stretch>
                <a:fillRect/>
              </a:stretch>
            </a:blipFill>
          </p:spPr>
          <p:txBody>
            <a:bodyPr wrap="square" lIns="0" tIns="0" rIns="0" bIns="0" rtlCol="0"/>
            <a:lstStyle/>
            <a:p>
              <a:endParaRPr/>
            </a:p>
          </p:txBody>
        </p:sp>
      </p:grpSp>
      <p:sp>
        <p:nvSpPr>
          <p:cNvPr id="17" name="object 17"/>
          <p:cNvSpPr/>
          <p:nvPr/>
        </p:nvSpPr>
        <p:spPr>
          <a:xfrm>
            <a:off x="8077200" y="2667000"/>
            <a:ext cx="1981200" cy="2514600"/>
          </a:xfrm>
          <a:custGeom>
            <a:avLst/>
            <a:gdLst/>
            <a:ahLst/>
            <a:cxnLst/>
            <a:rect l="l" t="t" r="r" b="b"/>
            <a:pathLst>
              <a:path w="1981200" h="2514600">
                <a:moveTo>
                  <a:pt x="1981200" y="0"/>
                </a:moveTo>
                <a:lnTo>
                  <a:pt x="0" y="0"/>
                </a:lnTo>
                <a:lnTo>
                  <a:pt x="0" y="2514600"/>
                </a:lnTo>
                <a:lnTo>
                  <a:pt x="1981200" y="2514600"/>
                </a:lnTo>
                <a:lnTo>
                  <a:pt x="1981200" y="0"/>
                </a:lnTo>
                <a:close/>
              </a:path>
            </a:pathLst>
          </a:custGeom>
          <a:solidFill>
            <a:srgbClr val="FFFFFF"/>
          </a:solidFill>
        </p:spPr>
        <p:txBody>
          <a:bodyPr wrap="square" lIns="0" tIns="0" rIns="0" bIns="0" rtlCol="0"/>
          <a:lstStyle/>
          <a:p>
            <a:endParaRPr/>
          </a:p>
        </p:txBody>
      </p:sp>
      <p:graphicFrame>
        <p:nvGraphicFramePr>
          <p:cNvPr id="18" name="object 18"/>
          <p:cNvGraphicFramePr>
            <a:graphicFrameLocks noGrp="1"/>
          </p:cNvGraphicFramePr>
          <p:nvPr/>
        </p:nvGraphicFramePr>
        <p:xfrm>
          <a:off x="2095500" y="2662427"/>
          <a:ext cx="7924800" cy="2932239"/>
        </p:xfrm>
        <a:graphic>
          <a:graphicData uri="http://schemas.openxmlformats.org/drawingml/2006/table">
            <a:tbl>
              <a:tblPr firstRow="1" bandRow="1">
                <a:tableStyleId>{2D5ABB26-0587-4C30-8999-92F81FD0307C}</a:tableStyleId>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gridCol w="19812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990600">
                  <a:extLst>
                    <a:ext uri="{9D8B030D-6E8A-4147-A177-3AD203B41FA5}">
                      <a16:colId xmlns:a16="http://schemas.microsoft.com/office/drawing/2014/main" val="20005"/>
                    </a:ext>
                  </a:extLst>
                </a:gridCol>
              </a:tblGrid>
              <a:tr h="2514600">
                <a:tc gridSpan="2">
                  <a:txBody>
                    <a:bodyPr/>
                    <a:lstStyle/>
                    <a:p>
                      <a:pPr algn="ctr">
                        <a:lnSpc>
                          <a:spcPct val="100000"/>
                        </a:lnSpc>
                        <a:spcBef>
                          <a:spcPts val="1775"/>
                        </a:spcBef>
                      </a:pPr>
                      <a:r>
                        <a:rPr sz="3200" b="1" dirty="0">
                          <a:latin typeface="Arial" panose="020B0604020202090204"/>
                          <a:cs typeface="Arial" panose="020B0604020202090204"/>
                        </a:rPr>
                        <a:t>Buffer</a:t>
                      </a:r>
                      <a:endParaRPr sz="3200">
                        <a:latin typeface="Arial" panose="020B0604020202090204"/>
                        <a:cs typeface="Arial" panose="020B0604020202090204"/>
                      </a:endParaRPr>
                    </a:p>
                    <a:p>
                      <a:pPr>
                        <a:lnSpc>
                          <a:spcPct val="100000"/>
                        </a:lnSpc>
                      </a:pPr>
                      <a:endParaRPr sz="3600">
                        <a:latin typeface="Times New Roman" panose="02020503050405090304"/>
                        <a:cs typeface="Times New Roman" panose="02020503050405090304"/>
                      </a:endParaRPr>
                    </a:p>
                    <a:p>
                      <a:pPr>
                        <a:lnSpc>
                          <a:spcPct val="100000"/>
                        </a:lnSpc>
                        <a:spcBef>
                          <a:spcPts val="5"/>
                        </a:spcBef>
                      </a:pPr>
                      <a:endParaRPr sz="5200">
                        <a:latin typeface="Times New Roman" panose="02020503050405090304"/>
                        <a:cs typeface="Times New Roman" panose="02020503050405090304"/>
                      </a:endParaRPr>
                    </a:p>
                    <a:p>
                      <a:pPr algn="ctr">
                        <a:lnSpc>
                          <a:spcPct val="100000"/>
                        </a:lnSpc>
                      </a:pPr>
                      <a:r>
                        <a:rPr sz="1800" b="1" i="1" spc="-5" dirty="0">
                          <a:latin typeface="Arial" panose="020B0604020202090204"/>
                          <a:cs typeface="Arial" panose="020B0604020202090204"/>
                        </a:rPr>
                        <a:t>Step 1</a:t>
                      </a:r>
                      <a:endParaRPr sz="1800">
                        <a:latin typeface="Arial" panose="020B0604020202090204"/>
                        <a:cs typeface="Arial" panose="020B0604020202090204"/>
                      </a:endParaRPr>
                    </a:p>
                  </a:txBody>
                  <a:tcPr marL="0" marR="0" marT="22542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hMerge="1">
                  <a:txBody>
                    <a:bodyPr/>
                    <a:lstStyle/>
                    <a:p>
                      <a:endParaRPr lang="en-US"/>
                    </a:p>
                  </a:txBody>
                  <a:tcPr marL="0" marR="0" marT="0" marB="0"/>
                </a:tc>
                <a:tc>
                  <a:txBody>
                    <a:bodyPr/>
                    <a:lstStyle/>
                    <a:p>
                      <a:pPr marL="1905" algn="ctr">
                        <a:lnSpc>
                          <a:spcPct val="100000"/>
                        </a:lnSpc>
                        <a:spcBef>
                          <a:spcPts val="1535"/>
                        </a:spcBef>
                      </a:pPr>
                      <a:r>
                        <a:rPr sz="3200" b="1" spc="-5" dirty="0">
                          <a:latin typeface="Arial" panose="020B0604020202090204"/>
                          <a:cs typeface="Arial" panose="020B0604020202090204"/>
                        </a:rPr>
                        <a:t>Reasons</a:t>
                      </a:r>
                      <a:endParaRPr sz="3200">
                        <a:latin typeface="Arial" panose="020B0604020202090204"/>
                        <a:cs typeface="Arial" panose="020B0604020202090204"/>
                      </a:endParaRPr>
                    </a:p>
                    <a:p>
                      <a:pPr>
                        <a:lnSpc>
                          <a:spcPct val="100000"/>
                        </a:lnSpc>
                      </a:pPr>
                      <a:endParaRPr sz="3600">
                        <a:latin typeface="Times New Roman" panose="02020503050405090304"/>
                        <a:cs typeface="Times New Roman" panose="02020503050405090304"/>
                      </a:endParaRPr>
                    </a:p>
                    <a:p>
                      <a:pPr>
                        <a:lnSpc>
                          <a:spcPct val="100000"/>
                        </a:lnSpc>
                      </a:pPr>
                      <a:endParaRPr sz="3600">
                        <a:latin typeface="Times New Roman" panose="02020503050405090304"/>
                        <a:cs typeface="Times New Roman" panose="02020503050405090304"/>
                      </a:endParaRPr>
                    </a:p>
                    <a:p>
                      <a:pPr algn="ctr">
                        <a:lnSpc>
                          <a:spcPct val="100000"/>
                        </a:lnSpc>
                        <a:spcBef>
                          <a:spcPts val="2325"/>
                        </a:spcBef>
                      </a:pPr>
                      <a:r>
                        <a:rPr sz="1800" b="1" i="1" spc="-5" dirty="0">
                          <a:latin typeface="Arial" panose="020B0604020202090204"/>
                          <a:cs typeface="Arial" panose="020B0604020202090204"/>
                        </a:rPr>
                        <a:t>Step</a:t>
                      </a:r>
                      <a:r>
                        <a:rPr sz="1800" b="1" i="1" spc="-10" dirty="0">
                          <a:latin typeface="Arial" panose="020B0604020202090204"/>
                          <a:cs typeface="Arial" panose="020B0604020202090204"/>
                        </a:rPr>
                        <a:t> </a:t>
                      </a:r>
                      <a:r>
                        <a:rPr sz="1800" b="1" i="1" spc="-5" dirty="0">
                          <a:latin typeface="Arial" panose="020B0604020202090204"/>
                          <a:cs typeface="Arial" panose="020B0604020202090204"/>
                        </a:rPr>
                        <a:t>2</a:t>
                      </a:r>
                      <a:endParaRPr sz="1800">
                        <a:latin typeface="Arial" panose="020B0604020202090204"/>
                        <a:cs typeface="Arial" panose="020B0604020202090204"/>
                      </a:endParaRPr>
                    </a:p>
                  </a:txBody>
                  <a:tcPr marL="0" marR="0" marT="19494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459740" marR="450215" indent="-1905" algn="ctr">
                        <a:lnSpc>
                          <a:spcPct val="100000"/>
                        </a:lnSpc>
                        <a:spcBef>
                          <a:spcPts val="1295"/>
                        </a:spcBef>
                      </a:pPr>
                      <a:r>
                        <a:rPr sz="3200" b="1" dirty="0">
                          <a:latin typeface="Arial" panose="020B0604020202090204"/>
                          <a:cs typeface="Arial" panose="020B0604020202090204"/>
                        </a:rPr>
                        <a:t>Bad  News</a:t>
                      </a:r>
                      <a:endParaRPr sz="3200">
                        <a:latin typeface="Arial" panose="020B0604020202090204"/>
                        <a:cs typeface="Arial" panose="020B0604020202090204"/>
                      </a:endParaRPr>
                    </a:p>
                    <a:p>
                      <a:pPr>
                        <a:lnSpc>
                          <a:spcPct val="100000"/>
                        </a:lnSpc>
                      </a:pPr>
                      <a:endParaRPr sz="3600">
                        <a:latin typeface="Times New Roman" panose="02020503050405090304"/>
                        <a:cs typeface="Times New Roman" panose="02020503050405090304"/>
                      </a:endParaRPr>
                    </a:p>
                    <a:p>
                      <a:pPr algn="ctr">
                        <a:lnSpc>
                          <a:spcPct val="100000"/>
                        </a:lnSpc>
                        <a:spcBef>
                          <a:spcPts val="3105"/>
                        </a:spcBef>
                      </a:pPr>
                      <a:r>
                        <a:rPr sz="1800" b="1" i="1" spc="-5" dirty="0">
                          <a:latin typeface="Arial" panose="020B0604020202090204"/>
                          <a:cs typeface="Arial" panose="020B0604020202090204"/>
                        </a:rPr>
                        <a:t>Step</a:t>
                      </a:r>
                      <a:r>
                        <a:rPr sz="1800" b="1" i="1" spc="-80" dirty="0">
                          <a:latin typeface="Arial" panose="020B0604020202090204"/>
                          <a:cs typeface="Arial" panose="020B0604020202090204"/>
                        </a:rPr>
                        <a:t> </a:t>
                      </a:r>
                      <a:r>
                        <a:rPr sz="1800" b="1" i="1" spc="-5" dirty="0">
                          <a:latin typeface="Arial" panose="020B0604020202090204"/>
                          <a:cs typeface="Arial" panose="020B0604020202090204"/>
                        </a:rPr>
                        <a:t>3</a:t>
                      </a:r>
                      <a:endParaRPr sz="1800">
                        <a:latin typeface="Arial" panose="020B0604020202090204"/>
                        <a:cs typeface="Arial" panose="020B0604020202090204"/>
                      </a:endParaRPr>
                    </a:p>
                  </a:txBody>
                  <a:tcPr marL="0" marR="0" marT="16446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gridSpan="2">
                  <a:txBody>
                    <a:bodyPr/>
                    <a:lstStyle/>
                    <a:p>
                      <a:pPr marL="211455" marR="201930" algn="ctr">
                        <a:lnSpc>
                          <a:spcPct val="100000"/>
                        </a:lnSpc>
                        <a:spcBef>
                          <a:spcPts val="1295"/>
                        </a:spcBef>
                      </a:pPr>
                      <a:r>
                        <a:rPr sz="3200" b="1" dirty="0">
                          <a:latin typeface="Arial" panose="020B0604020202090204"/>
                          <a:cs typeface="Arial" panose="020B0604020202090204"/>
                        </a:rPr>
                        <a:t>Pos</a:t>
                      </a:r>
                      <a:r>
                        <a:rPr sz="3200" b="1" spc="-10" dirty="0">
                          <a:latin typeface="Arial" panose="020B0604020202090204"/>
                          <a:cs typeface="Arial" panose="020B0604020202090204"/>
                        </a:rPr>
                        <a:t>i</a:t>
                      </a:r>
                      <a:r>
                        <a:rPr sz="3200" b="1" dirty="0">
                          <a:latin typeface="Arial" panose="020B0604020202090204"/>
                          <a:cs typeface="Arial" panose="020B0604020202090204"/>
                        </a:rPr>
                        <a:t>tive  Close</a:t>
                      </a:r>
                      <a:endParaRPr sz="3200">
                        <a:latin typeface="Arial" panose="020B0604020202090204"/>
                        <a:cs typeface="Arial" panose="020B0604020202090204"/>
                      </a:endParaRPr>
                    </a:p>
                    <a:p>
                      <a:pPr>
                        <a:lnSpc>
                          <a:spcPct val="100000"/>
                        </a:lnSpc>
                      </a:pPr>
                      <a:endParaRPr sz="3600">
                        <a:latin typeface="Times New Roman" panose="02020503050405090304"/>
                        <a:cs typeface="Times New Roman" panose="02020503050405090304"/>
                      </a:endParaRPr>
                    </a:p>
                    <a:p>
                      <a:pPr marL="635" algn="ctr">
                        <a:lnSpc>
                          <a:spcPct val="100000"/>
                        </a:lnSpc>
                        <a:spcBef>
                          <a:spcPts val="3105"/>
                        </a:spcBef>
                      </a:pPr>
                      <a:r>
                        <a:rPr sz="1800" b="1" i="1" spc="-5" dirty="0">
                          <a:latin typeface="Arial" panose="020B0604020202090204"/>
                          <a:cs typeface="Arial" panose="020B0604020202090204"/>
                        </a:rPr>
                        <a:t>Step</a:t>
                      </a:r>
                      <a:r>
                        <a:rPr sz="1800" b="1" i="1" spc="-10" dirty="0">
                          <a:latin typeface="Arial" panose="020B0604020202090204"/>
                          <a:cs typeface="Arial" panose="020B0604020202090204"/>
                        </a:rPr>
                        <a:t> </a:t>
                      </a:r>
                      <a:r>
                        <a:rPr sz="1800" b="1" i="1" spc="-5" dirty="0">
                          <a:latin typeface="Arial" panose="020B0604020202090204"/>
                          <a:cs typeface="Arial" panose="020B0604020202090204"/>
                        </a:rPr>
                        <a:t>4</a:t>
                      </a:r>
                      <a:endParaRPr sz="1800">
                        <a:latin typeface="Arial" panose="020B0604020202090204"/>
                        <a:cs typeface="Arial" panose="020B0604020202090204"/>
                      </a:endParaRPr>
                    </a:p>
                  </a:txBody>
                  <a:tcPr marL="0" marR="0" marT="164465"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hMerge="1">
                  <a:txBody>
                    <a:bodyPr/>
                    <a:lstStyle/>
                    <a:p>
                      <a:endParaRPr lang="en-US"/>
                    </a:p>
                  </a:txBody>
                  <a:tcPr marL="0" marR="0" marT="0" marB="0"/>
                </a:tc>
                <a:extLst>
                  <a:ext uri="{0D108BD9-81ED-4DB2-BD59-A6C34878D82A}">
                    <a16:rowId xmlns:a16="http://schemas.microsoft.com/office/drawing/2014/main" val="10000"/>
                  </a:ext>
                </a:extLst>
              </a:tr>
              <a:tr h="417639">
                <a:tc>
                  <a:txBody>
                    <a:bodyPr/>
                    <a:lstStyle/>
                    <a:p>
                      <a:pPr>
                        <a:lnSpc>
                          <a:spcPct val="100000"/>
                        </a:lnSpc>
                      </a:pPr>
                      <a:endParaRPr sz="2600">
                        <a:latin typeface="Times New Roman" panose="02020503050405090304"/>
                        <a:cs typeface="Times New Roman" panose="02020503050405090304"/>
                      </a:endParaRPr>
                    </a:p>
                  </a:txBody>
                  <a:tcPr marL="0" marR="0" marT="0" marB="0">
                    <a:lnR w="76200">
                      <a:solidFill>
                        <a:srgbClr val="000000"/>
                      </a:solidFill>
                      <a:prstDash val="solid"/>
                    </a:lnR>
                    <a:lnT w="9525">
                      <a:solidFill>
                        <a:srgbClr val="000000"/>
                      </a:solidFill>
                      <a:prstDash val="solid"/>
                    </a:lnT>
                    <a:lnB w="76200">
                      <a:solidFill>
                        <a:srgbClr val="000000"/>
                      </a:solidFill>
                      <a:prstDash val="solid"/>
                    </a:lnB>
                  </a:tcPr>
                </a:tc>
                <a:tc gridSpan="4">
                  <a:txBody>
                    <a:bodyPr/>
                    <a:lstStyle/>
                    <a:p>
                      <a:pPr>
                        <a:lnSpc>
                          <a:spcPct val="100000"/>
                        </a:lnSpc>
                      </a:pPr>
                      <a:endParaRPr sz="2600">
                        <a:latin typeface="Times New Roman" panose="02020503050405090304"/>
                        <a:cs typeface="Times New Roman" panose="02020503050405090304"/>
                      </a:endParaRPr>
                    </a:p>
                  </a:txBody>
                  <a:tcPr marL="0" marR="0" marT="0" marB="0">
                    <a:lnL w="76200">
                      <a:solidFill>
                        <a:srgbClr val="000000"/>
                      </a:solidFill>
                      <a:prstDash val="solid"/>
                    </a:lnL>
                    <a:lnR w="76200">
                      <a:solidFill>
                        <a:srgbClr val="000000"/>
                      </a:solidFill>
                      <a:prstDash val="solid"/>
                    </a:lnR>
                    <a:lnT w="9525">
                      <a:solidFill>
                        <a:srgbClr val="000000"/>
                      </a:solidFill>
                      <a:prstDash val="solid"/>
                    </a:lnT>
                    <a:lnB w="76200">
                      <a:solidFill>
                        <a:srgbClr val="000000"/>
                      </a:solidFill>
                      <a:prstDash val="solid"/>
                    </a:lnB>
                  </a:tcPr>
                </a:tc>
                <a:tc hMerge="1">
                  <a:txBody>
                    <a:bodyPr/>
                    <a:lstStyle/>
                    <a:p>
                      <a:endParaRPr lang="en-US"/>
                    </a:p>
                  </a:txBody>
                  <a:tcPr marL="0" marR="0" marT="0" marB="0"/>
                </a:tc>
                <a:tc hMerge="1">
                  <a:txBody>
                    <a:bodyPr/>
                    <a:lstStyle/>
                    <a:p>
                      <a:endParaRPr lang="en-US"/>
                    </a:p>
                  </a:txBody>
                  <a:tcPr marL="0" marR="0" marT="0" marB="0"/>
                </a:tc>
                <a:tc hMerge="1">
                  <a:txBody>
                    <a:bodyPr/>
                    <a:lstStyle/>
                    <a:p>
                      <a:endParaRPr lang="en-US"/>
                    </a:p>
                  </a:txBody>
                  <a:tcPr marL="0" marR="0" marT="0" marB="0"/>
                </a:tc>
                <a:tc>
                  <a:txBody>
                    <a:bodyPr/>
                    <a:lstStyle/>
                    <a:p>
                      <a:pPr>
                        <a:lnSpc>
                          <a:spcPct val="100000"/>
                        </a:lnSpc>
                      </a:pPr>
                      <a:endParaRPr sz="2600">
                        <a:latin typeface="Times New Roman" panose="02020503050405090304"/>
                        <a:cs typeface="Times New Roman" panose="02020503050405090304"/>
                      </a:endParaRPr>
                    </a:p>
                  </a:txBody>
                  <a:tcPr marL="0" marR="0" marT="0" marB="0">
                    <a:lnL w="76200">
                      <a:solidFill>
                        <a:srgbClr val="000000"/>
                      </a:solidFill>
                      <a:prstDash val="solid"/>
                    </a:lnL>
                    <a:lnT w="9525">
                      <a:solidFill>
                        <a:srgbClr val="000000"/>
                      </a:solidFill>
                      <a:prstDash val="solid"/>
                    </a:lnT>
                    <a:lnB w="76200">
                      <a:solidFill>
                        <a:srgbClr val="000000"/>
                      </a:solidFill>
                      <a:prstDash val="solid"/>
                    </a:lnB>
                  </a:tcPr>
                </a:tc>
                <a:extLst>
                  <a:ext uri="{0D108BD9-81ED-4DB2-BD59-A6C34878D82A}">
                    <a16:rowId xmlns:a16="http://schemas.microsoft.com/office/drawing/2014/main" val="10001"/>
                  </a:ext>
                </a:extLst>
              </a:tr>
            </a:tbl>
          </a:graphicData>
        </a:graphic>
      </p:graphicFrame>
      <p:grpSp>
        <p:nvGrpSpPr>
          <p:cNvPr id="19" name="object 19"/>
          <p:cNvGrpSpPr/>
          <p:nvPr/>
        </p:nvGrpSpPr>
        <p:grpSpPr>
          <a:xfrm>
            <a:off x="2133600" y="2164079"/>
            <a:ext cx="7924800" cy="396240"/>
            <a:chOff x="2133600" y="2164079"/>
            <a:chExt cx="7924800" cy="396240"/>
          </a:xfrm>
        </p:grpSpPr>
        <p:sp>
          <p:nvSpPr>
            <p:cNvPr id="20" name="object 20"/>
            <p:cNvSpPr/>
            <p:nvPr/>
          </p:nvSpPr>
          <p:spPr>
            <a:xfrm>
              <a:off x="2133600" y="2263139"/>
              <a:ext cx="7924800" cy="228600"/>
            </a:xfrm>
            <a:custGeom>
              <a:avLst/>
              <a:gdLst/>
              <a:ahLst/>
              <a:cxnLst/>
              <a:rect l="l" t="t" r="r" b="b"/>
              <a:pathLst>
                <a:path w="7924800" h="228600">
                  <a:moveTo>
                    <a:pt x="7696200" y="0"/>
                  </a:moveTo>
                  <a:lnTo>
                    <a:pt x="7696200" y="228600"/>
                  </a:lnTo>
                  <a:lnTo>
                    <a:pt x="7848600" y="152400"/>
                  </a:lnTo>
                  <a:lnTo>
                    <a:pt x="7734300" y="152400"/>
                  </a:lnTo>
                  <a:lnTo>
                    <a:pt x="7734300" y="76200"/>
                  </a:lnTo>
                  <a:lnTo>
                    <a:pt x="7848600" y="76200"/>
                  </a:lnTo>
                  <a:lnTo>
                    <a:pt x="7696200" y="0"/>
                  </a:lnTo>
                  <a:close/>
                </a:path>
                <a:path w="7924800" h="228600">
                  <a:moveTo>
                    <a:pt x="7696200" y="76200"/>
                  </a:moveTo>
                  <a:lnTo>
                    <a:pt x="0" y="76200"/>
                  </a:lnTo>
                  <a:lnTo>
                    <a:pt x="0" y="152400"/>
                  </a:lnTo>
                  <a:lnTo>
                    <a:pt x="7696200" y="152400"/>
                  </a:lnTo>
                  <a:lnTo>
                    <a:pt x="7696200" y="76200"/>
                  </a:lnTo>
                  <a:close/>
                </a:path>
                <a:path w="7924800" h="228600">
                  <a:moveTo>
                    <a:pt x="7848600" y="76200"/>
                  </a:moveTo>
                  <a:lnTo>
                    <a:pt x="7734300" y="76200"/>
                  </a:lnTo>
                  <a:lnTo>
                    <a:pt x="7734300" y="152400"/>
                  </a:lnTo>
                  <a:lnTo>
                    <a:pt x="7848600" y="152400"/>
                  </a:lnTo>
                  <a:lnTo>
                    <a:pt x="7924800" y="114300"/>
                  </a:lnTo>
                  <a:lnTo>
                    <a:pt x="7848600" y="76200"/>
                  </a:lnTo>
                  <a:close/>
                </a:path>
              </a:pathLst>
            </a:custGeom>
            <a:solidFill>
              <a:srgbClr val="000000"/>
            </a:solidFill>
          </p:spPr>
          <p:txBody>
            <a:bodyPr wrap="square" lIns="0" tIns="0" rIns="0" bIns="0" rtlCol="0"/>
            <a:lstStyle/>
            <a:p>
              <a:endParaRPr/>
            </a:p>
          </p:txBody>
        </p:sp>
        <p:sp>
          <p:nvSpPr>
            <p:cNvPr id="21" name="object 21"/>
            <p:cNvSpPr/>
            <p:nvPr/>
          </p:nvSpPr>
          <p:spPr>
            <a:xfrm>
              <a:off x="4764023" y="2164079"/>
              <a:ext cx="2664460" cy="396240"/>
            </a:xfrm>
            <a:custGeom>
              <a:avLst/>
              <a:gdLst/>
              <a:ahLst/>
              <a:cxnLst/>
              <a:rect l="l" t="t" r="r" b="b"/>
              <a:pathLst>
                <a:path w="2664459" h="396239">
                  <a:moveTo>
                    <a:pt x="2663952" y="0"/>
                  </a:moveTo>
                  <a:lnTo>
                    <a:pt x="0" y="0"/>
                  </a:lnTo>
                  <a:lnTo>
                    <a:pt x="0" y="396239"/>
                  </a:lnTo>
                  <a:lnTo>
                    <a:pt x="2663952" y="396239"/>
                  </a:lnTo>
                  <a:lnTo>
                    <a:pt x="2663952" y="0"/>
                  </a:lnTo>
                  <a:close/>
                </a:path>
              </a:pathLst>
            </a:custGeom>
            <a:solidFill>
              <a:srgbClr val="FFFFFF"/>
            </a:solidFill>
          </p:spPr>
          <p:txBody>
            <a:bodyPr wrap="square" lIns="0" tIns="0" rIns="0" bIns="0" rtlCol="0"/>
            <a:lstStyle/>
            <a:p>
              <a:endParaRPr/>
            </a:p>
          </p:txBody>
        </p:sp>
      </p:grpSp>
      <p:sp>
        <p:nvSpPr>
          <p:cNvPr id="22" name="object 22"/>
          <p:cNvSpPr txBox="1"/>
          <p:nvPr/>
        </p:nvSpPr>
        <p:spPr>
          <a:xfrm>
            <a:off x="4842764" y="2189733"/>
            <a:ext cx="2508250" cy="330835"/>
          </a:xfrm>
          <a:prstGeom prst="rect">
            <a:avLst/>
          </a:prstGeom>
        </p:spPr>
        <p:txBody>
          <a:bodyPr vert="horz" wrap="square" lIns="0" tIns="13335" rIns="0" bIns="0" rtlCol="0">
            <a:spAutoFit/>
          </a:bodyPr>
          <a:lstStyle/>
          <a:p>
            <a:pPr marL="12700">
              <a:lnSpc>
                <a:spcPct val="100000"/>
              </a:lnSpc>
              <a:spcBef>
                <a:spcPts val="105"/>
              </a:spcBef>
            </a:pPr>
            <a:r>
              <a:rPr sz="2000" b="1" spc="-5" dirty="0">
                <a:latin typeface="Arial" panose="020B0604020202090204"/>
                <a:cs typeface="Arial" panose="020B0604020202090204"/>
              </a:rPr>
              <a:t>Flow </a:t>
            </a:r>
            <a:r>
              <a:rPr sz="2000" b="1" dirty="0">
                <a:latin typeface="Arial" panose="020B0604020202090204"/>
                <a:cs typeface="Arial" panose="020B0604020202090204"/>
              </a:rPr>
              <a:t>of the</a:t>
            </a:r>
            <a:r>
              <a:rPr sz="2000" b="1" spc="-100" dirty="0">
                <a:latin typeface="Arial" panose="020B0604020202090204"/>
                <a:cs typeface="Arial" panose="020B0604020202090204"/>
              </a:rPr>
              <a:t> </a:t>
            </a:r>
            <a:r>
              <a:rPr sz="2000" b="1" dirty="0">
                <a:latin typeface="Arial" panose="020B0604020202090204"/>
                <a:cs typeface="Arial" panose="020B0604020202090204"/>
              </a:rPr>
              <a:t>Message</a:t>
            </a:r>
            <a:endParaRPr sz="2000">
              <a:latin typeface="Arial" panose="020B0604020202090204"/>
              <a:cs typeface="Arial" panose="020B0604020202090204"/>
            </a:endParaRPr>
          </a:p>
        </p:txBody>
      </p:sp>
      <p:sp>
        <p:nvSpPr>
          <p:cNvPr id="23" name="object 23"/>
          <p:cNvSpPr/>
          <p:nvPr/>
        </p:nvSpPr>
        <p:spPr>
          <a:xfrm>
            <a:off x="4419600" y="5410200"/>
            <a:ext cx="3374390" cy="396240"/>
          </a:xfrm>
          <a:custGeom>
            <a:avLst/>
            <a:gdLst/>
            <a:ahLst/>
            <a:cxnLst/>
            <a:rect l="l" t="t" r="r" b="b"/>
            <a:pathLst>
              <a:path w="3374390" h="396239">
                <a:moveTo>
                  <a:pt x="3374136" y="0"/>
                </a:moveTo>
                <a:lnTo>
                  <a:pt x="0" y="0"/>
                </a:lnTo>
                <a:lnTo>
                  <a:pt x="0" y="396240"/>
                </a:lnTo>
                <a:lnTo>
                  <a:pt x="3374136" y="396240"/>
                </a:lnTo>
                <a:lnTo>
                  <a:pt x="3374136" y="0"/>
                </a:lnTo>
                <a:close/>
              </a:path>
            </a:pathLst>
          </a:custGeom>
          <a:solidFill>
            <a:srgbClr val="FFFFFF"/>
          </a:solidFill>
        </p:spPr>
        <p:txBody>
          <a:bodyPr wrap="square" lIns="0" tIns="0" rIns="0" bIns="0" rtlCol="0"/>
          <a:lstStyle/>
          <a:p>
            <a:endParaRPr/>
          </a:p>
        </p:txBody>
      </p:sp>
      <p:sp>
        <p:nvSpPr>
          <p:cNvPr id="25" name="Title 24"/>
          <p:cNvSpPr>
            <a:spLocks noGrp="1"/>
          </p:cNvSpPr>
          <p:nvPr>
            <p:ph type="title"/>
          </p:nvPr>
        </p:nvSpPr>
        <p:spPr>
          <a:xfrm>
            <a:off x="2438400" y="519907"/>
            <a:ext cx="6970777" cy="1231106"/>
          </a:xfrm>
        </p:spPr>
        <p:txBody>
          <a:bodyPr/>
          <a:lstStyle/>
          <a:p>
            <a:r>
              <a:rPr lang="en-US" b="1" dirty="0">
                <a:latin typeface="Cambria" panose="02040503050406030204" pitchFamily="18" charset="0"/>
                <a:ea typeface="Cambria" panose="02040503050406030204" pitchFamily="18" charset="0"/>
              </a:rPr>
              <a:t>THE INDIRECT APPROACH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09800" y="838200"/>
            <a:ext cx="6772910" cy="689291"/>
          </a:xfrm>
          <a:prstGeom prst="rect">
            <a:avLst/>
          </a:prstGeom>
        </p:spPr>
        <p:txBody>
          <a:bodyPr vert="horz" wrap="square" lIns="0" tIns="12065" rIns="0" bIns="0" rtlCol="0">
            <a:spAutoFit/>
          </a:bodyPr>
          <a:lstStyle/>
          <a:p>
            <a:pPr marL="12700">
              <a:lnSpc>
                <a:spcPct val="100000"/>
              </a:lnSpc>
              <a:spcBef>
                <a:spcPts val="95"/>
              </a:spcBef>
            </a:pPr>
            <a:r>
              <a:rPr b="1" spc="-5" dirty="0">
                <a:latin typeface="Cambria" panose="02040503050406030204" pitchFamily="18" charset="0"/>
                <a:ea typeface="Cambria" panose="02040503050406030204" pitchFamily="18" charset="0"/>
              </a:rPr>
              <a:t>THE DIRECT</a:t>
            </a:r>
            <a:r>
              <a:rPr b="1" spc="-35" dirty="0">
                <a:latin typeface="Cambria" panose="02040503050406030204" pitchFamily="18" charset="0"/>
                <a:ea typeface="Cambria" panose="02040503050406030204" pitchFamily="18" charset="0"/>
              </a:rPr>
              <a:t> </a:t>
            </a:r>
            <a:r>
              <a:rPr b="1" spc="-10" dirty="0">
                <a:latin typeface="Cambria" panose="02040503050406030204" pitchFamily="18" charset="0"/>
                <a:ea typeface="Cambria" panose="02040503050406030204" pitchFamily="18" charset="0"/>
              </a:rPr>
              <a:t>APPROACH</a:t>
            </a:r>
          </a:p>
        </p:txBody>
      </p:sp>
      <p:sp>
        <p:nvSpPr>
          <p:cNvPr id="3" name="object 3"/>
          <p:cNvSpPr txBox="1"/>
          <p:nvPr/>
        </p:nvSpPr>
        <p:spPr>
          <a:xfrm>
            <a:off x="1295400" y="2209800"/>
            <a:ext cx="9171305" cy="3523615"/>
          </a:xfrm>
          <a:prstGeom prst="rect">
            <a:avLst/>
          </a:prstGeom>
        </p:spPr>
        <p:txBody>
          <a:bodyPr vert="horz" wrap="square" lIns="0" tIns="49530" rIns="0" bIns="0" rtlCol="0">
            <a:spAutoFit/>
          </a:bodyPr>
          <a:lstStyle/>
          <a:p>
            <a:pPr marL="241300" marR="5080" indent="-229235">
              <a:lnSpc>
                <a:spcPts val="2380"/>
              </a:lnSpc>
              <a:spcBef>
                <a:spcPts val="390"/>
              </a:spcBef>
              <a:buFont typeface="Arial" panose="020B0604020202090204"/>
              <a:buChar char="•"/>
              <a:tabLst>
                <a:tab pos="241300" algn="l"/>
                <a:tab pos="241935" algn="l"/>
              </a:tabLst>
            </a:pPr>
            <a:r>
              <a:rPr lang="en-US" sz="2200" b="1" spc="-5" dirty="0">
                <a:latin typeface="Cambria" panose="02040503050406030204" pitchFamily="18" charset="0"/>
                <a:ea typeface="Cambria" panose="02040503050406030204" pitchFamily="18" charset="0"/>
                <a:cs typeface="Times New Roman" panose="02020503050405090304"/>
              </a:rPr>
              <a:t>If you need to highlight some issues to company/individual (complaint/claim)</a:t>
            </a:r>
          </a:p>
          <a:p>
            <a:pPr marL="12065" marR="5080">
              <a:lnSpc>
                <a:spcPts val="2380"/>
              </a:lnSpc>
              <a:spcBef>
                <a:spcPts val="390"/>
              </a:spcBef>
              <a:tabLst>
                <a:tab pos="241300" algn="l"/>
                <a:tab pos="241935" algn="l"/>
              </a:tabLst>
            </a:pPr>
            <a:endParaRPr lang="en-US" sz="2200" b="1" spc="-5" dirty="0">
              <a:latin typeface="Cambria" panose="02040503050406030204" pitchFamily="18" charset="0"/>
              <a:ea typeface="Cambria" panose="02040503050406030204" pitchFamily="18" charset="0"/>
              <a:cs typeface="Times New Roman" panose="02020503050405090304"/>
            </a:endParaRPr>
          </a:p>
          <a:p>
            <a:pPr marL="241300" marR="5080" indent="-229235">
              <a:lnSpc>
                <a:spcPts val="2380"/>
              </a:lnSpc>
              <a:spcBef>
                <a:spcPts val="390"/>
              </a:spcBef>
              <a:buFont typeface="Arial" panose="020B0604020202090204"/>
              <a:buChar char="•"/>
              <a:tabLst>
                <a:tab pos="241300" algn="l"/>
                <a:tab pos="241935" algn="l"/>
              </a:tabLst>
            </a:pPr>
            <a:r>
              <a:rPr lang="en-US" sz="2200" b="1" spc="-5" dirty="0">
                <a:latin typeface="Cambria" panose="02040503050406030204" pitchFamily="18" charset="0"/>
                <a:ea typeface="Cambria" panose="02040503050406030204" pitchFamily="18" charset="0"/>
                <a:cs typeface="Times New Roman" panose="02020503050405090304"/>
              </a:rPr>
              <a:t>If the negative news is </a:t>
            </a:r>
            <a:r>
              <a:rPr lang="en-US" sz="2200" b="1" u="sng" spc="-5" dirty="0">
                <a:latin typeface="Cambria" panose="02040503050406030204" pitchFamily="18" charset="0"/>
                <a:ea typeface="Cambria" panose="02040503050406030204" pitchFamily="18" charset="0"/>
                <a:cs typeface="Times New Roman" panose="02020503050405090304"/>
              </a:rPr>
              <a:t>urgent</a:t>
            </a:r>
            <a:r>
              <a:rPr lang="en-US" sz="2200" b="1" spc="-5" dirty="0">
                <a:latin typeface="Cambria" panose="02040503050406030204" pitchFamily="18" charset="0"/>
                <a:ea typeface="Cambria" panose="02040503050406030204" pitchFamily="18" charset="0"/>
                <a:cs typeface="Times New Roman" panose="02020503050405090304"/>
              </a:rPr>
              <a:t> to be delivered</a:t>
            </a:r>
          </a:p>
          <a:p>
            <a:pPr marL="12065" marR="5080">
              <a:lnSpc>
                <a:spcPts val="2380"/>
              </a:lnSpc>
              <a:spcBef>
                <a:spcPts val="390"/>
              </a:spcBef>
              <a:tabLst>
                <a:tab pos="241300" algn="l"/>
                <a:tab pos="241935" algn="l"/>
              </a:tabLst>
            </a:pPr>
            <a:endParaRPr lang="en-US" sz="2200" b="1" spc="-5" dirty="0">
              <a:latin typeface="Cambria" panose="02040503050406030204" pitchFamily="18" charset="0"/>
              <a:ea typeface="Cambria" panose="02040503050406030204" pitchFamily="18" charset="0"/>
              <a:cs typeface="Times New Roman" panose="02020503050405090304"/>
            </a:endParaRPr>
          </a:p>
          <a:p>
            <a:pPr marL="241300" marR="5080" indent="-229235">
              <a:lnSpc>
                <a:spcPts val="2380"/>
              </a:lnSpc>
              <a:spcBef>
                <a:spcPts val="390"/>
              </a:spcBef>
              <a:buFont typeface="Arial" panose="020B0604020202090204"/>
              <a:buChar char="•"/>
              <a:tabLst>
                <a:tab pos="241300" algn="l"/>
                <a:tab pos="241935" algn="l"/>
              </a:tabLst>
            </a:pPr>
            <a:r>
              <a:rPr lang="en-US" sz="2200" b="1" spc="-5" dirty="0">
                <a:latin typeface="Cambria" panose="02040503050406030204" pitchFamily="18" charset="0"/>
                <a:ea typeface="Cambria" panose="02040503050406030204" pitchFamily="18" charset="0"/>
                <a:cs typeface="Times New Roman" panose="02020503050405090304"/>
              </a:rPr>
              <a:t>I</a:t>
            </a:r>
            <a:r>
              <a:rPr sz="2200" b="1" spc="-5" dirty="0">
                <a:latin typeface="Cambria" panose="02040503050406030204" pitchFamily="18" charset="0"/>
                <a:ea typeface="Cambria" panose="02040503050406030204" pitchFamily="18" charset="0"/>
                <a:cs typeface="Times New Roman" panose="02020503050405090304"/>
              </a:rPr>
              <a:t>f the  situation is minor and the news will cause your audience little pain or disappoint</a:t>
            </a:r>
            <a:r>
              <a:rPr lang="en-US" sz="2200" b="1" spc="-5" dirty="0">
                <a:latin typeface="Cambria" panose="02040503050406030204" pitchFamily="18" charset="0"/>
                <a:ea typeface="Cambria" panose="02040503050406030204" pitchFamily="18" charset="0"/>
                <a:cs typeface="Times New Roman" panose="02020503050405090304"/>
              </a:rPr>
              <a:t>ment</a:t>
            </a:r>
            <a:endParaRPr lang="en-US" sz="2200" spc="-5" dirty="0">
              <a:latin typeface="Cambria" panose="02040503050406030204" pitchFamily="18" charset="0"/>
              <a:ea typeface="Cambria" panose="02040503050406030204" pitchFamily="18" charset="0"/>
              <a:cs typeface="Times New Roman" panose="02020503050405090304"/>
            </a:endParaRPr>
          </a:p>
          <a:p>
            <a:pPr marL="12065" marR="5080">
              <a:lnSpc>
                <a:spcPts val="2380"/>
              </a:lnSpc>
              <a:spcBef>
                <a:spcPts val="390"/>
              </a:spcBef>
              <a:tabLst>
                <a:tab pos="241300" algn="l"/>
                <a:tab pos="241935" algn="l"/>
              </a:tabLst>
            </a:pPr>
            <a:r>
              <a:rPr lang="en-US" sz="2200" spc="-5" dirty="0">
                <a:latin typeface="Cambria" panose="02040503050406030204" pitchFamily="18" charset="0"/>
                <a:ea typeface="Cambria" panose="02040503050406030204" pitchFamily="18" charset="0"/>
                <a:cs typeface="Times New Roman" panose="02020503050405090304"/>
              </a:rPr>
              <a:t>Example:</a:t>
            </a:r>
          </a:p>
          <a:p>
            <a:pPr marL="698500" marR="5080" lvl="1" indent="-229235">
              <a:lnSpc>
                <a:spcPts val="2380"/>
              </a:lnSpc>
              <a:spcBef>
                <a:spcPts val="390"/>
              </a:spcBef>
              <a:buFont typeface="Arial" panose="020B0604020202090204"/>
              <a:buChar char="•"/>
              <a:tabLst>
                <a:tab pos="241300" algn="l"/>
                <a:tab pos="241935" algn="l"/>
              </a:tabLst>
            </a:pPr>
            <a:r>
              <a:rPr lang="en-US" sz="2200" spc="-5" dirty="0">
                <a:latin typeface="Cambria" panose="02040503050406030204" pitchFamily="18" charset="0"/>
                <a:ea typeface="Cambria" panose="02040503050406030204" pitchFamily="18" charset="0"/>
                <a:cs typeface="Times New Roman" panose="02020503050405090304"/>
              </a:rPr>
              <a:t>Company’s policy on “bad-news” i.e. wearing formal attire</a:t>
            </a:r>
            <a:endParaRPr sz="2200" dirty="0">
              <a:latin typeface="Cambria" panose="02040503050406030204" pitchFamily="18" charset="0"/>
              <a:ea typeface="Cambria" panose="02040503050406030204" pitchFamily="18" charset="0"/>
              <a:cs typeface="Times New Roman" panose="02020503050405090304"/>
            </a:endParaRPr>
          </a:p>
          <a:p>
            <a:pPr marL="12065">
              <a:lnSpc>
                <a:spcPct val="100000"/>
              </a:lnSpc>
              <a:spcBef>
                <a:spcPts val="690"/>
              </a:spcBef>
              <a:tabLst>
                <a:tab pos="241300" algn="l"/>
                <a:tab pos="241935" algn="l"/>
              </a:tabLst>
            </a:pPr>
            <a:endParaRPr sz="2200" dirty="0">
              <a:latin typeface="Cambria" panose="02040503050406030204" pitchFamily="18" charset="0"/>
              <a:ea typeface="Cambria" panose="02040503050406030204" pitchFamily="18" charset="0"/>
              <a:cs typeface="Times New Roman" panose="0202050305040509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457200"/>
            <a:ext cx="10199370" cy="6162040"/>
          </a:xfrm>
          <a:prstGeom prst="rect">
            <a:avLst/>
          </a:prstGeom>
        </p:spPr>
        <p:txBody>
          <a:bodyPr vert="horz" wrap="square" lIns="0" tIns="107315" rIns="0" bIns="0" rtlCol="0">
            <a:spAutoFit/>
          </a:bodyPr>
          <a:lstStyle/>
          <a:p>
            <a:pPr marL="12700" algn="just">
              <a:lnSpc>
                <a:spcPct val="100000"/>
              </a:lnSpc>
              <a:spcBef>
                <a:spcPts val="845"/>
              </a:spcBef>
            </a:pPr>
            <a:r>
              <a:rPr lang="en-US" sz="2200" b="1" i="1" spc="-10" dirty="0">
                <a:latin typeface="Cambria" panose="02040503050406030204" pitchFamily="18" charset="0"/>
                <a:ea typeface="Cambria" panose="02040503050406030204" pitchFamily="18" charset="0"/>
                <a:cs typeface="URW Gothic"/>
              </a:rPr>
              <a:t>** negative news - to complain</a:t>
            </a:r>
          </a:p>
          <a:p>
            <a:pPr marL="12700" algn="just">
              <a:lnSpc>
                <a:spcPct val="100000"/>
              </a:lnSpc>
              <a:spcBef>
                <a:spcPts val="845"/>
              </a:spcBef>
            </a:pPr>
            <a:r>
              <a:rPr sz="2200" spc="-10" dirty="0">
                <a:latin typeface="Cambria" panose="02040503050406030204" pitchFamily="18" charset="0"/>
                <a:ea typeface="Cambria" panose="02040503050406030204" pitchFamily="18" charset="0"/>
                <a:cs typeface="URW Gothic"/>
              </a:rPr>
              <a:t>Dear</a:t>
            </a:r>
            <a:r>
              <a:rPr sz="2200" spc="-5" dirty="0">
                <a:latin typeface="Cambria" panose="02040503050406030204" pitchFamily="18" charset="0"/>
                <a:ea typeface="Cambria" panose="02040503050406030204" pitchFamily="18" charset="0"/>
                <a:cs typeface="URW Gothic"/>
              </a:rPr>
              <a:t> </a:t>
            </a:r>
            <a:r>
              <a:rPr sz="2200" spc="-10" dirty="0">
                <a:latin typeface="Cambria" panose="02040503050406030204" pitchFamily="18" charset="0"/>
                <a:ea typeface="Cambria" panose="02040503050406030204" pitchFamily="18" charset="0"/>
                <a:cs typeface="URW Gothic"/>
              </a:rPr>
              <a:t>(name),</a:t>
            </a:r>
            <a:endParaRPr sz="2200" dirty="0">
              <a:latin typeface="Cambria" panose="02040503050406030204" pitchFamily="18" charset="0"/>
              <a:ea typeface="Cambria" panose="02040503050406030204" pitchFamily="18" charset="0"/>
              <a:cs typeface="URW Gothic"/>
            </a:endParaRPr>
          </a:p>
          <a:p>
            <a:pPr marL="12700" algn="just">
              <a:lnSpc>
                <a:spcPct val="100000"/>
              </a:lnSpc>
              <a:spcBef>
                <a:spcPts val="740"/>
              </a:spcBef>
            </a:pPr>
            <a:r>
              <a:rPr sz="2200" spc="-10" dirty="0">
                <a:latin typeface="Cambria" panose="02040503050406030204" pitchFamily="18" charset="0"/>
                <a:ea typeface="Cambria" panose="02040503050406030204" pitchFamily="18" charset="0"/>
                <a:cs typeface="URW Gothic"/>
              </a:rPr>
              <a:t>Subject</a:t>
            </a:r>
            <a:r>
              <a:rPr sz="2200" u="heavy" spc="-10" dirty="0">
                <a:uFill>
                  <a:solidFill>
                    <a:srgbClr val="000000"/>
                  </a:solidFill>
                </a:uFill>
                <a:latin typeface="Cambria" panose="02040503050406030204" pitchFamily="18" charset="0"/>
                <a:ea typeface="Cambria" panose="02040503050406030204" pitchFamily="18" charset="0"/>
                <a:cs typeface="URW Gothic"/>
              </a:rPr>
              <a:t>: </a:t>
            </a:r>
            <a:r>
              <a:rPr sz="2200" u="heavy" spc="-5" dirty="0">
                <a:uFill>
                  <a:solidFill>
                    <a:srgbClr val="000000"/>
                  </a:solidFill>
                </a:uFill>
                <a:latin typeface="Cambria" panose="02040503050406030204" pitchFamily="18" charset="0"/>
                <a:ea typeface="Cambria" panose="02040503050406030204" pitchFamily="18" charset="0"/>
                <a:cs typeface="URW Gothic"/>
              </a:rPr>
              <a:t>Complaint on </a:t>
            </a:r>
            <a:r>
              <a:rPr sz="2200" u="heavy" spc="-15" dirty="0">
                <a:uFill>
                  <a:solidFill>
                    <a:srgbClr val="000000"/>
                  </a:solidFill>
                </a:uFill>
                <a:latin typeface="Cambria" panose="02040503050406030204" pitchFamily="18" charset="0"/>
                <a:ea typeface="Cambria" panose="02040503050406030204" pitchFamily="18" charset="0"/>
                <a:cs typeface="URW Gothic"/>
              </a:rPr>
              <a:t>ABC</a:t>
            </a:r>
            <a:r>
              <a:rPr sz="2200" u="heavy" spc="50" dirty="0">
                <a:uFill>
                  <a:solidFill>
                    <a:srgbClr val="000000"/>
                  </a:solidFill>
                </a:uFill>
                <a:latin typeface="Cambria" panose="02040503050406030204" pitchFamily="18" charset="0"/>
                <a:ea typeface="Cambria" panose="02040503050406030204" pitchFamily="18" charset="0"/>
                <a:cs typeface="URW Gothic"/>
              </a:rPr>
              <a:t> </a:t>
            </a:r>
            <a:r>
              <a:rPr sz="2200" u="heavy" spc="-5" dirty="0">
                <a:uFill>
                  <a:solidFill>
                    <a:srgbClr val="000000"/>
                  </a:solidFill>
                </a:uFill>
                <a:latin typeface="Cambria" panose="02040503050406030204" pitchFamily="18" charset="0"/>
                <a:ea typeface="Cambria" panose="02040503050406030204" pitchFamily="18" charset="0"/>
                <a:cs typeface="URW Gothic"/>
              </a:rPr>
              <a:t>Smartphone</a:t>
            </a:r>
            <a:endParaRPr sz="2200" dirty="0">
              <a:latin typeface="Cambria" panose="02040503050406030204" pitchFamily="18" charset="0"/>
              <a:ea typeface="Cambria" panose="02040503050406030204" pitchFamily="18" charset="0"/>
              <a:cs typeface="URW Gothic"/>
            </a:endParaRPr>
          </a:p>
          <a:p>
            <a:pPr marL="12700" marR="5715" algn="just">
              <a:lnSpc>
                <a:spcPct val="90000"/>
              </a:lnSpc>
              <a:spcBef>
                <a:spcPts val="1000"/>
              </a:spcBef>
            </a:pPr>
            <a:r>
              <a:rPr sz="2200" spc="-10" dirty="0">
                <a:latin typeface="Cambria" panose="02040503050406030204" pitchFamily="18" charset="0"/>
                <a:ea typeface="Cambria" panose="02040503050406030204" pitchFamily="18" charset="0"/>
                <a:cs typeface="URW Gothic"/>
              </a:rPr>
              <a:t>The </a:t>
            </a:r>
            <a:r>
              <a:rPr sz="2200" spc="-5" dirty="0">
                <a:latin typeface="Cambria" panose="02040503050406030204" pitchFamily="18" charset="0"/>
                <a:ea typeface="Cambria" panose="02040503050406030204" pitchFamily="18" charset="0"/>
                <a:cs typeface="URW Gothic"/>
              </a:rPr>
              <a:t>purpose of </a:t>
            </a:r>
            <a:r>
              <a:rPr sz="2200" dirty="0">
                <a:latin typeface="Cambria" panose="02040503050406030204" pitchFamily="18" charset="0"/>
                <a:ea typeface="Cambria" panose="02040503050406030204" pitchFamily="18" charset="0"/>
                <a:cs typeface="URW Gothic"/>
              </a:rPr>
              <a:t>this </a:t>
            </a:r>
            <a:r>
              <a:rPr sz="2200" spc="-5" dirty="0">
                <a:latin typeface="Cambria" panose="02040503050406030204" pitchFamily="18" charset="0"/>
                <a:ea typeface="Cambria" panose="02040503050406030204" pitchFamily="18" charset="0"/>
                <a:cs typeface="URW Gothic"/>
              </a:rPr>
              <a:t>letter </a:t>
            </a:r>
            <a:r>
              <a:rPr sz="2200" spc="5" dirty="0">
                <a:latin typeface="Cambria" panose="02040503050406030204" pitchFamily="18" charset="0"/>
                <a:ea typeface="Cambria" panose="02040503050406030204" pitchFamily="18" charset="0"/>
                <a:cs typeface="URW Gothic"/>
              </a:rPr>
              <a:t>is </a:t>
            </a:r>
            <a:r>
              <a:rPr sz="2200" dirty="0">
                <a:latin typeface="Cambria" panose="02040503050406030204" pitchFamily="18" charset="0"/>
                <a:ea typeface="Cambria" panose="02040503050406030204" pitchFamily="18" charset="0"/>
                <a:cs typeface="URW Gothic"/>
              </a:rPr>
              <a:t>to </a:t>
            </a:r>
            <a:r>
              <a:rPr sz="2200" spc="-10" dirty="0">
                <a:latin typeface="Cambria" panose="02040503050406030204" pitchFamily="18" charset="0"/>
                <a:ea typeface="Cambria" panose="02040503050406030204" pitchFamily="18" charset="0"/>
                <a:cs typeface="URW Gothic"/>
              </a:rPr>
              <a:t>raise </a:t>
            </a:r>
            <a:r>
              <a:rPr sz="2200" spc="-5" dirty="0">
                <a:latin typeface="Cambria" panose="02040503050406030204" pitchFamily="18" charset="0"/>
                <a:ea typeface="Cambria" panose="02040503050406030204" pitchFamily="18" charset="0"/>
                <a:cs typeface="URW Gothic"/>
              </a:rPr>
              <a:t>my disappointment </a:t>
            </a:r>
            <a:r>
              <a:rPr sz="2200" spc="-10" dirty="0">
                <a:latin typeface="Cambria" panose="02040503050406030204" pitchFamily="18" charset="0"/>
                <a:ea typeface="Cambria" panose="02040503050406030204" pitchFamily="18" charset="0"/>
                <a:cs typeface="URW Gothic"/>
              </a:rPr>
              <a:t>on your </a:t>
            </a:r>
            <a:r>
              <a:rPr sz="2200" spc="-5" dirty="0">
                <a:latin typeface="Cambria" panose="02040503050406030204" pitchFamily="18" charset="0"/>
                <a:ea typeface="Cambria" panose="02040503050406030204" pitchFamily="18" charset="0"/>
                <a:cs typeface="URW Gothic"/>
              </a:rPr>
              <a:t>product. I  would </a:t>
            </a:r>
            <a:r>
              <a:rPr sz="2200" dirty="0">
                <a:latin typeface="Cambria" panose="02040503050406030204" pitchFamily="18" charset="0"/>
                <a:ea typeface="Cambria" panose="02040503050406030204" pitchFamily="18" charset="0"/>
                <a:cs typeface="URW Gothic"/>
              </a:rPr>
              <a:t>like to </a:t>
            </a:r>
            <a:r>
              <a:rPr sz="2200" spc="-10" dirty="0">
                <a:latin typeface="Cambria" panose="02040503050406030204" pitchFamily="18" charset="0"/>
                <a:ea typeface="Cambria" panose="02040503050406030204" pitchFamily="18" charset="0"/>
                <a:cs typeface="URW Gothic"/>
              </a:rPr>
              <a:t>highlight </a:t>
            </a:r>
            <a:r>
              <a:rPr sz="2200" spc="-5" dirty="0">
                <a:latin typeface="Cambria" panose="02040503050406030204" pitchFamily="18" charset="0"/>
                <a:ea typeface="Cambria" panose="02040503050406030204" pitchFamily="18" charset="0"/>
                <a:cs typeface="URW Gothic"/>
              </a:rPr>
              <a:t>on the problems that I </a:t>
            </a:r>
            <a:r>
              <a:rPr sz="2200" dirty="0">
                <a:latin typeface="Cambria" panose="02040503050406030204" pitchFamily="18" charset="0"/>
                <a:ea typeface="Cambria" panose="02040503050406030204" pitchFamily="18" charset="0"/>
                <a:cs typeface="URW Gothic"/>
              </a:rPr>
              <a:t>have </a:t>
            </a:r>
            <a:r>
              <a:rPr sz="2200" spc="-5" dirty="0">
                <a:latin typeface="Cambria" panose="02040503050406030204" pitchFamily="18" charset="0"/>
                <a:ea typeface="Cambria" panose="02040503050406030204" pitchFamily="18" charset="0"/>
                <a:cs typeface="URW Gothic"/>
              </a:rPr>
              <a:t>faced upon </a:t>
            </a:r>
            <a:r>
              <a:rPr sz="2200" dirty="0">
                <a:latin typeface="Cambria" panose="02040503050406030204" pitchFamily="18" charset="0"/>
                <a:ea typeface="Cambria" panose="02040503050406030204" pitchFamily="18" charset="0"/>
                <a:cs typeface="URW Gothic"/>
              </a:rPr>
              <a:t>using </a:t>
            </a:r>
            <a:r>
              <a:rPr sz="2200" spc="-5" dirty="0">
                <a:latin typeface="Cambria" panose="02040503050406030204" pitchFamily="18" charset="0"/>
                <a:ea typeface="Cambria" panose="02040503050406030204" pitchFamily="18" charset="0"/>
                <a:cs typeface="URW Gothic"/>
              </a:rPr>
              <a:t>this </a:t>
            </a:r>
            <a:r>
              <a:rPr sz="2200" spc="-10" dirty="0">
                <a:latin typeface="Cambria" panose="02040503050406030204" pitchFamily="18" charset="0"/>
                <a:ea typeface="Cambria" panose="02040503050406030204" pitchFamily="18" charset="0"/>
                <a:cs typeface="URW Gothic"/>
              </a:rPr>
              <a:t>product </a:t>
            </a:r>
            <a:r>
              <a:rPr sz="2200" spc="-5" dirty="0">
                <a:latin typeface="Cambria" panose="02040503050406030204" pitchFamily="18" charset="0"/>
                <a:ea typeface="Cambria" panose="02040503050406030204" pitchFamily="18" charset="0"/>
                <a:cs typeface="URW Gothic"/>
              </a:rPr>
              <a:t>for </a:t>
            </a:r>
            <a:r>
              <a:rPr sz="2200" spc="-10" dirty="0">
                <a:latin typeface="Cambria" panose="02040503050406030204" pitchFamily="18" charset="0"/>
                <a:ea typeface="Cambria" panose="02040503050406030204" pitchFamily="18" charset="0"/>
                <a:cs typeface="URW Gothic"/>
              </a:rPr>
              <a:t>less </a:t>
            </a:r>
            <a:r>
              <a:rPr sz="2200" spc="-5" dirty="0">
                <a:latin typeface="Cambria" panose="02040503050406030204" pitchFamily="18" charset="0"/>
                <a:ea typeface="Cambria" panose="02040503050406030204" pitchFamily="18" charset="0"/>
                <a:cs typeface="URW Gothic"/>
              </a:rPr>
              <a:t>than a</a:t>
            </a:r>
            <a:r>
              <a:rPr sz="2200" spc="45" dirty="0">
                <a:latin typeface="Cambria" panose="02040503050406030204" pitchFamily="18" charset="0"/>
                <a:ea typeface="Cambria" panose="02040503050406030204" pitchFamily="18" charset="0"/>
                <a:cs typeface="URW Gothic"/>
              </a:rPr>
              <a:t> </a:t>
            </a:r>
            <a:r>
              <a:rPr sz="2200" spc="-5" dirty="0">
                <a:latin typeface="Cambria" panose="02040503050406030204" pitchFamily="18" charset="0"/>
                <a:ea typeface="Cambria" panose="02040503050406030204" pitchFamily="18" charset="0"/>
                <a:cs typeface="URW Gothic"/>
              </a:rPr>
              <a:t>month.</a:t>
            </a:r>
            <a:endParaRPr sz="2200" dirty="0">
              <a:latin typeface="Cambria" panose="02040503050406030204" pitchFamily="18" charset="0"/>
              <a:ea typeface="Cambria" panose="02040503050406030204" pitchFamily="18" charset="0"/>
              <a:cs typeface="URW Gothic"/>
            </a:endParaRPr>
          </a:p>
          <a:p>
            <a:pPr>
              <a:lnSpc>
                <a:spcPct val="100000"/>
              </a:lnSpc>
              <a:spcBef>
                <a:spcPts val="30"/>
              </a:spcBef>
            </a:pPr>
            <a:endParaRPr sz="3400" dirty="0">
              <a:latin typeface="Cambria" panose="02040503050406030204" pitchFamily="18" charset="0"/>
              <a:ea typeface="Cambria" panose="02040503050406030204" pitchFamily="18" charset="0"/>
              <a:cs typeface="URW Gothic"/>
            </a:endParaRPr>
          </a:p>
          <a:p>
            <a:pPr marL="12700" marR="5080" algn="just">
              <a:lnSpc>
                <a:spcPct val="90000"/>
              </a:lnSpc>
            </a:pPr>
            <a:r>
              <a:rPr sz="2200" spc="-5" dirty="0">
                <a:latin typeface="Cambria" panose="02040503050406030204" pitchFamily="18" charset="0"/>
                <a:ea typeface="Cambria" panose="02040503050406030204" pitchFamily="18" charset="0"/>
                <a:cs typeface="URW Gothic"/>
              </a:rPr>
              <a:t>For </a:t>
            </a:r>
            <a:r>
              <a:rPr sz="2200" spc="-10" dirty="0">
                <a:latin typeface="Cambria" panose="02040503050406030204" pitchFamily="18" charset="0"/>
                <a:ea typeface="Cambria" panose="02040503050406030204" pitchFamily="18" charset="0"/>
                <a:cs typeface="URW Gothic"/>
              </a:rPr>
              <a:t>your </a:t>
            </a:r>
            <a:r>
              <a:rPr sz="2200" spc="-5" dirty="0">
                <a:latin typeface="Cambria" panose="02040503050406030204" pitchFamily="18" charset="0"/>
                <a:ea typeface="Cambria" panose="02040503050406030204" pitchFamily="18" charset="0"/>
                <a:cs typeface="URW Gothic"/>
              </a:rPr>
              <a:t>information, </a:t>
            </a:r>
            <a:r>
              <a:rPr sz="2200" spc="5" dirty="0">
                <a:latin typeface="Cambria" panose="02040503050406030204" pitchFamily="18" charset="0"/>
                <a:ea typeface="Cambria" panose="02040503050406030204" pitchFamily="18" charset="0"/>
                <a:cs typeface="URW Gothic"/>
              </a:rPr>
              <a:t>the </a:t>
            </a:r>
            <a:r>
              <a:rPr sz="2200" spc="-10" dirty="0">
                <a:latin typeface="Cambria" panose="02040503050406030204" pitchFamily="18" charset="0"/>
                <a:ea typeface="Cambria" panose="02040503050406030204" pitchFamily="18" charset="0"/>
                <a:cs typeface="URW Gothic"/>
              </a:rPr>
              <a:t>unit </a:t>
            </a:r>
            <a:r>
              <a:rPr sz="2200" spc="-5" dirty="0">
                <a:latin typeface="Cambria" panose="02040503050406030204" pitchFamily="18" charset="0"/>
                <a:ea typeface="Cambria" panose="02040503050406030204" pitchFamily="18" charset="0"/>
                <a:cs typeface="URW Gothic"/>
              </a:rPr>
              <a:t>that I </a:t>
            </a:r>
            <a:r>
              <a:rPr sz="2200" dirty="0">
                <a:latin typeface="Cambria" panose="02040503050406030204" pitchFamily="18" charset="0"/>
                <a:ea typeface="Cambria" panose="02040503050406030204" pitchFamily="18" charset="0"/>
                <a:cs typeface="URW Gothic"/>
              </a:rPr>
              <a:t>have </a:t>
            </a:r>
            <a:r>
              <a:rPr sz="2200" spc="-5" dirty="0">
                <a:latin typeface="Cambria" panose="02040503050406030204" pitchFamily="18" charset="0"/>
                <a:ea typeface="Cambria" panose="02040503050406030204" pitchFamily="18" charset="0"/>
                <a:cs typeface="URW Gothic"/>
              </a:rPr>
              <a:t>received from </a:t>
            </a:r>
            <a:r>
              <a:rPr sz="2200" spc="-10" dirty="0">
                <a:latin typeface="Cambria" panose="02040503050406030204" pitchFamily="18" charset="0"/>
                <a:ea typeface="Cambria" panose="02040503050406030204" pitchFamily="18" charset="0"/>
                <a:cs typeface="URW Gothic"/>
              </a:rPr>
              <a:t>your </a:t>
            </a:r>
            <a:r>
              <a:rPr sz="2200" spc="-5" dirty="0">
                <a:latin typeface="Cambria" panose="02040503050406030204" pitchFamily="18" charset="0"/>
                <a:ea typeface="Cambria" panose="02040503050406030204" pitchFamily="18" charset="0"/>
                <a:cs typeface="URW Gothic"/>
              </a:rPr>
              <a:t>company </a:t>
            </a:r>
            <a:r>
              <a:rPr sz="2200" spc="5" dirty="0">
                <a:latin typeface="Cambria" panose="02040503050406030204" pitchFamily="18" charset="0"/>
                <a:ea typeface="Cambria" panose="02040503050406030204" pitchFamily="18" charset="0"/>
                <a:cs typeface="URW Gothic"/>
              </a:rPr>
              <a:t>is </a:t>
            </a:r>
            <a:r>
              <a:rPr sz="2200" spc="-5" dirty="0">
                <a:latin typeface="Cambria" panose="02040503050406030204" pitchFamily="18" charset="0"/>
                <a:ea typeface="Cambria" panose="02040503050406030204" pitchFamily="18" charset="0"/>
                <a:cs typeface="URW Gothic"/>
              </a:rPr>
              <a:t>far  from </a:t>
            </a:r>
            <a:r>
              <a:rPr sz="2200" spc="-10" dirty="0">
                <a:latin typeface="Cambria" panose="02040503050406030204" pitchFamily="18" charset="0"/>
                <a:ea typeface="Cambria" panose="02040503050406030204" pitchFamily="18" charset="0"/>
                <a:cs typeface="URW Gothic"/>
              </a:rPr>
              <a:t>what </a:t>
            </a:r>
            <a:r>
              <a:rPr sz="2200" spc="-5" dirty="0">
                <a:latin typeface="Cambria" panose="02040503050406030204" pitchFamily="18" charset="0"/>
                <a:ea typeface="Cambria" panose="02040503050406030204" pitchFamily="18" charset="0"/>
                <a:cs typeface="URW Gothic"/>
              </a:rPr>
              <a:t>it has advertised. I </a:t>
            </a:r>
            <a:r>
              <a:rPr sz="2200" spc="-10" dirty="0">
                <a:latin typeface="Cambria" panose="02040503050406030204" pitchFamily="18" charset="0"/>
                <a:ea typeface="Cambria" panose="02040503050406030204" pitchFamily="18" charset="0"/>
                <a:cs typeface="URW Gothic"/>
              </a:rPr>
              <a:t>am </a:t>
            </a:r>
            <a:r>
              <a:rPr sz="2200" spc="-5" dirty="0">
                <a:latin typeface="Cambria" panose="02040503050406030204" pitchFamily="18" charset="0"/>
                <a:ea typeface="Cambria" panose="02040503050406030204" pitchFamily="18" charset="0"/>
                <a:cs typeface="URW Gothic"/>
              </a:rPr>
              <a:t>so disappointed with the item purchased.  By paying up </a:t>
            </a:r>
            <a:r>
              <a:rPr sz="2200" dirty="0">
                <a:latin typeface="Cambria" panose="02040503050406030204" pitchFamily="18" charset="0"/>
                <a:ea typeface="Cambria" panose="02040503050406030204" pitchFamily="18" charset="0"/>
                <a:cs typeface="URW Gothic"/>
              </a:rPr>
              <a:t>to </a:t>
            </a:r>
            <a:r>
              <a:rPr sz="2200" spc="-5" dirty="0">
                <a:latin typeface="Cambria" panose="02040503050406030204" pitchFamily="18" charset="0"/>
                <a:ea typeface="Cambria" panose="02040503050406030204" pitchFamily="18" charset="0"/>
                <a:cs typeface="URW Gothic"/>
              </a:rPr>
              <a:t>RM4000 for a phone, </a:t>
            </a:r>
            <a:r>
              <a:rPr sz="2200" spc="5" dirty="0">
                <a:latin typeface="Cambria" panose="02040503050406030204" pitchFamily="18" charset="0"/>
                <a:ea typeface="Cambria" panose="02040503050406030204" pitchFamily="18" charset="0"/>
                <a:cs typeface="URW Gothic"/>
              </a:rPr>
              <a:t>it </a:t>
            </a:r>
            <a:r>
              <a:rPr sz="2200" spc="-5" dirty="0">
                <a:latin typeface="Cambria" panose="02040503050406030204" pitchFamily="18" charset="0"/>
                <a:ea typeface="Cambria" panose="02040503050406030204" pitchFamily="18" charset="0"/>
                <a:cs typeface="URW Gothic"/>
              </a:rPr>
              <a:t>should have at least </a:t>
            </a:r>
            <a:r>
              <a:rPr sz="2200" spc="-10" dirty="0">
                <a:latin typeface="Cambria" panose="02040503050406030204" pitchFamily="18" charset="0"/>
                <a:ea typeface="Cambria" panose="02040503050406030204" pitchFamily="18" charset="0"/>
                <a:cs typeface="URW Gothic"/>
              </a:rPr>
              <a:t>meet </a:t>
            </a:r>
            <a:r>
              <a:rPr sz="2200" spc="-5" dirty="0">
                <a:latin typeface="Cambria" panose="02040503050406030204" pitchFamily="18" charset="0"/>
                <a:ea typeface="Cambria" panose="02040503050406030204" pitchFamily="18" charset="0"/>
                <a:cs typeface="URW Gothic"/>
              </a:rPr>
              <a:t>the basic  expectation of </a:t>
            </a:r>
            <a:r>
              <a:rPr sz="2200" dirty="0">
                <a:latin typeface="Cambria" panose="02040503050406030204" pitchFamily="18" charset="0"/>
                <a:ea typeface="Cambria" panose="02040503050406030204" pitchFamily="18" charset="0"/>
                <a:cs typeface="URW Gothic"/>
              </a:rPr>
              <a:t>customers. </a:t>
            </a:r>
            <a:r>
              <a:rPr sz="2200" spc="-10" dirty="0">
                <a:latin typeface="Cambria" panose="02040503050406030204" pitchFamily="18" charset="0"/>
                <a:ea typeface="Cambria" panose="02040503050406030204" pitchFamily="18" charset="0"/>
                <a:cs typeface="URW Gothic"/>
              </a:rPr>
              <a:t>The </a:t>
            </a:r>
            <a:r>
              <a:rPr sz="2200" spc="-5" dirty="0">
                <a:latin typeface="Cambria" panose="02040503050406030204" pitchFamily="18" charset="0"/>
                <a:ea typeface="Cambria" panose="02040503050406030204" pitchFamily="18" charset="0"/>
                <a:cs typeface="URW Gothic"/>
              </a:rPr>
              <a:t>most obvious problem </a:t>
            </a:r>
            <a:r>
              <a:rPr sz="2200" spc="5" dirty="0">
                <a:latin typeface="Cambria" panose="02040503050406030204" pitchFamily="18" charset="0"/>
                <a:ea typeface="Cambria" panose="02040503050406030204" pitchFamily="18" charset="0"/>
                <a:cs typeface="URW Gothic"/>
              </a:rPr>
              <a:t>is </a:t>
            </a:r>
            <a:r>
              <a:rPr sz="2200" spc="-5" dirty="0">
                <a:latin typeface="Cambria" panose="02040503050406030204" pitchFamily="18" charset="0"/>
                <a:ea typeface="Cambria" panose="02040503050406030204" pitchFamily="18" charset="0"/>
                <a:cs typeface="URW Gothic"/>
              </a:rPr>
              <a:t>on the battery life;  whereby </a:t>
            </a:r>
            <a:r>
              <a:rPr sz="2200" spc="5" dirty="0">
                <a:latin typeface="Cambria" panose="02040503050406030204" pitchFamily="18" charset="0"/>
                <a:ea typeface="Cambria" panose="02040503050406030204" pitchFamily="18" charset="0"/>
                <a:cs typeface="URW Gothic"/>
              </a:rPr>
              <a:t>it </a:t>
            </a:r>
            <a:r>
              <a:rPr sz="2200" spc="-5" dirty="0">
                <a:latin typeface="Cambria" panose="02040503050406030204" pitchFamily="18" charset="0"/>
                <a:ea typeface="Cambria" panose="02040503050406030204" pitchFamily="18" charset="0"/>
                <a:cs typeface="URW Gothic"/>
              </a:rPr>
              <a:t>can only </a:t>
            </a:r>
            <a:r>
              <a:rPr sz="2200" spc="-10" dirty="0">
                <a:latin typeface="Cambria" panose="02040503050406030204" pitchFamily="18" charset="0"/>
                <a:ea typeface="Cambria" panose="02040503050406030204" pitchFamily="18" charset="0"/>
                <a:cs typeface="URW Gothic"/>
              </a:rPr>
              <a:t>last </a:t>
            </a:r>
            <a:r>
              <a:rPr sz="2200" spc="-5" dirty="0">
                <a:latin typeface="Cambria" panose="02040503050406030204" pitchFamily="18" charset="0"/>
                <a:ea typeface="Cambria" panose="02040503050406030204" pitchFamily="18" charset="0"/>
                <a:cs typeface="URW Gothic"/>
              </a:rPr>
              <a:t>for </a:t>
            </a:r>
            <a:r>
              <a:rPr sz="2200" spc="-10" dirty="0">
                <a:latin typeface="Cambria" panose="02040503050406030204" pitchFamily="18" charset="0"/>
                <a:ea typeface="Cambria" panose="02040503050406030204" pitchFamily="18" charset="0"/>
                <a:cs typeface="URW Gothic"/>
              </a:rPr>
              <a:t>approximately </a:t>
            </a:r>
            <a:r>
              <a:rPr sz="2200" spc="-5" dirty="0">
                <a:latin typeface="Cambria" panose="02040503050406030204" pitchFamily="18" charset="0"/>
                <a:ea typeface="Cambria" panose="02040503050406030204" pitchFamily="18" charset="0"/>
                <a:cs typeface="URW Gothic"/>
              </a:rPr>
              <a:t>4 hours and I believe this is not  what has </a:t>
            </a:r>
            <a:r>
              <a:rPr sz="2200" spc="-10" dirty="0">
                <a:latin typeface="Cambria" panose="02040503050406030204" pitchFamily="18" charset="0"/>
                <a:ea typeface="Cambria" panose="02040503050406030204" pitchFamily="18" charset="0"/>
                <a:cs typeface="URW Gothic"/>
              </a:rPr>
              <a:t>been </a:t>
            </a:r>
            <a:r>
              <a:rPr sz="2200" dirty="0">
                <a:latin typeface="Cambria" panose="02040503050406030204" pitchFamily="18" charset="0"/>
                <a:ea typeface="Cambria" panose="02040503050406030204" pitchFamily="18" charset="0"/>
                <a:cs typeface="URW Gothic"/>
              </a:rPr>
              <a:t>written </a:t>
            </a:r>
            <a:r>
              <a:rPr sz="2200" spc="5" dirty="0">
                <a:latin typeface="Cambria" panose="02040503050406030204" pitchFamily="18" charset="0"/>
                <a:ea typeface="Cambria" panose="02040503050406030204" pitchFamily="18" charset="0"/>
                <a:cs typeface="URW Gothic"/>
              </a:rPr>
              <a:t>in </a:t>
            </a:r>
            <a:r>
              <a:rPr sz="2200" spc="-5" dirty="0">
                <a:latin typeface="Cambria" panose="02040503050406030204" pitchFamily="18" charset="0"/>
                <a:ea typeface="Cambria" panose="02040503050406030204" pitchFamily="18" charset="0"/>
                <a:cs typeface="URW Gothic"/>
              </a:rPr>
              <a:t>the </a:t>
            </a:r>
            <a:r>
              <a:rPr sz="2200" spc="-10" dirty="0">
                <a:latin typeface="Cambria" panose="02040503050406030204" pitchFamily="18" charset="0"/>
                <a:ea typeface="Cambria" panose="02040503050406030204" pitchFamily="18" charset="0"/>
                <a:cs typeface="URW Gothic"/>
              </a:rPr>
              <a:t>product’s</a:t>
            </a:r>
            <a:r>
              <a:rPr sz="2200" spc="-15" dirty="0">
                <a:latin typeface="Cambria" panose="02040503050406030204" pitchFamily="18" charset="0"/>
                <a:ea typeface="Cambria" panose="02040503050406030204" pitchFamily="18" charset="0"/>
                <a:cs typeface="URW Gothic"/>
              </a:rPr>
              <a:t> </a:t>
            </a:r>
            <a:r>
              <a:rPr sz="2200" spc="-5" dirty="0">
                <a:latin typeface="Cambria" panose="02040503050406030204" pitchFamily="18" charset="0"/>
                <a:ea typeface="Cambria" panose="02040503050406030204" pitchFamily="18" charset="0"/>
                <a:cs typeface="URW Gothic"/>
              </a:rPr>
              <a:t>description.</a:t>
            </a:r>
            <a:endParaRPr sz="2200" dirty="0">
              <a:latin typeface="Cambria" panose="02040503050406030204" pitchFamily="18" charset="0"/>
              <a:ea typeface="Cambria" panose="02040503050406030204" pitchFamily="18" charset="0"/>
              <a:cs typeface="URW Gothic"/>
            </a:endParaRPr>
          </a:p>
          <a:p>
            <a:pPr>
              <a:lnSpc>
                <a:spcPct val="100000"/>
              </a:lnSpc>
              <a:spcBef>
                <a:spcPts val="20"/>
              </a:spcBef>
            </a:pPr>
            <a:endParaRPr sz="3400" dirty="0">
              <a:latin typeface="Cambria" panose="02040503050406030204" pitchFamily="18" charset="0"/>
              <a:ea typeface="Cambria" panose="02040503050406030204" pitchFamily="18" charset="0"/>
              <a:cs typeface="URW Gothic"/>
            </a:endParaRPr>
          </a:p>
          <a:p>
            <a:pPr marL="12700" marR="6985" algn="just">
              <a:lnSpc>
                <a:spcPct val="90000"/>
              </a:lnSpc>
            </a:pPr>
            <a:r>
              <a:rPr sz="2200" spc="-5" dirty="0">
                <a:latin typeface="Cambria" panose="02040503050406030204" pitchFamily="18" charset="0"/>
                <a:ea typeface="Cambria" panose="02040503050406030204" pitchFamily="18" charset="0"/>
                <a:cs typeface="URW Gothic"/>
              </a:rPr>
              <a:t>Based on </a:t>
            </a:r>
            <a:r>
              <a:rPr sz="2200" dirty="0">
                <a:latin typeface="Cambria" panose="02040503050406030204" pitchFamily="18" charset="0"/>
                <a:ea typeface="Cambria" panose="02040503050406030204" pitchFamily="18" charset="0"/>
                <a:cs typeface="URW Gothic"/>
              </a:rPr>
              <a:t>the </a:t>
            </a:r>
            <a:r>
              <a:rPr sz="2200" spc="-5" dirty="0">
                <a:latin typeface="Cambria" panose="02040503050406030204" pitchFamily="18" charset="0"/>
                <a:ea typeface="Cambria" panose="02040503050406030204" pitchFamily="18" charset="0"/>
                <a:cs typeface="URW Gothic"/>
              </a:rPr>
              <a:t>issue </a:t>
            </a:r>
            <a:r>
              <a:rPr sz="2200" spc="-10" dirty="0">
                <a:latin typeface="Cambria" panose="02040503050406030204" pitchFamily="18" charset="0"/>
                <a:ea typeface="Cambria" panose="02040503050406030204" pitchFamily="18" charset="0"/>
                <a:cs typeface="URW Gothic"/>
              </a:rPr>
              <a:t>that </a:t>
            </a:r>
            <a:r>
              <a:rPr sz="2200" spc="-5" dirty="0">
                <a:latin typeface="Cambria" panose="02040503050406030204" pitchFamily="18" charset="0"/>
                <a:ea typeface="Cambria" panose="02040503050406030204" pitchFamily="18" charset="0"/>
                <a:cs typeface="URW Gothic"/>
              </a:rPr>
              <a:t>I </a:t>
            </a:r>
            <a:r>
              <a:rPr sz="2200" dirty="0">
                <a:latin typeface="Cambria" panose="02040503050406030204" pitchFamily="18" charset="0"/>
                <a:ea typeface="Cambria" panose="02040503050406030204" pitchFamily="18" charset="0"/>
                <a:cs typeface="URW Gothic"/>
              </a:rPr>
              <a:t>have </a:t>
            </a:r>
            <a:r>
              <a:rPr sz="2200" spc="-10" dirty="0">
                <a:latin typeface="Cambria" panose="02040503050406030204" pitchFamily="18" charset="0"/>
                <a:ea typeface="Cambria" panose="02040503050406030204" pitchFamily="18" charset="0"/>
                <a:cs typeface="URW Gothic"/>
              </a:rPr>
              <a:t>highlighted </a:t>
            </a:r>
            <a:r>
              <a:rPr sz="2200" spc="-5" dirty="0">
                <a:latin typeface="Cambria" panose="02040503050406030204" pitchFamily="18" charset="0"/>
                <a:ea typeface="Cambria" panose="02040503050406030204" pitchFamily="18" charset="0"/>
                <a:cs typeface="URW Gothic"/>
              </a:rPr>
              <a:t>above, I </a:t>
            </a:r>
            <a:r>
              <a:rPr sz="2200" dirty="0">
                <a:latin typeface="Cambria" panose="02040503050406030204" pitchFamily="18" charset="0"/>
                <a:ea typeface="Cambria" panose="02040503050406030204" pitchFamily="18" charset="0"/>
                <a:cs typeface="URW Gothic"/>
              </a:rPr>
              <a:t>would </a:t>
            </a:r>
            <a:r>
              <a:rPr sz="2200" spc="-5" dirty="0">
                <a:latin typeface="Cambria" panose="02040503050406030204" pitchFamily="18" charset="0"/>
                <a:ea typeface="Cambria" panose="02040503050406030204" pitchFamily="18" charset="0"/>
                <a:cs typeface="URW Gothic"/>
              </a:rPr>
              <a:t>like </a:t>
            </a:r>
            <a:r>
              <a:rPr sz="2200" dirty="0">
                <a:latin typeface="Cambria" panose="02040503050406030204" pitchFamily="18" charset="0"/>
                <a:ea typeface="Cambria" panose="02040503050406030204" pitchFamily="18" charset="0"/>
                <a:cs typeface="URW Gothic"/>
              </a:rPr>
              <a:t>to </a:t>
            </a:r>
            <a:r>
              <a:rPr sz="2200" spc="-5" dirty="0">
                <a:latin typeface="Cambria" panose="02040503050406030204" pitchFamily="18" charset="0"/>
                <a:ea typeface="Cambria" panose="02040503050406030204" pitchFamily="18" charset="0"/>
                <a:cs typeface="URW Gothic"/>
              </a:rPr>
              <a:t>request for  one </a:t>
            </a:r>
            <a:r>
              <a:rPr sz="2200" dirty="0">
                <a:latin typeface="Cambria" panose="02040503050406030204" pitchFamily="18" charset="0"/>
                <a:ea typeface="Cambria" panose="02040503050406030204" pitchFamily="18" charset="0"/>
                <a:cs typeface="URW Gothic"/>
              </a:rPr>
              <a:t>to </a:t>
            </a:r>
            <a:r>
              <a:rPr sz="2200" spc="-5" dirty="0">
                <a:latin typeface="Cambria" panose="02040503050406030204" pitchFamily="18" charset="0"/>
                <a:ea typeface="Cambria" panose="02040503050406030204" pitchFamily="18" charset="0"/>
                <a:cs typeface="URW Gothic"/>
              </a:rPr>
              <a:t>one replacement or full refund. I hope </a:t>
            </a:r>
            <a:r>
              <a:rPr sz="2200" dirty="0">
                <a:latin typeface="Cambria" panose="02040503050406030204" pitchFamily="18" charset="0"/>
                <a:ea typeface="Cambria" panose="02040503050406030204" pitchFamily="18" charset="0"/>
                <a:cs typeface="URW Gothic"/>
              </a:rPr>
              <a:t>to </a:t>
            </a:r>
            <a:r>
              <a:rPr sz="2200" spc="-10" dirty="0">
                <a:latin typeface="Cambria" panose="02040503050406030204" pitchFamily="18" charset="0"/>
                <a:ea typeface="Cambria" panose="02040503050406030204" pitchFamily="18" charset="0"/>
                <a:cs typeface="URW Gothic"/>
              </a:rPr>
              <a:t>get your </a:t>
            </a:r>
            <a:r>
              <a:rPr sz="2200" spc="-5" dirty="0">
                <a:latin typeface="Cambria" panose="02040503050406030204" pitchFamily="18" charset="0"/>
                <a:ea typeface="Cambria" panose="02040503050406030204" pitchFamily="18" charset="0"/>
                <a:cs typeface="URW Gothic"/>
              </a:rPr>
              <a:t>response as </a:t>
            </a:r>
            <a:r>
              <a:rPr sz="2200" spc="-10" dirty="0">
                <a:latin typeface="Cambria" panose="02040503050406030204" pitchFamily="18" charset="0"/>
                <a:ea typeface="Cambria" panose="02040503050406030204" pitchFamily="18" charset="0"/>
                <a:cs typeface="URW Gothic"/>
              </a:rPr>
              <a:t>soon  </a:t>
            </a:r>
            <a:r>
              <a:rPr sz="2200" spc="-5" dirty="0">
                <a:latin typeface="Cambria" panose="02040503050406030204" pitchFamily="18" charset="0"/>
                <a:ea typeface="Cambria" panose="02040503050406030204" pitchFamily="18" charset="0"/>
                <a:cs typeface="URW Gothic"/>
              </a:rPr>
              <a:t>as possible as </a:t>
            </a:r>
            <a:r>
              <a:rPr sz="2200" dirty="0">
                <a:latin typeface="Cambria" panose="02040503050406030204" pitchFamily="18" charset="0"/>
                <a:ea typeface="Cambria" panose="02040503050406030204" pitchFamily="18" charset="0"/>
                <a:cs typeface="URW Gothic"/>
              </a:rPr>
              <a:t>to </a:t>
            </a:r>
            <a:r>
              <a:rPr sz="2200" spc="-5" dirty="0">
                <a:latin typeface="Cambria" panose="02040503050406030204" pitchFamily="18" charset="0"/>
                <a:ea typeface="Cambria" panose="02040503050406030204" pitchFamily="18" charset="0"/>
                <a:cs typeface="URW Gothic"/>
              </a:rPr>
              <a:t>remedy </a:t>
            </a:r>
            <a:r>
              <a:rPr sz="2200" dirty="0">
                <a:latin typeface="Cambria" panose="02040503050406030204" pitchFamily="18" charset="0"/>
                <a:ea typeface="Cambria" panose="02040503050406030204" pitchFamily="18" charset="0"/>
                <a:cs typeface="URW Gothic"/>
              </a:rPr>
              <a:t>this </a:t>
            </a:r>
            <a:r>
              <a:rPr sz="2200" spc="-5" dirty="0">
                <a:latin typeface="Cambria" panose="02040503050406030204" pitchFamily="18" charset="0"/>
                <a:ea typeface="Cambria" panose="02040503050406030204" pitchFamily="18" charset="0"/>
                <a:cs typeface="URW Gothic"/>
              </a:rPr>
              <a:t>issue</a:t>
            </a:r>
            <a:r>
              <a:rPr sz="2200" spc="-65" dirty="0">
                <a:latin typeface="Cambria" panose="02040503050406030204" pitchFamily="18" charset="0"/>
                <a:ea typeface="Cambria" panose="02040503050406030204" pitchFamily="18" charset="0"/>
                <a:cs typeface="URW Gothic"/>
              </a:rPr>
              <a:t> </a:t>
            </a:r>
            <a:r>
              <a:rPr sz="2200" spc="-5" dirty="0">
                <a:latin typeface="Cambria" panose="02040503050406030204" pitchFamily="18" charset="0"/>
                <a:ea typeface="Cambria" panose="02040503050406030204" pitchFamily="18" charset="0"/>
                <a:cs typeface="URW Gothic"/>
              </a:rPr>
              <a:t>accordingly.</a:t>
            </a:r>
            <a:endParaRPr sz="2200" dirty="0">
              <a:latin typeface="Cambria" panose="02040503050406030204" pitchFamily="18" charset="0"/>
              <a:ea typeface="Cambria" panose="02040503050406030204" pitchFamily="18" charset="0"/>
              <a:cs typeface="URW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a:xfrm>
            <a:off x="990600" y="685800"/>
            <a:ext cx="9982200" cy="6730048"/>
          </a:xfrm>
        </p:spPr>
        <p:txBody>
          <a:bodyPr/>
          <a:lstStyle/>
          <a:p>
            <a:pPr marL="12700" marR="0" lvl="0" indent="0" algn="just" defTabSz="914400" rtl="0" eaLnBrk="1" fontAlgn="auto" latinLnBrk="0" hangingPunct="1">
              <a:lnSpc>
                <a:spcPct val="100000"/>
              </a:lnSpc>
              <a:spcBef>
                <a:spcPts val="845"/>
              </a:spcBef>
              <a:spcAft>
                <a:spcPts val="0"/>
              </a:spcAft>
              <a:buClrTx/>
              <a:buSzTx/>
              <a:buFontTx/>
              <a:buNone/>
              <a:defRPr/>
            </a:pPr>
            <a:r>
              <a:rPr lang="en-US" sz="2200" b="1" i="1" kern="1200" spc="-10" dirty="0">
                <a:solidFill>
                  <a:prstClr val="black"/>
                </a:solidFill>
                <a:latin typeface="Cambria" panose="02040503050406030204" pitchFamily="18" charset="0"/>
                <a:ea typeface="Cambria" panose="02040503050406030204" pitchFamily="18" charset="0"/>
              </a:rPr>
              <a:t>**negative news – urgent to be delivered</a:t>
            </a:r>
          </a:p>
          <a:p>
            <a:pPr marL="12700" marR="0" lvl="0" indent="0" algn="just" defTabSz="914400" rtl="0" eaLnBrk="1" fontAlgn="auto" latinLnBrk="0" hangingPunct="1">
              <a:lnSpc>
                <a:spcPct val="100000"/>
              </a:lnSpc>
              <a:spcBef>
                <a:spcPts val="845"/>
              </a:spcBef>
              <a:spcAft>
                <a:spcPts val="0"/>
              </a:spcAft>
              <a:buClrTx/>
              <a:buSzTx/>
              <a:buFontTx/>
              <a:buNone/>
              <a:defRPr/>
            </a:pPr>
            <a:endParaRPr lang="en-US" sz="2200" kern="1200" spc="-10" dirty="0">
              <a:solidFill>
                <a:prstClr val="black"/>
              </a:solidFill>
              <a:latin typeface="Cambria" panose="02040503050406030204" pitchFamily="18" charset="0"/>
              <a:ea typeface="Cambria" panose="02040503050406030204" pitchFamily="18" charset="0"/>
            </a:endParaRPr>
          </a:p>
          <a:p>
            <a:pPr marL="12700" marR="0" lvl="0" indent="0" algn="just" defTabSz="914400" rtl="0" eaLnBrk="1" fontAlgn="auto" latinLnBrk="0" hangingPunct="1">
              <a:lnSpc>
                <a:spcPct val="100000"/>
              </a:lnSpc>
              <a:spcBef>
                <a:spcPts val="845"/>
              </a:spcBef>
              <a:spcAft>
                <a:spcPts val="0"/>
              </a:spcAft>
              <a:buClrTx/>
              <a:buSzTx/>
              <a:buFontTx/>
              <a:buNone/>
              <a:defRPr/>
            </a:pPr>
            <a:r>
              <a:rPr lang="en-US" sz="2200" kern="1200" spc="-10" dirty="0">
                <a:solidFill>
                  <a:prstClr val="black"/>
                </a:solidFill>
                <a:latin typeface="Cambria" panose="02040503050406030204" pitchFamily="18" charset="0"/>
                <a:ea typeface="Cambria" panose="02040503050406030204" pitchFamily="18" charset="0"/>
              </a:rPr>
              <a:t>Dear</a:t>
            </a:r>
            <a:r>
              <a:rPr lang="en-US" sz="2200" kern="1200" spc="-5" dirty="0">
                <a:solidFill>
                  <a:prstClr val="black"/>
                </a:solidFill>
                <a:latin typeface="Cambria" panose="02040503050406030204" pitchFamily="18" charset="0"/>
                <a:ea typeface="Cambria" panose="02040503050406030204" pitchFamily="18" charset="0"/>
              </a:rPr>
              <a:t> </a:t>
            </a:r>
            <a:r>
              <a:rPr lang="en-US" sz="2200" kern="1200" spc="-10" dirty="0">
                <a:solidFill>
                  <a:prstClr val="black"/>
                </a:solidFill>
                <a:latin typeface="Cambria" panose="02040503050406030204" pitchFamily="18" charset="0"/>
                <a:ea typeface="Cambria" panose="02040503050406030204" pitchFamily="18" charset="0"/>
              </a:rPr>
              <a:t>(name),</a:t>
            </a:r>
            <a:endParaRPr lang="en-US" sz="2200" kern="1200" dirty="0">
              <a:solidFill>
                <a:prstClr val="black"/>
              </a:solidFill>
              <a:latin typeface="Cambria" panose="02040503050406030204" pitchFamily="18" charset="0"/>
              <a:ea typeface="Cambria" panose="02040503050406030204" pitchFamily="18" charset="0"/>
            </a:endParaRPr>
          </a:p>
          <a:p>
            <a:pPr marL="12700" marR="0" lvl="0" indent="0" algn="just" defTabSz="914400" rtl="0" eaLnBrk="1" fontAlgn="auto" latinLnBrk="0" hangingPunct="1">
              <a:lnSpc>
                <a:spcPct val="100000"/>
              </a:lnSpc>
              <a:spcBef>
                <a:spcPts val="740"/>
              </a:spcBef>
              <a:spcAft>
                <a:spcPts val="0"/>
              </a:spcAft>
              <a:buClrTx/>
              <a:buSzTx/>
              <a:buFontTx/>
              <a:buNone/>
              <a:defRPr/>
            </a:pPr>
            <a:r>
              <a:rPr lang="en-US" sz="2200" kern="1200" spc="-10" dirty="0">
                <a:solidFill>
                  <a:prstClr val="black"/>
                </a:solidFill>
                <a:latin typeface="Cambria" panose="02040503050406030204" pitchFamily="18" charset="0"/>
                <a:ea typeface="Cambria" panose="02040503050406030204" pitchFamily="18" charset="0"/>
              </a:rPr>
              <a:t>Subject</a:t>
            </a:r>
            <a:r>
              <a:rPr lang="en-US" sz="2200" u="heavy" kern="1200" spc="-10" dirty="0">
                <a:solidFill>
                  <a:prstClr val="black"/>
                </a:solidFill>
                <a:uFill>
                  <a:solidFill>
                    <a:srgbClr val="000000"/>
                  </a:solidFill>
                </a:uFill>
                <a:latin typeface="Cambria" panose="02040503050406030204" pitchFamily="18" charset="0"/>
                <a:ea typeface="Cambria" panose="02040503050406030204" pitchFamily="18" charset="0"/>
              </a:rPr>
              <a:t>: Relocation of Your Workplace</a:t>
            </a:r>
          </a:p>
          <a:p>
            <a:pPr marL="12700" marR="0" lvl="0" indent="0" algn="just" defTabSz="914400" rtl="0" eaLnBrk="1" fontAlgn="auto" latinLnBrk="0" hangingPunct="1">
              <a:lnSpc>
                <a:spcPct val="100000"/>
              </a:lnSpc>
              <a:spcBef>
                <a:spcPts val="740"/>
              </a:spcBef>
              <a:spcAft>
                <a:spcPts val="0"/>
              </a:spcAft>
              <a:buClrTx/>
              <a:buSzTx/>
              <a:buFontTx/>
              <a:buNone/>
              <a:defRPr/>
            </a:pPr>
            <a:r>
              <a:rPr lang="en-US" sz="2000" kern="1200" spc="-10" dirty="0">
                <a:solidFill>
                  <a:prstClr val="black"/>
                </a:solidFill>
                <a:uFill>
                  <a:solidFill>
                    <a:srgbClr val="000000"/>
                  </a:solidFill>
                </a:uFill>
                <a:latin typeface="Cambria" panose="02040503050406030204" pitchFamily="18" charset="0"/>
                <a:ea typeface="Cambria" panose="02040503050406030204" pitchFamily="18" charset="0"/>
              </a:rPr>
              <a:t>This is to inform that our company has decided to relocate your team to our branch office located in Jakarta, Indonesia with immediate effect. This is an urgent instruction by our board of directors and if fail to comply, we have to terminate your employment with us.</a:t>
            </a:r>
          </a:p>
          <a:p>
            <a:pPr marL="12700" marR="0" lvl="0" indent="0" algn="just" defTabSz="914400" rtl="0" eaLnBrk="1" fontAlgn="auto" latinLnBrk="0" hangingPunct="1">
              <a:lnSpc>
                <a:spcPct val="100000"/>
              </a:lnSpc>
              <a:spcBef>
                <a:spcPts val="740"/>
              </a:spcBef>
              <a:spcAft>
                <a:spcPts val="0"/>
              </a:spcAft>
              <a:buClrTx/>
              <a:buSzTx/>
              <a:buFontTx/>
              <a:buNone/>
              <a:defRPr/>
            </a:pPr>
            <a:endParaRPr lang="en-US" sz="2000" kern="1200" spc="-10" dirty="0">
              <a:solidFill>
                <a:prstClr val="black"/>
              </a:solidFill>
              <a:uFill>
                <a:solidFill>
                  <a:srgbClr val="000000"/>
                </a:solidFill>
              </a:uFill>
              <a:latin typeface="Cambria" panose="02040503050406030204" pitchFamily="18" charset="0"/>
              <a:ea typeface="Cambria" panose="02040503050406030204" pitchFamily="18" charset="0"/>
            </a:endParaRPr>
          </a:p>
          <a:p>
            <a:pPr marL="12700" marR="0" lvl="0" indent="0" algn="just" defTabSz="914400" rtl="0" eaLnBrk="1" fontAlgn="auto" latinLnBrk="0" hangingPunct="1">
              <a:lnSpc>
                <a:spcPct val="100000"/>
              </a:lnSpc>
              <a:spcBef>
                <a:spcPts val="740"/>
              </a:spcBef>
              <a:spcAft>
                <a:spcPts val="0"/>
              </a:spcAft>
              <a:buClrTx/>
              <a:buSzTx/>
              <a:buFontTx/>
              <a:buNone/>
              <a:defRPr/>
            </a:pPr>
            <a:r>
              <a:rPr lang="en-US" sz="2000" kern="1200" spc="-10" dirty="0">
                <a:solidFill>
                  <a:prstClr val="black"/>
                </a:solidFill>
                <a:uFill>
                  <a:solidFill>
                    <a:srgbClr val="000000"/>
                  </a:solidFill>
                </a:uFill>
                <a:latin typeface="Cambria" panose="02040503050406030204" pitchFamily="18" charset="0"/>
                <a:ea typeface="Cambria" panose="02040503050406030204" pitchFamily="18" charset="0"/>
              </a:rPr>
              <a:t>This relocation of the workplace is one of the requirement as stated in employee’s employment contract. Our company needs to take this urgent relocation as our branch in Indonesia is currently facing issues on shortage of experienced manpower. Thus, we think that your team can assist in leading the company’s growth. Due to that, we need your feedback on this matter as soon as possible.</a:t>
            </a:r>
          </a:p>
          <a:p>
            <a:pPr marL="12700" marR="0" lvl="0" indent="0" algn="just" defTabSz="914400" rtl="0" eaLnBrk="1" fontAlgn="auto" latinLnBrk="0" hangingPunct="1">
              <a:lnSpc>
                <a:spcPct val="100000"/>
              </a:lnSpc>
              <a:spcBef>
                <a:spcPts val="740"/>
              </a:spcBef>
              <a:spcAft>
                <a:spcPts val="0"/>
              </a:spcAft>
              <a:buClrTx/>
              <a:buSzTx/>
              <a:buFontTx/>
              <a:buNone/>
              <a:defRPr/>
            </a:pPr>
            <a:endParaRPr lang="en-US" sz="2000" kern="1200" spc="-10" dirty="0">
              <a:solidFill>
                <a:prstClr val="black"/>
              </a:solidFill>
              <a:uFill>
                <a:solidFill>
                  <a:srgbClr val="000000"/>
                </a:solidFill>
              </a:uFill>
              <a:latin typeface="Cambria" panose="02040503050406030204" pitchFamily="18" charset="0"/>
              <a:ea typeface="Cambria" panose="02040503050406030204" pitchFamily="18" charset="0"/>
            </a:endParaRPr>
          </a:p>
          <a:p>
            <a:pPr marL="12700" marR="0" lvl="0" indent="0" algn="just" defTabSz="914400" rtl="0" eaLnBrk="1" fontAlgn="auto" latinLnBrk="0" hangingPunct="1">
              <a:lnSpc>
                <a:spcPct val="100000"/>
              </a:lnSpc>
              <a:spcBef>
                <a:spcPts val="740"/>
              </a:spcBef>
              <a:spcAft>
                <a:spcPts val="0"/>
              </a:spcAft>
              <a:buClrTx/>
              <a:buSzTx/>
              <a:buFontTx/>
              <a:buNone/>
              <a:defRPr/>
            </a:pPr>
            <a:r>
              <a:rPr lang="en-US" sz="2000" kern="1200" spc="-10" dirty="0">
                <a:solidFill>
                  <a:prstClr val="black"/>
                </a:solidFill>
                <a:uFill>
                  <a:solidFill>
                    <a:srgbClr val="000000"/>
                  </a:solidFill>
                </a:uFill>
                <a:latin typeface="Cambria" panose="02040503050406030204" pitchFamily="18" charset="0"/>
                <a:ea typeface="Cambria" panose="02040503050406030204" pitchFamily="18" charset="0"/>
              </a:rPr>
              <a:t>We look forward to your feedback. Thank you for your cooperation.</a:t>
            </a:r>
          </a:p>
          <a:p>
            <a:pPr marL="12700" marR="0" lvl="0" indent="0" algn="just" defTabSz="914400" rtl="0" eaLnBrk="1" fontAlgn="auto" latinLnBrk="0" hangingPunct="1">
              <a:lnSpc>
                <a:spcPct val="100000"/>
              </a:lnSpc>
              <a:spcBef>
                <a:spcPts val="740"/>
              </a:spcBef>
              <a:spcAft>
                <a:spcPts val="0"/>
              </a:spcAft>
              <a:buClrTx/>
              <a:buSzTx/>
              <a:buFontTx/>
              <a:buNone/>
              <a:defRPr/>
            </a:pPr>
            <a:endParaRPr lang="en-US" sz="2200" kern="1200" spc="-10" dirty="0">
              <a:solidFill>
                <a:prstClr val="black"/>
              </a:solidFill>
              <a:uFill>
                <a:solidFill>
                  <a:srgbClr val="000000"/>
                </a:solidFill>
              </a:uFill>
            </a:endParaRPr>
          </a:p>
          <a:p>
            <a:pPr marL="12700" marR="0" lvl="0" indent="0" algn="just" defTabSz="914400" rtl="0" eaLnBrk="1" fontAlgn="auto" latinLnBrk="0" hangingPunct="1">
              <a:lnSpc>
                <a:spcPct val="100000"/>
              </a:lnSpc>
              <a:spcBef>
                <a:spcPts val="740"/>
              </a:spcBef>
              <a:spcAft>
                <a:spcPts val="0"/>
              </a:spcAft>
              <a:buClrTx/>
              <a:buSzTx/>
              <a:buFontTx/>
              <a:buNone/>
              <a:defRPr/>
            </a:pPr>
            <a:endParaRPr lang="en-US" sz="2200" u="heavy" kern="1200" spc="-10" dirty="0">
              <a:solidFill>
                <a:prstClr val="black"/>
              </a:solidFill>
              <a:uFill>
                <a:solidFill>
                  <a:srgbClr val="000000"/>
                </a:solidFill>
              </a:uFill>
            </a:endParaRPr>
          </a:p>
          <a:p>
            <a:pPr marL="12700" marR="0" lvl="0" indent="0" algn="just" defTabSz="914400" rtl="0" eaLnBrk="1" fontAlgn="auto" latinLnBrk="0" hangingPunct="1">
              <a:lnSpc>
                <a:spcPct val="100000"/>
              </a:lnSpc>
              <a:spcBef>
                <a:spcPts val="740"/>
              </a:spcBef>
              <a:spcAft>
                <a:spcPts val="0"/>
              </a:spcAft>
              <a:buClrTx/>
              <a:buSzTx/>
              <a:buFontTx/>
              <a:buNone/>
              <a:defRPr/>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14400"/>
            <a:ext cx="10515600" cy="4351338"/>
          </a:xfrm>
        </p:spPr>
        <p:txBody>
          <a:bodyPr>
            <a:normAutofit fontScale="85000" lnSpcReduction="20000"/>
          </a:bodyPr>
          <a:lstStyle/>
          <a:p>
            <a:pPr marL="0" indent="0">
              <a:buNone/>
            </a:pPr>
            <a:r>
              <a:rPr lang="en-US" sz="2200" b="1" i="1" dirty="0">
                <a:latin typeface="Cambria" panose="02040503050406030204" pitchFamily="18" charset="0"/>
                <a:ea typeface="Cambria" panose="02040503050406030204" pitchFamily="18" charset="0"/>
              </a:rPr>
              <a:t>**negative news - </a:t>
            </a:r>
            <a:r>
              <a:rPr lang="en-US" sz="2200" b="1" i="1" spc="-5" dirty="0">
                <a:latin typeface="Cambria" panose="02040503050406030204" pitchFamily="18" charset="0"/>
                <a:ea typeface="Cambria" panose="02040503050406030204" pitchFamily="18" charset="0"/>
                <a:cs typeface="Times New Roman" panose="02020503050405090304"/>
              </a:rPr>
              <a:t>situation is minor and the news will cause your audience little pain or  disappointment</a:t>
            </a:r>
          </a:p>
          <a:p>
            <a:pPr marL="0" indent="0">
              <a:lnSpc>
                <a:spcPct val="150000"/>
              </a:lnSpc>
              <a:buNone/>
            </a:pPr>
            <a:r>
              <a:rPr lang="en-US" sz="2400" dirty="0">
                <a:latin typeface="Cambria" panose="02040503050406030204" pitchFamily="18" charset="0"/>
                <a:ea typeface="Cambria" panose="02040503050406030204" pitchFamily="18" charset="0"/>
              </a:rPr>
              <a:t>Dear Lucy,</a:t>
            </a:r>
          </a:p>
          <a:p>
            <a:pPr marL="0" indent="0">
              <a:lnSpc>
                <a:spcPct val="150000"/>
              </a:lnSpc>
              <a:buNone/>
            </a:pPr>
            <a:r>
              <a:rPr lang="en-US" sz="2400" dirty="0">
                <a:latin typeface="Cambria" panose="02040503050406030204" pitchFamily="18" charset="0"/>
                <a:ea typeface="Cambria" panose="02040503050406030204" pitchFamily="18" charset="0"/>
              </a:rPr>
              <a:t>Subject: Additional Working Day (Saturday, 6 December 2026)</a:t>
            </a:r>
          </a:p>
          <a:p>
            <a:pPr marL="0" indent="0">
              <a:buNone/>
            </a:pPr>
            <a:r>
              <a:rPr lang="en-US" sz="2400" dirty="0">
                <a:latin typeface="Cambria" panose="02040503050406030204" pitchFamily="18" charset="0"/>
                <a:ea typeface="Cambria" panose="02040503050406030204" pitchFamily="18" charset="0"/>
              </a:rPr>
              <a:t>This is to inform you that your team need to work on the above-mentioned day. This is due to the high volume of order that we received for this month.</a:t>
            </a:r>
          </a:p>
          <a:p>
            <a:endParaRPr lang="en-US" sz="2400" dirty="0">
              <a:latin typeface="Cambria" panose="02040503050406030204" pitchFamily="18" charset="0"/>
              <a:ea typeface="Cambria" panose="02040503050406030204" pitchFamily="18" charset="0"/>
            </a:endParaRPr>
          </a:p>
          <a:p>
            <a:pPr marL="0" indent="0">
              <a:buNone/>
            </a:pPr>
            <a:r>
              <a:rPr lang="en-US" sz="2400" dirty="0">
                <a:latin typeface="Cambria" panose="02040503050406030204" pitchFamily="18" charset="0"/>
                <a:ea typeface="Cambria" panose="02040503050406030204" pitchFamily="18" charset="0"/>
              </a:rPr>
              <a:t>Your team will be in-charged of sorting and packing the order. By doing so, our order can be delivered to our customers by end of the month. This action is necessary as we have to maintain our first-class service.</a:t>
            </a:r>
          </a:p>
          <a:p>
            <a:endParaRPr lang="en-US" sz="2400" dirty="0">
              <a:latin typeface="Cambria" panose="02040503050406030204" pitchFamily="18" charset="0"/>
              <a:ea typeface="Cambria" panose="02040503050406030204" pitchFamily="18" charset="0"/>
            </a:endParaRPr>
          </a:p>
          <a:p>
            <a:pPr marL="0" indent="0">
              <a:buNone/>
            </a:pPr>
            <a:r>
              <a:rPr lang="en-US" sz="2400" dirty="0">
                <a:latin typeface="Cambria" panose="02040503050406030204" pitchFamily="18" charset="0"/>
                <a:ea typeface="Cambria" panose="02040503050406030204" pitchFamily="18" charset="0"/>
              </a:rPr>
              <a:t>Your team’s contribution is highly appreciated. Please communicate directly with me if there are any concerns about this matter.</a:t>
            </a:r>
          </a:p>
          <a:p>
            <a:pPr marL="0" indent="0">
              <a:lnSpc>
                <a:spcPct val="150000"/>
              </a:lnSpc>
              <a:buNone/>
            </a:pPr>
            <a:endParaRPr lang="en-US" sz="2400" dirty="0"/>
          </a:p>
          <a:p>
            <a:pPr marL="0" indent="0">
              <a:buNone/>
            </a:pPr>
            <a:endParaRPr lang="en-US" sz="2200" b="1" i="1" spc="-5" dirty="0">
              <a:latin typeface="Cambria" panose="02040503050406030204" pitchFamily="18" charset="0"/>
              <a:ea typeface="Cambria" panose="02040503050406030204" pitchFamily="18" charset="0"/>
              <a:cs typeface="Times New Roman" panose="02020503050405090304"/>
            </a:endParaRPr>
          </a:p>
          <a:p>
            <a:pPr marL="0" indent="0">
              <a:buNone/>
            </a:pPr>
            <a:endParaRPr lang="en-US" sz="2200"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3818" y="1981200"/>
            <a:ext cx="8610600" cy="861774"/>
          </a:xfrm>
        </p:spPr>
        <p:txBody>
          <a:bodyPr/>
          <a:lstStyle/>
          <a:p>
            <a:r>
              <a:rPr lang="en-US" sz="2800" dirty="0">
                <a:latin typeface="Cambria" panose="02040503050406030204" pitchFamily="18" charset="0"/>
                <a:ea typeface="Cambria" panose="02040503050406030204" pitchFamily="18" charset="0"/>
              </a:rPr>
              <a:t>NEGATIVE LETTER OF RECOMMENDATION</a:t>
            </a:r>
            <a:br>
              <a:rPr lang="en-US" sz="2800" dirty="0"/>
            </a:br>
            <a:endParaRPr lang="en-US" sz="2800" dirty="0"/>
          </a:p>
        </p:txBody>
      </p:sp>
      <p:graphicFrame>
        <p:nvGraphicFramePr>
          <p:cNvPr id="4" name="Table 3"/>
          <p:cNvGraphicFramePr>
            <a:graphicFrameLocks noGrp="1"/>
          </p:cNvGraphicFramePr>
          <p:nvPr/>
        </p:nvGraphicFramePr>
        <p:xfrm>
          <a:off x="1633818" y="3048000"/>
          <a:ext cx="8839200" cy="1828800"/>
        </p:xfrm>
        <a:graphic>
          <a:graphicData uri="http://schemas.openxmlformats.org/drawingml/2006/table">
            <a:tbl>
              <a:tblPr firstRow="1" bandRow="1">
                <a:tableStyleId>{5C22544A-7EE6-4342-B048-85BDC9FD1C3A}</a:tableStyleId>
              </a:tblPr>
              <a:tblGrid>
                <a:gridCol w="4419600">
                  <a:extLst>
                    <a:ext uri="{9D8B030D-6E8A-4147-A177-3AD203B41FA5}">
                      <a16:colId xmlns:a16="http://schemas.microsoft.com/office/drawing/2014/main" val="20000"/>
                    </a:ext>
                  </a:extLst>
                </a:gridCol>
                <a:gridCol w="4419600">
                  <a:extLst>
                    <a:ext uri="{9D8B030D-6E8A-4147-A177-3AD203B41FA5}">
                      <a16:colId xmlns:a16="http://schemas.microsoft.com/office/drawing/2014/main" val="20001"/>
                    </a:ext>
                  </a:extLst>
                </a:gridCol>
              </a:tblGrid>
              <a:tr h="1828800">
                <a:tc>
                  <a:txBody>
                    <a:bodyPr/>
                    <a:lstStyle/>
                    <a:p>
                      <a:r>
                        <a:rPr lang="en-US" sz="2800" dirty="0">
                          <a:latin typeface="Cambria" panose="02040503050406030204" pitchFamily="18" charset="0"/>
                          <a:ea typeface="Cambria" panose="02040503050406030204" pitchFamily="18" charset="0"/>
                        </a:rPr>
                        <a:t>Requested by Businesses – companies request information on potential candidates</a:t>
                      </a:r>
                    </a:p>
                  </a:txBody>
                  <a:tcPr/>
                </a:tc>
                <a:tc>
                  <a:txBody>
                    <a:bodyPr/>
                    <a:lstStyle/>
                    <a:p>
                      <a:r>
                        <a:rPr lang="en-US" sz="3200" dirty="0">
                          <a:latin typeface="Cambria" panose="02040503050406030204" pitchFamily="18" charset="0"/>
                          <a:ea typeface="Cambria" panose="02040503050406030204" pitchFamily="18" charset="0"/>
                        </a:rPr>
                        <a:t>DIRECT APPROACH</a:t>
                      </a:r>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09600" y="228600"/>
            <a:ext cx="10665460" cy="6621042"/>
          </a:xfrm>
          <a:prstGeom prst="rect">
            <a:avLst/>
          </a:prstGeom>
        </p:spPr>
        <p:txBody>
          <a:bodyPr vert="horz" wrap="square" lIns="0" tIns="52069" rIns="0" bIns="0" rtlCol="0">
            <a:spAutoFit/>
          </a:bodyPr>
          <a:lstStyle/>
          <a:p>
            <a:pPr marL="12700">
              <a:lnSpc>
                <a:spcPct val="100000"/>
              </a:lnSpc>
              <a:spcBef>
                <a:spcPts val="410"/>
              </a:spcBef>
            </a:pPr>
            <a:r>
              <a:rPr sz="2200" spc="-5" dirty="0">
                <a:latin typeface="Cambria" panose="02040503050406030204" pitchFamily="18" charset="0"/>
                <a:ea typeface="Cambria" panose="02040503050406030204" pitchFamily="18" charset="0"/>
                <a:cs typeface="URW Gothic"/>
              </a:rPr>
              <a:t>Dear Mr.</a:t>
            </a:r>
            <a:r>
              <a:rPr sz="2200" spc="5" dirty="0">
                <a:latin typeface="Cambria" panose="02040503050406030204" pitchFamily="18" charset="0"/>
                <a:ea typeface="Cambria" panose="02040503050406030204" pitchFamily="18" charset="0"/>
                <a:cs typeface="URW Gothic"/>
              </a:rPr>
              <a:t> </a:t>
            </a:r>
            <a:r>
              <a:rPr lang="en-US" sz="2200" spc="-5" dirty="0">
                <a:latin typeface="Cambria" panose="02040503050406030204" pitchFamily="18" charset="0"/>
                <a:ea typeface="Cambria" panose="02040503050406030204" pitchFamily="18" charset="0"/>
                <a:cs typeface="URW Gothic"/>
              </a:rPr>
              <a:t>Nathan</a:t>
            </a:r>
            <a:r>
              <a:rPr sz="2200" spc="-5" dirty="0">
                <a:latin typeface="Cambria" panose="02040503050406030204" pitchFamily="18" charset="0"/>
                <a:ea typeface="Cambria" panose="02040503050406030204" pitchFamily="18" charset="0"/>
                <a:cs typeface="URW Gothic"/>
              </a:rPr>
              <a:t>,</a:t>
            </a:r>
            <a:endParaRPr lang="en-US" sz="2200" spc="-5" dirty="0">
              <a:latin typeface="Cambria" panose="02040503050406030204" pitchFamily="18" charset="0"/>
              <a:ea typeface="Cambria" panose="02040503050406030204" pitchFamily="18" charset="0"/>
              <a:cs typeface="URW Gothic"/>
            </a:endParaRPr>
          </a:p>
          <a:p>
            <a:pPr marL="12700">
              <a:lnSpc>
                <a:spcPct val="100000"/>
              </a:lnSpc>
              <a:spcBef>
                <a:spcPts val="410"/>
              </a:spcBef>
            </a:pPr>
            <a:endParaRPr sz="2200" dirty="0">
              <a:latin typeface="Cambria" panose="02040503050406030204" pitchFamily="18" charset="0"/>
              <a:ea typeface="Cambria" panose="02040503050406030204" pitchFamily="18" charset="0"/>
              <a:cs typeface="URW Gothic"/>
            </a:endParaRPr>
          </a:p>
          <a:p>
            <a:pPr marL="12700">
              <a:lnSpc>
                <a:spcPct val="100000"/>
              </a:lnSpc>
              <a:spcBef>
                <a:spcPts val="310"/>
              </a:spcBef>
            </a:pPr>
            <a:r>
              <a:rPr sz="2200" spc="-5" dirty="0">
                <a:latin typeface="Cambria" panose="02040503050406030204" pitchFamily="18" charset="0"/>
                <a:ea typeface="Cambria" panose="02040503050406030204" pitchFamily="18" charset="0"/>
                <a:cs typeface="URW Gothic"/>
              </a:rPr>
              <a:t>Subject: </a:t>
            </a:r>
            <a:r>
              <a:rPr lang="en-US" sz="2200" u="heavy" spc="-5" dirty="0">
                <a:uFill>
                  <a:solidFill>
                    <a:srgbClr val="000000"/>
                  </a:solidFill>
                </a:uFill>
                <a:latin typeface="Cambria" panose="02040503050406030204" pitchFamily="18" charset="0"/>
                <a:ea typeface="Cambria" panose="02040503050406030204" pitchFamily="18" charset="0"/>
                <a:cs typeface="URW Gothic"/>
              </a:rPr>
              <a:t>Mr. Ananda – Below Average Performance</a:t>
            </a:r>
          </a:p>
          <a:p>
            <a:pPr marL="12700" algn="l">
              <a:spcBef>
                <a:spcPts val="325"/>
              </a:spcBef>
            </a:pPr>
            <a:r>
              <a:rPr sz="2200" spc="-5" dirty="0">
                <a:latin typeface="Cambria" panose="02040503050406030204" pitchFamily="18" charset="0"/>
                <a:ea typeface="Cambria" panose="02040503050406030204" pitchFamily="18" charset="0"/>
                <a:cs typeface="Times New Roman" panose="02020503050405090304" pitchFamily="18" charset="0"/>
              </a:rPr>
              <a:t>This</a:t>
            </a:r>
            <a:r>
              <a:rPr sz="2200" spc="85"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is</a:t>
            </a:r>
            <a:r>
              <a:rPr sz="2200" spc="105"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to</a:t>
            </a:r>
            <a:r>
              <a:rPr sz="2200" spc="100"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inform</a:t>
            </a:r>
            <a:r>
              <a:rPr sz="2200" spc="105" dirty="0">
                <a:latin typeface="Cambria" panose="02040503050406030204" pitchFamily="18" charset="0"/>
                <a:ea typeface="Cambria" panose="02040503050406030204" pitchFamily="18" charset="0"/>
                <a:cs typeface="Times New Roman" panose="02020503050405090304" pitchFamily="18" charset="0"/>
              </a:rPr>
              <a:t> </a:t>
            </a:r>
            <a:r>
              <a:rPr sz="2200" spc="-10" dirty="0">
                <a:latin typeface="Cambria" panose="02040503050406030204" pitchFamily="18" charset="0"/>
                <a:ea typeface="Cambria" panose="02040503050406030204" pitchFamily="18" charset="0"/>
                <a:cs typeface="Times New Roman" panose="02020503050405090304" pitchFamily="18" charset="0"/>
              </a:rPr>
              <a:t>you</a:t>
            </a:r>
            <a:r>
              <a:rPr sz="2200" spc="100"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that</a:t>
            </a:r>
            <a:r>
              <a:rPr sz="2200" spc="114" dirty="0">
                <a:latin typeface="Cambria" panose="02040503050406030204" pitchFamily="18" charset="0"/>
                <a:ea typeface="Cambria" panose="02040503050406030204" pitchFamily="18" charset="0"/>
                <a:cs typeface="Times New Roman" panose="02020503050405090304" pitchFamily="18" charset="0"/>
              </a:rPr>
              <a:t> </a:t>
            </a:r>
            <a:r>
              <a:rPr lang="en-US" sz="2200" spc="-5" dirty="0">
                <a:latin typeface="Cambria" panose="02040503050406030204" pitchFamily="18" charset="0"/>
                <a:ea typeface="Cambria" panose="02040503050406030204" pitchFamily="18" charset="0"/>
                <a:cs typeface="Times New Roman" panose="02020503050405090304" pitchFamily="18" charset="0"/>
              </a:rPr>
              <a:t>Mr. Ananda </a:t>
            </a:r>
            <a:r>
              <a:rPr sz="2200" spc="-10" dirty="0">
                <a:latin typeface="Cambria" panose="02040503050406030204" pitchFamily="18" charset="0"/>
                <a:ea typeface="Cambria" panose="02040503050406030204" pitchFamily="18" charset="0"/>
                <a:cs typeface="Times New Roman" panose="02020503050405090304" pitchFamily="18" charset="0"/>
              </a:rPr>
              <a:t>was</a:t>
            </a:r>
            <a:r>
              <a:rPr sz="2200" spc="100"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a</a:t>
            </a:r>
            <a:r>
              <a:rPr lang="en-US" sz="2200" dirty="0">
                <a:latin typeface="Cambria" panose="02040503050406030204" pitchFamily="18" charset="0"/>
                <a:ea typeface="Cambria" panose="02040503050406030204" pitchFamily="18" charset="0"/>
                <a:cs typeface="Times New Roman" panose="02020503050405090304" pitchFamily="18" charset="0"/>
              </a:rPr>
              <a:t> below average employee and worked as Media Executive </a:t>
            </a:r>
            <a:r>
              <a:rPr sz="2200" spc="-5" dirty="0">
                <a:latin typeface="Cambria" panose="02040503050406030204" pitchFamily="18" charset="0"/>
                <a:ea typeface="Cambria" panose="02040503050406030204" pitchFamily="18" charset="0"/>
                <a:cs typeface="Times New Roman" panose="02020503050405090304" pitchFamily="18" charset="0"/>
              </a:rPr>
              <a:t>in</a:t>
            </a:r>
            <a:r>
              <a:rPr sz="2200" spc="100"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Grand</a:t>
            </a:r>
            <a:r>
              <a:rPr sz="2200" spc="105"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Advertising</a:t>
            </a:r>
            <a:r>
              <a:rPr sz="2200" spc="100"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Limited</a:t>
            </a:r>
            <a:r>
              <a:rPr lang="en-US" sz="2200"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from</a:t>
            </a:r>
            <a:r>
              <a:rPr lang="en-US" sz="2200" spc="-5" dirty="0">
                <a:latin typeface="Cambria" panose="02040503050406030204" pitchFamily="18" charset="0"/>
                <a:ea typeface="Cambria" panose="02040503050406030204" pitchFamily="18" charset="0"/>
                <a:cs typeface="Times New Roman" panose="02020503050405090304" pitchFamily="18" charset="0"/>
              </a:rPr>
              <a:t> 8</a:t>
            </a:r>
            <a:r>
              <a:rPr sz="2200" spc="80" dirty="0">
                <a:latin typeface="Cambria" panose="02040503050406030204" pitchFamily="18" charset="0"/>
                <a:ea typeface="Cambria" panose="02040503050406030204" pitchFamily="18" charset="0"/>
                <a:cs typeface="Times New Roman" panose="02020503050405090304" pitchFamily="18" charset="0"/>
              </a:rPr>
              <a:t> </a:t>
            </a:r>
            <a:r>
              <a:rPr lang="en-US" sz="2200" dirty="0">
                <a:latin typeface="Cambria" panose="02040503050406030204" pitchFamily="18" charset="0"/>
                <a:ea typeface="Cambria" panose="02040503050406030204" pitchFamily="18" charset="0"/>
                <a:cs typeface="Times New Roman" panose="02020503050405090304" pitchFamily="18" charset="0"/>
              </a:rPr>
              <a:t>August</a:t>
            </a:r>
            <a:r>
              <a:rPr sz="2200" spc="90"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2</a:t>
            </a:r>
            <a:r>
              <a:rPr lang="en-US" sz="2200" dirty="0">
                <a:latin typeface="Cambria" panose="02040503050406030204" pitchFamily="18" charset="0"/>
                <a:ea typeface="Cambria" panose="02040503050406030204" pitchFamily="18" charset="0"/>
                <a:cs typeface="Times New Roman" panose="02020503050405090304" pitchFamily="18" charset="0"/>
              </a:rPr>
              <a:t>025</a:t>
            </a:r>
            <a:r>
              <a:rPr sz="2200" dirty="0">
                <a:latin typeface="Cambria" panose="02040503050406030204" pitchFamily="18" charset="0"/>
                <a:ea typeface="Cambria" panose="02040503050406030204" pitchFamily="18" charset="0"/>
                <a:cs typeface="Times New Roman" panose="02020503050405090304" pitchFamily="18" charset="0"/>
              </a:rPr>
              <a:t>,</a:t>
            </a:r>
            <a:r>
              <a:rPr lang="en-US" sz="2200" spc="65"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to</a:t>
            </a:r>
            <a:r>
              <a:rPr sz="2200" spc="70" dirty="0">
                <a:latin typeface="Cambria" panose="02040503050406030204" pitchFamily="18" charset="0"/>
                <a:ea typeface="Cambria" panose="02040503050406030204" pitchFamily="18" charset="0"/>
                <a:cs typeface="Times New Roman" panose="02020503050405090304" pitchFamily="18" charset="0"/>
              </a:rPr>
              <a:t> </a:t>
            </a:r>
            <a:r>
              <a:rPr lang="en-US" sz="2200" spc="70" dirty="0">
                <a:latin typeface="Cambria" panose="02040503050406030204" pitchFamily="18" charset="0"/>
                <a:ea typeface="Cambria" panose="02040503050406030204" pitchFamily="18" charset="0"/>
                <a:cs typeface="Times New Roman" panose="02020503050405090304" pitchFamily="18" charset="0"/>
              </a:rPr>
              <a:t>30 June</a:t>
            </a:r>
            <a:r>
              <a:rPr sz="2200" spc="80"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20</a:t>
            </a:r>
            <a:r>
              <a:rPr lang="en-US" sz="2200" spc="-5" dirty="0">
                <a:latin typeface="Cambria" panose="02040503050406030204" pitchFamily="18" charset="0"/>
                <a:ea typeface="Cambria" panose="02040503050406030204" pitchFamily="18" charset="0"/>
                <a:cs typeface="Times New Roman" panose="02020503050405090304" pitchFamily="18" charset="0"/>
              </a:rPr>
              <a:t>26</a:t>
            </a:r>
            <a:r>
              <a:rPr sz="2200" spc="-5" dirty="0">
                <a:latin typeface="Cambria" panose="02040503050406030204" pitchFamily="18" charset="0"/>
                <a:ea typeface="Cambria" panose="02040503050406030204" pitchFamily="18" charset="0"/>
                <a:cs typeface="Times New Roman" panose="02020503050405090304" pitchFamily="18" charset="0"/>
              </a:rPr>
              <a:t>.</a:t>
            </a:r>
            <a:r>
              <a:rPr sz="2200" spc="65"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He</a:t>
            </a:r>
            <a:r>
              <a:rPr sz="2200" spc="80"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was</a:t>
            </a:r>
            <a:r>
              <a:rPr sz="2200" spc="85"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responsible</a:t>
            </a:r>
            <a:r>
              <a:rPr sz="2200" spc="90"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for</a:t>
            </a:r>
            <a:r>
              <a:rPr lang="en-US" sz="2200"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documenting press releases, project case revisions,</a:t>
            </a:r>
            <a:r>
              <a:rPr lang="en-US" sz="2200" spc="-5" dirty="0">
                <a:latin typeface="Cambria" panose="02040503050406030204" pitchFamily="18" charset="0"/>
                <a:ea typeface="Cambria" panose="02040503050406030204" pitchFamily="18" charset="0"/>
                <a:cs typeface="Times New Roman" panose="02020503050405090304" pitchFamily="18" charset="0"/>
              </a:rPr>
              <a:t> and</a:t>
            </a:r>
            <a:r>
              <a:rPr sz="2200" spc="-5" dirty="0">
                <a:latin typeface="Cambria" panose="02040503050406030204" pitchFamily="18" charset="0"/>
                <a:ea typeface="Cambria" panose="02040503050406030204" pitchFamily="18" charset="0"/>
                <a:cs typeface="Times New Roman" panose="02020503050405090304" pitchFamily="18" charset="0"/>
              </a:rPr>
              <a:t> development </a:t>
            </a:r>
            <a:r>
              <a:rPr sz="2200" spc="-10" dirty="0">
                <a:latin typeface="Cambria" panose="02040503050406030204" pitchFamily="18" charset="0"/>
                <a:ea typeface="Cambria" panose="02040503050406030204" pitchFamily="18" charset="0"/>
                <a:cs typeface="Times New Roman" panose="02020503050405090304" pitchFamily="18" charset="0"/>
              </a:rPr>
              <a:t>of </a:t>
            </a:r>
            <a:r>
              <a:rPr sz="2200" spc="-5" dirty="0">
                <a:latin typeface="Cambria" panose="02040503050406030204" pitchFamily="18" charset="0"/>
                <a:ea typeface="Cambria" panose="02040503050406030204" pitchFamily="18" charset="0"/>
                <a:cs typeface="Times New Roman" panose="02020503050405090304" pitchFamily="18" charset="0"/>
              </a:rPr>
              <a:t>internet </a:t>
            </a:r>
            <a:r>
              <a:rPr sz="2200" dirty="0">
                <a:latin typeface="Cambria" panose="02040503050406030204" pitchFamily="18" charset="0"/>
                <a:ea typeface="Cambria" panose="02040503050406030204" pitchFamily="18" charset="0"/>
                <a:cs typeface="Times New Roman" panose="02020503050405090304" pitchFamily="18" charset="0"/>
              </a:rPr>
              <a:t>contents</a:t>
            </a:r>
            <a:r>
              <a:rPr sz="2200" spc="-5" dirty="0">
                <a:latin typeface="Cambria" panose="02040503050406030204" pitchFamily="18" charset="0"/>
                <a:ea typeface="Cambria" panose="02040503050406030204" pitchFamily="18" charset="0"/>
                <a:cs typeface="Times New Roman" panose="02020503050405090304" pitchFamily="18" charset="0"/>
              </a:rPr>
              <a:t>. He </a:t>
            </a:r>
            <a:r>
              <a:rPr sz="2200" spc="-10" dirty="0">
                <a:latin typeface="Cambria" panose="02040503050406030204" pitchFamily="18" charset="0"/>
                <a:ea typeface="Cambria" panose="02040503050406030204" pitchFamily="18" charset="0"/>
                <a:cs typeface="Times New Roman" panose="02020503050405090304" pitchFamily="18" charset="0"/>
              </a:rPr>
              <a:t>was not </a:t>
            </a:r>
            <a:r>
              <a:rPr sz="2200" spc="-5" dirty="0">
                <a:latin typeface="Cambria" panose="02040503050406030204" pitchFamily="18" charset="0"/>
                <a:ea typeface="Cambria" panose="02040503050406030204" pitchFamily="18" charset="0"/>
                <a:cs typeface="Times New Roman" panose="02020503050405090304" pitchFamily="18" charset="0"/>
              </a:rPr>
              <a:t>up </a:t>
            </a:r>
            <a:r>
              <a:rPr sz="2200" dirty="0">
                <a:latin typeface="Cambria" panose="02040503050406030204" pitchFamily="18" charset="0"/>
                <a:ea typeface="Cambria" panose="02040503050406030204" pitchFamily="18" charset="0"/>
                <a:cs typeface="Times New Roman" panose="02020503050405090304" pitchFamily="18" charset="0"/>
              </a:rPr>
              <a:t>to </a:t>
            </a:r>
            <a:r>
              <a:rPr sz="2200" spc="-5" dirty="0">
                <a:latin typeface="Cambria" panose="02040503050406030204" pitchFamily="18" charset="0"/>
                <a:ea typeface="Cambria" panose="02040503050406030204" pitchFamily="18" charset="0"/>
                <a:cs typeface="Times New Roman" panose="02020503050405090304" pitchFamily="18" charset="0"/>
              </a:rPr>
              <a:t>the mark </a:t>
            </a:r>
            <a:r>
              <a:rPr sz="2200" spc="5" dirty="0">
                <a:latin typeface="Cambria" panose="02040503050406030204" pitchFamily="18" charset="0"/>
                <a:ea typeface="Cambria" panose="02040503050406030204" pitchFamily="18" charset="0"/>
                <a:cs typeface="Times New Roman" panose="02020503050405090304" pitchFamily="18" charset="0"/>
              </a:rPr>
              <a:t>in </a:t>
            </a:r>
            <a:r>
              <a:rPr sz="2200" spc="-5" dirty="0">
                <a:latin typeface="Cambria" panose="02040503050406030204" pitchFamily="18" charset="0"/>
                <a:ea typeface="Cambria" panose="02040503050406030204" pitchFamily="18" charset="0"/>
                <a:cs typeface="Times New Roman" panose="02020503050405090304" pitchFamily="18" charset="0"/>
              </a:rPr>
              <a:t>terms </a:t>
            </a:r>
            <a:r>
              <a:rPr sz="2200" spc="-10" dirty="0">
                <a:latin typeface="Cambria" panose="02040503050406030204" pitchFamily="18" charset="0"/>
                <a:ea typeface="Cambria" panose="02040503050406030204" pitchFamily="18" charset="0"/>
                <a:cs typeface="Times New Roman" panose="02020503050405090304" pitchFamily="18" charset="0"/>
              </a:rPr>
              <a:t>of </a:t>
            </a:r>
            <a:r>
              <a:rPr sz="2200" dirty="0">
                <a:latin typeface="Cambria" panose="02040503050406030204" pitchFamily="18" charset="0"/>
                <a:ea typeface="Cambria" panose="02040503050406030204" pitchFamily="18" charset="0"/>
                <a:cs typeface="Times New Roman" panose="02020503050405090304" pitchFamily="18" charset="0"/>
              </a:rPr>
              <a:t>his </a:t>
            </a:r>
            <a:r>
              <a:rPr sz="2200" spc="-10" dirty="0">
                <a:latin typeface="Cambria" panose="02040503050406030204" pitchFamily="18" charset="0"/>
                <a:ea typeface="Cambria" panose="02040503050406030204" pitchFamily="18" charset="0"/>
                <a:cs typeface="Times New Roman" panose="02020503050405090304" pitchFamily="18" charset="0"/>
              </a:rPr>
              <a:t>work and</a:t>
            </a:r>
            <a:r>
              <a:rPr sz="2200" spc="225"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performance.</a:t>
            </a:r>
            <a:endParaRPr sz="2200" dirty="0">
              <a:latin typeface="Cambria" panose="02040503050406030204" pitchFamily="18" charset="0"/>
              <a:ea typeface="Cambria" panose="02040503050406030204" pitchFamily="18" charset="0"/>
              <a:cs typeface="Times New Roman" panose="02020503050405090304" pitchFamily="18" charset="0"/>
            </a:endParaRPr>
          </a:p>
          <a:p>
            <a:pPr>
              <a:spcBef>
                <a:spcPts val="25"/>
              </a:spcBef>
            </a:pPr>
            <a:endParaRPr sz="2200" dirty="0">
              <a:latin typeface="Cambria" panose="02040503050406030204" pitchFamily="18" charset="0"/>
              <a:ea typeface="Cambria" panose="02040503050406030204" pitchFamily="18" charset="0"/>
              <a:cs typeface="Times New Roman" panose="02020503050405090304" pitchFamily="18" charset="0"/>
            </a:endParaRPr>
          </a:p>
          <a:p>
            <a:pPr marL="12700" algn="l">
              <a:spcBef>
                <a:spcPts val="5"/>
              </a:spcBef>
              <a:tabLst>
                <a:tab pos="1708785" algn="l"/>
                <a:tab pos="3355340" algn="l"/>
                <a:tab pos="5706745" algn="l"/>
                <a:tab pos="6075680" algn="l"/>
                <a:tab pos="7210425" algn="l"/>
                <a:tab pos="7726680" algn="l"/>
                <a:tab pos="8997315" algn="l"/>
                <a:tab pos="9511030" algn="l"/>
                <a:tab pos="10191115" algn="l"/>
              </a:tabLst>
            </a:pPr>
            <a:r>
              <a:rPr sz="2200" spc="-5" dirty="0">
                <a:latin typeface="Cambria" panose="02040503050406030204" pitchFamily="18" charset="0"/>
                <a:ea typeface="Cambria" panose="02040503050406030204" pitchFamily="18" charset="0"/>
                <a:cs typeface="Times New Roman" panose="02020503050405090304" pitchFamily="18" charset="0"/>
              </a:rPr>
              <a:t>He</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was</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able</a:t>
            </a:r>
            <a:r>
              <a:rPr lang="en-US" sz="2200"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to</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complete</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the</a:t>
            </a:r>
            <a:r>
              <a:rPr lang="en-US" sz="2200"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work</a:t>
            </a:r>
            <a:r>
              <a:rPr lang="en-US" sz="2200"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assigned</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to	</a:t>
            </a:r>
            <a:r>
              <a:rPr sz="2200" spc="-5" dirty="0">
                <a:latin typeface="Cambria" panose="02040503050406030204" pitchFamily="18" charset="0"/>
                <a:ea typeface="Cambria" panose="02040503050406030204" pitchFamily="18" charset="0"/>
                <a:cs typeface="Times New Roman" panose="02020503050405090304" pitchFamily="18" charset="0"/>
              </a:rPr>
              <a:t>him,</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spc="-10" dirty="0">
                <a:latin typeface="Cambria" panose="02040503050406030204" pitchFamily="18" charset="0"/>
                <a:ea typeface="Cambria" panose="02040503050406030204" pitchFamily="18" charset="0"/>
                <a:cs typeface="Times New Roman" panose="02020503050405090304" pitchFamily="18" charset="0"/>
              </a:rPr>
              <a:t>but</a:t>
            </a:r>
            <a:r>
              <a:rPr lang="en-US" sz="2200" spc="-10"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the	</a:t>
            </a:r>
            <a:r>
              <a:rPr sz="2200" spc="-5" dirty="0">
                <a:latin typeface="Cambria" panose="02040503050406030204" pitchFamily="18" charset="0"/>
                <a:ea typeface="Cambria" panose="02040503050406030204" pitchFamily="18" charset="0"/>
                <a:cs typeface="Times New Roman" panose="02020503050405090304" pitchFamily="18" charset="0"/>
              </a:rPr>
              <a:t>quality</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of</a:t>
            </a:r>
            <a:r>
              <a:rPr lang="en-US" sz="2200"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the</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work	</a:t>
            </a:r>
            <a:r>
              <a:rPr sz="2200" spc="-10" dirty="0">
                <a:latin typeface="Cambria" panose="02040503050406030204" pitchFamily="18" charset="0"/>
                <a:ea typeface="Cambria" panose="02040503050406030204" pitchFamily="18" charset="0"/>
                <a:cs typeface="Times New Roman" panose="02020503050405090304" pitchFamily="18" charset="0"/>
              </a:rPr>
              <a:t>was</a:t>
            </a:r>
            <a:endParaRPr sz="2200" dirty="0">
              <a:latin typeface="Cambria" panose="02040503050406030204" pitchFamily="18" charset="0"/>
              <a:ea typeface="Cambria" panose="02040503050406030204" pitchFamily="18" charset="0"/>
              <a:cs typeface="Times New Roman" panose="02020503050405090304" pitchFamily="18" charset="0"/>
            </a:endParaRPr>
          </a:p>
          <a:p>
            <a:pPr marL="12700" algn="l">
              <a:tabLst>
                <a:tab pos="1490980" algn="l"/>
                <a:tab pos="2123440" algn="l"/>
                <a:tab pos="3524250" algn="l"/>
                <a:tab pos="4275455" algn="l"/>
                <a:tab pos="5159375" algn="l"/>
                <a:tab pos="6395720" algn="l"/>
                <a:tab pos="7108825" algn="l"/>
                <a:tab pos="7499350" algn="l"/>
                <a:tab pos="7943850" algn="l"/>
                <a:tab pos="9515475" algn="l"/>
                <a:tab pos="10259695" algn="l"/>
              </a:tabLst>
            </a:pPr>
            <a:r>
              <a:rPr sz="2200" spc="-5" dirty="0">
                <a:latin typeface="Cambria" panose="02040503050406030204" pitchFamily="18" charset="0"/>
                <a:ea typeface="Cambria" panose="02040503050406030204" pitchFamily="18" charset="0"/>
                <a:cs typeface="Times New Roman" panose="02020503050405090304" pitchFamily="18" charset="0"/>
              </a:rPr>
              <a:t>satisfactory	and</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sometimes</a:t>
            </a:r>
            <a:r>
              <a:rPr lang="en-US" sz="2200"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even</a:t>
            </a:r>
            <a:r>
              <a:rPr lang="en-US" sz="2200"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below</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average.</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Most</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spc="-10" dirty="0">
                <a:latin typeface="Cambria" panose="02040503050406030204" pitchFamily="18" charset="0"/>
                <a:ea typeface="Cambria" panose="02040503050406030204" pitchFamily="18" charset="0"/>
                <a:cs typeface="Times New Roman" panose="02020503050405090304" pitchFamily="18" charset="0"/>
              </a:rPr>
              <a:t>of</a:t>
            </a:r>
            <a:r>
              <a:rPr lang="en-US" sz="2200" spc="-10"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his	</a:t>
            </a:r>
            <a:r>
              <a:rPr lang="en-US" sz="2200" spc="-5" dirty="0">
                <a:latin typeface="Cambria" panose="02040503050406030204" pitchFamily="18" charset="0"/>
                <a:ea typeface="Cambria" panose="02040503050406030204" pitchFamily="18" charset="0"/>
                <a:cs typeface="Times New Roman" panose="02020503050405090304" pitchFamily="18" charset="0"/>
              </a:rPr>
              <a:t>works </a:t>
            </a:r>
            <a:r>
              <a:rPr sz="2200" spc="-10" dirty="0">
                <a:latin typeface="Cambria" panose="02040503050406030204" pitchFamily="18" charset="0"/>
                <a:ea typeface="Cambria" panose="02040503050406030204" pitchFamily="18" charset="0"/>
                <a:cs typeface="Times New Roman" panose="02020503050405090304" pitchFamily="18" charset="0"/>
              </a:rPr>
              <a:t>were</a:t>
            </a:r>
            <a:r>
              <a:rPr lang="en-US" sz="2200" spc="-10" dirty="0">
                <a:latin typeface="Cambria" panose="02040503050406030204" pitchFamily="18" charset="0"/>
                <a:ea typeface="Cambria" panose="02040503050406030204" pitchFamily="18" charset="0"/>
                <a:cs typeface="Times New Roman" panose="02020503050405090304" pitchFamily="18" charset="0"/>
              </a:rPr>
              <a:t> in poor quality and mostly</a:t>
            </a:r>
            <a:r>
              <a:rPr lang="en-US" sz="2200" dirty="0">
                <a:latin typeface="Cambria" panose="02040503050406030204" pitchFamily="18" charset="0"/>
                <a:ea typeface="Cambria" panose="02040503050406030204" pitchFamily="18" charset="0"/>
                <a:cs typeface="Times New Roman" panose="02020503050405090304" pitchFamily="18" charset="0"/>
              </a:rPr>
              <a:t> were not </a:t>
            </a:r>
            <a:r>
              <a:rPr sz="2200" spc="-5" dirty="0">
                <a:latin typeface="Cambria" panose="02040503050406030204" pitchFamily="18" charset="0"/>
                <a:ea typeface="Cambria" panose="02040503050406030204" pitchFamily="18" charset="0"/>
                <a:cs typeface="Times New Roman" panose="02020503050405090304" pitchFamily="18" charset="0"/>
              </a:rPr>
              <a:t>submitted</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within</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the</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stipulated</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time.	</a:t>
            </a:r>
            <a:r>
              <a:rPr sz="2200" spc="-5" dirty="0">
                <a:latin typeface="Cambria" panose="02040503050406030204" pitchFamily="18" charset="0"/>
                <a:ea typeface="Cambria" panose="02040503050406030204" pitchFamily="18" charset="0"/>
                <a:cs typeface="Times New Roman" panose="02020503050405090304" pitchFamily="18" charset="0"/>
              </a:rPr>
              <a:t>In</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spite</a:t>
            </a:r>
            <a:r>
              <a:rPr lang="en-US" sz="2200" dirty="0">
                <a:latin typeface="Cambria" panose="02040503050406030204" pitchFamily="18" charset="0"/>
                <a:ea typeface="Cambria" panose="02040503050406030204" pitchFamily="18" charset="0"/>
                <a:cs typeface="Times New Roman" panose="02020503050405090304" pitchFamily="18" charset="0"/>
              </a:rPr>
              <a:t> </a:t>
            </a:r>
            <a:r>
              <a:rPr sz="2200" spc="-10" dirty="0">
                <a:latin typeface="Cambria" panose="02040503050406030204" pitchFamily="18" charset="0"/>
                <a:ea typeface="Cambria" panose="02040503050406030204" pitchFamily="18" charset="0"/>
                <a:cs typeface="Times New Roman" panose="02020503050405090304" pitchFamily="18" charset="0"/>
              </a:rPr>
              <a:t>of</a:t>
            </a:r>
            <a:r>
              <a:rPr lang="en-US" sz="2200" spc="-10"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putting</a:t>
            </a:r>
            <a:r>
              <a:rPr lang="en-US" sz="2200"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him</a:t>
            </a:r>
            <a:r>
              <a:rPr lang="en-US" sz="2200"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into</a:t>
            </a:r>
            <a:r>
              <a:rPr lang="en-US" sz="2200"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training</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spc="-10" dirty="0">
                <a:latin typeface="Cambria" panose="02040503050406030204" pitchFamily="18" charset="0"/>
                <a:ea typeface="Cambria" panose="02040503050406030204" pitchFamily="18" charset="0"/>
                <a:cs typeface="Times New Roman" panose="02020503050405090304" pitchFamily="18" charset="0"/>
              </a:rPr>
              <a:t>and</a:t>
            </a:r>
            <a:r>
              <a:rPr lang="en-US" sz="2200" spc="-10"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other</a:t>
            </a:r>
            <a:r>
              <a:rPr lang="en-US" sz="2200"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employee improvement </a:t>
            </a:r>
            <a:r>
              <a:rPr sz="2200" dirty="0">
                <a:latin typeface="Cambria" panose="02040503050406030204" pitchFamily="18" charset="0"/>
                <a:ea typeface="Cambria" panose="02040503050406030204" pitchFamily="18" charset="0"/>
                <a:cs typeface="Times New Roman" panose="02020503050405090304" pitchFamily="18" charset="0"/>
              </a:rPr>
              <a:t>programs, </a:t>
            </a:r>
            <a:r>
              <a:rPr sz="2200" spc="-10" dirty="0">
                <a:latin typeface="Cambria" panose="02040503050406030204" pitchFamily="18" charset="0"/>
                <a:ea typeface="Cambria" panose="02040503050406030204" pitchFamily="18" charset="0"/>
                <a:cs typeface="Times New Roman" panose="02020503050405090304" pitchFamily="18" charset="0"/>
              </a:rPr>
              <a:t>he </a:t>
            </a:r>
            <a:r>
              <a:rPr sz="2200" spc="-5" dirty="0">
                <a:latin typeface="Cambria" panose="02040503050406030204" pitchFamily="18" charset="0"/>
                <a:ea typeface="Cambria" panose="02040503050406030204" pitchFamily="18" charset="0"/>
                <a:cs typeface="Times New Roman" panose="02020503050405090304" pitchFamily="18" charset="0"/>
              </a:rPr>
              <a:t>did </a:t>
            </a:r>
            <a:r>
              <a:rPr sz="2200" spc="-10" dirty="0">
                <a:latin typeface="Cambria" panose="02040503050406030204" pitchFamily="18" charset="0"/>
                <a:ea typeface="Cambria" panose="02040503050406030204" pitchFamily="18" charset="0"/>
                <a:cs typeface="Times New Roman" panose="02020503050405090304" pitchFamily="18" charset="0"/>
              </a:rPr>
              <a:t>not </a:t>
            </a:r>
            <a:r>
              <a:rPr sz="2200" dirty="0">
                <a:latin typeface="Cambria" panose="02040503050406030204" pitchFamily="18" charset="0"/>
                <a:ea typeface="Cambria" panose="02040503050406030204" pitchFamily="18" charset="0"/>
                <a:cs typeface="Times New Roman" panose="02020503050405090304" pitchFamily="18" charset="0"/>
              </a:rPr>
              <a:t>show </a:t>
            </a:r>
            <a:r>
              <a:rPr sz="2200" spc="-10" dirty="0">
                <a:latin typeface="Cambria" panose="02040503050406030204" pitchFamily="18" charset="0"/>
                <a:ea typeface="Cambria" panose="02040503050406030204" pitchFamily="18" charset="0"/>
                <a:cs typeface="Times New Roman" panose="02020503050405090304" pitchFamily="18" charset="0"/>
              </a:rPr>
              <a:t>any </a:t>
            </a:r>
            <a:r>
              <a:rPr sz="2200" spc="-5" dirty="0">
                <a:latin typeface="Cambria" panose="02040503050406030204" pitchFamily="18" charset="0"/>
                <a:ea typeface="Cambria" panose="02040503050406030204" pitchFamily="18" charset="0"/>
                <a:cs typeface="Times New Roman" panose="02020503050405090304" pitchFamily="18" charset="0"/>
              </a:rPr>
              <a:t>sign </a:t>
            </a:r>
            <a:r>
              <a:rPr sz="2200" spc="-10" dirty="0">
                <a:latin typeface="Cambria" panose="02040503050406030204" pitchFamily="18" charset="0"/>
                <a:ea typeface="Cambria" panose="02040503050406030204" pitchFamily="18" charset="0"/>
                <a:cs typeface="Times New Roman" panose="02020503050405090304" pitchFamily="18" charset="0"/>
              </a:rPr>
              <a:t>of </a:t>
            </a:r>
            <a:r>
              <a:rPr sz="2200" spc="-5" dirty="0">
                <a:latin typeface="Cambria" panose="02040503050406030204" pitchFamily="18" charset="0"/>
                <a:ea typeface="Cambria" panose="02040503050406030204" pitchFamily="18" charset="0"/>
                <a:cs typeface="Times New Roman" panose="02020503050405090304" pitchFamily="18" charset="0"/>
              </a:rPr>
              <a:t>improvement </a:t>
            </a:r>
            <a:r>
              <a:rPr sz="2200" spc="-10" dirty="0">
                <a:latin typeface="Cambria" panose="02040503050406030204" pitchFamily="18" charset="0"/>
                <a:ea typeface="Cambria" panose="02040503050406030204" pitchFamily="18" charset="0"/>
                <a:cs typeface="Times New Roman" panose="02020503050405090304" pitchFamily="18" charset="0"/>
              </a:rPr>
              <a:t>or </a:t>
            </a:r>
            <a:r>
              <a:rPr sz="2200" spc="-5" dirty="0">
                <a:latin typeface="Cambria" panose="02040503050406030204" pitchFamily="18" charset="0"/>
                <a:ea typeface="Cambria" panose="02040503050406030204" pitchFamily="18" charset="0"/>
                <a:cs typeface="Times New Roman" panose="02020503050405090304" pitchFamily="18" charset="0"/>
              </a:rPr>
              <a:t>progress in</a:t>
            </a:r>
            <a:r>
              <a:rPr lang="en-US" sz="2200"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his</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work.</a:t>
            </a:r>
            <a:r>
              <a:rPr sz="2200" spc="200" dirty="0">
                <a:latin typeface="Cambria" panose="02040503050406030204" pitchFamily="18" charset="0"/>
                <a:ea typeface="Cambria" panose="02040503050406030204" pitchFamily="18" charset="0"/>
                <a:cs typeface="Times New Roman" panose="02020503050405090304" pitchFamily="18" charset="0"/>
              </a:rPr>
              <a:t> </a:t>
            </a:r>
            <a:r>
              <a:rPr lang="en-US" sz="2200" spc="200" dirty="0">
                <a:latin typeface="Cambria" panose="02040503050406030204" pitchFamily="18" charset="0"/>
                <a:ea typeface="Cambria" panose="02040503050406030204" pitchFamily="18" charset="0"/>
                <a:cs typeface="Times New Roman" panose="02020503050405090304" pitchFamily="18" charset="0"/>
              </a:rPr>
              <a:t>In addition to that, he still failed to improve even getting </a:t>
            </a:r>
            <a:r>
              <a:rPr sz="2200" spc="-5" dirty="0">
                <a:latin typeface="Cambria" panose="02040503050406030204" pitchFamily="18" charset="0"/>
                <a:ea typeface="Cambria" panose="02040503050406030204" pitchFamily="18" charset="0"/>
                <a:cs typeface="Times New Roman" panose="02020503050405090304" pitchFamily="18" charset="0"/>
              </a:rPr>
              <a:t>feedback</a:t>
            </a:r>
            <a:r>
              <a:rPr sz="2200" spc="190" dirty="0">
                <a:latin typeface="Cambria" panose="02040503050406030204" pitchFamily="18" charset="0"/>
                <a:ea typeface="Cambria" panose="02040503050406030204" pitchFamily="18" charset="0"/>
                <a:cs typeface="Times New Roman" panose="02020503050405090304" pitchFamily="18" charset="0"/>
              </a:rPr>
              <a:t> </a:t>
            </a:r>
            <a:r>
              <a:rPr sz="2200" spc="-10" dirty="0">
                <a:latin typeface="Cambria" panose="02040503050406030204" pitchFamily="18" charset="0"/>
                <a:ea typeface="Cambria" panose="02040503050406030204" pitchFamily="18" charset="0"/>
                <a:cs typeface="Times New Roman" panose="02020503050405090304" pitchFamily="18" charset="0"/>
              </a:rPr>
              <a:t>and</a:t>
            </a:r>
            <a:r>
              <a:rPr sz="2200" spc="204"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advices</a:t>
            </a:r>
            <a:r>
              <a:rPr sz="2200" spc="210" dirty="0">
                <a:latin typeface="Cambria" panose="02040503050406030204" pitchFamily="18" charset="0"/>
                <a:ea typeface="Cambria" panose="02040503050406030204" pitchFamily="18" charset="0"/>
                <a:cs typeface="Times New Roman" panose="02020503050405090304" pitchFamily="18" charset="0"/>
              </a:rPr>
              <a:t> </a:t>
            </a:r>
            <a:r>
              <a:rPr lang="en-US" sz="2200" spc="-5" dirty="0">
                <a:latin typeface="Cambria" panose="02040503050406030204" pitchFamily="18" charset="0"/>
                <a:ea typeface="Cambria" panose="02040503050406030204" pitchFamily="18" charset="0"/>
                <a:cs typeface="Times New Roman" panose="02020503050405090304" pitchFamily="18" charset="0"/>
              </a:rPr>
              <a:t>from </a:t>
            </a:r>
            <a:r>
              <a:rPr sz="2200" spc="-5" dirty="0">
                <a:latin typeface="Cambria" panose="02040503050406030204" pitchFamily="18" charset="0"/>
                <a:ea typeface="Cambria" panose="02040503050406030204" pitchFamily="18" charset="0"/>
                <a:cs typeface="Times New Roman" panose="02020503050405090304" pitchFamily="18" charset="0"/>
              </a:rPr>
              <a:t>his</a:t>
            </a:r>
            <a:r>
              <a:rPr lang="en-US" sz="2200"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superiors.</a:t>
            </a:r>
            <a:endParaRPr sz="2200" dirty="0">
              <a:latin typeface="Cambria" panose="02040503050406030204" pitchFamily="18" charset="0"/>
              <a:ea typeface="Cambria" panose="02040503050406030204" pitchFamily="18" charset="0"/>
              <a:cs typeface="Times New Roman" panose="02020503050405090304" pitchFamily="18" charset="0"/>
            </a:endParaRPr>
          </a:p>
          <a:p>
            <a:pPr>
              <a:spcBef>
                <a:spcPts val="35"/>
              </a:spcBef>
            </a:pPr>
            <a:endParaRPr sz="2200" dirty="0">
              <a:latin typeface="Cambria" panose="02040503050406030204" pitchFamily="18" charset="0"/>
              <a:ea typeface="Cambria" panose="02040503050406030204" pitchFamily="18" charset="0"/>
              <a:cs typeface="Times New Roman" panose="02020503050405090304" pitchFamily="18" charset="0"/>
            </a:endParaRPr>
          </a:p>
          <a:p>
            <a:pPr marL="12700"/>
            <a:r>
              <a:rPr sz="2200" spc="-5" dirty="0">
                <a:latin typeface="Cambria" panose="02040503050406030204" pitchFamily="18" charset="0"/>
                <a:ea typeface="Cambria" panose="02040503050406030204" pitchFamily="18" charset="0"/>
                <a:cs typeface="Times New Roman" panose="02020503050405090304" pitchFamily="18" charset="0"/>
              </a:rPr>
              <a:t>I believe  that  </a:t>
            </a:r>
            <a:r>
              <a:rPr lang="en-US" sz="2200" spc="-5" dirty="0">
                <a:latin typeface="Cambria" panose="02040503050406030204" pitchFamily="18" charset="0"/>
                <a:ea typeface="Cambria" panose="02040503050406030204" pitchFamily="18" charset="0"/>
                <a:cs typeface="Times New Roman" panose="02020503050405090304" pitchFamily="18" charset="0"/>
              </a:rPr>
              <a:t>Mr. Ananda</a:t>
            </a:r>
            <a:r>
              <a:rPr sz="2200" spc="-5"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has </a:t>
            </a:r>
            <a:r>
              <a:rPr sz="2200" spc="-5" dirty="0">
                <a:latin typeface="Cambria" panose="02040503050406030204" pitchFamily="18" charset="0"/>
                <a:ea typeface="Cambria" panose="02040503050406030204" pitchFamily="18" charset="0"/>
                <a:cs typeface="Times New Roman" panose="02020503050405090304" pitchFamily="18" charset="0"/>
              </a:rPr>
              <a:t>the  potential </a:t>
            </a:r>
            <a:r>
              <a:rPr sz="2200" dirty="0">
                <a:latin typeface="Cambria" panose="02040503050406030204" pitchFamily="18" charset="0"/>
                <a:ea typeface="Cambria" panose="02040503050406030204" pitchFamily="18" charset="0"/>
                <a:cs typeface="Times New Roman" panose="02020503050405090304" pitchFamily="18" charset="0"/>
              </a:rPr>
              <a:t>to </a:t>
            </a:r>
            <a:r>
              <a:rPr sz="2200" spc="-5" dirty="0">
                <a:latin typeface="Cambria" panose="02040503050406030204" pitchFamily="18" charset="0"/>
                <a:ea typeface="Cambria" panose="02040503050406030204" pitchFamily="18" charset="0"/>
                <a:cs typeface="Times New Roman" panose="02020503050405090304" pitchFamily="18" charset="0"/>
              </a:rPr>
              <a:t>be a good executive, </a:t>
            </a:r>
            <a:r>
              <a:rPr sz="2200" spc="-10" dirty="0">
                <a:latin typeface="Cambria" panose="02040503050406030204" pitchFamily="18" charset="0"/>
                <a:ea typeface="Cambria" panose="02040503050406030204" pitchFamily="18" charset="0"/>
                <a:cs typeface="Times New Roman" panose="02020503050405090304" pitchFamily="18" charset="0"/>
              </a:rPr>
              <a:t>but </a:t>
            </a:r>
            <a:r>
              <a:rPr lang="en-US" sz="2200" spc="-10" dirty="0">
                <a:latin typeface="Cambria" panose="02040503050406030204" pitchFamily="18" charset="0"/>
                <a:ea typeface="Cambria" panose="02040503050406030204" pitchFamily="18" charset="0"/>
                <a:cs typeface="Times New Roman" panose="02020503050405090304" pitchFamily="18" charset="0"/>
              </a:rPr>
              <a:t>his work ethics </a:t>
            </a:r>
            <a:r>
              <a:rPr sz="2200" spc="-5" dirty="0">
                <a:latin typeface="Cambria" panose="02040503050406030204" pitchFamily="18" charset="0"/>
                <a:ea typeface="Cambria" panose="02040503050406030204" pitchFamily="18" charset="0"/>
                <a:cs typeface="Times New Roman" panose="02020503050405090304" pitchFamily="18" charset="0"/>
              </a:rPr>
              <a:t>hold</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him</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from</a:t>
            </a:r>
            <a:r>
              <a:rPr lang="en-US" sz="2200" spc="-5" dirty="0">
                <a:latin typeface="Cambria" panose="02040503050406030204" pitchFamily="18" charset="0"/>
                <a:ea typeface="Cambria" panose="02040503050406030204" pitchFamily="18" charset="0"/>
                <a:cs typeface="Times New Roman" panose="02020503050405090304" pitchFamily="18" charset="0"/>
              </a:rPr>
              <a:t> </a:t>
            </a:r>
            <a:r>
              <a:rPr sz="2200" dirty="0">
                <a:latin typeface="Cambria" panose="02040503050406030204" pitchFamily="18" charset="0"/>
                <a:ea typeface="Cambria" panose="02040503050406030204" pitchFamily="18" charset="0"/>
                <a:cs typeface="Times New Roman" panose="02020503050405090304" pitchFamily="18" charset="0"/>
              </a:rPr>
              <a:t>being</a:t>
            </a:r>
            <a:r>
              <a:rPr lang="en-US" sz="2200" dirty="0">
                <a:latin typeface="Cambria" panose="02040503050406030204" pitchFamily="18" charset="0"/>
                <a:ea typeface="Cambria" panose="02040503050406030204" pitchFamily="18" charset="0"/>
                <a:cs typeface="Times New Roman" panose="02020503050405090304" pitchFamily="18" charset="0"/>
              </a:rPr>
              <a:t> </a:t>
            </a:r>
            <a:r>
              <a:rPr sz="2200" spc="-5" dirty="0">
                <a:latin typeface="Cambria" panose="02040503050406030204" pitchFamily="18" charset="0"/>
                <a:ea typeface="Cambria" panose="02040503050406030204" pitchFamily="18" charset="0"/>
                <a:cs typeface="Times New Roman" panose="02020503050405090304" pitchFamily="18" charset="0"/>
              </a:rPr>
              <a:t>so.</a:t>
            </a:r>
            <a:r>
              <a:rPr lang="en-US" sz="2200" spc="-5" dirty="0">
                <a:latin typeface="Cambria" panose="02040503050406030204" pitchFamily="18" charset="0"/>
                <a:ea typeface="Cambria" panose="02040503050406030204" pitchFamily="18" charset="0"/>
                <a:cs typeface="Times New Roman" panose="02020503050405090304" pitchFamily="18" charset="0"/>
              </a:rPr>
              <a:t> Do reach us if you need additional information regarding his performance.</a:t>
            </a:r>
            <a:endParaRPr sz="2200" dirty="0">
              <a:latin typeface="Cambria" panose="02040503050406030204" pitchFamily="18" charset="0"/>
              <a:ea typeface="Cambria" panose="02040503050406030204" pitchFamily="18" charset="0"/>
              <a:cs typeface="Times New Roman" panose="02020503050405090304" pitchFamily="18" charset="0"/>
            </a:endParaRPr>
          </a:p>
          <a:p>
            <a:pPr>
              <a:lnSpc>
                <a:spcPct val="100000"/>
              </a:lnSpc>
              <a:spcBef>
                <a:spcPts val="40"/>
              </a:spcBef>
            </a:pPr>
            <a:endParaRPr sz="2250" dirty="0">
              <a:latin typeface="URW Gothic"/>
              <a:cs typeface="URW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07666" y="2895600"/>
            <a:ext cx="8955800" cy="2030144"/>
          </a:xfrm>
          <a:prstGeom prst="rect">
            <a:avLst/>
          </a:prstGeom>
        </p:spPr>
      </p:pic>
      <p:sp>
        <p:nvSpPr>
          <p:cNvPr id="2" name="TextBox 1"/>
          <p:cNvSpPr txBox="1"/>
          <p:nvPr/>
        </p:nvSpPr>
        <p:spPr>
          <a:xfrm>
            <a:off x="1752600" y="1295400"/>
            <a:ext cx="8178165" cy="768350"/>
          </a:xfrm>
          <a:prstGeom prst="rect">
            <a:avLst/>
          </a:prstGeom>
          <a:noFill/>
        </p:spPr>
        <p:txBody>
          <a:bodyPr wrap="square" rtlCol="0">
            <a:spAutoFit/>
          </a:bodyPr>
          <a:lstStyle/>
          <a:p>
            <a:r>
              <a:rPr lang="en-US" sz="4400" b="1" spc="-5" dirty="0">
                <a:latin typeface="Cambria" panose="02040503050406030204" pitchFamily="18" charset="0"/>
                <a:ea typeface="Cambria" panose="02040503050406030204" pitchFamily="18" charset="0"/>
              </a:rPr>
              <a:t>THE INDIRECT</a:t>
            </a:r>
            <a:r>
              <a:rPr lang="en-US" sz="4400" b="1" spc="-35" dirty="0">
                <a:latin typeface="Cambria" panose="02040503050406030204" pitchFamily="18" charset="0"/>
                <a:ea typeface="Cambria" panose="02040503050406030204" pitchFamily="18" charset="0"/>
              </a:rPr>
              <a:t> </a:t>
            </a:r>
            <a:r>
              <a:rPr lang="en-US" sz="4400" b="1" spc="-10" dirty="0">
                <a:latin typeface="Cambria" panose="02040503050406030204" pitchFamily="18" charset="0"/>
                <a:ea typeface="Cambria" panose="02040503050406030204" pitchFamily="18" charset="0"/>
              </a:rPr>
              <a:t>APPROACH</a:t>
            </a:r>
            <a:endParaRPr lang="en-US" sz="4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3400" y="762000"/>
            <a:ext cx="11062335" cy="5274310"/>
          </a:xfrm>
          <a:prstGeom prst="rect">
            <a:avLst/>
          </a:prstGeom>
        </p:spPr>
        <p:txBody>
          <a:bodyPr vert="horz" wrap="square" lIns="0" tIns="106680" rIns="0" bIns="0" rtlCol="0">
            <a:spAutoFit/>
          </a:bodyPr>
          <a:lstStyle/>
          <a:p>
            <a:pPr marL="12700">
              <a:lnSpc>
                <a:spcPct val="100000"/>
              </a:lnSpc>
              <a:spcBef>
                <a:spcPts val="840"/>
              </a:spcBef>
            </a:pPr>
            <a:r>
              <a:rPr sz="2200" spc="-10" dirty="0">
                <a:latin typeface="Cambria" panose="02040503050406030204" pitchFamily="18" charset="0"/>
                <a:ea typeface="Cambria" panose="02040503050406030204" pitchFamily="18" charset="0"/>
                <a:cs typeface="URW Gothic"/>
              </a:rPr>
              <a:t>Dea</a:t>
            </a:r>
            <a:r>
              <a:rPr lang="en-US" sz="2200" spc="-10" dirty="0">
                <a:latin typeface="Cambria" panose="02040503050406030204" pitchFamily="18" charset="0"/>
                <a:ea typeface="Cambria" panose="02040503050406030204" pitchFamily="18" charset="0"/>
                <a:cs typeface="URW Gothic"/>
              </a:rPr>
              <a:t>r Cassandra,</a:t>
            </a:r>
            <a:endParaRPr lang="en-US" sz="2200" spc="-5" dirty="0">
              <a:latin typeface="Cambria" panose="02040503050406030204" pitchFamily="18" charset="0"/>
              <a:ea typeface="Cambria" panose="02040503050406030204" pitchFamily="18" charset="0"/>
              <a:cs typeface="URW Gothic"/>
            </a:endParaRPr>
          </a:p>
          <a:p>
            <a:pPr marL="12700">
              <a:lnSpc>
                <a:spcPct val="100000"/>
              </a:lnSpc>
              <a:spcBef>
                <a:spcPts val="840"/>
              </a:spcBef>
            </a:pPr>
            <a:r>
              <a:rPr lang="en-US" sz="2200" spc="-5" dirty="0">
                <a:latin typeface="Cambria" panose="02040503050406030204" pitchFamily="18" charset="0"/>
                <a:ea typeface="Cambria" panose="02040503050406030204" pitchFamily="18" charset="0"/>
                <a:cs typeface="URW Gothic"/>
              </a:rPr>
              <a:t>Subject: The Status of Your Job Application</a:t>
            </a:r>
            <a:endParaRPr sz="2200" dirty="0">
              <a:latin typeface="Cambria" panose="02040503050406030204" pitchFamily="18" charset="0"/>
              <a:ea typeface="Cambria" panose="02040503050406030204" pitchFamily="18" charset="0"/>
              <a:cs typeface="URW Gothic"/>
            </a:endParaRPr>
          </a:p>
          <a:p>
            <a:pPr marL="12700">
              <a:spcBef>
                <a:spcPts val="745"/>
              </a:spcBef>
            </a:pPr>
            <a:r>
              <a:rPr sz="2200" spc="-5" dirty="0">
                <a:latin typeface="Cambria" panose="02040503050406030204" pitchFamily="18" charset="0"/>
                <a:ea typeface="Cambria" panose="02040503050406030204" pitchFamily="18" charset="0"/>
                <a:cs typeface="URW Gothic"/>
              </a:rPr>
              <a:t>Thank </a:t>
            </a:r>
            <a:r>
              <a:rPr sz="2200" spc="-10" dirty="0">
                <a:latin typeface="Cambria" panose="02040503050406030204" pitchFamily="18" charset="0"/>
                <a:ea typeface="Cambria" panose="02040503050406030204" pitchFamily="18" charset="0"/>
                <a:cs typeface="URW Gothic"/>
              </a:rPr>
              <a:t>you </a:t>
            </a:r>
            <a:r>
              <a:rPr sz="2200" spc="-5" dirty="0">
                <a:latin typeface="Cambria" panose="02040503050406030204" pitchFamily="18" charset="0"/>
                <a:ea typeface="Cambria" panose="02040503050406030204" pitchFamily="18" charset="0"/>
                <a:cs typeface="URW Gothic"/>
              </a:rPr>
              <a:t>for </a:t>
            </a:r>
            <a:r>
              <a:rPr sz="2200" dirty="0">
                <a:latin typeface="Cambria" panose="02040503050406030204" pitchFamily="18" charset="0"/>
                <a:ea typeface="Cambria" panose="02040503050406030204" pitchFamily="18" charset="0"/>
                <a:cs typeface="URW Gothic"/>
              </a:rPr>
              <a:t>taking the time to </a:t>
            </a:r>
            <a:r>
              <a:rPr sz="2200" spc="-5" dirty="0">
                <a:latin typeface="Cambria" panose="02040503050406030204" pitchFamily="18" charset="0"/>
                <a:ea typeface="Cambria" panose="02040503050406030204" pitchFamily="18" charset="0"/>
                <a:cs typeface="URW Gothic"/>
              </a:rPr>
              <a:t>come </a:t>
            </a:r>
            <a:r>
              <a:rPr sz="2200" dirty="0">
                <a:latin typeface="Cambria" panose="02040503050406030204" pitchFamily="18" charset="0"/>
                <a:ea typeface="Cambria" panose="02040503050406030204" pitchFamily="18" charset="0"/>
                <a:cs typeface="URW Gothic"/>
              </a:rPr>
              <a:t>to </a:t>
            </a:r>
            <a:r>
              <a:rPr lang="en-US" sz="2200" spc="-10" dirty="0">
                <a:latin typeface="Cambria" panose="02040503050406030204" pitchFamily="18" charset="0"/>
                <a:ea typeface="Cambria" panose="02040503050406030204" pitchFamily="18" charset="0"/>
                <a:cs typeface="URW Gothic"/>
              </a:rPr>
              <a:t>ABS Enterprise </a:t>
            </a:r>
            <a:r>
              <a:rPr sz="2200" dirty="0">
                <a:latin typeface="Cambria" panose="02040503050406030204" pitchFamily="18" charset="0"/>
                <a:ea typeface="Cambria" panose="02040503050406030204" pitchFamily="18" charset="0"/>
                <a:cs typeface="URW Gothic"/>
              </a:rPr>
              <a:t>to </a:t>
            </a:r>
            <a:r>
              <a:rPr sz="2200" spc="-5" dirty="0">
                <a:latin typeface="Cambria" panose="02040503050406030204" pitchFamily="18" charset="0"/>
                <a:ea typeface="Cambria" panose="02040503050406030204" pitchFamily="18" charset="0"/>
                <a:cs typeface="URW Gothic"/>
              </a:rPr>
              <a:t>meet our</a:t>
            </a:r>
            <a:r>
              <a:rPr sz="2200" spc="35" dirty="0">
                <a:latin typeface="Cambria" panose="02040503050406030204" pitchFamily="18" charset="0"/>
                <a:ea typeface="Cambria" panose="02040503050406030204" pitchFamily="18" charset="0"/>
                <a:cs typeface="URW Gothic"/>
              </a:rPr>
              <a:t> </a:t>
            </a:r>
            <a:r>
              <a:rPr sz="2200" dirty="0">
                <a:latin typeface="Cambria" panose="02040503050406030204" pitchFamily="18" charset="0"/>
                <a:ea typeface="Cambria" panose="02040503050406030204" pitchFamily="18" charset="0"/>
                <a:cs typeface="URW Gothic"/>
              </a:rPr>
              <a:t>interview</a:t>
            </a:r>
          </a:p>
          <a:p>
            <a:pPr marL="12700">
              <a:tabLst>
                <a:tab pos="8398510" algn="l"/>
              </a:tabLst>
            </a:pPr>
            <a:r>
              <a:rPr sz="2200" spc="-5" dirty="0">
                <a:latin typeface="Cambria" panose="02040503050406030204" pitchFamily="18" charset="0"/>
                <a:ea typeface="Cambria" panose="02040503050406030204" pitchFamily="18" charset="0"/>
                <a:cs typeface="URW Gothic"/>
              </a:rPr>
              <a:t>team. </a:t>
            </a:r>
            <a:r>
              <a:rPr lang="en-US" sz="2200" spc="-10" dirty="0">
                <a:latin typeface="Cambria" panose="02040503050406030204" pitchFamily="18" charset="0"/>
                <a:ea typeface="Cambria" panose="02040503050406030204" pitchFamily="18" charset="0"/>
                <a:cs typeface="URW Gothic"/>
              </a:rPr>
              <a:t>We appreciate the time spent with us</a:t>
            </a:r>
            <a:r>
              <a:rPr sz="2200" spc="-15" dirty="0">
                <a:latin typeface="Cambria" panose="02040503050406030204" pitchFamily="18" charset="0"/>
                <a:ea typeface="Cambria" panose="02040503050406030204" pitchFamily="18" charset="0"/>
                <a:cs typeface="URW Gothic"/>
              </a:rPr>
              <a:t>.</a:t>
            </a:r>
            <a:r>
              <a:rPr lang="en-US" sz="2200" spc="-15" dirty="0">
                <a:latin typeface="Cambria" panose="02040503050406030204" pitchFamily="18" charset="0"/>
                <a:ea typeface="Cambria" panose="02040503050406030204" pitchFamily="18" charset="0"/>
                <a:cs typeface="Times New Roman" panose="02020503050405090304"/>
              </a:rPr>
              <a:t> (Step 1)</a:t>
            </a:r>
            <a:r>
              <a:rPr sz="2200" spc="-10" dirty="0">
                <a:solidFill>
                  <a:srgbClr val="FF0000"/>
                </a:solidFill>
                <a:latin typeface="Cambria" panose="02040503050406030204" pitchFamily="18" charset="0"/>
                <a:ea typeface="Cambria" panose="02040503050406030204" pitchFamily="18" charset="0"/>
                <a:cs typeface="URW Gothic"/>
              </a:rPr>
              <a:t>Buffer</a:t>
            </a:r>
            <a:endParaRPr sz="2200" dirty="0">
              <a:latin typeface="Cambria" panose="02040503050406030204" pitchFamily="18" charset="0"/>
              <a:ea typeface="Cambria" panose="02040503050406030204" pitchFamily="18" charset="0"/>
              <a:cs typeface="URW Gothic"/>
            </a:endParaRPr>
          </a:p>
          <a:p>
            <a:pPr marL="12700" marR="294640">
              <a:spcBef>
                <a:spcPts val="1010"/>
              </a:spcBef>
              <a:tabLst>
                <a:tab pos="4084320" algn="l"/>
              </a:tabLst>
            </a:pPr>
            <a:r>
              <a:rPr sz="2200" spc="-25" dirty="0">
                <a:latin typeface="Cambria" panose="02040503050406030204" pitchFamily="18" charset="0"/>
                <a:ea typeface="Cambria" panose="02040503050406030204" pitchFamily="18" charset="0"/>
                <a:cs typeface="URW Gothic"/>
              </a:rPr>
              <a:t>We</a:t>
            </a:r>
            <a:r>
              <a:rPr lang="en-US" sz="2200" spc="-25" dirty="0">
                <a:latin typeface="Cambria" panose="02040503050406030204" pitchFamily="18" charset="0"/>
                <a:ea typeface="Cambria" panose="02040503050406030204" pitchFamily="18" charset="0"/>
                <a:cs typeface="URW Gothic"/>
              </a:rPr>
              <a:t> have</a:t>
            </a:r>
            <a:r>
              <a:rPr sz="2200" spc="-25" dirty="0">
                <a:latin typeface="Cambria" panose="02040503050406030204" pitchFamily="18" charset="0"/>
                <a:ea typeface="Cambria" panose="02040503050406030204" pitchFamily="18" charset="0"/>
                <a:cs typeface="URW Gothic"/>
              </a:rPr>
              <a:t> </a:t>
            </a:r>
            <a:r>
              <a:rPr sz="2200" spc="-5" dirty="0">
                <a:latin typeface="Cambria" panose="02040503050406030204" pitchFamily="18" charset="0"/>
                <a:ea typeface="Cambria" panose="02040503050406030204" pitchFamily="18" charset="0"/>
                <a:cs typeface="URW Gothic"/>
              </a:rPr>
              <a:t>interviewed a number of candidates for the </a:t>
            </a:r>
            <a:r>
              <a:rPr sz="2200" spc="-15" dirty="0">
                <a:latin typeface="Cambria" panose="02040503050406030204" pitchFamily="18" charset="0"/>
                <a:ea typeface="Cambria" panose="02040503050406030204" pitchFamily="18" charset="0"/>
                <a:cs typeface="URW Gothic"/>
              </a:rPr>
              <a:t>(Name </a:t>
            </a:r>
            <a:r>
              <a:rPr sz="2200" spc="-5" dirty="0">
                <a:latin typeface="Cambria" panose="02040503050406030204" pitchFamily="18" charset="0"/>
                <a:ea typeface="Cambria" panose="02040503050406030204" pitchFamily="18" charset="0"/>
                <a:cs typeface="URW Gothic"/>
              </a:rPr>
              <a:t>of Job) position </a:t>
            </a:r>
            <a:r>
              <a:rPr sz="2200" spc="-10" dirty="0">
                <a:latin typeface="Cambria" panose="02040503050406030204" pitchFamily="18" charset="0"/>
                <a:ea typeface="Cambria" panose="02040503050406030204" pitchFamily="18" charset="0"/>
                <a:cs typeface="URW Gothic"/>
              </a:rPr>
              <a:t>and we  </a:t>
            </a:r>
            <a:r>
              <a:rPr lang="en-US" sz="2200" dirty="0">
                <a:latin typeface="Cambria" panose="02040503050406030204" pitchFamily="18" charset="0"/>
                <a:ea typeface="Cambria" panose="02040503050406030204" pitchFamily="18" charset="0"/>
                <a:cs typeface="URW Gothic"/>
              </a:rPr>
              <a:t>need</a:t>
            </a:r>
            <a:r>
              <a:rPr sz="2200" dirty="0">
                <a:latin typeface="Cambria" panose="02040503050406030204" pitchFamily="18" charset="0"/>
                <a:ea typeface="Cambria" panose="02040503050406030204" pitchFamily="18" charset="0"/>
                <a:cs typeface="URW Gothic"/>
              </a:rPr>
              <a:t> </a:t>
            </a:r>
            <a:r>
              <a:rPr lang="en-US" sz="2200" dirty="0">
                <a:latin typeface="Cambria" panose="02040503050406030204" pitchFamily="18" charset="0"/>
                <a:ea typeface="Cambria" panose="02040503050406030204" pitchFamily="18" charset="0"/>
                <a:cs typeface="URW Gothic"/>
              </a:rPr>
              <a:t>to do a careful selection on the candidates as we have to select the candidates that suit our requirements. As stated in the job advertisement, we are seeking for candidates with at least 6 years of working experience. In addition to that, it is a requirement for the candidates to have a First Class academic achievement for Bachelor’s Degree. (Step 2) </a:t>
            </a:r>
            <a:r>
              <a:rPr sz="2200" spc="-5" dirty="0">
                <a:solidFill>
                  <a:srgbClr val="FF0000"/>
                </a:solidFill>
                <a:latin typeface="Cambria" panose="02040503050406030204" pitchFamily="18" charset="0"/>
                <a:ea typeface="Cambria" panose="02040503050406030204" pitchFamily="18" charset="0"/>
                <a:cs typeface="URW Gothic"/>
              </a:rPr>
              <a:t>Expla</a:t>
            </a:r>
            <a:r>
              <a:rPr lang="en-US" sz="2200" spc="-5" dirty="0">
                <a:solidFill>
                  <a:srgbClr val="FF0000"/>
                </a:solidFill>
                <a:latin typeface="Cambria" panose="02040503050406030204" pitchFamily="18" charset="0"/>
                <a:ea typeface="Cambria" panose="02040503050406030204" pitchFamily="18" charset="0"/>
                <a:cs typeface="URW Gothic"/>
              </a:rPr>
              <a:t>in the reasons of the rejection (explain in detail) </a:t>
            </a:r>
            <a:r>
              <a:rPr lang="en-US" sz="2200" spc="-5" dirty="0">
                <a:latin typeface="Cambria" panose="02040503050406030204" pitchFamily="18" charset="0"/>
                <a:ea typeface="Cambria" panose="02040503050406030204" pitchFamily="18" charset="0"/>
                <a:cs typeface="URW Gothic"/>
              </a:rPr>
              <a:t>As you fail to meet all the requirements, t</a:t>
            </a:r>
            <a:r>
              <a:rPr sz="2200" spc="-5" dirty="0">
                <a:latin typeface="Cambria" panose="02040503050406030204" pitchFamily="18" charset="0"/>
                <a:ea typeface="Cambria" panose="02040503050406030204" pitchFamily="18" charset="0"/>
                <a:cs typeface="URW Gothic"/>
              </a:rPr>
              <a:t>his </a:t>
            </a:r>
            <a:r>
              <a:rPr sz="2200" dirty="0">
                <a:latin typeface="Cambria" panose="02040503050406030204" pitchFamily="18" charset="0"/>
                <a:ea typeface="Cambria" panose="02040503050406030204" pitchFamily="18" charset="0"/>
                <a:cs typeface="URW Gothic"/>
              </a:rPr>
              <a:t>is to let </a:t>
            </a:r>
            <a:r>
              <a:rPr sz="2200" spc="-10" dirty="0">
                <a:latin typeface="Cambria" panose="02040503050406030204" pitchFamily="18" charset="0"/>
                <a:ea typeface="Cambria" panose="02040503050406030204" pitchFamily="18" charset="0"/>
                <a:cs typeface="URW Gothic"/>
              </a:rPr>
              <a:t>you </a:t>
            </a:r>
            <a:r>
              <a:rPr sz="2200" spc="-5" dirty="0">
                <a:latin typeface="Cambria" panose="02040503050406030204" pitchFamily="18" charset="0"/>
                <a:ea typeface="Cambria" panose="02040503050406030204" pitchFamily="18" charset="0"/>
                <a:cs typeface="URW Gothic"/>
              </a:rPr>
              <a:t>know that </a:t>
            </a:r>
            <a:r>
              <a:rPr sz="2200" spc="-10" dirty="0">
                <a:latin typeface="Cambria" panose="02040503050406030204" pitchFamily="18" charset="0"/>
                <a:ea typeface="Cambria" panose="02040503050406030204" pitchFamily="18" charset="0"/>
                <a:cs typeface="URW Gothic"/>
              </a:rPr>
              <a:t>you </a:t>
            </a:r>
            <a:r>
              <a:rPr sz="2200" dirty="0">
                <a:latin typeface="Cambria" panose="02040503050406030204" pitchFamily="18" charset="0"/>
                <a:ea typeface="Cambria" panose="02040503050406030204" pitchFamily="18" charset="0"/>
                <a:cs typeface="URW Gothic"/>
              </a:rPr>
              <a:t>have </a:t>
            </a:r>
            <a:r>
              <a:rPr sz="2200" spc="-5" dirty="0">
                <a:latin typeface="Cambria" panose="02040503050406030204" pitchFamily="18" charset="0"/>
                <a:ea typeface="Cambria" panose="02040503050406030204" pitchFamily="18" charset="0"/>
                <a:cs typeface="URW Gothic"/>
              </a:rPr>
              <a:t>not </a:t>
            </a:r>
            <a:r>
              <a:rPr sz="2200" spc="-10" dirty="0">
                <a:latin typeface="Cambria" panose="02040503050406030204" pitchFamily="18" charset="0"/>
                <a:ea typeface="Cambria" panose="02040503050406030204" pitchFamily="18" charset="0"/>
                <a:cs typeface="URW Gothic"/>
              </a:rPr>
              <a:t>been </a:t>
            </a:r>
            <a:r>
              <a:rPr sz="2200" spc="-5" dirty="0">
                <a:latin typeface="Cambria" panose="02040503050406030204" pitchFamily="18" charset="0"/>
                <a:ea typeface="Cambria" panose="02040503050406030204" pitchFamily="18" charset="0"/>
                <a:cs typeface="URW Gothic"/>
              </a:rPr>
              <a:t>selected for the </a:t>
            </a:r>
            <a:r>
              <a:rPr sz="2200" dirty="0">
                <a:latin typeface="Cambria" panose="02040503050406030204" pitchFamily="18" charset="0"/>
                <a:ea typeface="Cambria" panose="02040503050406030204" pitchFamily="18" charset="0"/>
                <a:cs typeface="URW Gothic"/>
              </a:rPr>
              <a:t>position.</a:t>
            </a:r>
            <a:r>
              <a:rPr sz="2200" spc="-5" dirty="0">
                <a:latin typeface="Cambria" panose="02040503050406030204" pitchFamily="18" charset="0"/>
                <a:ea typeface="Cambria" panose="02040503050406030204" pitchFamily="18" charset="0"/>
                <a:cs typeface="URW Gothic"/>
              </a:rPr>
              <a:t> </a:t>
            </a:r>
            <a:r>
              <a:rPr lang="en-US" sz="2200" spc="-5" dirty="0">
                <a:latin typeface="Cambria" panose="02040503050406030204" pitchFamily="18" charset="0"/>
                <a:ea typeface="Cambria" panose="02040503050406030204" pitchFamily="18" charset="0"/>
                <a:cs typeface="URW Gothic"/>
              </a:rPr>
              <a:t>(Step 3)</a:t>
            </a:r>
            <a:r>
              <a:rPr lang="en-US" sz="2200" dirty="0">
                <a:latin typeface="Cambria" panose="02040503050406030204" pitchFamily="18" charset="0"/>
                <a:ea typeface="Cambria" panose="02040503050406030204" pitchFamily="18" charset="0"/>
                <a:cs typeface="Wingdings" panose="05000000000000000000"/>
              </a:rPr>
              <a:t> </a:t>
            </a:r>
            <a:r>
              <a:rPr sz="2200" spc="-10" dirty="0">
                <a:solidFill>
                  <a:srgbClr val="FF0000"/>
                </a:solidFill>
                <a:latin typeface="Cambria" panose="02040503050406030204" pitchFamily="18" charset="0"/>
                <a:ea typeface="Cambria" panose="02040503050406030204" pitchFamily="18" charset="0"/>
                <a:cs typeface="URW Gothic"/>
              </a:rPr>
              <a:t>Bad</a:t>
            </a:r>
            <a:r>
              <a:rPr sz="2200" dirty="0">
                <a:solidFill>
                  <a:srgbClr val="FF0000"/>
                </a:solidFill>
                <a:latin typeface="Cambria" panose="02040503050406030204" pitchFamily="18" charset="0"/>
                <a:ea typeface="Cambria" panose="02040503050406030204" pitchFamily="18" charset="0"/>
                <a:cs typeface="URW Gothic"/>
              </a:rPr>
              <a:t> </a:t>
            </a:r>
            <a:r>
              <a:rPr sz="2200" spc="-5" dirty="0">
                <a:solidFill>
                  <a:srgbClr val="FF0000"/>
                </a:solidFill>
                <a:latin typeface="Cambria" panose="02040503050406030204" pitchFamily="18" charset="0"/>
                <a:ea typeface="Cambria" panose="02040503050406030204" pitchFamily="18" charset="0"/>
                <a:cs typeface="URW Gothic"/>
              </a:rPr>
              <a:t>News</a:t>
            </a:r>
            <a:endParaRPr sz="2200" dirty="0">
              <a:latin typeface="Cambria" panose="02040503050406030204" pitchFamily="18" charset="0"/>
              <a:ea typeface="Cambria" panose="02040503050406030204" pitchFamily="18" charset="0"/>
              <a:cs typeface="URW Gothic"/>
            </a:endParaRPr>
          </a:p>
          <a:p>
            <a:pPr marL="12700">
              <a:spcBef>
                <a:spcPts val="745"/>
              </a:spcBef>
            </a:pPr>
            <a:r>
              <a:rPr lang="en-US" sz="2200" spc="-25" dirty="0">
                <a:latin typeface="Cambria" panose="02040503050406030204" pitchFamily="18" charset="0"/>
                <a:ea typeface="Cambria" panose="02040503050406030204" pitchFamily="18" charset="0"/>
                <a:cs typeface="URW Gothic"/>
              </a:rPr>
              <a:t>Do </a:t>
            </a:r>
            <a:r>
              <a:rPr lang="en-US" altLang="en-US" sz="2200" spc="-25" dirty="0">
                <a:latin typeface="Cambria" panose="02040503050406030204" pitchFamily="18" charset="0"/>
                <a:ea typeface="Cambria" panose="02040503050406030204" pitchFamily="18" charset="0"/>
                <a:cs typeface="URW Gothic"/>
              </a:rPr>
              <a:t>reach out to our company once you meet all the requirements. We wish you success in your job search.</a:t>
            </a:r>
            <a:r>
              <a:rPr lang="en-US" sz="2200" spc="-25" dirty="0">
                <a:latin typeface="Cambria" panose="02040503050406030204" pitchFamily="18" charset="0"/>
                <a:ea typeface="Cambria" panose="02040503050406030204" pitchFamily="18" charset="0"/>
                <a:cs typeface="URW Gothic"/>
              </a:rPr>
              <a:t> </a:t>
            </a:r>
            <a:r>
              <a:rPr sz="2200" spc="-5" dirty="0">
                <a:latin typeface="Cambria" panose="02040503050406030204" pitchFamily="18" charset="0"/>
                <a:ea typeface="Cambria" panose="02040503050406030204" pitchFamily="18" charset="0"/>
                <a:cs typeface="URW Gothic"/>
              </a:rPr>
              <a:t>Thank </a:t>
            </a:r>
            <a:r>
              <a:rPr sz="2200" spc="-10" dirty="0">
                <a:latin typeface="Cambria" panose="02040503050406030204" pitchFamily="18" charset="0"/>
                <a:ea typeface="Cambria" panose="02040503050406030204" pitchFamily="18" charset="0"/>
                <a:cs typeface="URW Gothic"/>
              </a:rPr>
              <a:t>you</a:t>
            </a:r>
            <a:r>
              <a:rPr lang="en-US" sz="2200" spc="-10" dirty="0">
                <a:latin typeface="Cambria" panose="02040503050406030204" pitchFamily="18" charset="0"/>
                <a:ea typeface="Cambria" panose="02040503050406030204" pitchFamily="18" charset="0"/>
                <a:cs typeface="URW Gothic"/>
              </a:rPr>
              <a:t>.</a:t>
            </a:r>
            <a:r>
              <a:rPr lang="en-US" sz="2200" spc="-5" dirty="0">
                <a:latin typeface="Cambria" panose="02040503050406030204" pitchFamily="18" charset="0"/>
                <a:ea typeface="Cambria" panose="02040503050406030204" pitchFamily="18" charset="0"/>
                <a:cs typeface="URW Gothic"/>
              </a:rPr>
              <a:t> (Step 4) </a:t>
            </a:r>
            <a:r>
              <a:rPr sz="2200" dirty="0">
                <a:solidFill>
                  <a:srgbClr val="FF0000"/>
                </a:solidFill>
                <a:latin typeface="Cambria" panose="02040503050406030204" pitchFamily="18" charset="0"/>
                <a:ea typeface="Cambria" panose="02040503050406030204" pitchFamily="18" charset="0"/>
                <a:cs typeface="URW Gothic"/>
              </a:rPr>
              <a:t>Polite</a:t>
            </a:r>
            <a:r>
              <a:rPr sz="2200" spc="-40" dirty="0">
                <a:solidFill>
                  <a:srgbClr val="FF0000"/>
                </a:solidFill>
                <a:latin typeface="Cambria" panose="02040503050406030204" pitchFamily="18" charset="0"/>
                <a:ea typeface="Cambria" panose="02040503050406030204" pitchFamily="18" charset="0"/>
                <a:cs typeface="URW Gothic"/>
              </a:rPr>
              <a:t> </a:t>
            </a:r>
            <a:r>
              <a:rPr sz="2200" spc="-5" dirty="0">
                <a:solidFill>
                  <a:srgbClr val="FF0000"/>
                </a:solidFill>
                <a:latin typeface="Cambria" panose="02040503050406030204" pitchFamily="18" charset="0"/>
                <a:ea typeface="Cambria" panose="02040503050406030204" pitchFamily="18" charset="0"/>
                <a:cs typeface="URW Gothic"/>
              </a:rPr>
              <a:t>Close</a:t>
            </a:r>
            <a:endParaRPr sz="2200" dirty="0">
              <a:latin typeface="Cambria" panose="02040503050406030204" pitchFamily="18" charset="0"/>
              <a:ea typeface="Cambria" panose="02040503050406030204" pitchFamily="18" charset="0"/>
              <a:cs typeface="URW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1066800" y="1981200"/>
            <a:ext cx="10482580" cy="3343910"/>
          </a:xfrm>
          <a:prstGeom prst="rect">
            <a:avLst/>
          </a:prstGeom>
        </p:spPr>
        <p:txBody>
          <a:bodyPr vert="horz" wrap="square" lIns="0" tIns="46355" rIns="0" bIns="0" rtlCol="0">
            <a:spAutoFit/>
          </a:bodyPr>
          <a:lstStyle/>
          <a:p>
            <a:pPr marL="241300" marR="5080" indent="-229235" algn="just">
              <a:lnSpc>
                <a:spcPct val="90000"/>
              </a:lnSpc>
              <a:spcBef>
                <a:spcPts val="365"/>
              </a:spcBef>
              <a:buFont typeface="Arial" panose="020B0604020202090204"/>
              <a:buChar char="•"/>
              <a:tabLst>
                <a:tab pos="241935" algn="l"/>
              </a:tabLst>
            </a:pPr>
            <a:r>
              <a:rPr sz="2200" spc="-5" dirty="0">
                <a:latin typeface="Cambria" panose="02040503050406030204" pitchFamily="18" charset="0"/>
                <a:ea typeface="Cambria" panose="02040503050406030204" pitchFamily="18" charset="0"/>
                <a:cs typeface="Times New Roman" panose="02020503050405090304"/>
              </a:rPr>
              <a:t>Almost every customer </a:t>
            </a:r>
            <a:r>
              <a:rPr sz="2200" dirty="0">
                <a:latin typeface="Cambria" panose="02040503050406030204" pitchFamily="18" charset="0"/>
                <a:ea typeface="Cambria" panose="02040503050406030204" pitchFamily="18" charset="0"/>
                <a:cs typeface="Times New Roman" panose="02020503050405090304"/>
              </a:rPr>
              <a:t>who </a:t>
            </a:r>
            <a:r>
              <a:rPr sz="2200" spc="-5" dirty="0">
                <a:latin typeface="Cambria" panose="02040503050406030204" pitchFamily="18" charset="0"/>
                <a:ea typeface="Cambria" panose="02040503050406030204" pitchFamily="18" charset="0"/>
                <a:cs typeface="Times New Roman" panose="02020503050405090304"/>
              </a:rPr>
              <a:t>makes a </a:t>
            </a:r>
            <a:r>
              <a:rPr sz="2200" dirty="0">
                <a:latin typeface="Cambria" panose="02040503050406030204" pitchFamily="18" charset="0"/>
                <a:ea typeface="Cambria" panose="02040503050406030204" pitchFamily="18" charset="0"/>
                <a:cs typeface="Times New Roman" panose="02020503050405090304"/>
              </a:rPr>
              <a:t>claim </a:t>
            </a:r>
            <a:r>
              <a:rPr sz="2200" spc="-5" dirty="0">
                <a:latin typeface="Cambria" panose="02040503050406030204" pitchFamily="18" charset="0"/>
                <a:ea typeface="Cambria" panose="02040503050406030204" pitchFamily="18" charset="0"/>
                <a:cs typeface="Times New Roman" panose="02020503050405090304"/>
              </a:rPr>
              <a:t>is emotionally involved; therefore, the </a:t>
            </a:r>
            <a:r>
              <a:rPr sz="2200" b="1" spc="-10" dirty="0">
                <a:latin typeface="Cambria" panose="02040503050406030204" pitchFamily="18" charset="0"/>
                <a:ea typeface="Cambria" panose="02040503050406030204" pitchFamily="18" charset="0"/>
                <a:cs typeface="Times New Roman" panose="02020503050405090304"/>
              </a:rPr>
              <a:t>indirect  </a:t>
            </a:r>
            <a:r>
              <a:rPr sz="2200" b="1" spc="-5" dirty="0">
                <a:latin typeface="Cambria" panose="02040503050406030204" pitchFamily="18" charset="0"/>
                <a:ea typeface="Cambria" panose="02040503050406030204" pitchFamily="18" charset="0"/>
                <a:cs typeface="Times New Roman" panose="02020503050405090304"/>
              </a:rPr>
              <a:t>approach </a:t>
            </a:r>
            <a:r>
              <a:rPr sz="2200" spc="-5" dirty="0">
                <a:latin typeface="Cambria" panose="02040503050406030204" pitchFamily="18" charset="0"/>
                <a:ea typeface="Cambria" panose="02040503050406030204" pitchFamily="18" charset="0"/>
                <a:cs typeface="Times New Roman" panose="02020503050405090304"/>
              </a:rPr>
              <a:t>is usually </a:t>
            </a:r>
            <a:r>
              <a:rPr sz="2200" spc="-10" dirty="0">
                <a:latin typeface="Cambria" panose="02040503050406030204" pitchFamily="18" charset="0"/>
                <a:ea typeface="Cambria" panose="02040503050406030204" pitchFamily="18" charset="0"/>
                <a:cs typeface="Times New Roman" panose="02020503050405090304"/>
              </a:rPr>
              <a:t>the best </a:t>
            </a:r>
            <a:r>
              <a:rPr sz="2200" spc="-5" dirty="0">
                <a:latin typeface="Cambria" panose="02040503050406030204" pitchFamily="18" charset="0"/>
                <a:ea typeface="Cambria" panose="02040503050406030204" pitchFamily="18" charset="0"/>
                <a:cs typeface="Times New Roman" panose="02020503050405090304"/>
              </a:rPr>
              <a:t>approach for a refusal. </a:t>
            </a:r>
            <a:r>
              <a:rPr sz="2200" spc="-55" dirty="0">
                <a:latin typeface="Cambria" panose="02040503050406030204" pitchFamily="18" charset="0"/>
                <a:ea typeface="Cambria" panose="02040503050406030204" pitchFamily="18" charset="0"/>
                <a:cs typeface="Times New Roman" panose="02020503050405090304"/>
              </a:rPr>
              <a:t>Your </a:t>
            </a:r>
            <a:r>
              <a:rPr sz="2200" spc="-5" dirty="0">
                <a:latin typeface="Cambria" panose="02040503050406030204" pitchFamily="18" charset="0"/>
                <a:ea typeface="Cambria" panose="02040503050406030204" pitchFamily="18" charset="0"/>
                <a:cs typeface="Times New Roman" panose="02020503050405090304"/>
              </a:rPr>
              <a:t>job as a writer </a:t>
            </a:r>
            <a:r>
              <a:rPr sz="2600" b="1" spc="5" dirty="0">
                <a:solidFill>
                  <a:srgbClr val="FF0000"/>
                </a:solidFill>
                <a:latin typeface="Cambria" panose="02040503050406030204" pitchFamily="18" charset="0"/>
                <a:ea typeface="Cambria" panose="02040503050406030204" pitchFamily="18" charset="0"/>
                <a:cs typeface="Times New Roman" panose="02020503050405090304"/>
              </a:rPr>
              <a:t>is </a:t>
            </a:r>
            <a:r>
              <a:rPr sz="2600" b="1" dirty="0">
                <a:solidFill>
                  <a:srgbClr val="FF0000"/>
                </a:solidFill>
                <a:latin typeface="Cambria" panose="02040503050406030204" pitchFamily="18" charset="0"/>
                <a:ea typeface="Cambria" panose="02040503050406030204" pitchFamily="18" charset="0"/>
                <a:cs typeface="Times New Roman" panose="02020503050405090304"/>
              </a:rPr>
              <a:t>to </a:t>
            </a:r>
            <a:r>
              <a:rPr sz="2600" b="1" spc="-5" dirty="0">
                <a:solidFill>
                  <a:srgbClr val="FF0000"/>
                </a:solidFill>
                <a:latin typeface="Cambria" panose="02040503050406030204" pitchFamily="18" charset="0"/>
                <a:ea typeface="Cambria" panose="02040503050406030204" pitchFamily="18" charset="0"/>
                <a:cs typeface="Times New Roman" panose="02020503050405090304"/>
              </a:rPr>
              <a:t>avoid  accepting </a:t>
            </a:r>
            <a:r>
              <a:rPr sz="2600" b="1" dirty="0">
                <a:solidFill>
                  <a:srgbClr val="FF0000"/>
                </a:solidFill>
                <a:latin typeface="Cambria" panose="02040503050406030204" pitchFamily="18" charset="0"/>
                <a:ea typeface="Cambria" panose="02040503050406030204" pitchFamily="18" charset="0"/>
                <a:cs typeface="Times New Roman" panose="02020503050405090304"/>
              </a:rPr>
              <a:t>responsibility for the unfortunate </a:t>
            </a:r>
            <a:r>
              <a:rPr sz="2600" b="1" spc="-5" dirty="0">
                <a:solidFill>
                  <a:srgbClr val="FF0000"/>
                </a:solidFill>
                <a:latin typeface="Cambria" panose="02040503050406030204" pitchFamily="18" charset="0"/>
                <a:ea typeface="Cambria" panose="02040503050406030204" pitchFamily="18" charset="0"/>
                <a:cs typeface="Times New Roman" panose="02020503050405090304"/>
              </a:rPr>
              <a:t>situation </a:t>
            </a:r>
            <a:r>
              <a:rPr sz="2600" b="1" dirty="0">
                <a:solidFill>
                  <a:srgbClr val="FF0000"/>
                </a:solidFill>
                <a:latin typeface="Cambria" panose="02040503050406030204" pitchFamily="18" charset="0"/>
                <a:ea typeface="Cambria" panose="02040503050406030204" pitchFamily="18" charset="0"/>
                <a:cs typeface="Times New Roman" panose="02020503050405090304"/>
              </a:rPr>
              <a:t>and </a:t>
            </a:r>
            <a:r>
              <a:rPr sz="2600" b="1" spc="-5" dirty="0">
                <a:solidFill>
                  <a:srgbClr val="FF0000"/>
                </a:solidFill>
                <a:latin typeface="Cambria" panose="02040503050406030204" pitchFamily="18" charset="0"/>
                <a:ea typeface="Cambria" panose="02040503050406030204" pitchFamily="18" charset="0"/>
                <a:cs typeface="Times New Roman" panose="02020503050405090304"/>
              </a:rPr>
              <a:t>yet avoid blaming </a:t>
            </a:r>
            <a:r>
              <a:rPr sz="2600" b="1" dirty="0">
                <a:solidFill>
                  <a:srgbClr val="FF0000"/>
                </a:solidFill>
                <a:latin typeface="Cambria" panose="02040503050406030204" pitchFamily="18" charset="0"/>
                <a:ea typeface="Cambria" panose="02040503050406030204" pitchFamily="18" charset="0"/>
                <a:cs typeface="Times New Roman" panose="02020503050405090304"/>
              </a:rPr>
              <a:t>or accusing the</a:t>
            </a:r>
            <a:r>
              <a:rPr sz="2600" b="1" spc="-40" dirty="0">
                <a:solidFill>
                  <a:srgbClr val="FF0000"/>
                </a:solidFill>
                <a:latin typeface="Cambria" panose="02040503050406030204" pitchFamily="18" charset="0"/>
                <a:ea typeface="Cambria" panose="02040503050406030204" pitchFamily="18" charset="0"/>
                <a:cs typeface="Times New Roman" panose="02020503050405090304"/>
              </a:rPr>
              <a:t> </a:t>
            </a:r>
            <a:r>
              <a:rPr sz="2600" b="1" spc="-5" dirty="0">
                <a:solidFill>
                  <a:srgbClr val="FF0000"/>
                </a:solidFill>
                <a:latin typeface="Cambria" panose="02040503050406030204" pitchFamily="18" charset="0"/>
                <a:ea typeface="Cambria" panose="02040503050406030204" pitchFamily="18" charset="0"/>
                <a:cs typeface="Times New Roman" panose="02020503050405090304"/>
              </a:rPr>
              <a:t>customer</a:t>
            </a:r>
            <a:r>
              <a:rPr sz="2200" b="1" spc="-5" dirty="0">
                <a:solidFill>
                  <a:srgbClr val="FF0000"/>
                </a:solidFill>
                <a:latin typeface="Cambria" panose="02040503050406030204" pitchFamily="18" charset="0"/>
                <a:ea typeface="Cambria" panose="02040503050406030204" pitchFamily="18" charset="0"/>
                <a:cs typeface="Times New Roman" panose="02020503050405090304"/>
              </a:rPr>
              <a:t>.</a:t>
            </a:r>
            <a:endParaRPr sz="2200" b="1" dirty="0">
              <a:latin typeface="Cambria" panose="02040503050406030204" pitchFamily="18" charset="0"/>
              <a:ea typeface="Cambria" panose="02040503050406030204" pitchFamily="18" charset="0"/>
              <a:cs typeface="Times New Roman" panose="02020503050405090304"/>
            </a:endParaRPr>
          </a:p>
          <a:p>
            <a:pPr>
              <a:lnSpc>
                <a:spcPct val="100000"/>
              </a:lnSpc>
              <a:spcBef>
                <a:spcPts val="5"/>
              </a:spcBef>
              <a:buChar char="•"/>
            </a:pPr>
            <a:endParaRPr sz="3800" dirty="0">
              <a:latin typeface="Cambria" panose="02040503050406030204" pitchFamily="18" charset="0"/>
              <a:ea typeface="Cambria" panose="02040503050406030204" pitchFamily="18" charset="0"/>
              <a:cs typeface="Times New Roman" panose="02020503050405090304"/>
            </a:endParaRPr>
          </a:p>
          <a:p>
            <a:pPr marL="241300" marR="5080" indent="-229235" algn="just">
              <a:lnSpc>
                <a:spcPct val="90000"/>
              </a:lnSpc>
              <a:buFont typeface="Arial" panose="020B0604020202090204"/>
              <a:buChar char="•"/>
              <a:tabLst>
                <a:tab pos="241935" algn="l"/>
              </a:tabLst>
            </a:pPr>
            <a:r>
              <a:rPr sz="2600" b="1" spc="-40" dirty="0">
                <a:solidFill>
                  <a:srgbClr val="FF0000"/>
                </a:solidFill>
                <a:latin typeface="Cambria" panose="02040503050406030204" pitchFamily="18" charset="0"/>
                <a:ea typeface="Cambria" panose="02040503050406030204" pitchFamily="18" charset="0"/>
                <a:cs typeface="Times New Roman" panose="02020503050405090304"/>
              </a:rPr>
              <a:t>Avoid</a:t>
            </a:r>
            <a:r>
              <a:rPr sz="2600" b="1" spc="570" dirty="0">
                <a:solidFill>
                  <a:srgbClr val="FF0000"/>
                </a:solidFill>
                <a:latin typeface="Cambria" panose="02040503050406030204" pitchFamily="18" charset="0"/>
                <a:ea typeface="Cambria" panose="02040503050406030204" pitchFamily="18" charset="0"/>
                <a:cs typeface="Times New Roman" panose="02020503050405090304"/>
              </a:rPr>
              <a:t> </a:t>
            </a:r>
            <a:r>
              <a:rPr sz="2600" b="1" spc="-5" dirty="0">
                <a:solidFill>
                  <a:srgbClr val="FF0000"/>
                </a:solidFill>
                <a:latin typeface="Cambria" panose="02040503050406030204" pitchFamily="18" charset="0"/>
                <a:ea typeface="Cambria" panose="02040503050406030204" pitchFamily="18" charset="0"/>
                <a:cs typeface="Times New Roman" panose="02020503050405090304"/>
              </a:rPr>
              <a:t>language that </a:t>
            </a:r>
            <a:r>
              <a:rPr sz="2600" b="1" dirty="0">
                <a:solidFill>
                  <a:srgbClr val="FF0000"/>
                </a:solidFill>
                <a:latin typeface="Cambria" panose="02040503050406030204" pitchFamily="18" charset="0"/>
                <a:ea typeface="Cambria" panose="02040503050406030204" pitchFamily="18" charset="0"/>
                <a:cs typeface="Times New Roman" panose="02020503050405090304"/>
              </a:rPr>
              <a:t>might have a </a:t>
            </a:r>
            <a:r>
              <a:rPr sz="2600" b="1" spc="-5" dirty="0">
                <a:solidFill>
                  <a:srgbClr val="FF0000"/>
                </a:solidFill>
                <a:latin typeface="Cambria" panose="02040503050406030204" pitchFamily="18" charset="0"/>
                <a:ea typeface="Cambria" panose="02040503050406030204" pitchFamily="18" charset="0"/>
                <a:cs typeface="Times New Roman" panose="02020503050405090304"/>
              </a:rPr>
              <a:t>negative </a:t>
            </a:r>
            <a:r>
              <a:rPr sz="2600" b="1" dirty="0">
                <a:solidFill>
                  <a:srgbClr val="FF0000"/>
                </a:solidFill>
                <a:latin typeface="Cambria" panose="02040503050406030204" pitchFamily="18" charset="0"/>
                <a:ea typeface="Cambria" panose="02040503050406030204" pitchFamily="18" charset="0"/>
                <a:cs typeface="Times New Roman" panose="02020503050405090304"/>
              </a:rPr>
              <a:t>impact on </a:t>
            </a:r>
            <a:r>
              <a:rPr sz="2600" b="1" spc="-5" dirty="0">
                <a:solidFill>
                  <a:srgbClr val="FF0000"/>
                </a:solidFill>
                <a:latin typeface="Cambria" panose="02040503050406030204" pitchFamily="18" charset="0"/>
                <a:ea typeface="Cambria" panose="02040503050406030204" pitchFamily="18" charset="0"/>
                <a:cs typeface="Times New Roman" panose="02020503050405090304"/>
              </a:rPr>
              <a:t>the </a:t>
            </a:r>
            <a:r>
              <a:rPr sz="2600" b="1" spc="-45" dirty="0">
                <a:solidFill>
                  <a:srgbClr val="FF0000"/>
                </a:solidFill>
                <a:latin typeface="Cambria" panose="02040503050406030204" pitchFamily="18" charset="0"/>
                <a:ea typeface="Cambria" panose="02040503050406030204" pitchFamily="18" charset="0"/>
                <a:cs typeface="Times New Roman" panose="02020503050405090304"/>
              </a:rPr>
              <a:t>reader.  </a:t>
            </a:r>
            <a:r>
              <a:rPr sz="2600" b="1" dirty="0">
                <a:solidFill>
                  <a:srgbClr val="FF0000"/>
                </a:solidFill>
                <a:latin typeface="Cambria" panose="02040503050406030204" pitchFamily="18" charset="0"/>
                <a:ea typeface="Cambria" panose="02040503050406030204" pitchFamily="18" charset="0"/>
                <a:cs typeface="Times New Roman" panose="02020503050405090304"/>
              </a:rPr>
              <a:t>Instead, </a:t>
            </a:r>
            <a:r>
              <a:rPr sz="2600" b="1" spc="-5" dirty="0">
                <a:solidFill>
                  <a:srgbClr val="FF0000"/>
                </a:solidFill>
                <a:latin typeface="Cambria" panose="02040503050406030204" pitchFamily="18" charset="0"/>
                <a:ea typeface="Cambria" panose="02040503050406030204" pitchFamily="18" charset="0"/>
                <a:cs typeface="Times New Roman" panose="02020503050405090304"/>
              </a:rPr>
              <a:t>demonstrate </a:t>
            </a:r>
            <a:r>
              <a:rPr sz="2600" b="1" dirty="0">
                <a:solidFill>
                  <a:srgbClr val="FF0000"/>
                </a:solidFill>
                <a:latin typeface="Cambria" panose="02040503050406030204" pitchFamily="18" charset="0"/>
                <a:ea typeface="Cambria" panose="02040503050406030204" pitchFamily="18" charset="0"/>
                <a:cs typeface="Times New Roman" panose="02020503050405090304"/>
              </a:rPr>
              <a:t>that </a:t>
            </a:r>
            <a:r>
              <a:rPr sz="2600" b="1" spc="-5" dirty="0">
                <a:solidFill>
                  <a:srgbClr val="FF0000"/>
                </a:solidFill>
                <a:latin typeface="Cambria" panose="02040503050406030204" pitchFamily="18" charset="0"/>
                <a:ea typeface="Cambria" panose="02040503050406030204" pitchFamily="18" charset="0"/>
                <a:cs typeface="Times New Roman" panose="02020503050405090304"/>
              </a:rPr>
              <a:t>you understand </a:t>
            </a:r>
            <a:r>
              <a:rPr sz="2600" b="1" dirty="0">
                <a:solidFill>
                  <a:srgbClr val="FF0000"/>
                </a:solidFill>
                <a:latin typeface="Cambria" panose="02040503050406030204" pitchFamily="18" charset="0"/>
                <a:ea typeface="Cambria" panose="02040503050406030204" pitchFamily="18" charset="0"/>
                <a:cs typeface="Times New Roman" panose="02020503050405090304"/>
              </a:rPr>
              <a:t>and have </a:t>
            </a:r>
            <a:r>
              <a:rPr sz="2600" b="1" spc="-10" dirty="0">
                <a:solidFill>
                  <a:srgbClr val="FF0000"/>
                </a:solidFill>
                <a:latin typeface="Cambria" panose="02040503050406030204" pitchFamily="18" charset="0"/>
                <a:ea typeface="Cambria" panose="02040503050406030204" pitchFamily="18" charset="0"/>
                <a:cs typeface="Times New Roman" panose="02020503050405090304"/>
              </a:rPr>
              <a:t>considered </a:t>
            </a:r>
            <a:r>
              <a:rPr sz="2600" b="1" dirty="0">
                <a:solidFill>
                  <a:srgbClr val="FF0000"/>
                </a:solidFill>
                <a:latin typeface="Cambria" panose="02040503050406030204" pitchFamily="18" charset="0"/>
                <a:ea typeface="Cambria" panose="02040503050406030204" pitchFamily="18" charset="0"/>
                <a:cs typeface="Times New Roman" panose="02020503050405090304"/>
              </a:rPr>
              <a:t>the  complaint. </a:t>
            </a:r>
            <a:r>
              <a:rPr sz="2200" spc="-5" dirty="0">
                <a:latin typeface="Cambria" panose="02040503050406030204" pitchFamily="18" charset="0"/>
                <a:ea typeface="Cambria" panose="02040503050406030204" pitchFamily="18" charset="0"/>
                <a:cs typeface="Times New Roman" panose="02020503050405090304"/>
              </a:rPr>
              <a:t>Then, even if the claim is unreasonable, rationally explain why </a:t>
            </a:r>
            <a:r>
              <a:rPr sz="2200" dirty="0">
                <a:latin typeface="Cambria" panose="02040503050406030204" pitchFamily="18" charset="0"/>
                <a:ea typeface="Cambria" panose="02040503050406030204" pitchFamily="18" charset="0"/>
                <a:cs typeface="Times New Roman" panose="02020503050405090304"/>
              </a:rPr>
              <a:t>you </a:t>
            </a:r>
            <a:r>
              <a:rPr sz="2200" spc="-5" dirty="0">
                <a:latin typeface="Cambria" panose="02040503050406030204" pitchFamily="18" charset="0"/>
                <a:ea typeface="Cambria" panose="02040503050406030204" pitchFamily="18" charset="0"/>
                <a:cs typeface="Times New Roman" panose="02020503050405090304"/>
              </a:rPr>
              <a:t>are  refusing the </a:t>
            </a:r>
            <a:r>
              <a:rPr sz="2200" dirty="0">
                <a:latin typeface="Cambria" panose="02040503050406030204" pitchFamily="18" charset="0"/>
                <a:ea typeface="Cambria" panose="02040503050406030204" pitchFamily="18" charset="0"/>
                <a:cs typeface="Times New Roman" panose="02020503050405090304"/>
              </a:rPr>
              <a:t>request. </a:t>
            </a:r>
            <a:r>
              <a:rPr sz="2200" spc="-15" dirty="0">
                <a:latin typeface="Cambria" panose="02040503050406030204" pitchFamily="18" charset="0"/>
                <a:ea typeface="Cambria" panose="02040503050406030204" pitchFamily="18" charset="0"/>
                <a:cs typeface="Times New Roman" panose="02020503050405090304"/>
              </a:rPr>
              <a:t>Remember, </a:t>
            </a:r>
            <a:r>
              <a:rPr sz="2200" spc="-5" dirty="0">
                <a:latin typeface="Cambria" panose="02040503050406030204" pitchFamily="18" charset="0"/>
                <a:ea typeface="Cambria" panose="02040503050406030204" pitchFamily="18" charset="0"/>
                <a:cs typeface="Times New Roman" panose="02020503050405090304"/>
              </a:rPr>
              <a:t>don't </a:t>
            </a:r>
            <a:r>
              <a:rPr lang="en-US" sz="2200" spc="-5" dirty="0">
                <a:latin typeface="Cambria" panose="02040503050406030204" pitchFamily="18" charset="0"/>
                <a:ea typeface="Cambria" panose="02040503050406030204" pitchFamily="18" charset="0"/>
                <a:cs typeface="Times New Roman" panose="02020503050405090304"/>
              </a:rPr>
              <a:t>over </a:t>
            </a:r>
            <a:r>
              <a:rPr sz="2200" spc="-5" dirty="0">
                <a:latin typeface="Cambria" panose="02040503050406030204" pitchFamily="18" charset="0"/>
                <a:ea typeface="Cambria" panose="02040503050406030204" pitchFamily="18" charset="0"/>
                <a:cs typeface="Times New Roman" panose="02020503050405090304"/>
              </a:rPr>
              <a:t>apologize.</a:t>
            </a:r>
            <a:endParaRPr sz="2200" dirty="0">
              <a:latin typeface="Cambria" panose="02040503050406030204" pitchFamily="18" charset="0"/>
              <a:ea typeface="Cambria" panose="02040503050406030204" pitchFamily="18" charset="0"/>
              <a:cs typeface="Times New Roman" panose="02020503050405090304"/>
            </a:endParaRPr>
          </a:p>
        </p:txBody>
      </p:sp>
      <p:sp>
        <p:nvSpPr>
          <p:cNvPr id="8" name="TextBox 7"/>
          <p:cNvSpPr txBox="1"/>
          <p:nvPr/>
        </p:nvSpPr>
        <p:spPr>
          <a:xfrm>
            <a:off x="1219200" y="990600"/>
            <a:ext cx="10591800" cy="584775"/>
          </a:xfrm>
          <a:prstGeom prst="rect">
            <a:avLst/>
          </a:prstGeom>
          <a:noFill/>
        </p:spPr>
        <p:txBody>
          <a:bodyPr wrap="square" rtlCol="0">
            <a:spAutoFit/>
          </a:bodyPr>
          <a:lstStyle/>
          <a:p>
            <a:r>
              <a:rPr lang="en-US" sz="3200" b="1" dirty="0">
                <a:latin typeface="Cambria" panose="02040503050406030204" pitchFamily="18" charset="0"/>
                <a:ea typeface="Cambria" panose="02040503050406030204" pitchFamily="18" charset="0"/>
              </a:rPr>
              <a:t>NEGATIVE/ REJECTING CLAIMS – INDIRECT APPROACH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3400" y="762000"/>
            <a:ext cx="10664190" cy="5550237"/>
          </a:xfrm>
          <a:prstGeom prst="rect">
            <a:avLst/>
          </a:prstGeom>
        </p:spPr>
        <p:txBody>
          <a:bodyPr vert="horz" wrap="square" lIns="0" tIns="111760" rIns="0" bIns="0" rtlCol="0">
            <a:spAutoFit/>
          </a:bodyPr>
          <a:lstStyle/>
          <a:p>
            <a:pPr marL="12700">
              <a:lnSpc>
                <a:spcPct val="100000"/>
              </a:lnSpc>
              <a:spcBef>
                <a:spcPts val="880"/>
              </a:spcBef>
            </a:pPr>
            <a:r>
              <a:rPr sz="2000" spc="-5" dirty="0">
                <a:latin typeface="Cambria" panose="02040503050406030204" pitchFamily="18" charset="0"/>
                <a:ea typeface="Cambria" panose="02040503050406030204" pitchFamily="18" charset="0"/>
                <a:cs typeface="URW Gothic"/>
              </a:rPr>
              <a:t>Dear </a:t>
            </a:r>
            <a:r>
              <a:rPr sz="2000" dirty="0">
                <a:latin typeface="Cambria" panose="02040503050406030204" pitchFamily="18" charset="0"/>
                <a:ea typeface="Cambria" panose="02040503050406030204" pitchFamily="18" charset="0"/>
                <a:cs typeface="URW Gothic"/>
              </a:rPr>
              <a:t>Mr.</a:t>
            </a:r>
            <a:r>
              <a:rPr sz="2000" spc="-15" dirty="0">
                <a:latin typeface="Cambria" panose="02040503050406030204" pitchFamily="18" charset="0"/>
                <a:ea typeface="Cambria" panose="02040503050406030204" pitchFamily="18" charset="0"/>
                <a:cs typeface="URW Gothic"/>
              </a:rPr>
              <a:t> </a:t>
            </a:r>
            <a:r>
              <a:rPr sz="2000" spc="-5" dirty="0">
                <a:latin typeface="Cambria" panose="02040503050406030204" pitchFamily="18" charset="0"/>
                <a:ea typeface="Cambria" panose="02040503050406030204" pitchFamily="18" charset="0"/>
                <a:cs typeface="URW Gothic"/>
              </a:rPr>
              <a:t>Anand,</a:t>
            </a:r>
            <a:endParaRPr sz="2000" dirty="0">
              <a:latin typeface="Cambria" panose="02040503050406030204" pitchFamily="18" charset="0"/>
              <a:ea typeface="Cambria" panose="02040503050406030204" pitchFamily="18" charset="0"/>
              <a:cs typeface="URW Gothic"/>
            </a:endParaRPr>
          </a:p>
          <a:p>
            <a:pPr marL="12700">
              <a:lnSpc>
                <a:spcPct val="100000"/>
              </a:lnSpc>
              <a:spcBef>
                <a:spcPts val="780"/>
              </a:spcBef>
            </a:pPr>
            <a:r>
              <a:rPr sz="2000" spc="-10" dirty="0">
                <a:latin typeface="Cambria" panose="02040503050406030204" pitchFamily="18" charset="0"/>
                <a:ea typeface="Cambria" panose="02040503050406030204" pitchFamily="18" charset="0"/>
                <a:cs typeface="URW Gothic"/>
              </a:rPr>
              <a:t>Subject: </a:t>
            </a:r>
            <a:r>
              <a:rPr lang="en-US" sz="2000" u="sng" spc="-10" dirty="0">
                <a:latin typeface="Cambria" panose="02040503050406030204" pitchFamily="18" charset="0"/>
                <a:ea typeface="Cambria" panose="02040503050406030204" pitchFamily="18" charset="0"/>
                <a:cs typeface="URW Gothic"/>
              </a:rPr>
              <a:t>Your Claim Request for</a:t>
            </a:r>
            <a:r>
              <a:rPr sz="2000" u="sng" spc="-5" dirty="0">
                <a:uFill>
                  <a:solidFill>
                    <a:srgbClr val="000000"/>
                  </a:solidFill>
                </a:uFill>
                <a:latin typeface="Cambria" panose="02040503050406030204" pitchFamily="18" charset="0"/>
                <a:ea typeface="Cambria" panose="02040503050406030204" pitchFamily="18" charset="0"/>
                <a:cs typeface="URW Gothic"/>
              </a:rPr>
              <a:t> EXO</a:t>
            </a:r>
            <a:r>
              <a:rPr sz="2000" u="sng" dirty="0">
                <a:uFill>
                  <a:solidFill>
                    <a:srgbClr val="000000"/>
                  </a:solidFill>
                </a:uFill>
                <a:latin typeface="Cambria" panose="02040503050406030204" pitchFamily="18" charset="0"/>
                <a:ea typeface="Cambria" panose="02040503050406030204" pitchFamily="18" charset="0"/>
                <a:cs typeface="URW Gothic"/>
              </a:rPr>
              <a:t> </a:t>
            </a:r>
            <a:r>
              <a:rPr sz="2000" u="sng" spc="-5" dirty="0">
                <a:uFill>
                  <a:solidFill>
                    <a:srgbClr val="000000"/>
                  </a:solidFill>
                </a:uFill>
                <a:latin typeface="Cambria" panose="02040503050406030204" pitchFamily="18" charset="0"/>
                <a:ea typeface="Cambria" panose="02040503050406030204" pitchFamily="18" charset="0"/>
                <a:cs typeface="URW Gothic"/>
              </a:rPr>
              <a:t>Refrigerator</a:t>
            </a:r>
            <a:endParaRPr sz="2000" u="sng" dirty="0">
              <a:latin typeface="Cambria" panose="02040503050406030204" pitchFamily="18" charset="0"/>
              <a:ea typeface="Cambria" panose="02040503050406030204" pitchFamily="18" charset="0"/>
              <a:cs typeface="URW Gothic"/>
            </a:endParaRPr>
          </a:p>
          <a:p>
            <a:pPr marL="12700" algn="just">
              <a:spcBef>
                <a:spcPts val="780"/>
              </a:spcBef>
            </a:pPr>
            <a:r>
              <a:rPr sz="2000" spc="-10" dirty="0">
                <a:latin typeface="Cambria" panose="02040503050406030204" pitchFamily="18" charset="0"/>
                <a:ea typeface="Cambria" panose="02040503050406030204" pitchFamily="18" charset="0"/>
                <a:cs typeface="URW Gothic"/>
              </a:rPr>
              <a:t>Thank you</a:t>
            </a:r>
            <a:r>
              <a:rPr lang="en-US" sz="2000" spc="-10" dirty="0">
                <a:latin typeface="Cambria" panose="02040503050406030204" pitchFamily="18" charset="0"/>
                <a:ea typeface="Cambria" panose="02040503050406030204" pitchFamily="18" charset="0"/>
                <a:cs typeface="URW Gothic"/>
              </a:rPr>
              <a:t> for</a:t>
            </a:r>
            <a:r>
              <a:rPr sz="2000" spc="-10" dirty="0">
                <a:latin typeface="Cambria" panose="02040503050406030204" pitchFamily="18" charset="0"/>
                <a:ea typeface="Cambria" panose="02040503050406030204" pitchFamily="18" charset="0"/>
                <a:cs typeface="URW Gothic"/>
              </a:rPr>
              <a:t> </a:t>
            </a:r>
            <a:r>
              <a:rPr sz="2000" spc="-5" dirty="0">
                <a:latin typeface="Cambria" panose="02040503050406030204" pitchFamily="18" charset="0"/>
                <a:ea typeface="Cambria" panose="02040503050406030204" pitchFamily="18" charset="0"/>
                <a:cs typeface="URW Gothic"/>
              </a:rPr>
              <a:t>purchasing our </a:t>
            </a:r>
            <a:r>
              <a:rPr lang="en-US" sz="2000" spc="-5" dirty="0">
                <a:latin typeface="Cambria" panose="02040503050406030204" pitchFamily="18" charset="0"/>
                <a:ea typeface="Cambria" panose="02040503050406030204" pitchFamily="18" charset="0"/>
                <a:cs typeface="URW Gothic"/>
              </a:rPr>
              <a:t>latest </a:t>
            </a:r>
            <a:r>
              <a:rPr sz="2000" spc="-5" dirty="0">
                <a:latin typeface="Cambria" panose="02040503050406030204" pitchFamily="18" charset="0"/>
                <a:ea typeface="Cambria" panose="02040503050406030204" pitchFamily="18" charset="0"/>
                <a:cs typeface="URW Gothic"/>
              </a:rPr>
              <a:t>product </a:t>
            </a:r>
            <a:r>
              <a:rPr sz="2000" spc="-15" dirty="0">
                <a:latin typeface="Cambria" panose="02040503050406030204" pitchFamily="18" charset="0"/>
                <a:ea typeface="Cambria" panose="02040503050406030204" pitchFamily="18" charset="0"/>
                <a:cs typeface="URW Gothic"/>
              </a:rPr>
              <a:t>(EXO </a:t>
            </a:r>
            <a:r>
              <a:rPr sz="2000" spc="-5" dirty="0">
                <a:latin typeface="Cambria" panose="02040503050406030204" pitchFamily="18" charset="0"/>
                <a:ea typeface="Cambria" panose="02040503050406030204" pitchFamily="18" charset="0"/>
                <a:cs typeface="URW Gothic"/>
              </a:rPr>
              <a:t>Refrigerator)</a:t>
            </a:r>
            <a:r>
              <a:rPr lang="en-US" sz="2000" spc="-5" dirty="0">
                <a:latin typeface="Cambria" panose="02040503050406030204" pitchFamily="18" charset="0"/>
                <a:ea typeface="Cambria" panose="02040503050406030204" pitchFamily="18" charset="0"/>
                <a:cs typeface="URW Gothic"/>
              </a:rPr>
              <a:t> on the launching day. W</a:t>
            </a:r>
            <a:r>
              <a:rPr sz="2000" spc="-20" dirty="0">
                <a:latin typeface="Cambria" panose="02040503050406030204" pitchFamily="18" charset="0"/>
                <a:ea typeface="Cambria" panose="02040503050406030204" pitchFamily="18" charset="0"/>
                <a:cs typeface="URW Gothic"/>
              </a:rPr>
              <a:t>e </a:t>
            </a:r>
            <a:r>
              <a:rPr sz="2000" dirty="0">
                <a:latin typeface="Cambria" panose="02040503050406030204" pitchFamily="18" charset="0"/>
                <a:ea typeface="Cambria" panose="02040503050406030204" pitchFamily="18" charset="0"/>
                <a:cs typeface="URW Gothic"/>
              </a:rPr>
              <a:t>value </a:t>
            </a:r>
            <a:r>
              <a:rPr sz="2000" spc="-5" dirty="0">
                <a:latin typeface="Cambria" panose="02040503050406030204" pitchFamily="18" charset="0"/>
                <a:ea typeface="Cambria" panose="02040503050406030204" pitchFamily="18" charset="0"/>
                <a:cs typeface="URW Gothic"/>
              </a:rPr>
              <a:t>your </a:t>
            </a:r>
            <a:r>
              <a:rPr lang="en-US" sz="2000" spc="-5" dirty="0">
                <a:latin typeface="Cambria" panose="02040503050406030204" pitchFamily="18" charset="0"/>
                <a:ea typeface="Cambria" panose="02040503050406030204" pitchFamily="18" charset="0"/>
                <a:cs typeface="URW Gothic"/>
              </a:rPr>
              <a:t>feedback regarding</a:t>
            </a:r>
            <a:r>
              <a:rPr sz="2000" spc="-5" dirty="0">
                <a:latin typeface="Cambria" panose="02040503050406030204" pitchFamily="18" charset="0"/>
                <a:ea typeface="Cambria" panose="02040503050406030204" pitchFamily="18" charset="0"/>
                <a:cs typeface="URW Gothic"/>
              </a:rPr>
              <a:t> our</a:t>
            </a:r>
            <a:r>
              <a:rPr sz="2000" spc="200" dirty="0">
                <a:latin typeface="Cambria" panose="02040503050406030204" pitchFamily="18" charset="0"/>
                <a:ea typeface="Cambria" panose="02040503050406030204" pitchFamily="18" charset="0"/>
                <a:cs typeface="URW Gothic"/>
              </a:rPr>
              <a:t> </a:t>
            </a:r>
            <a:r>
              <a:rPr lang="en-US" sz="2000" spc="-10" dirty="0">
                <a:latin typeface="Cambria" panose="02040503050406030204" pitchFamily="18" charset="0"/>
                <a:ea typeface="Cambria" panose="02040503050406030204" pitchFamily="18" charset="0"/>
                <a:cs typeface="URW Gothic"/>
              </a:rPr>
              <a:t>product</a:t>
            </a:r>
            <a:r>
              <a:rPr sz="2000" spc="-10" dirty="0">
                <a:latin typeface="Cambria" panose="02040503050406030204" pitchFamily="18" charset="0"/>
                <a:ea typeface="Cambria" panose="02040503050406030204" pitchFamily="18" charset="0"/>
                <a:cs typeface="URW Gothic"/>
              </a:rPr>
              <a:t>.</a:t>
            </a:r>
            <a:r>
              <a:rPr lang="en-US" sz="2000" spc="-10" dirty="0">
                <a:latin typeface="Cambria" panose="02040503050406030204" pitchFamily="18" charset="0"/>
                <a:ea typeface="Cambria" panose="02040503050406030204" pitchFamily="18" charset="0"/>
                <a:cs typeface="URW Gothic"/>
              </a:rPr>
              <a:t> </a:t>
            </a:r>
          </a:p>
          <a:p>
            <a:pPr marL="12700" marR="5080" algn="just">
              <a:spcBef>
                <a:spcPts val="5"/>
              </a:spcBef>
            </a:pPr>
            <a:endParaRPr lang="en-US" sz="2000" dirty="0">
              <a:latin typeface="Cambria" panose="02040503050406030204" pitchFamily="18" charset="0"/>
              <a:ea typeface="Cambria" panose="02040503050406030204" pitchFamily="18" charset="0"/>
              <a:cs typeface="URW Gothic"/>
            </a:endParaRPr>
          </a:p>
          <a:p>
            <a:pPr marL="12700" marR="5080" algn="just">
              <a:spcBef>
                <a:spcPts val="5"/>
              </a:spcBef>
            </a:pPr>
            <a:r>
              <a:rPr sz="2000" spc="-5" dirty="0">
                <a:latin typeface="Cambria" panose="02040503050406030204" pitchFamily="18" charset="0"/>
                <a:ea typeface="Cambria" panose="02040503050406030204" pitchFamily="18" charset="0"/>
                <a:cs typeface="URW Gothic"/>
              </a:rPr>
              <a:t>One of our missions </a:t>
            </a:r>
            <a:r>
              <a:rPr sz="2000" spc="10" dirty="0">
                <a:latin typeface="Cambria" panose="02040503050406030204" pitchFamily="18" charset="0"/>
                <a:ea typeface="Cambria" panose="02040503050406030204" pitchFamily="18" charset="0"/>
                <a:cs typeface="URW Gothic"/>
              </a:rPr>
              <a:t>is </a:t>
            </a:r>
            <a:r>
              <a:rPr sz="2000" spc="-10" dirty="0">
                <a:latin typeface="Cambria" panose="02040503050406030204" pitchFamily="18" charset="0"/>
                <a:ea typeface="Cambria" panose="02040503050406030204" pitchFamily="18" charset="0"/>
                <a:cs typeface="URW Gothic"/>
              </a:rPr>
              <a:t>to </a:t>
            </a:r>
            <a:r>
              <a:rPr sz="2000" spc="-5" dirty="0">
                <a:latin typeface="Cambria" panose="02040503050406030204" pitchFamily="18" charset="0"/>
                <a:ea typeface="Cambria" panose="02040503050406030204" pitchFamily="18" charset="0"/>
                <a:cs typeface="URW Gothic"/>
              </a:rPr>
              <a:t>satisfy customers’ expectations. </a:t>
            </a:r>
            <a:r>
              <a:rPr sz="2000" spc="-20" dirty="0">
                <a:latin typeface="Cambria" panose="02040503050406030204" pitchFamily="18" charset="0"/>
                <a:ea typeface="Cambria" panose="02040503050406030204" pitchFamily="18" charset="0"/>
                <a:cs typeface="URW Gothic"/>
              </a:rPr>
              <a:t>We </a:t>
            </a:r>
            <a:r>
              <a:rPr sz="2000" spc="-5" dirty="0">
                <a:latin typeface="Cambria" panose="02040503050406030204" pitchFamily="18" charset="0"/>
                <a:ea typeface="Cambria" panose="02040503050406030204" pitchFamily="18" charset="0"/>
                <a:cs typeface="URW Gothic"/>
              </a:rPr>
              <a:t>are eager </a:t>
            </a:r>
            <a:r>
              <a:rPr sz="2000" spc="-10" dirty="0">
                <a:latin typeface="Cambria" panose="02040503050406030204" pitchFamily="18" charset="0"/>
                <a:ea typeface="Cambria" panose="02040503050406030204" pitchFamily="18" charset="0"/>
                <a:cs typeface="URW Gothic"/>
              </a:rPr>
              <a:t>to </a:t>
            </a:r>
            <a:r>
              <a:rPr sz="2000" spc="-5" dirty="0">
                <a:latin typeface="Cambria" panose="02040503050406030204" pitchFamily="18" charset="0"/>
                <a:ea typeface="Cambria" panose="02040503050406030204" pitchFamily="18" charset="0"/>
                <a:cs typeface="URW Gothic"/>
              </a:rPr>
              <a:t>provide our excellent  </a:t>
            </a:r>
            <a:r>
              <a:rPr sz="2000" dirty="0">
                <a:latin typeface="Cambria" panose="02040503050406030204" pitchFamily="18" charset="0"/>
                <a:ea typeface="Cambria" panose="02040503050406030204" pitchFamily="18" charset="0"/>
                <a:cs typeface="URW Gothic"/>
              </a:rPr>
              <a:t>service </a:t>
            </a:r>
            <a:r>
              <a:rPr sz="2000" spc="10" dirty="0">
                <a:latin typeface="Cambria" panose="02040503050406030204" pitchFamily="18" charset="0"/>
                <a:ea typeface="Cambria" panose="02040503050406030204" pitchFamily="18" charset="0"/>
                <a:cs typeface="URW Gothic"/>
              </a:rPr>
              <a:t>in </a:t>
            </a:r>
            <a:r>
              <a:rPr sz="2000" spc="-10" dirty="0">
                <a:latin typeface="Cambria" panose="02040503050406030204" pitchFamily="18" charset="0"/>
                <a:ea typeface="Cambria" panose="02040503050406030204" pitchFamily="18" charset="0"/>
                <a:cs typeface="URW Gothic"/>
              </a:rPr>
              <a:t>order to </a:t>
            </a:r>
            <a:r>
              <a:rPr sz="2000" spc="-5" dirty="0">
                <a:latin typeface="Cambria" panose="02040503050406030204" pitchFamily="18" charset="0"/>
                <a:ea typeface="Cambria" panose="02040503050406030204" pitchFamily="18" charset="0"/>
                <a:cs typeface="URW Gothic"/>
              </a:rPr>
              <a:t>overcome </a:t>
            </a:r>
            <a:r>
              <a:rPr sz="2000" spc="-10" dirty="0">
                <a:latin typeface="Cambria" panose="02040503050406030204" pitchFamily="18" charset="0"/>
                <a:ea typeface="Cambria" panose="02040503050406030204" pitchFamily="18" charset="0"/>
                <a:cs typeface="URW Gothic"/>
              </a:rPr>
              <a:t>any </a:t>
            </a:r>
            <a:r>
              <a:rPr sz="2000" spc="-5" dirty="0">
                <a:latin typeface="Cambria" panose="02040503050406030204" pitchFamily="18" charset="0"/>
                <a:ea typeface="Cambria" panose="02040503050406030204" pitchFamily="18" charset="0"/>
                <a:cs typeface="URW Gothic"/>
              </a:rPr>
              <a:t>highlighted </a:t>
            </a:r>
            <a:r>
              <a:rPr sz="2000" dirty="0">
                <a:latin typeface="Cambria" panose="02040503050406030204" pitchFamily="18" charset="0"/>
                <a:ea typeface="Cambria" panose="02040503050406030204" pitchFamily="18" charset="0"/>
                <a:cs typeface="URW Gothic"/>
              </a:rPr>
              <a:t>issue. </a:t>
            </a:r>
            <a:r>
              <a:rPr sz="2000" spc="-5" dirty="0">
                <a:latin typeface="Cambria" panose="02040503050406030204" pitchFamily="18" charset="0"/>
                <a:ea typeface="Cambria" panose="02040503050406030204" pitchFamily="18" charset="0"/>
                <a:cs typeface="URW Gothic"/>
              </a:rPr>
              <a:t>Due </a:t>
            </a:r>
            <a:r>
              <a:rPr sz="2000" spc="-10" dirty="0">
                <a:latin typeface="Cambria" panose="02040503050406030204" pitchFamily="18" charset="0"/>
                <a:ea typeface="Cambria" panose="02040503050406030204" pitchFamily="18" charset="0"/>
                <a:cs typeface="URW Gothic"/>
              </a:rPr>
              <a:t>to </a:t>
            </a:r>
            <a:r>
              <a:rPr sz="2000" spc="-5" dirty="0">
                <a:latin typeface="Cambria" panose="02040503050406030204" pitchFamily="18" charset="0"/>
                <a:ea typeface="Cambria" panose="02040503050406030204" pitchFamily="18" charset="0"/>
                <a:cs typeface="URW Gothic"/>
              </a:rPr>
              <a:t>that, we </a:t>
            </a:r>
            <a:r>
              <a:rPr sz="2000" dirty="0">
                <a:latin typeface="Cambria" panose="02040503050406030204" pitchFamily="18" charset="0"/>
                <a:ea typeface="Cambria" panose="02040503050406030204" pitchFamily="18" charset="0"/>
                <a:cs typeface="URW Gothic"/>
              </a:rPr>
              <a:t>have </a:t>
            </a:r>
            <a:r>
              <a:rPr sz="2000" spc="-5" dirty="0">
                <a:latin typeface="Cambria" panose="02040503050406030204" pitchFamily="18" charset="0"/>
                <a:ea typeface="Cambria" panose="02040503050406030204" pitchFamily="18" charset="0"/>
                <a:cs typeface="URW Gothic"/>
              </a:rPr>
              <a:t>investigated your  claim accordingly. </a:t>
            </a:r>
            <a:r>
              <a:rPr sz="2000" dirty="0">
                <a:latin typeface="Cambria" panose="02040503050406030204" pitchFamily="18" charset="0"/>
                <a:ea typeface="Cambria" panose="02040503050406030204" pitchFamily="18" charset="0"/>
                <a:cs typeface="URW Gothic"/>
              </a:rPr>
              <a:t>Our </a:t>
            </a:r>
            <a:r>
              <a:rPr sz="2000" spc="-5" dirty="0">
                <a:latin typeface="Cambria" panose="02040503050406030204" pitchFamily="18" charset="0"/>
                <a:ea typeface="Cambria" panose="02040503050406030204" pitchFamily="18" charset="0"/>
                <a:cs typeface="URW Gothic"/>
              </a:rPr>
              <a:t>product has </a:t>
            </a:r>
            <a:r>
              <a:rPr sz="2000" dirty="0">
                <a:latin typeface="Cambria" panose="02040503050406030204" pitchFamily="18" charset="0"/>
                <a:ea typeface="Cambria" panose="02040503050406030204" pitchFamily="18" charset="0"/>
                <a:cs typeface="URW Gothic"/>
              </a:rPr>
              <a:t>its </a:t>
            </a:r>
            <a:r>
              <a:rPr sz="2000" spc="-5" dirty="0">
                <a:latin typeface="Cambria" panose="02040503050406030204" pitchFamily="18" charset="0"/>
                <a:ea typeface="Cambria" panose="02040503050406030204" pitchFamily="18" charset="0"/>
                <a:cs typeface="URW Gothic"/>
              </a:rPr>
              <a:t>own </a:t>
            </a:r>
            <a:r>
              <a:rPr sz="2000" dirty="0">
                <a:latin typeface="Cambria" panose="02040503050406030204" pitchFamily="18" charset="0"/>
                <a:ea typeface="Cambria" panose="02040503050406030204" pitchFamily="18" charset="0"/>
                <a:cs typeface="URW Gothic"/>
              </a:rPr>
              <a:t>specific </a:t>
            </a:r>
            <a:r>
              <a:rPr sz="2000" spc="-5" dirty="0">
                <a:latin typeface="Cambria" panose="02040503050406030204" pitchFamily="18" charset="0"/>
                <a:ea typeface="Cambria" panose="02040503050406030204" pitchFamily="18" charset="0"/>
                <a:cs typeface="URW Gothic"/>
              </a:rPr>
              <a:t>warranty </a:t>
            </a:r>
            <a:r>
              <a:rPr sz="2000" dirty="0">
                <a:latin typeface="Cambria" panose="02040503050406030204" pitchFamily="18" charset="0"/>
                <a:ea typeface="Cambria" panose="02040503050406030204" pitchFamily="18" charset="0"/>
                <a:cs typeface="URW Gothic"/>
              </a:rPr>
              <a:t>deadline, </a:t>
            </a:r>
            <a:r>
              <a:rPr sz="2000" spc="-5" dirty="0">
                <a:latin typeface="Cambria" panose="02040503050406030204" pitchFamily="18" charset="0"/>
                <a:ea typeface="Cambria" panose="02040503050406030204" pitchFamily="18" charset="0"/>
                <a:cs typeface="URW Gothic"/>
              </a:rPr>
              <a:t>thus any </a:t>
            </a:r>
            <a:r>
              <a:rPr sz="2000" dirty="0">
                <a:latin typeface="Cambria" panose="02040503050406030204" pitchFamily="18" charset="0"/>
                <a:ea typeface="Cambria" panose="02040503050406030204" pitchFamily="18" charset="0"/>
                <a:cs typeface="URW Gothic"/>
              </a:rPr>
              <a:t>issue </a:t>
            </a:r>
            <a:r>
              <a:rPr sz="2000" spc="-5" dirty="0">
                <a:latin typeface="Cambria" panose="02040503050406030204" pitchFamily="18" charset="0"/>
                <a:ea typeface="Cambria" panose="02040503050406030204" pitchFamily="18" charset="0"/>
                <a:cs typeface="URW Gothic"/>
              </a:rPr>
              <a:t>on </a:t>
            </a:r>
            <a:r>
              <a:rPr sz="2000" spc="-10" dirty="0">
                <a:latin typeface="Cambria" panose="02040503050406030204" pitchFamily="18" charset="0"/>
                <a:ea typeface="Cambria" panose="02040503050406030204" pitchFamily="18" charset="0"/>
                <a:cs typeface="URW Gothic"/>
              </a:rPr>
              <a:t>the  </a:t>
            </a:r>
            <a:r>
              <a:rPr sz="2000" spc="-5" dirty="0">
                <a:latin typeface="Cambria" panose="02040503050406030204" pitchFamily="18" charset="0"/>
                <a:ea typeface="Cambria" panose="02040503050406030204" pitchFamily="18" charset="0"/>
                <a:cs typeface="URW Gothic"/>
              </a:rPr>
              <a:t>product</a:t>
            </a:r>
            <a:r>
              <a:rPr lang="en-US" sz="2000" spc="-5" dirty="0">
                <a:latin typeface="Cambria" panose="02040503050406030204" pitchFamily="18" charset="0"/>
                <a:ea typeface="Cambria" panose="02040503050406030204" pitchFamily="18" charset="0"/>
                <a:cs typeface="URW Gothic"/>
              </a:rPr>
              <a:t> within the period</a:t>
            </a:r>
            <a:r>
              <a:rPr sz="2000" spc="-5" dirty="0">
                <a:latin typeface="Cambria" panose="02040503050406030204" pitchFamily="18" charset="0"/>
                <a:ea typeface="Cambria" panose="02040503050406030204" pitchFamily="18" charset="0"/>
                <a:cs typeface="URW Gothic"/>
              </a:rPr>
              <a:t> will </a:t>
            </a:r>
            <a:r>
              <a:rPr sz="2000" spc="-10" dirty="0">
                <a:latin typeface="Cambria" panose="02040503050406030204" pitchFamily="18" charset="0"/>
                <a:ea typeface="Cambria" panose="02040503050406030204" pitchFamily="18" charset="0"/>
                <a:cs typeface="URW Gothic"/>
              </a:rPr>
              <a:t>be </a:t>
            </a:r>
            <a:r>
              <a:rPr sz="2000" spc="-5" dirty="0">
                <a:latin typeface="Cambria" panose="02040503050406030204" pitchFamily="18" charset="0"/>
                <a:ea typeface="Cambria" panose="02040503050406030204" pitchFamily="18" charset="0"/>
                <a:cs typeface="URW Gothic"/>
              </a:rPr>
              <a:t>fully-covered by the company. However, </a:t>
            </a:r>
            <a:r>
              <a:rPr sz="2000" spc="10" dirty="0">
                <a:latin typeface="Cambria" panose="02040503050406030204" pitchFamily="18" charset="0"/>
                <a:ea typeface="Cambria" panose="02040503050406030204" pitchFamily="18" charset="0"/>
                <a:cs typeface="URW Gothic"/>
              </a:rPr>
              <a:t>if </a:t>
            </a:r>
            <a:r>
              <a:rPr sz="2000" spc="-5" dirty="0">
                <a:latin typeface="Cambria" panose="02040503050406030204" pitchFamily="18" charset="0"/>
                <a:ea typeface="Cambria" panose="02040503050406030204" pitchFamily="18" charset="0"/>
                <a:cs typeface="URW Gothic"/>
              </a:rPr>
              <a:t>the warranty </a:t>
            </a:r>
            <a:r>
              <a:rPr sz="2000" dirty="0">
                <a:latin typeface="Cambria" panose="02040503050406030204" pitchFamily="18" charset="0"/>
                <a:ea typeface="Cambria" panose="02040503050406030204" pitchFamily="18" charset="0"/>
                <a:cs typeface="URW Gothic"/>
              </a:rPr>
              <a:t>period </a:t>
            </a:r>
            <a:r>
              <a:rPr sz="2000" spc="-10" dirty="0">
                <a:latin typeface="Cambria" panose="02040503050406030204" pitchFamily="18" charset="0"/>
                <a:ea typeface="Cambria" panose="02040503050406030204" pitchFamily="18" charset="0"/>
                <a:cs typeface="URW Gothic"/>
              </a:rPr>
              <a:t>has </a:t>
            </a:r>
            <a:r>
              <a:rPr sz="2000" spc="-5" dirty="0">
                <a:latin typeface="Cambria" panose="02040503050406030204" pitchFamily="18" charset="0"/>
                <a:ea typeface="Cambria" panose="02040503050406030204" pitchFamily="18" charset="0"/>
                <a:cs typeface="URW Gothic"/>
              </a:rPr>
              <a:t>lapsed, </a:t>
            </a:r>
            <a:r>
              <a:rPr sz="2000" dirty="0">
                <a:latin typeface="Cambria" panose="02040503050406030204" pitchFamily="18" charset="0"/>
                <a:ea typeface="Cambria" panose="02040503050406030204" pitchFamily="18" charset="0"/>
                <a:cs typeface="URW Gothic"/>
              </a:rPr>
              <a:t>then </a:t>
            </a:r>
            <a:r>
              <a:rPr sz="2000" spc="-5" dirty="0">
                <a:latin typeface="Cambria" panose="02040503050406030204" pitchFamily="18" charset="0"/>
                <a:ea typeface="Cambria" panose="02040503050406030204" pitchFamily="18" charset="0"/>
                <a:cs typeface="URW Gothic"/>
              </a:rPr>
              <a:t>customers will </a:t>
            </a:r>
            <a:r>
              <a:rPr sz="2000" spc="-10" dirty="0">
                <a:latin typeface="Cambria" panose="02040503050406030204" pitchFamily="18" charset="0"/>
                <a:ea typeface="Cambria" panose="02040503050406030204" pitchFamily="18" charset="0"/>
                <a:cs typeface="URW Gothic"/>
              </a:rPr>
              <a:t>need to </a:t>
            </a:r>
            <a:r>
              <a:rPr sz="2000" spc="-5" dirty="0">
                <a:latin typeface="Cambria" panose="02040503050406030204" pitchFamily="18" charset="0"/>
                <a:ea typeface="Cambria" panose="02040503050406030204" pitchFamily="18" charset="0"/>
                <a:cs typeface="URW Gothic"/>
              </a:rPr>
              <a:t>cover </a:t>
            </a:r>
            <a:r>
              <a:rPr sz="2000" dirty="0">
                <a:latin typeface="Cambria" panose="02040503050406030204" pitchFamily="18" charset="0"/>
                <a:ea typeface="Cambria" panose="02040503050406030204" pitchFamily="18" charset="0"/>
                <a:cs typeface="URW Gothic"/>
              </a:rPr>
              <a:t>the </a:t>
            </a:r>
            <a:r>
              <a:rPr lang="en-US" sz="2000" dirty="0">
                <a:latin typeface="Cambria" panose="02040503050406030204" pitchFamily="18" charset="0"/>
                <a:ea typeface="Cambria" panose="02040503050406030204" pitchFamily="18" charset="0"/>
                <a:cs typeface="URW Gothic"/>
              </a:rPr>
              <a:t>all the related </a:t>
            </a:r>
            <a:r>
              <a:rPr sz="2000" dirty="0">
                <a:latin typeface="Cambria" panose="02040503050406030204" pitchFamily="18" charset="0"/>
                <a:ea typeface="Cambria" panose="02040503050406030204" pitchFamily="18" charset="0"/>
                <a:cs typeface="URW Gothic"/>
              </a:rPr>
              <a:t>expenses</a:t>
            </a:r>
            <a:r>
              <a:rPr lang="en-US" sz="2000" dirty="0">
                <a:latin typeface="Cambria" panose="02040503050406030204" pitchFamily="18" charset="0"/>
                <a:ea typeface="Cambria" panose="02040503050406030204" pitchFamily="18" charset="0"/>
                <a:cs typeface="URW Gothic"/>
              </a:rPr>
              <a:t> for service/repair work</a:t>
            </a:r>
            <a:r>
              <a:rPr sz="2000" dirty="0">
                <a:latin typeface="Cambria" panose="02040503050406030204" pitchFamily="18" charset="0"/>
                <a:ea typeface="Cambria" panose="02040503050406030204" pitchFamily="18" charset="0"/>
                <a:cs typeface="URW Gothic"/>
              </a:rPr>
              <a:t>. Thus, </a:t>
            </a:r>
            <a:r>
              <a:rPr sz="2000" spc="-5" dirty="0">
                <a:latin typeface="Cambria" panose="02040503050406030204" pitchFamily="18" charset="0"/>
                <a:ea typeface="Cambria" panose="02040503050406030204" pitchFamily="18" charset="0"/>
                <a:cs typeface="URW Gothic"/>
              </a:rPr>
              <a:t>based </a:t>
            </a:r>
            <a:r>
              <a:rPr sz="2000" dirty="0">
                <a:latin typeface="Cambria" panose="02040503050406030204" pitchFamily="18" charset="0"/>
                <a:ea typeface="Cambria" panose="02040503050406030204" pitchFamily="18" charset="0"/>
                <a:cs typeface="URW Gothic"/>
              </a:rPr>
              <a:t>on </a:t>
            </a:r>
            <a:r>
              <a:rPr sz="2000" spc="-5" dirty="0">
                <a:latin typeface="Cambria" panose="02040503050406030204" pitchFamily="18" charset="0"/>
                <a:ea typeface="Cambria" panose="02040503050406030204" pitchFamily="18" charset="0"/>
                <a:cs typeface="URW Gothic"/>
              </a:rPr>
              <a:t>our record, your product’s  warranty </a:t>
            </a:r>
            <a:r>
              <a:rPr sz="2000" dirty="0">
                <a:latin typeface="Cambria" panose="02040503050406030204" pitchFamily="18" charset="0"/>
                <a:ea typeface="Cambria" panose="02040503050406030204" pitchFamily="18" charset="0"/>
                <a:cs typeface="URW Gothic"/>
              </a:rPr>
              <a:t>period </a:t>
            </a:r>
            <a:r>
              <a:rPr sz="2000" spc="-10" dirty="0">
                <a:latin typeface="Cambria" panose="02040503050406030204" pitchFamily="18" charset="0"/>
                <a:ea typeface="Cambria" panose="02040503050406030204" pitchFamily="18" charset="0"/>
                <a:cs typeface="URW Gothic"/>
              </a:rPr>
              <a:t>has </a:t>
            </a:r>
            <a:r>
              <a:rPr sz="2000" spc="-5" dirty="0">
                <a:latin typeface="Cambria" panose="02040503050406030204" pitchFamily="18" charset="0"/>
                <a:ea typeface="Cambria" panose="02040503050406030204" pitchFamily="18" charset="0"/>
                <a:cs typeface="URW Gothic"/>
              </a:rPr>
              <a:t>ended </a:t>
            </a:r>
            <a:r>
              <a:rPr sz="2000" dirty="0">
                <a:latin typeface="Cambria" panose="02040503050406030204" pitchFamily="18" charset="0"/>
                <a:ea typeface="Cambria" panose="02040503050406030204" pitchFamily="18" charset="0"/>
                <a:cs typeface="URW Gothic"/>
              </a:rPr>
              <a:t>6 months </a:t>
            </a:r>
            <a:r>
              <a:rPr sz="2000" spc="-5" dirty="0">
                <a:latin typeface="Cambria" panose="02040503050406030204" pitchFamily="18" charset="0"/>
                <a:ea typeface="Cambria" panose="02040503050406030204" pitchFamily="18" charset="0"/>
                <a:cs typeface="URW Gothic"/>
              </a:rPr>
              <a:t>ago and </a:t>
            </a:r>
            <a:r>
              <a:rPr sz="2000" dirty="0">
                <a:latin typeface="Cambria" panose="02040503050406030204" pitchFamily="18" charset="0"/>
                <a:ea typeface="Cambria" panose="02040503050406030204" pitchFamily="18" charset="0"/>
                <a:cs typeface="URW Gothic"/>
              </a:rPr>
              <a:t>due </a:t>
            </a:r>
            <a:r>
              <a:rPr sz="2000" spc="-10" dirty="0">
                <a:latin typeface="Cambria" panose="02040503050406030204" pitchFamily="18" charset="0"/>
                <a:ea typeface="Cambria" panose="02040503050406030204" pitchFamily="18" charset="0"/>
                <a:cs typeface="URW Gothic"/>
              </a:rPr>
              <a:t>to that </a:t>
            </a:r>
            <a:r>
              <a:rPr sz="2000" spc="-5" dirty="0">
                <a:latin typeface="Cambria" panose="02040503050406030204" pitchFamily="18" charset="0"/>
                <a:ea typeface="Cambria" panose="02040503050406030204" pitchFamily="18" charset="0"/>
                <a:cs typeface="URW Gothic"/>
              </a:rPr>
              <a:t>we are unable </a:t>
            </a:r>
            <a:r>
              <a:rPr sz="2000" spc="-10" dirty="0">
                <a:latin typeface="Cambria" panose="02040503050406030204" pitchFamily="18" charset="0"/>
                <a:ea typeface="Cambria" panose="02040503050406030204" pitchFamily="18" charset="0"/>
                <a:cs typeface="URW Gothic"/>
              </a:rPr>
              <a:t>to </a:t>
            </a:r>
            <a:r>
              <a:rPr sz="2000" spc="-5" dirty="0">
                <a:latin typeface="Cambria" panose="02040503050406030204" pitchFamily="18" charset="0"/>
                <a:ea typeface="Cambria" panose="02040503050406030204" pitchFamily="18" charset="0"/>
                <a:cs typeface="URW Gothic"/>
              </a:rPr>
              <a:t>grant </a:t>
            </a:r>
            <a:r>
              <a:rPr sz="2000" spc="-10" dirty="0">
                <a:latin typeface="Cambria" panose="02040503050406030204" pitchFamily="18" charset="0"/>
                <a:ea typeface="Cambria" panose="02040503050406030204" pitchFamily="18" charset="0"/>
                <a:cs typeface="URW Gothic"/>
              </a:rPr>
              <a:t>your </a:t>
            </a:r>
            <a:r>
              <a:rPr sz="2000" dirty="0">
                <a:latin typeface="Cambria" panose="02040503050406030204" pitchFamily="18" charset="0"/>
                <a:ea typeface="Cambria" panose="02040503050406030204" pitchFamily="18" charset="0"/>
                <a:cs typeface="URW Gothic"/>
              </a:rPr>
              <a:t>claim.</a:t>
            </a:r>
            <a:endParaRPr lang="en-US" sz="2000" dirty="0">
              <a:latin typeface="Cambria" panose="02040503050406030204" pitchFamily="18" charset="0"/>
              <a:ea typeface="Cambria" panose="02040503050406030204" pitchFamily="18" charset="0"/>
              <a:cs typeface="URW Gothic"/>
            </a:endParaRPr>
          </a:p>
          <a:p>
            <a:pPr marL="12700" marR="5080" algn="just">
              <a:spcBef>
                <a:spcPts val="5"/>
              </a:spcBef>
            </a:pPr>
            <a:endParaRPr sz="2000" dirty="0">
              <a:latin typeface="Cambria" panose="02040503050406030204" pitchFamily="18" charset="0"/>
              <a:ea typeface="Cambria" panose="02040503050406030204" pitchFamily="18" charset="0"/>
              <a:cs typeface="URW Gothic"/>
            </a:endParaRPr>
          </a:p>
          <a:p>
            <a:pPr marL="12700" marR="5080" algn="just"/>
            <a:r>
              <a:rPr sz="2000" spc="-15" dirty="0">
                <a:latin typeface="Cambria" panose="02040503050406030204" pitchFamily="18" charset="0"/>
                <a:ea typeface="Cambria" panose="02040503050406030204" pitchFamily="18" charset="0"/>
                <a:cs typeface="URW Gothic"/>
              </a:rPr>
              <a:t>We </a:t>
            </a:r>
            <a:r>
              <a:rPr sz="2000" spc="-5" dirty="0">
                <a:latin typeface="Cambria" panose="02040503050406030204" pitchFamily="18" charset="0"/>
                <a:ea typeface="Cambria" panose="02040503050406030204" pitchFamily="18" charset="0"/>
                <a:cs typeface="URW Gothic"/>
              </a:rPr>
              <a:t>hope </a:t>
            </a:r>
            <a:r>
              <a:rPr sz="2000" spc="-10" dirty="0">
                <a:latin typeface="Cambria" panose="02040503050406030204" pitchFamily="18" charset="0"/>
                <a:ea typeface="Cambria" panose="02040503050406030204" pitchFamily="18" charset="0"/>
                <a:cs typeface="URW Gothic"/>
              </a:rPr>
              <a:t>that </a:t>
            </a:r>
            <a:r>
              <a:rPr sz="2000" spc="-5" dirty="0">
                <a:latin typeface="Cambria" panose="02040503050406030204" pitchFamily="18" charset="0"/>
                <a:ea typeface="Cambria" panose="02040503050406030204" pitchFamily="18" charset="0"/>
                <a:cs typeface="URW Gothic"/>
              </a:rPr>
              <a:t>you can understand our policy as </a:t>
            </a:r>
            <a:r>
              <a:rPr sz="2000" spc="-10" dirty="0">
                <a:latin typeface="Cambria" panose="02040503050406030204" pitchFamily="18" charset="0"/>
                <a:ea typeface="Cambria" panose="02040503050406030204" pitchFamily="18" charset="0"/>
                <a:cs typeface="URW Gothic"/>
              </a:rPr>
              <a:t>we </a:t>
            </a:r>
            <a:r>
              <a:rPr sz="2000" dirty="0">
                <a:latin typeface="Cambria" panose="02040503050406030204" pitchFamily="18" charset="0"/>
                <a:ea typeface="Cambria" panose="02040503050406030204" pitchFamily="18" charset="0"/>
                <a:cs typeface="URW Gothic"/>
              </a:rPr>
              <a:t>value </a:t>
            </a:r>
            <a:r>
              <a:rPr sz="2000" spc="-5" dirty="0">
                <a:latin typeface="Cambria" panose="02040503050406030204" pitchFamily="18" charset="0"/>
                <a:ea typeface="Cambria" panose="02040503050406030204" pitchFamily="18" charset="0"/>
                <a:cs typeface="URW Gothic"/>
              </a:rPr>
              <a:t>your understanding on this matter.  </a:t>
            </a:r>
            <a:r>
              <a:rPr sz="2000" spc="-10" dirty="0">
                <a:latin typeface="Cambria" panose="02040503050406030204" pitchFamily="18" charset="0"/>
                <a:ea typeface="Cambria" panose="02040503050406030204" pitchFamily="18" charset="0"/>
                <a:cs typeface="URW Gothic"/>
              </a:rPr>
              <a:t>Our </a:t>
            </a:r>
            <a:r>
              <a:rPr sz="2000" spc="-5" dirty="0">
                <a:latin typeface="Cambria" panose="02040503050406030204" pitchFamily="18" charset="0"/>
                <a:ea typeface="Cambria" panose="02040503050406030204" pitchFamily="18" charset="0"/>
                <a:cs typeface="URW Gothic"/>
              </a:rPr>
              <a:t>company </a:t>
            </a:r>
            <a:r>
              <a:rPr sz="2000" spc="10" dirty="0">
                <a:latin typeface="Cambria" panose="02040503050406030204" pitchFamily="18" charset="0"/>
                <a:ea typeface="Cambria" panose="02040503050406030204" pitchFamily="18" charset="0"/>
                <a:cs typeface="URW Gothic"/>
              </a:rPr>
              <a:t>is </a:t>
            </a:r>
            <a:r>
              <a:rPr sz="2000" dirty="0">
                <a:latin typeface="Cambria" panose="02040503050406030204" pitchFamily="18" charset="0"/>
                <a:ea typeface="Cambria" panose="02040503050406030204" pitchFamily="18" charset="0"/>
                <a:cs typeface="URW Gothic"/>
              </a:rPr>
              <a:t>looking </a:t>
            </a:r>
            <a:r>
              <a:rPr sz="2000" spc="-10" dirty="0">
                <a:latin typeface="Cambria" panose="02040503050406030204" pitchFamily="18" charset="0"/>
                <a:ea typeface="Cambria" panose="02040503050406030204" pitchFamily="18" charset="0"/>
                <a:cs typeface="URW Gothic"/>
              </a:rPr>
              <a:t>forward to </a:t>
            </a:r>
            <a:r>
              <a:rPr sz="2000" dirty="0">
                <a:latin typeface="Cambria" panose="02040503050406030204" pitchFamily="18" charset="0"/>
                <a:ea typeface="Cambria" panose="02040503050406030204" pitchFamily="18" charset="0"/>
                <a:cs typeface="URW Gothic"/>
              </a:rPr>
              <a:t>serve </a:t>
            </a:r>
            <a:r>
              <a:rPr sz="2000" spc="-10" dirty="0">
                <a:latin typeface="Cambria" panose="02040503050406030204" pitchFamily="18" charset="0"/>
                <a:ea typeface="Cambria" panose="02040503050406030204" pitchFamily="18" charset="0"/>
                <a:cs typeface="URW Gothic"/>
              </a:rPr>
              <a:t>you </a:t>
            </a:r>
            <a:r>
              <a:rPr lang="en-US" sz="2000" spc="10" dirty="0">
                <a:latin typeface="Cambria" panose="02040503050406030204" pitchFamily="18" charset="0"/>
                <a:ea typeface="Cambria" panose="02040503050406030204" pitchFamily="18" charset="0"/>
                <a:cs typeface="URW Gothic"/>
              </a:rPr>
              <a:t>in order to resolve the product’s issue</a:t>
            </a:r>
            <a:r>
              <a:rPr sz="2000" spc="-5" dirty="0">
                <a:latin typeface="Cambria" panose="02040503050406030204" pitchFamily="18" charset="0"/>
                <a:ea typeface="Cambria" panose="02040503050406030204" pitchFamily="18" charset="0"/>
                <a:cs typeface="URW Gothic"/>
              </a:rPr>
              <a:t>.</a:t>
            </a:r>
            <a:endParaRPr sz="2000" dirty="0">
              <a:latin typeface="Cambria" panose="02040503050406030204" pitchFamily="18" charset="0"/>
              <a:ea typeface="Cambria" panose="02040503050406030204" pitchFamily="18" charset="0"/>
              <a:cs typeface="URW Gothic"/>
            </a:endParaRPr>
          </a:p>
          <a:p>
            <a:pPr>
              <a:lnSpc>
                <a:spcPct val="100000"/>
              </a:lnSpc>
              <a:spcBef>
                <a:spcPts val="25"/>
              </a:spcBef>
            </a:pPr>
            <a:endParaRPr sz="2000" dirty="0">
              <a:latin typeface="Cambria" panose="02040503050406030204" pitchFamily="18" charset="0"/>
              <a:ea typeface="Cambria" panose="02040503050406030204" pitchFamily="18" charset="0"/>
              <a:cs typeface="URW Gothic"/>
            </a:endParaRPr>
          </a:p>
          <a:p>
            <a:pPr marL="12700">
              <a:lnSpc>
                <a:spcPct val="100000"/>
              </a:lnSpc>
            </a:pPr>
            <a:endParaRPr sz="2000" dirty="0">
              <a:latin typeface="Cambria" panose="02040503050406030204" pitchFamily="18" charset="0"/>
              <a:ea typeface="Cambria" panose="02040503050406030204" pitchFamily="18" charset="0"/>
              <a:cs typeface="URW Gothic"/>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1464</Words>
  <Application>Microsoft Office PowerPoint</Application>
  <PresentationFormat>Widescreen</PresentationFormat>
  <Paragraphs>131</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Calibri Light</vt:lpstr>
      <vt:lpstr>Cambria</vt:lpstr>
      <vt:lpstr>Times New Roman</vt:lpstr>
      <vt:lpstr>URW Gothic</vt:lpstr>
      <vt:lpstr>Wingdings</vt:lpstr>
      <vt:lpstr>Office Theme</vt:lpstr>
      <vt:lpstr>BAD NEWS MESSAGES</vt:lpstr>
      <vt:lpstr>Goals in Delivering Bad-News</vt:lpstr>
      <vt:lpstr>BASIC GUIDELINES</vt:lpstr>
      <vt:lpstr>PowerPoint Presentation</vt:lpstr>
      <vt:lpstr>EFFECTIVE BAD NEWS MESSAGE</vt:lpstr>
      <vt:lpstr>THE DIRECT APPROACH</vt:lpstr>
      <vt:lpstr>THE INDIRECT APPROACH</vt:lpstr>
      <vt:lpstr>THE DIRECT APPROACH</vt:lpstr>
      <vt:lpstr>PowerPoint Presentation</vt:lpstr>
      <vt:lpstr>PowerPoint Presentation</vt:lpstr>
      <vt:lpstr>PowerPoint Presentation</vt:lpstr>
      <vt:lpstr>NEGATIVE LETTER OF RECOMMENDATION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Business Messages</dc:title>
  <dc:creator>e30</dc:creator>
  <cp:lastModifiedBy>Akma Safian</cp:lastModifiedBy>
  <cp:revision>52</cp:revision>
  <dcterms:created xsi:type="dcterms:W3CDTF">2025-11-04T03:27:27Z</dcterms:created>
  <dcterms:modified xsi:type="dcterms:W3CDTF">2026-05-18T01:38:30Z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2020-11-09T07:30:00Z</vt:filetime>
  </property>
  <property fmtid="{D5CDD505-2E9C-101B-9397-08002B2CF9AE}" pid="3" name="Creator">
    <vt:lpwstr>Microsoft® PowerPoint® 2016</vt:lpwstr>
  </property>
  <property fmtid="{D5CDD505-2E9C-101B-9397-08002B2CF9AE}" pid="4" name="LastSaved">
    <vt:filetime>2022-10-31T07:30:00Z</vt:filetime>
  </property>
  <property fmtid="{D5CDD505-2E9C-101B-9397-08002B2CF9AE}" pid="5" name="ICV">
    <vt:lpwstr>A40171B97A92BD559F7209692DC52D43_43</vt:lpwstr>
  </property>
  <property fmtid="{D5CDD505-2E9C-101B-9397-08002B2CF9AE}" pid="6" name="KSOProductBuildVer">
    <vt:lpwstr>1033-12.1.22554.22554</vt:lpwstr>
  </property>
</Properties>
</file>