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86" r:id="rId4"/>
    <p:sldId id="257" r:id="rId5"/>
    <p:sldId id="259" r:id="rId6"/>
    <p:sldId id="261" r:id="rId7"/>
    <p:sldId id="265" r:id="rId8"/>
    <p:sldId id="273" r:id="rId9"/>
    <p:sldId id="262" r:id="rId10"/>
    <p:sldId id="277" r:id="rId11"/>
    <p:sldId id="275" r:id="rId12"/>
    <p:sldId id="281" r:id="rId13"/>
    <p:sldId id="282" r:id="rId14"/>
    <p:sldId id="28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1BEF0D-F0BB-DE4B-95CE-6DB70DBA956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nurhidayatulakma.safian@xmu.edu.m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MPU2.2 Writing for Professional Purposes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Name		: Nur Hidayatul Akma Safian</a:t>
            </a:r>
          </a:p>
          <a:p>
            <a:r>
              <a:rPr lang="en-US" dirty="0"/>
              <a:t>Email		: </a:t>
            </a:r>
            <a:r>
              <a:rPr lang="en-US" dirty="0">
                <a:hlinkClick r:id="rId2"/>
              </a:rPr>
              <a:t>nurhidayatulakma.safian@xmu.edu.my</a:t>
            </a:r>
            <a:endParaRPr lang="en-US" dirty="0"/>
          </a:p>
          <a:p>
            <a:r>
              <a:rPr lang="en-US" dirty="0"/>
              <a:t>Office 		: A1-325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127" y="533400"/>
            <a:ext cx="9720072" cy="1143000"/>
          </a:xfrm>
        </p:spPr>
        <p:txBody>
          <a:bodyPr/>
          <a:lstStyle/>
          <a:p>
            <a:r>
              <a:rPr lang="en-US" dirty="0"/>
              <a:t>Consultation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6" y="1805432"/>
            <a:ext cx="9720073" cy="46334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FROM WEEK 2 - WEEK 14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altLang="en-US" dirty="0"/>
              <a:t>Tuesday : 10 am – 12 pm</a:t>
            </a:r>
          </a:p>
          <a:p>
            <a:r>
              <a:rPr lang="en-US" altLang="en-US" dirty="0"/>
              <a:t>Wednesday : 1 pm - 3 pm</a:t>
            </a:r>
          </a:p>
          <a:p>
            <a:endParaRPr lang="en-US" altLang="en-US" dirty="0"/>
          </a:p>
          <a:p>
            <a:pPr marL="0" indent="0">
              <a:buNone/>
            </a:pPr>
            <a:r>
              <a:rPr lang="en-US" sz="2000" b="1" dirty="0"/>
              <a:t>IMPORTANT:</a:t>
            </a:r>
          </a:p>
          <a:p>
            <a:pPr marL="0" indent="0">
              <a:buNone/>
            </a:pPr>
            <a:r>
              <a:rPr lang="en-US" sz="2000" b="1" dirty="0"/>
              <a:t>Students must email or message via Teams to book a slot. Do not come to my office without a confirmed appointment</a:t>
            </a:r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Rationale for the inclusion of the Course in the Programme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228" y="2641600"/>
            <a:ext cx="9720073" cy="4023360"/>
          </a:xfrm>
        </p:spPr>
        <p:txBody>
          <a:bodyPr/>
          <a:lstStyle/>
          <a:p>
            <a:pPr algn="just"/>
            <a:r>
              <a:rPr lang="en-GB" dirty="0"/>
              <a:t>This course is important to advance students’ professional written communication skills needed for a variety of contexts and functions, including reports, proposals, resumes, memos and letters.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It is a toolkit of writing skills and strategies for students to communicate clearly, grammatically correct and persuasively in various types of written professional communications.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Teaching-Learning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GB" b="1" dirty="0"/>
              <a:t>Lectures </a:t>
            </a: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GB" b="1" dirty="0"/>
              <a:t>Tutorial sessions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b="1" dirty="0"/>
              <a:t>Assignments Consultation</a:t>
            </a: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GB" b="1" dirty="0"/>
              <a:t>Group discussions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964184"/>
          </a:xfrm>
        </p:spPr>
        <p:txBody>
          <a:bodyPr>
            <a:normAutofit fontScale="90000"/>
          </a:bodyPr>
          <a:lstStyle/>
          <a:p>
            <a:r>
              <a:rPr lang="en-GB" dirty="0"/>
              <a:t>Assessment Methods </a:t>
            </a:r>
            <a:br>
              <a:rPr lang="en-GB" dirty="0"/>
            </a:b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17600" y="1689100"/>
          <a:ext cx="7493000" cy="39433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9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3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1">
                <a:tc>
                  <a:txBody>
                    <a:bodyPr/>
                    <a:lstStyle/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Quiz</a:t>
                      </a:r>
                      <a:endParaRPr 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</a:t>
                      </a:r>
                      <a:r>
                        <a:rPr lang="en-GB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%</a:t>
                      </a:r>
                      <a:endParaRPr 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121">
                <a:tc>
                  <a:txBody>
                    <a:bodyPr/>
                    <a:lstStyle/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Assignment 1</a:t>
                      </a:r>
                    </a:p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25%</a:t>
                      </a: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121">
                <a:tc>
                  <a:txBody>
                    <a:bodyPr/>
                    <a:lstStyle/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Assignment 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25%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121">
                <a:tc>
                  <a:txBody>
                    <a:bodyPr/>
                    <a:lstStyle/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FINAL EXAM</a:t>
                      </a: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30%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121">
                <a:tc>
                  <a:txBody>
                    <a:bodyPr/>
                    <a:lstStyle/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l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Total</a:t>
                      </a:r>
                      <a:endParaRPr 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algn="ctr" fontAlgn="auto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100%</a:t>
                      </a:r>
                      <a:endParaRPr lang="en-US" sz="24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</a:t>
            </a:r>
            <a:br>
              <a:rPr lang="en-US" dirty="0">
                <a:latin typeface="Times New Roman" panose="02020503050405090304" pitchFamily="18" charset="0"/>
                <a:ea typeface="SimSun" pitchFamily="2" charset="-122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(Assignment 1)Webpage Analysis	(25%)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(Assignment 2) Product Marketing	(25%)</a:t>
            </a:r>
          </a:p>
          <a:p>
            <a:pPr lvl="1"/>
            <a:r>
              <a:rPr lang="en-US" dirty="0"/>
              <a:t>Sales Letter (Persuasive Message)  -10%</a:t>
            </a:r>
          </a:p>
          <a:p>
            <a:pPr lvl="1"/>
            <a:r>
              <a:rPr lang="en-US" dirty="0"/>
              <a:t>Poster	-10% </a:t>
            </a:r>
          </a:p>
          <a:p>
            <a:pPr lvl="1"/>
            <a:r>
              <a:rPr lang="en-US" dirty="0"/>
              <a:t>Audience Profile – 5%</a:t>
            </a:r>
          </a:p>
          <a:p>
            <a:pPr marL="457200" lvl="1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EXAM		30%</a:t>
            </a:r>
          </a:p>
          <a:p>
            <a:endParaRPr lang="en-US" dirty="0"/>
          </a:p>
          <a:p>
            <a:r>
              <a:rPr lang="en-US" dirty="0"/>
              <a:t>(In-class **offline) Quiz 	20%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Outline of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US" b="1" dirty="0"/>
              <a:t>Beginnings and Basic Rhetorical Considerations</a:t>
            </a: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GB" b="1" dirty="0"/>
              <a:t>Understanding the communication process</a:t>
            </a: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b="1" dirty="0"/>
              <a:t>Analyzing Audience / Purpose and Building Goodwill</a:t>
            </a: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b="1" dirty="0"/>
              <a:t>Planning and developing written business messages</a:t>
            </a: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GB" b="1" dirty="0"/>
              <a:t>Writing positive, neutral, bad news messages</a:t>
            </a: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GB" b="1" dirty="0"/>
              <a:t>Writing persuasive messages</a:t>
            </a: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b="1" dirty="0"/>
              <a:t>Emails</a:t>
            </a: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b="1" dirty="0"/>
              <a:t>Curriculum vitae, </a:t>
            </a:r>
            <a:r>
              <a:rPr lang="en-US" b="1"/>
              <a:t>cover letter/application </a:t>
            </a:r>
            <a:r>
              <a:rPr lang="en-US" b="1" dirty="0"/>
              <a:t>letter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 Supporting the Course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Bovee</a:t>
            </a:r>
            <a:r>
              <a:rPr lang="en-GB" b="1" dirty="0"/>
              <a:t>, C. L., </a:t>
            </a:r>
            <a:r>
              <a:rPr lang="en-GB" b="1" dirty="0" err="1"/>
              <a:t>Thill</a:t>
            </a:r>
            <a:r>
              <a:rPr lang="en-GB" b="1" dirty="0"/>
              <a:t>, J. V. and </a:t>
            </a:r>
            <a:r>
              <a:rPr lang="en-GB" b="1" dirty="0" err="1"/>
              <a:t>Shatzman</a:t>
            </a:r>
            <a:r>
              <a:rPr lang="en-GB" b="1" dirty="0"/>
              <a:t>, B. E. (2021, 2022). </a:t>
            </a:r>
            <a:r>
              <a:rPr lang="en-GB" b="1" i="1" dirty="0"/>
              <a:t>Business Communication Today (15</a:t>
            </a:r>
            <a:r>
              <a:rPr lang="en-GB" b="1" i="1" baseline="30000" dirty="0"/>
              <a:t>th</a:t>
            </a:r>
            <a:r>
              <a:rPr lang="en-GB" b="1" i="1" dirty="0"/>
              <a:t> Edition).</a:t>
            </a:r>
            <a:r>
              <a:rPr lang="en-GB" b="1" dirty="0"/>
              <a:t> USA: Prentice Hall International.</a:t>
            </a:r>
            <a:endParaRPr lang="en-US" dirty="0"/>
          </a:p>
          <a:p>
            <a:pPr lvl="0"/>
            <a:r>
              <a:rPr lang="en-GB" b="1" dirty="0"/>
              <a:t>Locker, K. &amp; </a:t>
            </a:r>
            <a:r>
              <a:rPr lang="en-GB" b="1" dirty="0" err="1"/>
              <a:t>Kienzler</a:t>
            </a:r>
            <a:r>
              <a:rPr lang="en-GB" b="1" dirty="0"/>
              <a:t>, D. (2018, 2020). </a:t>
            </a:r>
            <a:r>
              <a:rPr lang="en-GB" b="1" i="1" dirty="0"/>
              <a:t>Business and Administrative Communication (12</a:t>
            </a:r>
            <a:r>
              <a:rPr lang="en-GB" b="1" i="1" baseline="30000" dirty="0"/>
              <a:t>th</a:t>
            </a:r>
            <a:r>
              <a:rPr lang="en-GB" b="1" i="1" dirty="0"/>
              <a:t> Edition).</a:t>
            </a:r>
            <a:r>
              <a:rPr lang="en-US" dirty="0"/>
              <a:t> </a:t>
            </a:r>
            <a:r>
              <a:rPr lang="en-GB" b="1" dirty="0"/>
              <a:t>McGraw-Hill/Irwin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90204" pitchFamily="34" charset="0"/>
              <a:buChar char="•"/>
            </a:pPr>
            <a:r>
              <a:rPr lang="en-US" dirty="0"/>
              <a:t>Make sure that you are aware/alert on all the deadlines</a:t>
            </a:r>
            <a:r>
              <a:rPr lang="en-US" dirty="0">
                <a:solidFill>
                  <a:srgbClr val="FF0000"/>
                </a:solidFill>
              </a:rPr>
              <a:t>. You can refer to the Course Plan, Course Assessment as well as the information (reminder) on Moodle on all the deadlines.</a:t>
            </a:r>
            <a:r>
              <a:rPr lang="en-US" dirty="0"/>
              <a:t> Any changes on the deadlines will be updated through announcement on Moodle &amp; Email (if any).</a:t>
            </a:r>
          </a:p>
          <a:p>
            <a:pPr algn="just">
              <a:buFont typeface="Arial" panose="020B0604020202090204" pitchFamily="34" charset="0"/>
              <a:buChar char="•"/>
            </a:pPr>
            <a:r>
              <a:rPr lang="en-US" dirty="0"/>
              <a:t>Failure in submitting any assignment and/or failure to attempt for quiz after the stipulated time will be considered as NO SUBMISSION/NO ATTEMPT and will lead to ZERO mark.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ASSIGNMENTS</a:t>
            </a:r>
          </a:p>
          <a:p>
            <a:r>
              <a:rPr lang="en-US" dirty="0"/>
              <a:t>- All members will receive the same marks for ASG 1 and ASG 2, unless if I received negative report from team leader or team members </a:t>
            </a:r>
          </a:p>
          <a:p>
            <a:r>
              <a:rPr lang="en-US" dirty="0"/>
              <a:t>- Group leader has the responsibility to monitor the assignments’ progress and members’ contribution</a:t>
            </a:r>
          </a:p>
          <a:p>
            <a:r>
              <a:rPr lang="en-US" dirty="0"/>
              <a:t>- Issues i.e. lack of contribution/commitment should be reported to me immediately</a:t>
            </a:r>
          </a:p>
          <a:p>
            <a:r>
              <a:rPr lang="en-US" dirty="0"/>
              <a:t>- LATE negative report/feedback (on the submission day or within few days of submission) will NOT be entertained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NO quiz replacement will be conducted and thus, students who missed the quizzes will be remarked as ABSENT and the score will be 0</a:t>
            </a:r>
          </a:p>
          <a:p>
            <a:r>
              <a:rPr lang="en-US" dirty="0"/>
              <a:t>- Students who caught cheating i.e. using gadgets/notes and etc. will be asked to stop their attempt and the quiz score will be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PENALTY ON COPIED ASSESSMENTS, ERROR IN SUPPLYING MEMBERS INFORMATION, ERROR IN SUBMISSION, HIGH AI PERCENTAGE</a:t>
            </a:r>
          </a:p>
          <a:p>
            <a:endParaRPr lang="en-US" dirty="0"/>
          </a:p>
          <a:p>
            <a:r>
              <a:rPr lang="en-US" dirty="0"/>
              <a:t>- Penalty will be imposed on cases as stated above</a:t>
            </a:r>
          </a:p>
          <a:p>
            <a:r>
              <a:rPr lang="en-US" dirty="0"/>
              <a:t>- 4 marks to 6 marks will be deducted on cases such as inaccurate members details and errors in submission</a:t>
            </a:r>
          </a:p>
          <a:p>
            <a:r>
              <a:rPr lang="en-US" dirty="0"/>
              <a:t>- The assessments will be marked by half for late submission </a:t>
            </a:r>
          </a:p>
          <a:p>
            <a:r>
              <a:rPr lang="en-US" dirty="0"/>
              <a:t>- COPIED ASSIGNMENTS will lead to 0 mark for the submission</a:t>
            </a:r>
          </a:p>
          <a:p>
            <a:r>
              <a:rPr lang="en-US" dirty="0"/>
              <a:t>- Assessment with high AI (more </a:t>
            </a:r>
            <a:r>
              <a:rPr lang="en-US"/>
              <a:t>than 30</a:t>
            </a:r>
            <a:r>
              <a:rPr lang="en-US" dirty="0"/>
              <a:t>%) will be marked by half and assessment with high AI (more than 70%) will only obtained 2% - 3% as the assessment is deemed as FAIL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691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Times New Roman</vt:lpstr>
      <vt:lpstr>Tw Cen MT</vt:lpstr>
      <vt:lpstr>Tw Cen MT Condensed</vt:lpstr>
      <vt:lpstr>Wingdings</vt:lpstr>
      <vt:lpstr>Wingdings 3</vt:lpstr>
      <vt:lpstr>Integral</vt:lpstr>
      <vt:lpstr>MPU2.2 Writing for Professional Purposes</vt:lpstr>
      <vt:lpstr>lecturer</vt:lpstr>
      <vt:lpstr>Consultation HOURS</vt:lpstr>
      <vt:lpstr>Rationale for the inclusion of the Course in the Programme</vt:lpstr>
      <vt:lpstr>Teaching-Learning METHODS</vt:lpstr>
      <vt:lpstr>Assessment Methods  </vt:lpstr>
      <vt:lpstr>ASSESSMENT  </vt:lpstr>
      <vt:lpstr>ASSESSMENT</vt:lpstr>
      <vt:lpstr>Content Outline of the Course</vt:lpstr>
      <vt:lpstr>References Supporting the Course</vt:lpstr>
      <vt:lpstr>reminder</vt:lpstr>
      <vt:lpstr>REMINDER</vt:lpstr>
      <vt:lpstr>reminder</vt:lpstr>
      <vt:lpstr>reminder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for Professional Purposes</dc:title>
  <dc:creator>3380</dc:creator>
  <cp:lastModifiedBy>Akma Safian</cp:lastModifiedBy>
  <cp:revision>73</cp:revision>
  <dcterms:created xsi:type="dcterms:W3CDTF">2026-04-01T07:52:08Z</dcterms:created>
  <dcterms:modified xsi:type="dcterms:W3CDTF">2026-04-06T02:07:29Z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9BCEE30EC54DC567A8CECC6944A09B28_43</vt:lpwstr>
  </property>
  <property fmtid="{D5CDD505-2E9C-101B-9397-08002B2CF9AE}" pid="3" name="KSOProductBuildVer">
    <vt:lpwstr>1033-12.1.22554.22554</vt:lpwstr>
  </property>
</Properties>
</file>