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7" r:id="rId3"/>
    <p:sldId id="276" r:id="rId4"/>
    <p:sldId id="277" r:id="rId5"/>
    <p:sldId id="278" r:id="rId6"/>
    <p:sldId id="285" r:id="rId7"/>
    <p:sldId id="281" r:id="rId8"/>
    <p:sldId id="283" r:id="rId9"/>
    <p:sldId id="28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08DD81-B275-4F00-8CE9-BB7A0AFA52F1}" type="doc">
      <dgm:prSet loTypeId="urn:microsoft.com/office/officeart/2005/8/layout/equation2" loCatId="process" qsTypeId="urn:microsoft.com/office/officeart/2005/8/quickstyle/simple1" qsCatId="simple" csTypeId="urn:microsoft.com/office/officeart/2005/8/colors/colorful4" csCatId="colorful" phldr="1"/>
      <dgm:spPr/>
    </dgm:pt>
    <dgm:pt modelId="{462FDDD9-2F5F-4637-AD08-148225F82C4B}">
      <dgm:prSet phldrT="[Text]"/>
      <dgm:spPr/>
      <dgm:t>
        <a:bodyPr/>
        <a:lstStyle/>
        <a:p>
          <a:r>
            <a:rPr lang="en-US" dirty="0" smtClean="0"/>
            <a:t>Direct</a:t>
          </a:r>
          <a:endParaRPr lang="en-US" dirty="0"/>
        </a:p>
      </dgm:t>
    </dgm:pt>
    <dgm:pt modelId="{B3A9B642-F5E8-4F94-9F0E-AA126002A2F7}" cxnId="{4EDDD7F3-68F4-42BF-8A31-D03C4880E384}" type="parTrans">
      <dgm:prSet/>
      <dgm:spPr/>
      <dgm:t>
        <a:bodyPr/>
        <a:lstStyle/>
        <a:p>
          <a:endParaRPr lang="en-US"/>
        </a:p>
      </dgm:t>
    </dgm:pt>
    <dgm:pt modelId="{4D86AAE8-1695-4AB4-A122-71C42D4FF3B8}" cxnId="{4EDDD7F3-68F4-42BF-8A31-D03C4880E384}" type="sibTrans">
      <dgm:prSet/>
      <dgm:spPr/>
      <dgm:t>
        <a:bodyPr/>
        <a:lstStyle/>
        <a:p>
          <a:endParaRPr lang="en-US"/>
        </a:p>
      </dgm:t>
    </dgm:pt>
    <dgm:pt modelId="{62238DD3-7724-4CDC-B9B7-554D63F7960A}">
      <dgm:prSet phldrT="[Text]"/>
      <dgm:spPr/>
      <dgm:t>
        <a:bodyPr/>
        <a:lstStyle/>
        <a:p>
          <a:r>
            <a:rPr lang="en-US" dirty="0" smtClean="0"/>
            <a:t>Indirect</a:t>
          </a:r>
          <a:endParaRPr lang="en-US" dirty="0"/>
        </a:p>
      </dgm:t>
    </dgm:pt>
    <dgm:pt modelId="{AC247110-BFFC-4104-BA7C-20ADF1F0DAC3}" cxnId="{EBF3DF33-0CEA-4615-AC71-F82AD3EE89F2}" type="parTrans">
      <dgm:prSet/>
      <dgm:spPr/>
      <dgm:t>
        <a:bodyPr/>
        <a:lstStyle/>
        <a:p>
          <a:endParaRPr lang="en-US"/>
        </a:p>
      </dgm:t>
    </dgm:pt>
    <dgm:pt modelId="{A46006F4-49A5-4970-9746-A7F774515A33}" cxnId="{EBF3DF33-0CEA-4615-AC71-F82AD3EE89F2}" type="sibTrans">
      <dgm:prSet/>
      <dgm:spPr/>
      <dgm:t>
        <a:bodyPr/>
        <a:lstStyle/>
        <a:p>
          <a:endParaRPr lang="en-US"/>
        </a:p>
      </dgm:t>
    </dgm:pt>
    <dgm:pt modelId="{E290899D-FE2E-45D6-B3E7-C1C94DB3F729}">
      <dgm:prSet phldrT="[Text]"/>
      <dgm:spPr/>
      <dgm:t>
        <a:bodyPr/>
        <a:lstStyle/>
        <a:p>
          <a:r>
            <a:rPr lang="en-US" dirty="0" smtClean="0"/>
            <a:t> Business Messages </a:t>
          </a:r>
          <a:endParaRPr lang="en-US" dirty="0"/>
        </a:p>
      </dgm:t>
    </dgm:pt>
    <dgm:pt modelId="{BF5CD316-3471-4EBD-B3F2-0A98B16909F0}" cxnId="{9EDBB5C8-F1B7-4D1F-8EAE-173CC084FD70}" type="parTrans">
      <dgm:prSet/>
      <dgm:spPr/>
      <dgm:t>
        <a:bodyPr/>
        <a:lstStyle/>
        <a:p>
          <a:endParaRPr lang="en-US"/>
        </a:p>
      </dgm:t>
    </dgm:pt>
    <dgm:pt modelId="{15D08DD1-F680-42C4-8E4A-963BF4DE6B26}" cxnId="{9EDBB5C8-F1B7-4D1F-8EAE-173CC084FD70}" type="sibTrans">
      <dgm:prSet/>
      <dgm:spPr/>
      <dgm:t>
        <a:bodyPr/>
        <a:lstStyle/>
        <a:p>
          <a:endParaRPr lang="en-US"/>
        </a:p>
      </dgm:t>
    </dgm:pt>
    <dgm:pt modelId="{3888779A-BB94-47BF-ABEC-FACF9152E8DF}" type="pres">
      <dgm:prSet presAssocID="{0F08DD81-B275-4F00-8CE9-BB7A0AFA52F1}" presName="Name0" presStyleCnt="0">
        <dgm:presLayoutVars>
          <dgm:dir/>
          <dgm:resizeHandles val="exact"/>
        </dgm:presLayoutVars>
      </dgm:prSet>
      <dgm:spPr/>
    </dgm:pt>
    <dgm:pt modelId="{1D320E82-DFE3-4922-A77F-4AC48B7007BC}" type="pres">
      <dgm:prSet presAssocID="{0F08DD81-B275-4F00-8CE9-BB7A0AFA52F1}" presName="vNodes" presStyleCnt="0"/>
      <dgm:spPr/>
    </dgm:pt>
    <dgm:pt modelId="{372D6EA1-E7DC-4EE6-A507-B10B6F9E21AB}" type="pres">
      <dgm:prSet presAssocID="{462FDDD9-2F5F-4637-AD08-148225F82C4B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85A184-E1A9-4AB1-93B5-36A64ECBDAA2}" type="pres">
      <dgm:prSet presAssocID="{4D86AAE8-1695-4AB4-A122-71C42D4FF3B8}" presName="spacerT" presStyleCnt="0"/>
      <dgm:spPr/>
    </dgm:pt>
    <dgm:pt modelId="{75768DFC-EB99-4E92-97E9-F8A0D286407F}" type="pres">
      <dgm:prSet presAssocID="{4D86AAE8-1695-4AB4-A122-71C42D4FF3B8}" presName="sibTrans" presStyleLbl="sibTrans2D1" presStyleIdx="0" presStyleCnt="2"/>
      <dgm:spPr/>
      <dgm:t>
        <a:bodyPr/>
        <a:lstStyle/>
        <a:p>
          <a:endParaRPr lang="en-US"/>
        </a:p>
      </dgm:t>
    </dgm:pt>
    <dgm:pt modelId="{E820F419-AA97-4D95-97D1-7AC5299D6C3C}" type="pres">
      <dgm:prSet presAssocID="{4D86AAE8-1695-4AB4-A122-71C42D4FF3B8}" presName="spacerB" presStyleCnt="0"/>
      <dgm:spPr/>
    </dgm:pt>
    <dgm:pt modelId="{FD92520F-8152-47E5-AD88-E17479753D89}" type="pres">
      <dgm:prSet presAssocID="{62238DD3-7724-4CDC-B9B7-554D63F7960A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C783A1-A412-443E-A3B3-4A03798F5377}" type="pres">
      <dgm:prSet presAssocID="{0F08DD81-B275-4F00-8CE9-BB7A0AFA52F1}" presName="sibTransLast" presStyleLbl="sibTrans2D1" presStyleIdx="1" presStyleCnt="2"/>
      <dgm:spPr/>
      <dgm:t>
        <a:bodyPr/>
        <a:lstStyle/>
        <a:p>
          <a:endParaRPr lang="en-US"/>
        </a:p>
      </dgm:t>
    </dgm:pt>
    <dgm:pt modelId="{FC590BB4-E0EC-4D19-97FB-3A7C90F4748E}" type="pres">
      <dgm:prSet presAssocID="{0F08DD81-B275-4F00-8CE9-BB7A0AFA52F1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F32A013D-D5BA-4FF5-BCAE-AB67CDA3B908}" type="pres">
      <dgm:prSet presAssocID="{0F08DD81-B275-4F00-8CE9-BB7A0AFA52F1}" presName="las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E77D161-2EC1-4EC8-91C2-A5B9C0E43A30}" type="presOf" srcId="{A46006F4-49A5-4970-9746-A7F774515A33}" destId="{14C783A1-A412-443E-A3B3-4A03798F5377}" srcOrd="0" destOrd="0" presId="urn:microsoft.com/office/officeart/2005/8/layout/equation2"/>
    <dgm:cxn modelId="{9EDBB5C8-F1B7-4D1F-8EAE-173CC084FD70}" srcId="{0F08DD81-B275-4F00-8CE9-BB7A0AFA52F1}" destId="{E290899D-FE2E-45D6-B3E7-C1C94DB3F729}" srcOrd="2" destOrd="0" parTransId="{BF5CD316-3471-4EBD-B3F2-0A98B16909F0}" sibTransId="{15D08DD1-F680-42C4-8E4A-963BF4DE6B26}"/>
    <dgm:cxn modelId="{19E3DCE2-29B5-4574-8EFA-F866F8C1B369}" type="presOf" srcId="{462FDDD9-2F5F-4637-AD08-148225F82C4B}" destId="{372D6EA1-E7DC-4EE6-A507-B10B6F9E21AB}" srcOrd="0" destOrd="0" presId="urn:microsoft.com/office/officeart/2005/8/layout/equation2"/>
    <dgm:cxn modelId="{052E19BD-CEF6-4FC3-A77E-BD8686E875EF}" type="presOf" srcId="{A46006F4-49A5-4970-9746-A7F774515A33}" destId="{FC590BB4-E0EC-4D19-97FB-3A7C90F4748E}" srcOrd="1" destOrd="0" presId="urn:microsoft.com/office/officeart/2005/8/layout/equation2"/>
    <dgm:cxn modelId="{44A960AD-EFE7-4DF1-9E18-C0B0E330AA1F}" type="presOf" srcId="{E290899D-FE2E-45D6-B3E7-C1C94DB3F729}" destId="{F32A013D-D5BA-4FF5-BCAE-AB67CDA3B908}" srcOrd="0" destOrd="0" presId="urn:microsoft.com/office/officeart/2005/8/layout/equation2"/>
    <dgm:cxn modelId="{4EDDD7F3-68F4-42BF-8A31-D03C4880E384}" srcId="{0F08DD81-B275-4F00-8CE9-BB7A0AFA52F1}" destId="{462FDDD9-2F5F-4637-AD08-148225F82C4B}" srcOrd="0" destOrd="0" parTransId="{B3A9B642-F5E8-4F94-9F0E-AA126002A2F7}" sibTransId="{4D86AAE8-1695-4AB4-A122-71C42D4FF3B8}"/>
    <dgm:cxn modelId="{EBF3DF33-0CEA-4615-AC71-F82AD3EE89F2}" srcId="{0F08DD81-B275-4F00-8CE9-BB7A0AFA52F1}" destId="{62238DD3-7724-4CDC-B9B7-554D63F7960A}" srcOrd="1" destOrd="0" parTransId="{AC247110-BFFC-4104-BA7C-20ADF1F0DAC3}" sibTransId="{A46006F4-49A5-4970-9746-A7F774515A33}"/>
    <dgm:cxn modelId="{E8AB985A-92CB-4C6D-9F5D-93B8FCF33214}" type="presOf" srcId="{4D86AAE8-1695-4AB4-A122-71C42D4FF3B8}" destId="{75768DFC-EB99-4E92-97E9-F8A0D286407F}" srcOrd="0" destOrd="0" presId="urn:microsoft.com/office/officeart/2005/8/layout/equation2"/>
    <dgm:cxn modelId="{15061EED-564D-4F3A-8EF0-CF59BF78A570}" type="presOf" srcId="{0F08DD81-B275-4F00-8CE9-BB7A0AFA52F1}" destId="{3888779A-BB94-47BF-ABEC-FACF9152E8DF}" srcOrd="0" destOrd="0" presId="urn:microsoft.com/office/officeart/2005/8/layout/equation2"/>
    <dgm:cxn modelId="{AEA2D72F-ED83-46F8-A929-1140673C3D1D}" type="presOf" srcId="{62238DD3-7724-4CDC-B9B7-554D63F7960A}" destId="{FD92520F-8152-47E5-AD88-E17479753D89}" srcOrd="0" destOrd="0" presId="urn:microsoft.com/office/officeart/2005/8/layout/equation2"/>
    <dgm:cxn modelId="{9B06A553-3DC7-4E8D-99D6-E7E6C1E1ACC7}" type="presParOf" srcId="{3888779A-BB94-47BF-ABEC-FACF9152E8DF}" destId="{1D320E82-DFE3-4922-A77F-4AC48B7007BC}" srcOrd="0" destOrd="0" presId="urn:microsoft.com/office/officeart/2005/8/layout/equation2"/>
    <dgm:cxn modelId="{740D47FC-46D8-41E9-908D-901CF68DC4E9}" type="presParOf" srcId="{1D320E82-DFE3-4922-A77F-4AC48B7007BC}" destId="{372D6EA1-E7DC-4EE6-A507-B10B6F9E21AB}" srcOrd="0" destOrd="0" presId="urn:microsoft.com/office/officeart/2005/8/layout/equation2"/>
    <dgm:cxn modelId="{43F2F368-018F-415C-9D8B-BF7FAA9EDD0E}" type="presParOf" srcId="{1D320E82-DFE3-4922-A77F-4AC48B7007BC}" destId="{EB85A184-E1A9-4AB1-93B5-36A64ECBDAA2}" srcOrd="1" destOrd="0" presId="urn:microsoft.com/office/officeart/2005/8/layout/equation2"/>
    <dgm:cxn modelId="{D67E3CF8-CC5B-4A25-8A19-9C35896FFA74}" type="presParOf" srcId="{1D320E82-DFE3-4922-A77F-4AC48B7007BC}" destId="{75768DFC-EB99-4E92-97E9-F8A0D286407F}" srcOrd="2" destOrd="0" presId="urn:microsoft.com/office/officeart/2005/8/layout/equation2"/>
    <dgm:cxn modelId="{127E64E0-767E-41B4-AC88-3C17701756C2}" type="presParOf" srcId="{1D320E82-DFE3-4922-A77F-4AC48B7007BC}" destId="{E820F419-AA97-4D95-97D1-7AC5299D6C3C}" srcOrd="3" destOrd="0" presId="urn:microsoft.com/office/officeart/2005/8/layout/equation2"/>
    <dgm:cxn modelId="{E56F59B8-E8E5-4AD5-816A-D3984927644D}" type="presParOf" srcId="{1D320E82-DFE3-4922-A77F-4AC48B7007BC}" destId="{FD92520F-8152-47E5-AD88-E17479753D89}" srcOrd="4" destOrd="0" presId="urn:microsoft.com/office/officeart/2005/8/layout/equation2"/>
    <dgm:cxn modelId="{241ADDF4-3F9A-4ABE-B997-3D84109D2A1F}" type="presParOf" srcId="{3888779A-BB94-47BF-ABEC-FACF9152E8DF}" destId="{14C783A1-A412-443E-A3B3-4A03798F5377}" srcOrd="1" destOrd="0" presId="urn:microsoft.com/office/officeart/2005/8/layout/equation2"/>
    <dgm:cxn modelId="{B56A9DFD-E8B3-4F5F-8437-450014D037E0}" type="presParOf" srcId="{14C783A1-A412-443E-A3B3-4A03798F5377}" destId="{FC590BB4-E0EC-4D19-97FB-3A7C90F4748E}" srcOrd="0" destOrd="0" presId="urn:microsoft.com/office/officeart/2005/8/layout/equation2"/>
    <dgm:cxn modelId="{2E200C4C-10D9-4680-A303-2E4CEF683091}" type="presParOf" srcId="{3888779A-BB94-47BF-ABEC-FACF9152E8DF}" destId="{F32A013D-D5BA-4FF5-BCAE-AB67CDA3B908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557540-30C6-4B12-92C1-3F8EFEC8BEEC}" type="doc">
      <dgm:prSet loTypeId="urn:microsoft.com/office/officeart/2005/8/layout/vList6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2AF2A1A-367B-4CF4-8882-9197048EF2CD}">
      <dgm:prSet phldrT="[Text]"/>
      <dgm:spPr/>
      <dgm:t>
        <a:bodyPr/>
        <a:lstStyle/>
        <a:p>
          <a:r>
            <a:rPr lang="en-US" dirty="0" smtClean="0"/>
            <a:t>Introduction (P)</a:t>
          </a:r>
          <a:endParaRPr lang="en-US" dirty="0"/>
        </a:p>
      </dgm:t>
    </dgm:pt>
    <dgm:pt modelId="{640DFC91-B989-434C-8097-7590E6D7AA7B}" cxnId="{44D041A2-580F-4400-8085-66F7724C8BB2}" type="parTrans">
      <dgm:prSet/>
      <dgm:spPr/>
      <dgm:t>
        <a:bodyPr/>
        <a:lstStyle/>
        <a:p>
          <a:endParaRPr lang="en-US"/>
        </a:p>
      </dgm:t>
    </dgm:pt>
    <dgm:pt modelId="{4E47DF30-E554-4CCC-AF6D-B86EF29BFE2C}" cxnId="{44D041A2-580F-4400-8085-66F7724C8BB2}" type="sibTrans">
      <dgm:prSet/>
      <dgm:spPr/>
      <dgm:t>
        <a:bodyPr/>
        <a:lstStyle/>
        <a:p>
          <a:endParaRPr lang="en-US"/>
        </a:p>
      </dgm:t>
    </dgm:pt>
    <dgm:pt modelId="{3C2975BB-F0CF-4E15-BAB0-E687EF3D93A5}">
      <dgm:prSet phldrT="[Text]"/>
      <dgm:spPr/>
      <dgm:t>
        <a:bodyPr/>
        <a:lstStyle/>
        <a:p>
          <a:r>
            <a:rPr lang="en-US" dirty="0" smtClean="0"/>
            <a:t>State main idea </a:t>
          </a:r>
          <a:endParaRPr lang="en-US" dirty="0"/>
        </a:p>
      </dgm:t>
    </dgm:pt>
    <dgm:pt modelId="{46EA686B-6751-4E7B-A02A-C04FB5444275}" cxnId="{DDDD3ADC-EE08-46FD-9DE9-BBE4EB7778FA}" type="parTrans">
      <dgm:prSet/>
      <dgm:spPr/>
      <dgm:t>
        <a:bodyPr/>
        <a:lstStyle/>
        <a:p>
          <a:endParaRPr lang="en-US"/>
        </a:p>
      </dgm:t>
    </dgm:pt>
    <dgm:pt modelId="{52174C18-D0EA-4C24-986F-0214DF93EC47}" cxnId="{DDDD3ADC-EE08-46FD-9DE9-BBE4EB7778FA}" type="sibTrans">
      <dgm:prSet/>
      <dgm:spPr/>
      <dgm:t>
        <a:bodyPr/>
        <a:lstStyle/>
        <a:p>
          <a:endParaRPr lang="en-US"/>
        </a:p>
      </dgm:t>
    </dgm:pt>
    <dgm:pt modelId="{A4970185-D5D4-444E-8E87-0473498EFD18}">
      <dgm:prSet phldrT="[Text]"/>
      <dgm:spPr/>
      <dgm:t>
        <a:bodyPr/>
        <a:lstStyle/>
        <a:p>
          <a:r>
            <a:rPr lang="en-US" dirty="0" smtClean="0"/>
            <a:t>Body/Content (D)</a:t>
          </a:r>
          <a:endParaRPr lang="en-US" dirty="0"/>
        </a:p>
      </dgm:t>
    </dgm:pt>
    <dgm:pt modelId="{0000771F-9106-4A8F-A6AF-20D9D73D4C8B}" cxnId="{40C9350C-4F69-45C6-B493-5284D5AD1473}" type="parTrans">
      <dgm:prSet/>
      <dgm:spPr/>
      <dgm:t>
        <a:bodyPr/>
        <a:lstStyle/>
        <a:p>
          <a:endParaRPr lang="en-US"/>
        </a:p>
      </dgm:t>
    </dgm:pt>
    <dgm:pt modelId="{2E35299D-62DB-4861-BF8A-DEBFBE67E96A}" cxnId="{40C9350C-4F69-45C6-B493-5284D5AD1473}" type="sibTrans">
      <dgm:prSet/>
      <dgm:spPr/>
      <dgm:t>
        <a:bodyPr/>
        <a:lstStyle/>
        <a:p>
          <a:endParaRPr lang="en-US"/>
        </a:p>
      </dgm:t>
    </dgm:pt>
    <dgm:pt modelId="{93AF5DA2-A552-4DE5-ADFF-E66C50FDAD15}">
      <dgm:prSet phldrT="[Text]"/>
      <dgm:spPr/>
      <dgm:t>
        <a:bodyPr/>
        <a:lstStyle/>
        <a:p>
          <a:r>
            <a:rPr lang="en-US" dirty="0" smtClean="0"/>
            <a:t>Call to action </a:t>
          </a:r>
          <a:endParaRPr lang="en-US" dirty="0"/>
        </a:p>
      </dgm:t>
    </dgm:pt>
    <dgm:pt modelId="{8AA40EBD-FD8F-43A2-8B57-44ADE71B1A97}" cxnId="{C6C6CBDF-F632-4058-ACEB-A76528B2C50A}" type="parTrans">
      <dgm:prSet/>
      <dgm:spPr/>
      <dgm:t>
        <a:bodyPr/>
        <a:lstStyle/>
        <a:p>
          <a:endParaRPr lang="en-US"/>
        </a:p>
      </dgm:t>
    </dgm:pt>
    <dgm:pt modelId="{3357E4CF-3916-48B3-8862-3282C1DFBA9B}" cxnId="{C6C6CBDF-F632-4058-ACEB-A76528B2C50A}" type="sibTrans">
      <dgm:prSet/>
      <dgm:spPr/>
      <dgm:t>
        <a:bodyPr/>
        <a:lstStyle/>
        <a:p>
          <a:endParaRPr lang="en-US"/>
        </a:p>
      </dgm:t>
    </dgm:pt>
    <dgm:pt modelId="{1D89B911-2BD8-4D49-B986-256DE342111D}">
      <dgm:prSet phldrT="[Text]"/>
      <dgm:spPr/>
      <dgm:t>
        <a:bodyPr/>
        <a:lstStyle/>
        <a:p>
          <a:r>
            <a:rPr lang="en-US" dirty="0" smtClean="0"/>
            <a:t>End with polite close</a:t>
          </a:r>
          <a:endParaRPr lang="en-US" dirty="0"/>
        </a:p>
      </dgm:t>
    </dgm:pt>
    <dgm:pt modelId="{4CB43251-3F33-4C60-B6F9-FB97D5EBD3AB}" cxnId="{2F7503C5-4D09-41B2-82C3-E130BA801BBA}" type="parTrans">
      <dgm:prSet/>
      <dgm:spPr/>
      <dgm:t>
        <a:bodyPr/>
        <a:lstStyle/>
        <a:p>
          <a:endParaRPr lang="en-US"/>
        </a:p>
      </dgm:t>
    </dgm:pt>
    <dgm:pt modelId="{FFF86D72-1817-428E-8F05-428823D5092E}" cxnId="{2F7503C5-4D09-41B2-82C3-E130BA801BBA}" type="sibTrans">
      <dgm:prSet/>
      <dgm:spPr/>
      <dgm:t>
        <a:bodyPr/>
        <a:lstStyle/>
        <a:p>
          <a:endParaRPr lang="en-US"/>
        </a:p>
      </dgm:t>
    </dgm:pt>
    <dgm:pt modelId="{933C1266-4AD1-4B77-AFA1-3A3F8DA51922}">
      <dgm:prSet phldrT="[Text]"/>
      <dgm:spPr/>
      <dgm:t>
        <a:bodyPr/>
        <a:lstStyle/>
        <a:p>
          <a:r>
            <a:rPr lang="en-US" dirty="0" smtClean="0"/>
            <a:t>Conclusion (A)</a:t>
          </a:r>
          <a:endParaRPr lang="en-US" dirty="0"/>
        </a:p>
      </dgm:t>
    </dgm:pt>
    <dgm:pt modelId="{8F51F940-F8B8-4285-A648-913B2C02FEE0}" cxnId="{D0835863-7CC6-465D-95E4-85BDDF0F2224}" type="parTrans">
      <dgm:prSet/>
      <dgm:spPr/>
      <dgm:t>
        <a:bodyPr/>
        <a:lstStyle/>
        <a:p>
          <a:endParaRPr lang="en-US"/>
        </a:p>
      </dgm:t>
    </dgm:pt>
    <dgm:pt modelId="{AFDEC975-E84B-4495-86F8-8BD7B9C8FF01}" cxnId="{D0835863-7CC6-465D-95E4-85BDDF0F2224}" type="sibTrans">
      <dgm:prSet/>
      <dgm:spPr/>
      <dgm:t>
        <a:bodyPr/>
        <a:lstStyle/>
        <a:p>
          <a:endParaRPr lang="en-US"/>
        </a:p>
      </dgm:t>
    </dgm:pt>
    <dgm:pt modelId="{935271E9-23A0-4434-B44C-90C7F2242A01}">
      <dgm:prSet/>
      <dgm:spPr/>
      <dgm:t>
        <a:bodyPr/>
        <a:lstStyle/>
        <a:p>
          <a:r>
            <a:rPr lang="en-US" dirty="0" smtClean="0"/>
            <a:t>Explain main idea </a:t>
          </a:r>
          <a:endParaRPr lang="en-US" dirty="0"/>
        </a:p>
      </dgm:t>
    </dgm:pt>
    <dgm:pt modelId="{49F15007-9B70-40FF-87A3-C3A8C606B71C}" cxnId="{3DA06D67-3EE1-4F8C-A064-657B63581A82}" type="parTrans">
      <dgm:prSet/>
      <dgm:spPr/>
      <dgm:t>
        <a:bodyPr/>
        <a:lstStyle/>
        <a:p>
          <a:endParaRPr lang="en-US"/>
        </a:p>
      </dgm:t>
    </dgm:pt>
    <dgm:pt modelId="{1D721763-F7DF-47BB-AEC4-F4B4DAA07528}" cxnId="{3DA06D67-3EE1-4F8C-A064-657B63581A82}" type="sibTrans">
      <dgm:prSet/>
      <dgm:spPr/>
      <dgm:t>
        <a:bodyPr/>
        <a:lstStyle/>
        <a:p>
          <a:endParaRPr lang="en-US"/>
        </a:p>
      </dgm:t>
    </dgm:pt>
    <dgm:pt modelId="{E7B6B83E-7ADC-47C6-AC62-CC3F2E70414E}" type="pres">
      <dgm:prSet presAssocID="{11557540-30C6-4B12-92C1-3F8EFEC8BEEC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3B7661E-82B2-4198-A82A-593DCA6BD32F}" type="pres">
      <dgm:prSet presAssocID="{22AF2A1A-367B-4CF4-8882-9197048EF2CD}" presName="linNode" presStyleCnt="0"/>
      <dgm:spPr/>
    </dgm:pt>
    <dgm:pt modelId="{5BBD9C87-29C5-4CA1-9620-0F221D5A4AA0}" type="pres">
      <dgm:prSet presAssocID="{22AF2A1A-367B-4CF4-8882-9197048EF2CD}" presName="parent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1D337E-7C3B-479D-82C1-0DD8153EB080}" type="pres">
      <dgm:prSet presAssocID="{22AF2A1A-367B-4CF4-8882-9197048EF2CD}" presName="childShp" presStyleLbl="b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D2C8ED-5109-4D57-8BF8-AABA345370FA}" type="pres">
      <dgm:prSet presAssocID="{4E47DF30-E554-4CCC-AF6D-B86EF29BFE2C}" presName="spacing" presStyleCnt="0"/>
      <dgm:spPr/>
    </dgm:pt>
    <dgm:pt modelId="{8E6CDB35-7342-4A70-B5F5-88E48A088361}" type="pres">
      <dgm:prSet presAssocID="{A4970185-D5D4-444E-8E87-0473498EFD18}" presName="linNode" presStyleCnt="0"/>
      <dgm:spPr/>
    </dgm:pt>
    <dgm:pt modelId="{051308C4-83F5-402A-91C8-BB44C8F53A16}" type="pres">
      <dgm:prSet presAssocID="{A4970185-D5D4-444E-8E87-0473498EFD18}" presName="parent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8B96F2-0993-44AD-958B-23AA81060AD1}" type="pres">
      <dgm:prSet presAssocID="{A4970185-D5D4-444E-8E87-0473498EFD18}" presName="childShp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E71CB5-D742-43C1-AC42-C645CD127D36}" type="pres">
      <dgm:prSet presAssocID="{2E35299D-62DB-4861-BF8A-DEBFBE67E96A}" presName="spacing" presStyleCnt="0"/>
      <dgm:spPr/>
    </dgm:pt>
    <dgm:pt modelId="{25CAD5EA-50D9-41D3-AF62-3702085EACD5}" type="pres">
      <dgm:prSet presAssocID="{933C1266-4AD1-4B77-AFA1-3A3F8DA51922}" presName="linNode" presStyleCnt="0"/>
      <dgm:spPr/>
    </dgm:pt>
    <dgm:pt modelId="{447D8D66-F823-4F68-9D8D-20179B735C3A}" type="pres">
      <dgm:prSet presAssocID="{933C1266-4AD1-4B77-AFA1-3A3F8DA51922}" presName="parent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614502-2794-401E-98AF-06C982B09AA4}" type="pres">
      <dgm:prSet presAssocID="{933C1266-4AD1-4B77-AFA1-3A3F8DA51922}" presName="childShp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D215461-AC77-46DF-8C8D-CF1D8101B9CA}" type="presOf" srcId="{935271E9-23A0-4434-B44C-90C7F2242A01}" destId="{878B96F2-0993-44AD-958B-23AA81060AD1}" srcOrd="0" destOrd="0" presId="urn:microsoft.com/office/officeart/2005/8/layout/vList6"/>
    <dgm:cxn modelId="{22BC3AFC-BF03-49F4-BD8E-855203E2CB43}" type="presOf" srcId="{22AF2A1A-367B-4CF4-8882-9197048EF2CD}" destId="{5BBD9C87-29C5-4CA1-9620-0F221D5A4AA0}" srcOrd="0" destOrd="0" presId="urn:microsoft.com/office/officeart/2005/8/layout/vList6"/>
    <dgm:cxn modelId="{C6C6CBDF-F632-4058-ACEB-A76528B2C50A}" srcId="{933C1266-4AD1-4B77-AFA1-3A3F8DA51922}" destId="{93AF5DA2-A552-4DE5-ADFF-E66C50FDAD15}" srcOrd="0" destOrd="0" parTransId="{8AA40EBD-FD8F-43A2-8B57-44ADE71B1A97}" sibTransId="{3357E4CF-3916-48B3-8862-3282C1DFBA9B}"/>
    <dgm:cxn modelId="{44D041A2-580F-4400-8085-66F7724C8BB2}" srcId="{11557540-30C6-4B12-92C1-3F8EFEC8BEEC}" destId="{22AF2A1A-367B-4CF4-8882-9197048EF2CD}" srcOrd="0" destOrd="0" parTransId="{640DFC91-B989-434C-8097-7590E6D7AA7B}" sibTransId="{4E47DF30-E554-4CCC-AF6D-B86EF29BFE2C}"/>
    <dgm:cxn modelId="{2D1C6986-4F9E-49B7-B541-DAA9FB52C85D}" type="presOf" srcId="{3C2975BB-F0CF-4E15-BAB0-E687EF3D93A5}" destId="{EC1D337E-7C3B-479D-82C1-0DD8153EB080}" srcOrd="0" destOrd="0" presId="urn:microsoft.com/office/officeart/2005/8/layout/vList6"/>
    <dgm:cxn modelId="{2909DB13-9EEA-46CA-8202-3564ECC8E006}" type="presOf" srcId="{A4970185-D5D4-444E-8E87-0473498EFD18}" destId="{051308C4-83F5-402A-91C8-BB44C8F53A16}" srcOrd="0" destOrd="0" presId="urn:microsoft.com/office/officeart/2005/8/layout/vList6"/>
    <dgm:cxn modelId="{DC2DDF71-CCEE-416F-9E19-333DB4CBCA54}" type="presOf" srcId="{93AF5DA2-A552-4DE5-ADFF-E66C50FDAD15}" destId="{A9614502-2794-401E-98AF-06C982B09AA4}" srcOrd="0" destOrd="0" presId="urn:microsoft.com/office/officeart/2005/8/layout/vList6"/>
    <dgm:cxn modelId="{2F7503C5-4D09-41B2-82C3-E130BA801BBA}" srcId="{933C1266-4AD1-4B77-AFA1-3A3F8DA51922}" destId="{1D89B911-2BD8-4D49-B986-256DE342111D}" srcOrd="1" destOrd="0" parTransId="{4CB43251-3F33-4C60-B6F9-FB97D5EBD3AB}" sibTransId="{FFF86D72-1817-428E-8F05-428823D5092E}"/>
    <dgm:cxn modelId="{40C9350C-4F69-45C6-B493-5284D5AD1473}" srcId="{11557540-30C6-4B12-92C1-3F8EFEC8BEEC}" destId="{A4970185-D5D4-444E-8E87-0473498EFD18}" srcOrd="1" destOrd="0" parTransId="{0000771F-9106-4A8F-A6AF-20D9D73D4C8B}" sibTransId="{2E35299D-62DB-4861-BF8A-DEBFBE67E96A}"/>
    <dgm:cxn modelId="{D0835863-7CC6-465D-95E4-85BDDF0F2224}" srcId="{11557540-30C6-4B12-92C1-3F8EFEC8BEEC}" destId="{933C1266-4AD1-4B77-AFA1-3A3F8DA51922}" srcOrd="2" destOrd="0" parTransId="{8F51F940-F8B8-4285-A648-913B2C02FEE0}" sibTransId="{AFDEC975-E84B-4495-86F8-8BD7B9C8FF01}"/>
    <dgm:cxn modelId="{5E65AFD7-FA56-426C-8B98-A8AEA8F28B60}" type="presOf" srcId="{1D89B911-2BD8-4D49-B986-256DE342111D}" destId="{A9614502-2794-401E-98AF-06C982B09AA4}" srcOrd="0" destOrd="1" presId="urn:microsoft.com/office/officeart/2005/8/layout/vList6"/>
    <dgm:cxn modelId="{DCDB53E2-346A-466C-AC18-33E26CBA37D3}" type="presOf" srcId="{933C1266-4AD1-4B77-AFA1-3A3F8DA51922}" destId="{447D8D66-F823-4F68-9D8D-20179B735C3A}" srcOrd="0" destOrd="0" presId="urn:microsoft.com/office/officeart/2005/8/layout/vList6"/>
    <dgm:cxn modelId="{DDDD3ADC-EE08-46FD-9DE9-BBE4EB7778FA}" srcId="{22AF2A1A-367B-4CF4-8882-9197048EF2CD}" destId="{3C2975BB-F0CF-4E15-BAB0-E687EF3D93A5}" srcOrd="0" destOrd="0" parTransId="{46EA686B-6751-4E7B-A02A-C04FB5444275}" sibTransId="{52174C18-D0EA-4C24-986F-0214DF93EC47}"/>
    <dgm:cxn modelId="{3DA06D67-3EE1-4F8C-A064-657B63581A82}" srcId="{A4970185-D5D4-444E-8E87-0473498EFD18}" destId="{935271E9-23A0-4434-B44C-90C7F2242A01}" srcOrd="0" destOrd="0" parTransId="{49F15007-9B70-40FF-87A3-C3A8C606B71C}" sibTransId="{1D721763-F7DF-47BB-AEC4-F4B4DAA07528}"/>
    <dgm:cxn modelId="{DD51B9B0-D6DA-4A79-91A7-22BF6AE7531D}" type="presOf" srcId="{11557540-30C6-4B12-92C1-3F8EFEC8BEEC}" destId="{E7B6B83E-7ADC-47C6-AC62-CC3F2E70414E}" srcOrd="0" destOrd="0" presId="urn:microsoft.com/office/officeart/2005/8/layout/vList6"/>
    <dgm:cxn modelId="{E59E7E22-5342-486C-837D-A8C9A7138091}" type="presParOf" srcId="{E7B6B83E-7ADC-47C6-AC62-CC3F2E70414E}" destId="{03B7661E-82B2-4198-A82A-593DCA6BD32F}" srcOrd="0" destOrd="0" presId="urn:microsoft.com/office/officeart/2005/8/layout/vList6"/>
    <dgm:cxn modelId="{73A54D37-AE14-48AF-9CD0-1DD1FD9E577B}" type="presParOf" srcId="{03B7661E-82B2-4198-A82A-593DCA6BD32F}" destId="{5BBD9C87-29C5-4CA1-9620-0F221D5A4AA0}" srcOrd="0" destOrd="0" presId="urn:microsoft.com/office/officeart/2005/8/layout/vList6"/>
    <dgm:cxn modelId="{524E93A4-991F-4262-A91B-E8053EE35735}" type="presParOf" srcId="{03B7661E-82B2-4198-A82A-593DCA6BD32F}" destId="{EC1D337E-7C3B-479D-82C1-0DD8153EB080}" srcOrd="1" destOrd="0" presId="urn:microsoft.com/office/officeart/2005/8/layout/vList6"/>
    <dgm:cxn modelId="{A33ACE8E-A14F-4A83-A89D-66F73D62E3E0}" type="presParOf" srcId="{E7B6B83E-7ADC-47C6-AC62-CC3F2E70414E}" destId="{45D2C8ED-5109-4D57-8BF8-AABA345370FA}" srcOrd="1" destOrd="0" presId="urn:microsoft.com/office/officeart/2005/8/layout/vList6"/>
    <dgm:cxn modelId="{E414D532-403E-4BA5-AE27-C1ACDC705080}" type="presParOf" srcId="{E7B6B83E-7ADC-47C6-AC62-CC3F2E70414E}" destId="{8E6CDB35-7342-4A70-B5F5-88E48A088361}" srcOrd="2" destOrd="0" presId="urn:microsoft.com/office/officeart/2005/8/layout/vList6"/>
    <dgm:cxn modelId="{3897B14D-ED30-48B1-9504-A7AE09000E5B}" type="presParOf" srcId="{8E6CDB35-7342-4A70-B5F5-88E48A088361}" destId="{051308C4-83F5-402A-91C8-BB44C8F53A16}" srcOrd="0" destOrd="0" presId="urn:microsoft.com/office/officeart/2005/8/layout/vList6"/>
    <dgm:cxn modelId="{B3EB7CC0-8CBF-4077-8A01-628B8C2D2409}" type="presParOf" srcId="{8E6CDB35-7342-4A70-B5F5-88E48A088361}" destId="{878B96F2-0993-44AD-958B-23AA81060AD1}" srcOrd="1" destOrd="0" presId="urn:microsoft.com/office/officeart/2005/8/layout/vList6"/>
    <dgm:cxn modelId="{222C8529-1CE7-4334-AE0A-DA070F92E952}" type="presParOf" srcId="{E7B6B83E-7ADC-47C6-AC62-CC3F2E70414E}" destId="{40E71CB5-D742-43C1-AC42-C645CD127D36}" srcOrd="3" destOrd="0" presId="urn:microsoft.com/office/officeart/2005/8/layout/vList6"/>
    <dgm:cxn modelId="{8155017F-22E5-4BAB-A461-633579D8F9BA}" type="presParOf" srcId="{E7B6B83E-7ADC-47C6-AC62-CC3F2E70414E}" destId="{25CAD5EA-50D9-41D3-AF62-3702085EACD5}" srcOrd="4" destOrd="0" presId="urn:microsoft.com/office/officeart/2005/8/layout/vList6"/>
    <dgm:cxn modelId="{52331491-5F4A-48ED-B3EE-5CD232D1D9B9}" type="presParOf" srcId="{25CAD5EA-50D9-41D3-AF62-3702085EACD5}" destId="{447D8D66-F823-4F68-9D8D-20179B735C3A}" srcOrd="0" destOrd="0" presId="urn:microsoft.com/office/officeart/2005/8/layout/vList6"/>
    <dgm:cxn modelId="{AD31964E-6FBD-4ABE-B7CA-06274B8A69B1}" type="presParOf" srcId="{25CAD5EA-50D9-41D3-AF62-3702085EACD5}" destId="{A9614502-2794-401E-98AF-06C982B09AA4}" srcOrd="1" destOrd="0" presId="urn:microsoft.com/office/officeart/2005/8/layout/vList6"/>
  </dgm:cxnLst>
  <dgm:bg/>
  <dgm:whole>
    <a:ln w="19050"/>
  </dgm:whole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058400" cy="4022725"/>
        <a:chOff x="0" y="0"/>
        <a:chExt cx="10058400" cy="4022725"/>
      </a:xfrm>
    </dsp:grpSpPr>
    <dsp:sp modelId="{372D6EA1-E7DC-4EE6-A507-B10B6F9E21AB}">
      <dsp:nvSpPr>
        <dsp:cNvPr id="3" name="Oval 2"/>
        <dsp:cNvSpPr/>
      </dsp:nvSpPr>
      <dsp:spPr bwMode="white">
        <a:xfrm>
          <a:off x="2388847" y="0"/>
          <a:ext cx="1466863" cy="1466863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7940" tIns="27940" rIns="27940" bIns="2794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/>
            <a:t>Direct</a:t>
          </a:r>
          <a:endParaRPr lang="en-US" dirty="0"/>
        </a:p>
      </dsp:txBody>
      <dsp:txXfrm>
        <a:off x="2388847" y="0"/>
        <a:ext cx="1466863" cy="1466863"/>
      </dsp:txXfrm>
    </dsp:sp>
    <dsp:sp modelId="{75768DFC-EB99-4E92-97E9-F8A0D286407F}">
      <dsp:nvSpPr>
        <dsp:cNvPr id="4" name="Plus 3"/>
        <dsp:cNvSpPr/>
      </dsp:nvSpPr>
      <dsp:spPr bwMode="white">
        <a:xfrm>
          <a:off x="2696888" y="1585972"/>
          <a:ext cx="850781" cy="850781"/>
        </a:xfrm>
        <a:prstGeom prst="mathPlus">
          <a:avLst/>
        </a:prstGeom>
      </dsp:spPr>
      <dsp:style>
        <a:lnRef idx="0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/>
        </a:p>
      </dsp:txBody>
      <dsp:txXfrm>
        <a:off x="2696888" y="1585972"/>
        <a:ext cx="850781" cy="850781"/>
      </dsp:txXfrm>
    </dsp:sp>
    <dsp:sp modelId="{FD92520F-8152-47E5-AD88-E17479753D89}">
      <dsp:nvSpPr>
        <dsp:cNvPr id="5" name="Oval 4"/>
        <dsp:cNvSpPr/>
      </dsp:nvSpPr>
      <dsp:spPr bwMode="white">
        <a:xfrm>
          <a:off x="2388847" y="2555862"/>
          <a:ext cx="1466863" cy="1466863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>
            <a:hueOff val="-750000"/>
            <a:satOff val="-5097"/>
            <a:lumOff val="-529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7940" tIns="27940" rIns="27940" bIns="2794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/>
            <a:t>Indirect</a:t>
          </a:r>
          <a:endParaRPr lang="en-US" dirty="0"/>
        </a:p>
      </dsp:txBody>
      <dsp:txXfrm>
        <a:off x="2388847" y="2555862"/>
        <a:ext cx="1466863" cy="1466863"/>
      </dsp:txXfrm>
    </dsp:sp>
    <dsp:sp modelId="{14C783A1-A412-443E-A3B3-4A03798F5377}">
      <dsp:nvSpPr>
        <dsp:cNvPr id="6" name="Right Arrow 5"/>
        <dsp:cNvSpPr/>
      </dsp:nvSpPr>
      <dsp:spPr bwMode="white">
        <a:xfrm>
          <a:off x="4062537" y="1738526"/>
          <a:ext cx="466462" cy="545673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/>
        </a:lnRef>
        <a:fillRef idx="1">
          <a:schemeClr val="accent4">
            <a:hueOff val="-1500000"/>
            <a:satOff val="-10195"/>
            <a:lumOff val="-1058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4062537" y="1738526"/>
        <a:ext cx="466462" cy="545673"/>
      </dsp:txXfrm>
    </dsp:sp>
    <dsp:sp modelId="{F32A013D-D5BA-4FF5-BCAE-AB67CDA3B908}">
      <dsp:nvSpPr>
        <dsp:cNvPr id="8" name="Oval 7"/>
        <dsp:cNvSpPr/>
      </dsp:nvSpPr>
      <dsp:spPr bwMode="white">
        <a:xfrm>
          <a:off x="4735827" y="544500"/>
          <a:ext cx="2933726" cy="2933726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>
            <a:hueOff val="-1500000"/>
            <a:satOff val="-10195"/>
            <a:lumOff val="-1058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3180" tIns="43180" rIns="43180" bIns="43180" anchor="ctr"/>
        <a:lstStyle>
          <a:lvl1pPr algn="ctr">
            <a:defRPr sz="3400"/>
          </a:lvl1pPr>
          <a:lvl2pPr marL="228600" indent="-228600" algn="ctr">
            <a:defRPr sz="2600"/>
          </a:lvl2pPr>
          <a:lvl3pPr marL="457200" indent="-228600" algn="ctr">
            <a:defRPr sz="2600"/>
          </a:lvl3pPr>
          <a:lvl4pPr marL="685800" indent="-228600" algn="ctr">
            <a:defRPr sz="2600"/>
          </a:lvl4pPr>
          <a:lvl5pPr marL="914400" indent="-228600" algn="ctr">
            <a:defRPr sz="2600"/>
          </a:lvl5pPr>
          <a:lvl6pPr marL="1143000" indent="-228600" algn="ctr">
            <a:defRPr sz="2600"/>
          </a:lvl6pPr>
          <a:lvl7pPr marL="1371600" indent="-228600" algn="ctr">
            <a:defRPr sz="2600"/>
          </a:lvl7pPr>
          <a:lvl8pPr marL="1600200" indent="-228600" algn="ctr">
            <a:defRPr sz="2600"/>
          </a:lvl8pPr>
          <a:lvl9pPr marL="1828800" indent="-228600" algn="ctr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/>
            <a:t> Business Messages </a:t>
          </a:r>
          <a:endParaRPr lang="en-US" dirty="0"/>
        </a:p>
      </dsp:txBody>
      <dsp:txXfrm>
        <a:off x="4735827" y="544500"/>
        <a:ext cx="2933726" cy="2933726"/>
      </dsp:txXfrm>
    </dsp:sp>
    <dsp:sp modelId="{FC590BB4-E0EC-4D19-97FB-3A7C90F4748E}">
      <dsp:nvSpPr>
        <dsp:cNvPr id="7" name="Right Arrow 6"/>
        <dsp:cNvSpPr/>
      </dsp:nvSpPr>
      <dsp:spPr bwMode="white">
        <a:xfrm>
          <a:off x="4062537" y="1738526"/>
          <a:ext cx="466462" cy="545673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/>
      </dsp:txBody>
      <dsp:txXfrm>
        <a:off x="4062537" y="1738526"/>
        <a:ext cx="466462" cy="5456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585647" cy="5281683"/>
        <a:chOff x="0" y="0"/>
        <a:chExt cx="4585647" cy="5281683"/>
      </a:xfrm>
    </dsp:grpSpPr>
    <dsp:sp modelId="{EC1D337E-7C3B-479D-82C1-0DD8153EB080}">
      <dsp:nvSpPr>
        <dsp:cNvPr id="4" name="Right Arrow 3"/>
        <dsp:cNvSpPr/>
      </dsp:nvSpPr>
      <dsp:spPr bwMode="white">
        <a:xfrm>
          <a:off x="1834259" y="0"/>
          <a:ext cx="2751388" cy="1650526"/>
        </a:xfrm>
        <a:prstGeom prst="rightArrow">
          <a:avLst>
            <a:gd name="adj1" fmla="val 75000"/>
            <a:gd name="adj2" fmla="val 50000"/>
          </a:avLst>
        </a:prstGeom>
      </dsp:spPr>
      <dsp:style>
        <a:lnRef idx="2">
          <a:schemeClr val="accent2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2">
            <a:tint val="4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lIns="15240" tIns="15240" rIns="15240" bIns="15240" anchor="t"/>
        <a:lstStyle>
          <a:lvl1pPr algn="l">
            <a:defRPr sz="24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smtClean="0">
              <a:solidFill>
                <a:schemeClr val="dk1"/>
              </a:solidFill>
            </a:rPr>
            <a:t>State main idea </a:t>
          </a:r>
          <a:endParaRPr lang="en-US" dirty="0">
            <a:solidFill>
              <a:schemeClr val="dk1"/>
            </a:solidFill>
          </a:endParaRPr>
        </a:p>
      </dsp:txBody>
      <dsp:txXfrm>
        <a:off x="1834259" y="0"/>
        <a:ext cx="2751388" cy="1650526"/>
      </dsp:txXfrm>
    </dsp:sp>
    <dsp:sp modelId="{5BBD9C87-29C5-4CA1-9620-0F221D5A4AA0}">
      <dsp:nvSpPr>
        <dsp:cNvPr id="3" name="Rounded Rectangle 2"/>
        <dsp:cNvSpPr/>
      </dsp:nvSpPr>
      <dsp:spPr bwMode="white">
        <a:xfrm>
          <a:off x="0" y="0"/>
          <a:ext cx="1834259" cy="165052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72390" tIns="36195" rIns="72390" bIns="36195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/>
            <a:t>Introduction (P)</a:t>
          </a:r>
          <a:endParaRPr lang="en-US" dirty="0"/>
        </a:p>
      </dsp:txBody>
      <dsp:txXfrm>
        <a:off x="0" y="0"/>
        <a:ext cx="1834259" cy="1650526"/>
      </dsp:txXfrm>
    </dsp:sp>
    <dsp:sp modelId="{878B96F2-0993-44AD-958B-23AA81060AD1}">
      <dsp:nvSpPr>
        <dsp:cNvPr id="6" name="Right Arrow 5"/>
        <dsp:cNvSpPr/>
      </dsp:nvSpPr>
      <dsp:spPr bwMode="white">
        <a:xfrm>
          <a:off x="1834259" y="1815579"/>
          <a:ext cx="2751388" cy="1650526"/>
        </a:xfrm>
        <a:prstGeom prst="rightArrow">
          <a:avLst>
            <a:gd name="adj1" fmla="val 75000"/>
            <a:gd name="adj2" fmla="val 50000"/>
          </a:avLst>
        </a:prstGeom>
      </dsp:spPr>
      <dsp:style>
        <a:lnRef idx="2">
          <a:schemeClr val="accent2">
            <a:tint val="40000"/>
            <a:alpha val="90000"/>
            <a:hueOff val="-960000"/>
            <a:satOff val="2157"/>
            <a:lumOff val="196"/>
            <a:alpha val="90196"/>
          </a:schemeClr>
        </a:lnRef>
        <a:fillRef idx="1">
          <a:schemeClr val="accent2">
            <a:tint val="40000"/>
            <a:alpha val="90000"/>
            <a:hueOff val="-960000"/>
            <a:satOff val="2157"/>
            <a:lumOff val="196"/>
            <a:alpha val="90196"/>
          </a:schemeClr>
        </a:fillRef>
        <a:effectRef idx="0">
          <a:scrgbClr r="0" g="0" b="0"/>
        </a:effectRef>
        <a:fontRef idx="minor"/>
      </dsp:style>
      <dsp:txBody>
        <a:bodyPr lIns="15240" tIns="15240" rIns="15240" bIns="15240" anchor="t"/>
        <a:lstStyle>
          <a:lvl1pPr algn="l">
            <a:defRPr sz="24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smtClean="0">
              <a:solidFill>
                <a:schemeClr val="dk1"/>
              </a:solidFill>
            </a:rPr>
            <a:t>Explain main idea </a:t>
          </a:r>
          <a:endParaRPr lang="en-US" dirty="0">
            <a:solidFill>
              <a:schemeClr val="dk1"/>
            </a:solidFill>
          </a:endParaRPr>
        </a:p>
      </dsp:txBody>
      <dsp:txXfrm>
        <a:off x="1834259" y="1815579"/>
        <a:ext cx="2751388" cy="1650526"/>
      </dsp:txXfrm>
    </dsp:sp>
    <dsp:sp modelId="{051308C4-83F5-402A-91C8-BB44C8F53A16}">
      <dsp:nvSpPr>
        <dsp:cNvPr id="5" name="Rounded Rectangle 4"/>
        <dsp:cNvSpPr/>
      </dsp:nvSpPr>
      <dsp:spPr bwMode="white">
        <a:xfrm>
          <a:off x="0" y="1815579"/>
          <a:ext cx="1834259" cy="165052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690000"/>
            <a:satOff val="-195"/>
            <a:lumOff val="78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72390" tIns="36195" rIns="72390" bIns="36195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/>
            <a:t>Body/Content (D)</a:t>
          </a:r>
          <a:endParaRPr lang="en-US" dirty="0"/>
        </a:p>
      </dsp:txBody>
      <dsp:txXfrm>
        <a:off x="0" y="1815579"/>
        <a:ext cx="1834259" cy="1650526"/>
      </dsp:txXfrm>
    </dsp:sp>
    <dsp:sp modelId="{A9614502-2794-401E-98AF-06C982B09AA4}">
      <dsp:nvSpPr>
        <dsp:cNvPr id="8" name="Right Arrow 7"/>
        <dsp:cNvSpPr/>
      </dsp:nvSpPr>
      <dsp:spPr bwMode="white">
        <a:xfrm>
          <a:off x="1834259" y="3631157"/>
          <a:ext cx="2751388" cy="1650526"/>
        </a:xfrm>
        <a:prstGeom prst="rightArrow">
          <a:avLst>
            <a:gd name="adj1" fmla="val 75000"/>
            <a:gd name="adj2" fmla="val 50000"/>
          </a:avLst>
        </a:prstGeom>
      </dsp:spPr>
      <dsp:style>
        <a:lnRef idx="2">
          <a:schemeClr val="accent2">
            <a:tint val="40000"/>
            <a:alpha val="90000"/>
            <a:hueOff val="-1920000"/>
            <a:satOff val="4314"/>
            <a:lumOff val="392"/>
            <a:alpha val="90196"/>
          </a:schemeClr>
        </a:lnRef>
        <a:fillRef idx="1">
          <a:schemeClr val="accent2">
            <a:tint val="40000"/>
            <a:alpha val="90000"/>
            <a:hueOff val="-1920000"/>
            <a:satOff val="4314"/>
            <a:lumOff val="392"/>
            <a:alpha val="90196"/>
          </a:schemeClr>
        </a:fillRef>
        <a:effectRef idx="0">
          <a:scrgbClr r="0" g="0" b="0"/>
        </a:effectRef>
        <a:fontRef idx="minor"/>
      </dsp:style>
      <dsp:txBody>
        <a:bodyPr lIns="15240" tIns="15240" rIns="15240" bIns="15240" anchor="t"/>
        <a:lstStyle>
          <a:lvl1pPr algn="l">
            <a:defRPr sz="24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smtClean="0">
              <a:solidFill>
                <a:schemeClr val="dk1"/>
              </a:solidFill>
            </a:rPr>
            <a:t>Call to action </a:t>
          </a:r>
          <a:endParaRPr lang="en-US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smtClean="0">
              <a:solidFill>
                <a:schemeClr val="dk1"/>
              </a:solidFill>
            </a:rPr>
            <a:t>End with polite close</a:t>
          </a:r>
          <a:endParaRPr lang="en-US" dirty="0">
            <a:solidFill>
              <a:schemeClr val="dk1"/>
            </a:solidFill>
          </a:endParaRPr>
        </a:p>
      </dsp:txBody>
      <dsp:txXfrm>
        <a:off x="1834259" y="3631157"/>
        <a:ext cx="2751388" cy="1650526"/>
      </dsp:txXfrm>
    </dsp:sp>
    <dsp:sp modelId="{447D8D66-F823-4F68-9D8D-20179B735C3A}">
      <dsp:nvSpPr>
        <dsp:cNvPr id="7" name="Rounded Rectangle 6"/>
        <dsp:cNvSpPr/>
      </dsp:nvSpPr>
      <dsp:spPr bwMode="white">
        <a:xfrm>
          <a:off x="0" y="3631157"/>
          <a:ext cx="1834259" cy="165052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1380000"/>
            <a:satOff val="-391"/>
            <a:lumOff val="156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72390" tIns="36195" rIns="72390" bIns="36195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/>
            <a:t>Conclusion (A)</a:t>
          </a:r>
          <a:endParaRPr lang="en-US" dirty="0"/>
        </a:p>
      </dsp:txBody>
      <dsp:txXfrm>
        <a:off x="0" y="3631157"/>
        <a:ext cx="1834259" cy="16505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type="rightArrow" r:blip="" rot="180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E416-25E0-46C2-B125-474835D207C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5F679-5A56-486C-8409-B097107B67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3325" y="1172751"/>
            <a:ext cx="8825658" cy="151931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5400" dirty="0" smtClean="0"/>
              <a:t>Writing Business Messages - APPROACHES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30640" y="2982077"/>
            <a:ext cx="8825658" cy="2208628"/>
          </a:xfrm>
        </p:spPr>
        <p:txBody>
          <a:bodyPr>
            <a:noAutofit/>
          </a:bodyPr>
          <a:lstStyle/>
          <a:p>
            <a:endParaRPr lang="en-US" sz="3200" dirty="0" smtClean="0"/>
          </a:p>
          <a:p>
            <a:pPr algn="l"/>
            <a:r>
              <a:rPr lang="en-US" sz="3200" dirty="0" smtClean="0"/>
              <a:t>Direct&amp; Indirect Approaches</a:t>
            </a:r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Approaches to Writing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Approaches to Writing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85801" y="2183802"/>
            <a:ext cx="4937760" cy="823912"/>
          </a:xfrm>
          <a:ln w="19050">
            <a:solidFill>
              <a:schemeClr val="tx1"/>
            </a:solidFill>
          </a:ln>
        </p:spPr>
        <p:txBody>
          <a:bodyPr/>
          <a:lstStyle/>
          <a:p>
            <a:r>
              <a:rPr lang="en-US" b="1" dirty="0" smtClean="0"/>
              <a:t>Direct Approach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85800" y="3007714"/>
            <a:ext cx="4937760" cy="1174321"/>
          </a:xfrm>
          <a:ln w="19050">
            <a:solidFill>
              <a:schemeClr val="tx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b="1" dirty="0"/>
              <a:t>Used when sharing  </a:t>
            </a:r>
            <a:r>
              <a:rPr lang="en-US" altLang="en-US" b="1" dirty="0" smtClean="0"/>
              <a:t>good, neutral </a:t>
            </a:r>
            <a:r>
              <a:rPr lang="en-US" altLang="en-US" b="1" dirty="0" smtClean="0"/>
              <a:t>news and (some) bad news</a:t>
            </a:r>
            <a:endParaRPr lang="en-US" altLang="en-US" b="1" dirty="0" smtClean="0"/>
          </a:p>
          <a:p>
            <a:pPr marL="0" indent="0">
              <a:buNone/>
            </a:pPr>
            <a:endParaRPr lang="en-US" altLang="en-US" b="1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172200" y="2183802"/>
            <a:ext cx="4937759" cy="823912"/>
          </a:xfrm>
          <a:ln w="19050">
            <a:solidFill>
              <a:schemeClr val="tx1"/>
            </a:solidFill>
          </a:ln>
        </p:spPr>
        <p:txBody>
          <a:bodyPr/>
          <a:lstStyle/>
          <a:p>
            <a:r>
              <a:rPr lang="en-US" b="1" dirty="0" smtClean="0"/>
              <a:t>Indirect Approach</a:t>
            </a:r>
            <a:endParaRPr lang="en-US" b="1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172199" y="3007714"/>
            <a:ext cx="4937760" cy="1174321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b="1" dirty="0"/>
              <a:t>Used when sharing bad </a:t>
            </a:r>
            <a:r>
              <a:rPr lang="en-US" altLang="en-US" b="1" dirty="0" smtClean="0"/>
              <a:t>news</a:t>
            </a:r>
            <a:endParaRPr lang="en-US" alt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b="1" dirty="0" smtClean="0"/>
              <a:t>Start with ‘buffer’ that lessens the impact of the bad news</a:t>
            </a:r>
            <a:endParaRPr lang="en-US" altLang="en-US" b="1" dirty="0"/>
          </a:p>
          <a:p>
            <a:pPr>
              <a:buNone/>
            </a:pPr>
            <a:endParaRPr lang="en-US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7991" y="165551"/>
            <a:ext cx="5111301" cy="82391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latin typeface="+mj-lt"/>
              </a:rPr>
              <a:t>Direct Approach</a:t>
            </a:r>
            <a:endParaRPr lang="en-US" sz="4800" b="1" dirty="0">
              <a:latin typeface="+mj-lt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2"/>
          </p:nvPr>
        </p:nvGraphicFramePr>
        <p:xfrm>
          <a:off x="2950819" y="1446663"/>
          <a:ext cx="4585647" cy="5281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769" y="182999"/>
            <a:ext cx="6944061" cy="1007102"/>
          </a:xfrm>
        </p:spPr>
        <p:txBody>
          <a:bodyPr/>
          <a:lstStyle/>
          <a:p>
            <a:r>
              <a:rPr lang="en-US" b="1" dirty="0" smtClean="0"/>
              <a:t>INDIRECT APPROACH </a:t>
            </a:r>
            <a:endParaRPr lang="en-US" b="1" dirty="0"/>
          </a:p>
        </p:txBody>
      </p:sp>
      <p:grpSp>
        <p:nvGrpSpPr>
          <p:cNvPr id="13" name="Group 12"/>
          <p:cNvGrpSpPr/>
          <p:nvPr/>
        </p:nvGrpSpPr>
        <p:grpSpPr>
          <a:xfrm>
            <a:off x="3531377" y="1806446"/>
            <a:ext cx="1921253" cy="1029768"/>
            <a:chOff x="-86995" y="0"/>
            <a:chExt cx="1921253" cy="1650525"/>
          </a:xfrm>
        </p:grpSpPr>
        <p:sp>
          <p:nvSpPr>
            <p:cNvPr id="14" name="Rounded Rectangle 13"/>
            <p:cNvSpPr/>
            <p:nvPr/>
          </p:nvSpPr>
          <p:spPr>
            <a:xfrm>
              <a:off x="0" y="0"/>
              <a:ext cx="1834258" cy="165052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4"/>
            <p:cNvSpPr txBox="1"/>
            <p:nvPr/>
          </p:nvSpPr>
          <p:spPr>
            <a:xfrm>
              <a:off x="-86995" y="40711"/>
              <a:ext cx="1834515" cy="14890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38100" rIns="76200" bIns="381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 smtClean="0"/>
                <a:t>Buffer (B)</a:t>
              </a:r>
              <a:endParaRPr lang="en-US" sz="2000" kern="12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618372" y="2885175"/>
            <a:ext cx="1834515" cy="1058079"/>
            <a:chOff x="-1411630" y="503620"/>
            <a:chExt cx="1834515" cy="1650525"/>
          </a:xfrm>
        </p:grpSpPr>
        <p:sp>
          <p:nvSpPr>
            <p:cNvPr id="18" name="Rounded Rectangle 17"/>
            <p:cNvSpPr/>
            <p:nvPr/>
          </p:nvSpPr>
          <p:spPr>
            <a:xfrm>
              <a:off x="-1411630" y="503620"/>
              <a:ext cx="1834258" cy="165052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 txBox="1"/>
            <p:nvPr/>
          </p:nvSpPr>
          <p:spPr>
            <a:xfrm>
              <a:off x="-1411630" y="635364"/>
              <a:ext cx="1834515" cy="14897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38100" rIns="76200" bIns="381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 smtClean="0"/>
                <a:t>Body/Content (D)</a:t>
              </a:r>
              <a:endParaRPr lang="en-US" sz="2000" kern="1200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618372" y="4308384"/>
            <a:ext cx="1834258" cy="1002964"/>
            <a:chOff x="0" y="0"/>
            <a:chExt cx="1834258" cy="1650525"/>
          </a:xfrm>
        </p:grpSpPr>
        <p:sp>
          <p:nvSpPr>
            <p:cNvPr id="21" name="Rounded Rectangle 20"/>
            <p:cNvSpPr/>
            <p:nvPr/>
          </p:nvSpPr>
          <p:spPr>
            <a:xfrm>
              <a:off x="0" y="0"/>
              <a:ext cx="1834258" cy="165052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Rounded Rectangle 4"/>
            <p:cNvSpPr txBox="1"/>
            <p:nvPr/>
          </p:nvSpPr>
          <p:spPr>
            <a:xfrm>
              <a:off x="80572" y="80572"/>
              <a:ext cx="1673114" cy="14893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38100" rIns="76200" bIns="381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 smtClean="0"/>
                <a:t>Main Idea (P)</a:t>
              </a:r>
              <a:endParaRPr lang="en-US" sz="2000" kern="12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631818" y="5389344"/>
            <a:ext cx="1834258" cy="1021669"/>
            <a:chOff x="0" y="0"/>
            <a:chExt cx="1834258" cy="1650525"/>
          </a:xfrm>
        </p:grpSpPr>
        <p:sp>
          <p:nvSpPr>
            <p:cNvPr id="24" name="Rounded Rectangle 23"/>
            <p:cNvSpPr/>
            <p:nvPr/>
          </p:nvSpPr>
          <p:spPr>
            <a:xfrm>
              <a:off x="0" y="0"/>
              <a:ext cx="1834258" cy="165052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Rounded Rectangle 4"/>
            <p:cNvSpPr txBox="1"/>
            <p:nvPr/>
          </p:nvSpPr>
          <p:spPr>
            <a:xfrm>
              <a:off x="147698" y="123852"/>
              <a:ext cx="1673114" cy="14893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38100" rIns="76200" bIns="381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 smtClean="0"/>
                <a:t>Conclusion (A) </a:t>
              </a:r>
              <a:endParaRPr lang="en-US" sz="2000" kern="1200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633498" y="1706302"/>
            <a:ext cx="3404870" cy="1053864"/>
            <a:chOff x="1834258" y="0"/>
            <a:chExt cx="3404870" cy="1650525"/>
          </a:xfrm>
        </p:grpSpPr>
        <p:sp>
          <p:nvSpPr>
            <p:cNvPr id="28" name="Right Arrow 27"/>
            <p:cNvSpPr/>
            <p:nvPr/>
          </p:nvSpPr>
          <p:spPr>
            <a:xfrm>
              <a:off x="1834258" y="0"/>
              <a:ext cx="2751388" cy="1650525"/>
            </a:xfrm>
            <a:prstGeom prst="rightArrow">
              <a:avLst>
                <a:gd name="adj1" fmla="val 75000"/>
                <a:gd name="adj2" fmla="val 50000"/>
              </a:avLst>
            </a:pr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9" name="Right Arrow 4"/>
            <p:cNvSpPr txBox="1"/>
            <p:nvPr/>
          </p:nvSpPr>
          <p:spPr>
            <a:xfrm>
              <a:off x="1834258" y="205865"/>
              <a:ext cx="3404870" cy="1238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145" tIns="17145" rIns="17145" bIns="17145" numCol="1" spcCol="1270" anchor="t" anchorCtr="0">
              <a:noAutofit/>
            </a:bodyPr>
            <a:lstStyle/>
            <a:p>
              <a:pPr marL="228600" lvl="1" indent="-228600" algn="l" defTabSz="1200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700" kern="1200" dirty="0" smtClean="0"/>
                <a:t>Neutral statements</a:t>
              </a:r>
              <a:endParaRPr lang="en-US" sz="2700" kern="1200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633498" y="2645877"/>
            <a:ext cx="5114290" cy="1875764"/>
            <a:chOff x="1834258" y="0"/>
            <a:chExt cx="2874324" cy="1650525"/>
          </a:xfrm>
        </p:grpSpPr>
        <p:sp>
          <p:nvSpPr>
            <p:cNvPr id="31" name="Right Arrow 30"/>
            <p:cNvSpPr/>
            <p:nvPr/>
          </p:nvSpPr>
          <p:spPr>
            <a:xfrm>
              <a:off x="1834258" y="0"/>
              <a:ext cx="2751388" cy="1650525"/>
            </a:xfrm>
            <a:prstGeom prst="rightArrow">
              <a:avLst>
                <a:gd name="adj1" fmla="val 75000"/>
                <a:gd name="adj2" fmla="val 50000"/>
              </a:avLst>
            </a:pr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2" name="Right Arrow 4"/>
            <p:cNvSpPr txBox="1"/>
            <p:nvPr/>
          </p:nvSpPr>
          <p:spPr>
            <a:xfrm>
              <a:off x="1834258" y="206179"/>
              <a:ext cx="2874324" cy="123763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145" tIns="17145" rIns="17145" bIns="17145" numCol="1" spcCol="1270" anchor="t" anchorCtr="0">
              <a:noAutofit/>
            </a:bodyPr>
            <a:lstStyle/>
            <a:p>
              <a:pPr marL="228600" lvl="1" indent="-228600" algn="l" defTabSz="1200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700" kern="1200" dirty="0" smtClean="0"/>
                <a:t>Explain main idea (provide reasoning/justification)</a:t>
              </a:r>
              <a:endParaRPr lang="en-US" sz="2700" kern="1200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666740" y="4264660"/>
            <a:ext cx="3881755" cy="1089660"/>
            <a:chOff x="1834258" y="0"/>
            <a:chExt cx="2751388" cy="1650525"/>
          </a:xfrm>
        </p:grpSpPr>
        <p:sp>
          <p:nvSpPr>
            <p:cNvPr id="34" name="Right Arrow 33"/>
            <p:cNvSpPr/>
            <p:nvPr/>
          </p:nvSpPr>
          <p:spPr>
            <a:xfrm>
              <a:off x="1834258" y="0"/>
              <a:ext cx="2751388" cy="1650525"/>
            </a:xfrm>
            <a:prstGeom prst="rightArrow">
              <a:avLst>
                <a:gd name="adj1" fmla="val 75000"/>
                <a:gd name="adj2" fmla="val 50000"/>
              </a:avLst>
            </a:pr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5" name="Right Arrow 4"/>
            <p:cNvSpPr txBox="1"/>
            <p:nvPr/>
          </p:nvSpPr>
          <p:spPr>
            <a:xfrm>
              <a:off x="1834258" y="206316"/>
              <a:ext cx="2132441" cy="12378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145" tIns="17145" rIns="17145" bIns="17145" numCol="1" spcCol="1270" anchor="t" anchorCtr="0">
              <a:noAutofit/>
            </a:bodyPr>
            <a:lstStyle/>
            <a:p>
              <a:pPr marL="228600" lvl="1" indent="-228600" algn="l" defTabSz="1200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700" kern="1200" dirty="0" smtClean="0"/>
                <a:t>State main idea </a:t>
              </a:r>
              <a:endParaRPr lang="en-US" sz="2700" kern="12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666664" y="5246523"/>
            <a:ext cx="4206165" cy="1380490"/>
            <a:chOff x="-551564" y="4000345"/>
            <a:chExt cx="2751389" cy="1380490"/>
          </a:xfrm>
        </p:grpSpPr>
        <p:sp>
          <p:nvSpPr>
            <p:cNvPr id="37" name="Right Arrow 36"/>
            <p:cNvSpPr/>
            <p:nvPr/>
          </p:nvSpPr>
          <p:spPr>
            <a:xfrm>
              <a:off x="-551563" y="4000345"/>
              <a:ext cx="2751388" cy="1089445"/>
            </a:xfrm>
            <a:prstGeom prst="rightArrow">
              <a:avLst>
                <a:gd name="adj1" fmla="val 75000"/>
                <a:gd name="adj2" fmla="val 50000"/>
              </a:avLst>
            </a:pr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8" name="Right Arrow 4"/>
            <p:cNvSpPr txBox="1"/>
            <p:nvPr/>
          </p:nvSpPr>
          <p:spPr>
            <a:xfrm>
              <a:off x="-551564" y="4143220"/>
              <a:ext cx="2460676" cy="123761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145" tIns="17145" rIns="17145" bIns="17145" numCol="1" spcCol="1270" anchor="t" anchorCtr="0">
              <a:noAutofit/>
            </a:bodyPr>
            <a:lstStyle/>
            <a:p>
              <a:pPr marL="228600" lvl="1" indent="-228600" defTabSz="1200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700" dirty="0"/>
                <a:t>Call to action </a:t>
              </a:r>
              <a:endParaRPr lang="en-US" sz="2700" dirty="0"/>
            </a:p>
            <a:p>
              <a:pPr marL="228600" lvl="1" indent="-228600" defTabSz="1200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700" dirty="0"/>
                <a:t>End with polite close</a:t>
              </a:r>
              <a:endParaRPr lang="en-US" sz="27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41111"/>
            <a:ext cx="10353761" cy="755176"/>
          </a:xfrm>
        </p:spPr>
        <p:txBody>
          <a:bodyPr/>
          <a:lstStyle/>
          <a:p>
            <a:pPr algn="ctr"/>
            <a:r>
              <a:rPr lang="en-US" dirty="0" smtClean="0"/>
              <a:t>Buffer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642" y="1824184"/>
            <a:ext cx="11532358" cy="515885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Buffer is a </a:t>
            </a:r>
            <a:r>
              <a:rPr lang="en-US" sz="2400" b="1" dirty="0" smtClean="0"/>
              <a:t>neutral, noncontroversial statement that is closely related to the point of message.</a:t>
            </a:r>
            <a:endParaRPr lang="en-US" sz="2400" b="1" dirty="0" smtClean="0"/>
          </a:p>
          <a:p>
            <a:pPr marL="0" indent="0">
              <a:buNone/>
            </a:pPr>
            <a:endParaRPr lang="en-US" sz="24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When writing a buffer: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 smtClean="0">
                <a:effectLst/>
              </a:rPr>
              <a:t>Be neutral – readers should not receive the negative news at the first part of the letter</a:t>
            </a:r>
            <a:endParaRPr lang="en-US" sz="2400" b="1" dirty="0" smtClean="0">
              <a:effectLst/>
            </a:endParaRP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400" b="1" dirty="0" smtClean="0">
                <a:effectLst/>
              </a:rPr>
              <a:t>Don’t </a:t>
            </a:r>
            <a:r>
              <a:rPr lang="en-US" sz="2400" b="1" dirty="0">
                <a:effectLst/>
              </a:rPr>
              <a:t>exceed three short </a:t>
            </a:r>
            <a:r>
              <a:rPr lang="en-US" sz="2400" b="1" dirty="0" smtClean="0">
                <a:effectLst/>
              </a:rPr>
              <a:t>sentences</a:t>
            </a:r>
            <a:endParaRPr lang="en-US" sz="2400" b="1" dirty="0" smtClean="0">
              <a:effectLst/>
            </a:endParaRP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400" b="1" dirty="0" smtClean="0"/>
              <a:t>Don’t </a:t>
            </a:r>
            <a:r>
              <a:rPr lang="en-US" sz="2400" b="1" dirty="0"/>
              <a:t>imply a negative </a:t>
            </a:r>
            <a:r>
              <a:rPr lang="en-US" sz="2400" b="1" dirty="0" smtClean="0"/>
              <a:t>statement - </a:t>
            </a:r>
            <a:r>
              <a:rPr lang="en-US" sz="2400" dirty="0" smtClean="0"/>
              <a:t>If </a:t>
            </a:r>
            <a:r>
              <a:rPr lang="en-US" sz="2400" dirty="0"/>
              <a:t>your buffer gives away immediately that you are sending bad news, then it is not really a buffer at </a:t>
            </a:r>
            <a:r>
              <a:rPr lang="en-US" sz="2400" dirty="0" smtClean="0"/>
              <a:t>all</a:t>
            </a:r>
            <a:endParaRPr lang="en-US" sz="2400" b="1" dirty="0"/>
          </a:p>
          <a:p>
            <a:pPr marL="1371600" lvl="3" indent="0" fontAlgn="base">
              <a:buNone/>
            </a:pPr>
            <a:endParaRPr lang="en-US" sz="2000" dirty="0" smtClean="0">
              <a:effectLst/>
            </a:endParaRPr>
          </a:p>
          <a:p>
            <a:pPr lvl="1" fontAlgn="base"/>
            <a:endParaRPr lang="en-US" dirty="0" smtClean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15" y="104634"/>
            <a:ext cx="10353761" cy="72788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304059" cy="6899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6764"/>
                <a:gridCol w="8687295"/>
              </a:tblGrid>
              <a:tr h="514987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Indirect approach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51498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Neutral statement</a:t>
                      </a:r>
                      <a:endParaRPr lang="en-US" dirty="0"/>
                    </a:p>
                  </a:txBody>
                  <a:tcPr/>
                </a:tc>
              </a:tr>
              <a:tr h="2441740">
                <a:tc>
                  <a:txBody>
                    <a:bodyPr/>
                    <a:lstStyle/>
                    <a:p>
                      <a:r>
                        <a:rPr lang="en-US" dirty="0" smtClean="0"/>
                        <a:t>Explain Reasons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800" dirty="0" smtClean="0"/>
                        <a:t>Provide relevant details</a:t>
                      </a:r>
                      <a:endParaRPr lang="en-US" altLang="en-US" sz="1800" dirty="0" smtClean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800" dirty="0" smtClean="0"/>
                        <a:t>Highlight on</a:t>
                      </a:r>
                      <a:r>
                        <a:rPr lang="en-US" altLang="en-US" sz="1800" baseline="0" dirty="0" smtClean="0"/>
                        <a:t> important reasons/justification</a:t>
                      </a:r>
                      <a:endParaRPr lang="en-US" altLang="en-US" sz="1800" baseline="0" dirty="0" smtClean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800" baseline="0" dirty="0" smtClean="0"/>
                        <a:t>Make sure the justification is clear</a:t>
                      </a:r>
                      <a:endParaRPr lang="en-US" altLang="en-US" sz="1800" baseline="0" dirty="0" smtClean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800" baseline="0" dirty="0" smtClean="0"/>
                        <a:t>The explanation/reasons/justification should be clear as to help the audience to accept the bad news that will be delivered to them</a:t>
                      </a:r>
                      <a:endParaRPr lang="en-US" altLang="en-US" sz="1800" dirty="0" smtClean="0"/>
                    </a:p>
                  </a:txBody>
                  <a:tcPr/>
                </a:tc>
              </a:tr>
              <a:tr h="1517056">
                <a:tc>
                  <a:txBody>
                    <a:bodyPr/>
                    <a:lstStyle/>
                    <a:p>
                      <a:r>
                        <a:rPr lang="en-US" dirty="0" smtClean="0"/>
                        <a:t>State or</a:t>
                      </a:r>
                      <a:r>
                        <a:rPr lang="en-US" baseline="0" dirty="0" smtClean="0"/>
                        <a:t> Imply refusal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Char char="•"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90204" pitchFamily="34" charset="0"/>
                        </a:rPr>
                        <a:t>State the bad news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90204" pitchFamily="34" charset="0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Char char="•"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90204" pitchFamily="34" charset="0"/>
                        </a:rPr>
                        <a:t>De-emphasize on the bad news</a:t>
                      </a:r>
                      <a:endParaRPr lang="en-US" sz="1800" b="1" baseline="0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90204" pitchFamily="34" charset="0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Char char="•"/>
                        <a:defRPr/>
                      </a:pPr>
                      <a:r>
                        <a:rPr lang="en-US" sz="1800" b="1" baseline="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90204" pitchFamily="34" charset="0"/>
                        </a:rPr>
                        <a:t>Avoid over-apologizing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9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</a:tr>
              <a:tr h="1910617">
                <a:tc>
                  <a:txBody>
                    <a:bodyPr/>
                    <a:lstStyle/>
                    <a:p>
                      <a:r>
                        <a:rPr lang="en-US" dirty="0" smtClean="0"/>
                        <a:t>Polite</a:t>
                      </a:r>
                      <a:r>
                        <a:rPr lang="en-US" baseline="0" dirty="0" smtClean="0"/>
                        <a:t> Close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en-US" dirty="0" smtClean="0"/>
                        <a:t>Maintain</a:t>
                      </a:r>
                      <a:r>
                        <a:rPr lang="en-US" baseline="0" dirty="0" smtClean="0"/>
                        <a:t> a positive tone - do not apologize</a:t>
                      </a:r>
                      <a:endParaRPr lang="en-US" baseline="0" dirty="0" smtClean="0"/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en-US" baseline="0" dirty="0" smtClean="0"/>
                        <a:t>Limit future correspondence - encourage additional communication only if you are willing to discuss your decision further</a:t>
                      </a:r>
                      <a:endParaRPr lang="en-US" baseline="0" dirty="0" smtClean="0"/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en-US" baseline="0" dirty="0" smtClean="0"/>
                        <a:t>End politely</a:t>
                      </a:r>
                      <a:endParaRPr lang="en-US" baseline="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550" y="-1949800"/>
            <a:ext cx="6848552" cy="185024"/>
          </a:xfrm>
        </p:spPr>
        <p:txBody>
          <a:bodyPr>
            <a:normAutofit fontScale="90000"/>
          </a:bodyPr>
          <a:lstStyle/>
          <a:p>
            <a:endParaRPr lang="en-US" sz="2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783" y="71400"/>
            <a:ext cx="4040435" cy="210752"/>
          </a:xfrm>
        </p:spPr>
        <p:txBody>
          <a:bodyPr>
            <a:normAutofit fontScale="47500" lnSpcReduction="20000"/>
          </a:bodyPr>
          <a:lstStyle/>
          <a:p>
            <a:endParaRPr lang="en-US" sz="220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  <a:gridCol w="4064000"/>
              </a:tblGrid>
              <a:tr h="401119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Direct Approach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Indirect Approach</a:t>
                      </a:r>
                      <a:endParaRPr lang="en-US" dirty="0"/>
                    </a:p>
                  </a:txBody>
                  <a:tcPr anchor="ctr"/>
                </a:tc>
              </a:tr>
              <a:tr h="874210">
                <a:tc>
                  <a:txBody>
                    <a:bodyPr/>
                    <a:lstStyle/>
                    <a:p>
                      <a:pPr algn="ctr"/>
                      <a:endParaRPr lang="en-US" sz="17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baseline="0" dirty="0" smtClean="0"/>
                        <a:t>Routine request, Good news and some bad news messages</a:t>
                      </a:r>
                      <a:endParaRPr lang="en-US" sz="17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 smtClean="0"/>
                        <a:t>Bad news messages</a:t>
                      </a:r>
                      <a:endParaRPr lang="en-US" sz="1700" b="1" dirty="0"/>
                    </a:p>
                  </a:txBody>
                  <a:tcPr anchor="ctr"/>
                </a:tc>
              </a:tr>
              <a:tr h="1656397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 smtClean="0"/>
                        <a:t>Introduction</a:t>
                      </a:r>
                      <a:r>
                        <a:rPr lang="en-US" sz="1700" b="1" baseline="0" dirty="0" smtClean="0"/>
                        <a:t> </a:t>
                      </a:r>
                      <a:endParaRPr lang="en-US" sz="17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 smtClean="0"/>
                        <a:t>Main Idea/ Purpose:****</a:t>
                      </a:r>
                      <a:endParaRPr lang="en-US" sz="1700" b="1" dirty="0" smtClean="0"/>
                    </a:p>
                    <a:p>
                      <a:pPr algn="l"/>
                      <a:r>
                        <a:rPr lang="en-US" sz="1700" dirty="0" smtClean="0"/>
                        <a:t>Ex:</a:t>
                      </a:r>
                      <a:endParaRPr lang="en-US" sz="1700" dirty="0" smtClean="0"/>
                    </a:p>
                    <a:p>
                      <a:pPr algn="l"/>
                      <a:r>
                        <a:rPr lang="en-US" sz="1700" dirty="0" smtClean="0"/>
                        <a:t>I am writing to</a:t>
                      </a:r>
                      <a:r>
                        <a:rPr lang="en-US" sz="1700" baseline="0" dirty="0" smtClean="0"/>
                        <a:t> inform you that your loan application is successful.</a:t>
                      </a:r>
                      <a:endParaRPr 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 smtClean="0"/>
                        <a:t>Buffer- Neutral Statement</a:t>
                      </a:r>
                      <a:endParaRPr lang="en-US" sz="1700" b="1" dirty="0" smtClean="0"/>
                    </a:p>
                    <a:p>
                      <a:pPr algn="l"/>
                      <a:r>
                        <a:rPr lang="en-US" sz="1700" dirty="0" smtClean="0"/>
                        <a:t>Ex:</a:t>
                      </a:r>
                      <a:endParaRPr lang="en-US" sz="1700" dirty="0" smtClean="0"/>
                    </a:p>
                    <a:p>
                      <a:pPr algn="l"/>
                      <a:r>
                        <a:rPr lang="en-US" sz="1700" dirty="0" smtClean="0"/>
                        <a:t>Thank</a:t>
                      </a:r>
                      <a:r>
                        <a:rPr lang="en-US" sz="1700" baseline="0" dirty="0" smtClean="0"/>
                        <a:t> you for considering our company for your loan application. We have processed the  supporting documents you submitted.</a:t>
                      </a:r>
                      <a:endParaRPr lang="en-US" sz="1700" dirty="0" smtClean="0"/>
                    </a:p>
                  </a:txBody>
                  <a:tcPr anchor="ctr"/>
                </a:tc>
              </a:tr>
              <a:tr h="1395668">
                <a:tc rowSpan="2">
                  <a:txBody>
                    <a:bodyPr/>
                    <a:lstStyle/>
                    <a:p>
                      <a:pPr algn="ctr"/>
                      <a:r>
                        <a:rPr lang="en-US" sz="1700" b="1" dirty="0" smtClean="0"/>
                        <a:t>Content</a:t>
                      </a:r>
                      <a:endParaRPr lang="en-US" sz="1700" b="1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700" b="1" dirty="0" smtClean="0"/>
                        <a:t>Explanation of</a:t>
                      </a:r>
                      <a:r>
                        <a:rPr lang="en-US" sz="1700" b="1" baseline="0" dirty="0" smtClean="0"/>
                        <a:t> main idea/purpose</a:t>
                      </a:r>
                      <a:r>
                        <a:rPr lang="en-US" sz="1700" baseline="0" dirty="0" smtClean="0"/>
                        <a:t>: </a:t>
                      </a:r>
                      <a:endParaRPr lang="en-US" sz="1700" baseline="0" dirty="0" smtClean="0"/>
                    </a:p>
                    <a:p>
                      <a:pPr algn="l"/>
                      <a:r>
                        <a:rPr lang="en-US" sz="1700" baseline="0" dirty="0" smtClean="0"/>
                        <a:t>Ex:</a:t>
                      </a:r>
                      <a:endParaRPr lang="en-US" sz="1700" baseline="0" dirty="0" smtClean="0"/>
                    </a:p>
                    <a:p>
                      <a:pPr algn="l"/>
                      <a:r>
                        <a:rPr lang="en-US" sz="1700" baseline="0" dirty="0" smtClean="0"/>
                        <a:t>Our officers have processed your application form with the supporting documents you provided and are satisfied with the details you provided. </a:t>
                      </a:r>
                      <a:endParaRPr lang="en-US" sz="1700" baseline="0" dirty="0" smtClean="0"/>
                    </a:p>
                    <a:p>
                      <a:pPr algn="l"/>
                      <a:endParaRPr 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 smtClean="0"/>
                        <a:t>Reasons:</a:t>
                      </a:r>
                      <a:endParaRPr lang="en-US" sz="1700" b="1" dirty="0" smtClean="0"/>
                    </a:p>
                    <a:p>
                      <a:pPr algn="l"/>
                      <a:r>
                        <a:rPr lang="en-US" sz="1700" dirty="0" smtClean="0"/>
                        <a:t>Ex: Due the current</a:t>
                      </a:r>
                      <a:r>
                        <a:rPr lang="en-US" sz="1700" baseline="0" dirty="0" smtClean="0"/>
                        <a:t> unstable global economy, we have stopped offering personal loans for individual with low income. </a:t>
                      </a:r>
                      <a:endParaRPr lang="en-US" sz="1700" dirty="0" smtClean="0"/>
                    </a:p>
                  </a:txBody>
                  <a:tcPr anchor="ctr"/>
                </a:tc>
              </a:tr>
              <a:tr h="1395668">
                <a:tc vMerge="1">
                  <a:tcPr/>
                </a:tc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 smtClean="0"/>
                        <a:t>Main idea/ Purpose</a:t>
                      </a:r>
                      <a:r>
                        <a:rPr lang="en-US" sz="1700" dirty="0" smtClean="0"/>
                        <a:t>:****</a:t>
                      </a:r>
                      <a:endParaRPr lang="en-US" sz="1700" dirty="0" smtClean="0"/>
                    </a:p>
                    <a:p>
                      <a:pPr algn="l"/>
                      <a:r>
                        <a:rPr lang="en-US" sz="1700" dirty="0" smtClean="0"/>
                        <a:t>Ex:</a:t>
                      </a:r>
                      <a:endParaRPr lang="en-US" sz="1700" dirty="0" smtClean="0"/>
                    </a:p>
                    <a:p>
                      <a:pPr algn="l"/>
                      <a:r>
                        <a:rPr lang="en-US" sz="1700" dirty="0" smtClean="0"/>
                        <a:t>Therefore,</a:t>
                      </a:r>
                      <a:r>
                        <a:rPr lang="en-US" sz="1700" baseline="0" dirty="0" smtClean="0"/>
                        <a:t> we would like to inform you that your loan application is unsuccessful.</a:t>
                      </a:r>
                      <a:endParaRPr lang="en-US" sz="1700" dirty="0"/>
                    </a:p>
                  </a:txBody>
                  <a:tcPr anchor="ctr"/>
                </a:tc>
              </a:tr>
              <a:tr h="1134939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 smtClean="0"/>
                        <a:t>Conclusion</a:t>
                      </a:r>
                      <a:endParaRPr lang="en-US" sz="17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 smtClean="0"/>
                        <a:t>Polite</a:t>
                      </a:r>
                      <a:r>
                        <a:rPr lang="en-US" sz="1700" b="1" baseline="0" dirty="0" smtClean="0"/>
                        <a:t> Close</a:t>
                      </a:r>
                      <a:endParaRPr lang="en-US" sz="1700" b="1" baseline="0" dirty="0" smtClean="0"/>
                    </a:p>
                    <a:p>
                      <a:pPr algn="l"/>
                      <a:r>
                        <a:rPr lang="en-US" sz="1700" baseline="0" dirty="0" smtClean="0"/>
                        <a:t>Ex: If you have any inquires, please contact me at the number provided. Thank you</a:t>
                      </a:r>
                      <a:endParaRPr 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 smtClean="0"/>
                        <a:t>Polite close:</a:t>
                      </a:r>
                      <a:endParaRPr lang="en-US" sz="1700" b="1" dirty="0" smtClean="0"/>
                    </a:p>
                    <a:p>
                      <a:pPr algn="l"/>
                      <a:r>
                        <a:rPr lang="en-US" sz="1700" dirty="0" smtClean="0"/>
                        <a:t>Ex:</a:t>
                      </a:r>
                      <a:endParaRPr lang="en-US" sz="1700" dirty="0" smtClean="0"/>
                    </a:p>
                    <a:p>
                      <a:pPr algn="l"/>
                      <a:r>
                        <a:rPr lang="en-US" sz="1700" dirty="0" smtClean="0"/>
                        <a:t>We wish you all the best. Thank you</a:t>
                      </a:r>
                      <a:endParaRPr lang="en-US" sz="17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2582</Words>
  <Application>WPS Spreadsheets</Application>
  <PresentationFormat>Widescreen</PresentationFormat>
  <Paragraphs>127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Helvetica Neue</vt:lpstr>
      <vt:lpstr>Calibri Light</vt:lpstr>
      <vt:lpstr>Microsoft YaHei</vt:lpstr>
      <vt:lpstr>汉仪旗黑</vt:lpstr>
      <vt:lpstr>Arial Unicode MS</vt:lpstr>
      <vt:lpstr>宋体-简</vt:lpstr>
      <vt:lpstr>Retrospect</vt:lpstr>
      <vt:lpstr>Writing Business Messages - APPROACHES</vt:lpstr>
      <vt:lpstr>Approaches to Writing</vt:lpstr>
      <vt:lpstr>Approaches to Writing</vt:lpstr>
      <vt:lpstr>PowerPoint 演示文稿</vt:lpstr>
      <vt:lpstr>INDIRECT APPROACH </vt:lpstr>
      <vt:lpstr>Buffer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Business Messages</dc:title>
  <dc:creator>e30</dc:creator>
  <cp:lastModifiedBy>akmasafian</cp:lastModifiedBy>
  <cp:revision>47</cp:revision>
  <dcterms:created xsi:type="dcterms:W3CDTF">2025-10-16T04:54:36Z</dcterms:created>
  <dcterms:modified xsi:type="dcterms:W3CDTF">2025-10-16T04:54:36Z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F5232CD6F4E51E358C7AF0680DB8E956_43</vt:lpwstr>
  </property>
  <property fmtid="{D5CDD505-2E9C-101B-9397-08002B2CF9AE}" pid="3" name="KSOProductBuildVer">
    <vt:lpwstr>1033-12.1.22554.22554</vt:lpwstr>
  </property>
</Properties>
</file>